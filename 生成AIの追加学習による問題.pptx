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19" r:id="rId45"/>
    <p:sldId id="320" r:id="rId46"/>
    <p:sldId id="321" r:id="rId47"/>
    <p:sldId id="322" r:id="rId48"/>
    <p:sldId id="323" r:id="rId49"/>
    <p:sldId id="331" r:id="rId50"/>
    <p:sldId id="284" r:id="rId5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p:scale>
          <a:sx n="125" d="100"/>
          <a:sy n="125" d="100"/>
        </p:scale>
        <p:origin x="1512" y="798"/>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まず、本研究で扱う「生成</a:t>
            </a:r>
            <a:r>
              <a:rPr kumimoji="1" lang="en-US" altLang="ja-JP" dirty="0"/>
              <a:t>AI</a:t>
            </a:r>
            <a:r>
              <a:rPr kumimoji="1" lang="ja-JP" altLang="en-US" dirty="0"/>
              <a:t>」と「</a:t>
            </a:r>
            <a:r>
              <a:rPr kumimoji="1" lang="en-US" altLang="ja-JP" dirty="0"/>
              <a:t>LLM</a:t>
            </a:r>
            <a:r>
              <a:rPr kumimoji="1" lang="ja-JP" altLang="en-US" dirty="0"/>
              <a:t>」について説明します。生成</a:t>
            </a:r>
            <a:r>
              <a:rPr kumimoji="1" lang="en-US" altLang="ja-JP" dirty="0"/>
              <a:t>AI</a:t>
            </a:r>
            <a:r>
              <a:rPr kumimoji="1" lang="ja-JP" altLang="en-US" dirty="0"/>
              <a:t>とは、ユーザの指示に基づいて、文章や画像、プログラムコードなどの新しいコンテンツを生成する</a:t>
            </a:r>
            <a:r>
              <a:rPr kumimoji="1" lang="en-US" altLang="ja-JP" dirty="0"/>
              <a:t>AI</a:t>
            </a:r>
            <a:r>
              <a:rPr kumimoji="1" lang="ja-JP" altLang="en-US" dirty="0"/>
              <a:t>のことです。今回の研究では、生成</a:t>
            </a:r>
            <a:r>
              <a:rPr kumimoji="1" lang="en-US" altLang="ja-JP" dirty="0"/>
              <a:t>AI</a:t>
            </a:r>
            <a:r>
              <a:rPr kumimoji="1" lang="ja-JP" altLang="en-US" dirty="0"/>
              <a:t>の中でも、主に言語を扱う</a:t>
            </a:r>
            <a:r>
              <a:rPr kumimoji="1" lang="en-US" altLang="ja-JP" dirty="0"/>
              <a:t>LLM</a:t>
            </a:r>
            <a:r>
              <a:rPr kumimoji="1" lang="ja-JP" altLang="en-US" dirty="0"/>
              <a:t>、大規模言語モデルを対象とします。</a:t>
            </a:r>
            <a:r>
              <a:rPr kumimoji="1" lang="en-US" altLang="ja-JP" dirty="0"/>
              <a:t>LLM</a:t>
            </a:r>
            <a:r>
              <a:rPr kumimoji="1" lang="ja-JP" altLang="en-US" dirty="0"/>
              <a:t>は、大量のデータを用いて事前学習された、大規模な言語モデルです。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LLM</a:t>
            </a:r>
            <a:r>
              <a:rPr kumimoji="1" lang="ja-JP" altLang="en-US" dirty="0"/>
              <a:t>に対して行う「追加学習」について説明します。</a:t>
            </a:r>
            <a:r>
              <a:rPr kumimoji="1" lang="en-US" altLang="ja-JP" dirty="0"/>
              <a:t>LLM</a:t>
            </a:r>
            <a:r>
              <a:rPr kumimoji="1" lang="ja-JP" altLang="en-US" dirty="0"/>
              <a:t>はまず、大量のデータを使って事前学習されますが、その後、特定の目的に適応させるために追加の学習を行うことがあります。このような事前学習後の学習を、</a:t>
            </a:r>
            <a:r>
              <a:rPr kumimoji="1" lang="en-US" altLang="ja-JP" dirty="0"/>
              <a:t>Post-training</a:t>
            </a:r>
            <a:r>
              <a:rPr kumimoji="1" lang="ja-JP" altLang="en-US" dirty="0"/>
              <a:t>、追加学習と呼びます。本研究では、その中でも</a:t>
            </a:r>
            <a:r>
              <a:rPr kumimoji="1" lang="en-US" altLang="ja-JP" dirty="0"/>
              <a:t>Supervised Fine-tuning</a:t>
            </a:r>
            <a:r>
              <a:rPr kumimoji="1" lang="ja-JP" altLang="en-US" dirty="0"/>
              <a:t>、</a:t>
            </a:r>
            <a:r>
              <a:rPr kumimoji="1" lang="en-US" altLang="ja-JP" dirty="0"/>
              <a:t>SFT</a:t>
            </a:r>
            <a:r>
              <a:rPr kumimoji="1" lang="ja-JP" altLang="en-US" dirty="0"/>
              <a:t>と呼ばれる教師ありファインチューニングを扱います。</a:t>
            </a:r>
            <a:r>
              <a:rPr kumimoji="1" lang="en-US" altLang="ja-JP" dirty="0"/>
              <a:t>SFT</a:t>
            </a:r>
            <a:r>
              <a:rPr kumimoji="1" lang="ja-JP" altLang="en-US" dirty="0"/>
              <a:t>は、入力された指示と、それに対応する望ましい出力の組み合わせを用いて、</a:t>
            </a:r>
            <a:r>
              <a:rPr kumimoji="1" lang="en-US" altLang="ja-JP" dirty="0"/>
              <a:t>LLM</a:t>
            </a:r>
            <a:r>
              <a:rPr kumimoji="1" lang="ja-JP" altLang="en-US" dirty="0"/>
              <a:t>にその対応関係を学習させる手法です。本研究では、この</a:t>
            </a:r>
            <a:r>
              <a:rPr kumimoji="1" lang="en-US" altLang="ja-JP" dirty="0"/>
              <a:t>SFT</a:t>
            </a:r>
            <a:r>
              <a:rPr kumimoji="1" lang="ja-JP" altLang="en-US" dirty="0"/>
              <a:t>によって、</a:t>
            </a:r>
            <a:r>
              <a:rPr kumimoji="1" lang="en-US" altLang="ja-JP" dirty="0"/>
              <a:t>LLM</a:t>
            </a:r>
            <a:r>
              <a:rPr kumimoji="1" lang="ja-JP" altLang="en-US" dirty="0"/>
              <a:t>の問題解決能力がどのように変化するのかを分析します。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a:t>SFT</a:t>
            </a:r>
            <a:r>
              <a:rPr kumimoji="1" lang="ja-JP" altLang="en-US" dirty="0"/>
              <a:t>による学習と、未知の問題への汎化についての先行研究を紹介します。</a:t>
            </a:r>
            <a:endParaRPr kumimoji="1" lang="en-US" altLang="ja-JP" dirty="0"/>
          </a:p>
          <a:p>
            <a:endParaRPr kumimoji="1" lang="ja-JP" altLang="en-US" dirty="0"/>
          </a:p>
          <a:p>
            <a:r>
              <a:rPr kumimoji="1" lang="ja-JP" altLang="en-US" dirty="0"/>
              <a:t>まず、</a:t>
            </a:r>
            <a:r>
              <a:rPr kumimoji="1" lang="en-US" altLang="ja-JP" dirty="0"/>
              <a:t>Chu et al.</a:t>
            </a:r>
            <a:r>
              <a:rPr kumimoji="1" lang="ja-JP" altLang="en-US" dirty="0"/>
              <a:t>の研究では、</a:t>
            </a:r>
            <a:r>
              <a:rPr kumimoji="1" lang="en-US" altLang="ja-JP" dirty="0"/>
              <a:t>SFT</a:t>
            </a:r>
            <a:r>
              <a:rPr kumimoji="1" lang="ja-JP" altLang="en-US" dirty="0"/>
              <a:t>と、</a:t>
            </a:r>
            <a:r>
              <a:rPr kumimoji="1" lang="en-US" altLang="ja-JP" dirty="0"/>
              <a:t>SFT</a:t>
            </a:r>
            <a:r>
              <a:rPr kumimoji="1" lang="ja-JP" altLang="en-US" dirty="0"/>
              <a:t>とは異なる学習手法である</a:t>
            </a:r>
            <a:r>
              <a:rPr kumimoji="1" lang="en-US" altLang="ja-JP" dirty="0"/>
              <a:t>RL</a:t>
            </a:r>
            <a:r>
              <a:rPr kumimoji="1" lang="ja-JP" altLang="en-US" dirty="0"/>
              <a:t>の汎化性能を比較しています。</a:t>
            </a:r>
          </a:p>
          <a:p>
            <a:r>
              <a:rPr kumimoji="1" lang="ja-JP" altLang="en-US" dirty="0"/>
              <a:t>ここでいう汎化性能とは、学習した知識や処理を、学習していない問題にも適用できる性能のことです。</a:t>
            </a:r>
          </a:p>
          <a:p>
            <a:r>
              <a:rPr kumimoji="1" lang="ja-JP" altLang="en-US" dirty="0"/>
              <a:t>この研究では、</a:t>
            </a:r>
            <a:r>
              <a:rPr kumimoji="1" lang="en-US" altLang="ja-JP" dirty="0"/>
              <a:t>SFT</a:t>
            </a:r>
            <a:r>
              <a:rPr kumimoji="1" lang="ja-JP" altLang="en-US" dirty="0"/>
              <a:t>は学習データを記憶する傾向があり、未知の問題への汎化は限定的であることが示されています。</a:t>
            </a:r>
            <a:endParaRPr kumimoji="1" lang="en-US" altLang="ja-JP" dirty="0"/>
          </a:p>
          <a:p>
            <a:endParaRPr kumimoji="1" lang="ja-JP" altLang="en-US" dirty="0"/>
          </a:p>
          <a:p>
            <a:r>
              <a:rPr kumimoji="1" lang="ja-JP" altLang="en-US" dirty="0"/>
              <a:t>一方、</a:t>
            </a:r>
            <a:r>
              <a:rPr kumimoji="1" lang="en-US" altLang="ja-JP" dirty="0"/>
              <a:t>Ren et al.</a:t>
            </a:r>
            <a:r>
              <a:rPr kumimoji="1" lang="ja-JP" altLang="en-US" dirty="0"/>
              <a:t>の研究では、</a:t>
            </a:r>
            <a:r>
              <a:rPr kumimoji="1" lang="en-US" altLang="ja-JP" dirty="0"/>
              <a:t>SFT</a:t>
            </a:r>
            <a:r>
              <a:rPr kumimoji="1" lang="ja-JP" altLang="en-US" dirty="0"/>
              <a:t>による汎化性能が、どのような条件で変化するのかを分析しています。</a:t>
            </a:r>
          </a:p>
          <a:p>
            <a:r>
              <a:rPr kumimoji="1" lang="ja-JP" altLang="en-US" dirty="0"/>
              <a:t>その結果、最適化方法や学習データ、モデルの能力など、学習条件によって</a:t>
            </a:r>
            <a:r>
              <a:rPr kumimoji="1" lang="en-US" altLang="ja-JP" dirty="0"/>
              <a:t>SFT</a:t>
            </a:r>
            <a:r>
              <a:rPr kumimoji="1" lang="ja-JP" altLang="en-US" dirty="0"/>
              <a:t>の汎化性能が変化することが示されています。</a:t>
            </a:r>
          </a:p>
          <a:p>
            <a:r>
              <a:rPr kumimoji="1" lang="en-US" altLang="ja-JP" dirty="0"/>
              <a:t>SFT</a:t>
            </a:r>
            <a:r>
              <a:rPr kumimoji="1" lang="ja-JP" altLang="en-US" dirty="0"/>
              <a:t>では必ずしも未知の問題への汎化が難しいわけではなく、条件によっては汎化性能が向上することが分かっています。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による未知の問題への汎化は限定的である一方で、その性能は学習条件によって変化することが分かっています。</a:t>
            </a:r>
          </a:p>
          <a:p>
            <a:endParaRPr kumimoji="1" lang="ja-JP" altLang="en-US" dirty="0"/>
          </a:p>
          <a:p>
            <a:r>
              <a:rPr kumimoji="1" lang="ja-JP" altLang="en-US" dirty="0"/>
              <a:t>しかし、これまでの研究では、主に正解率を用いて汎化性能を評価しているため、モデルが問題を解く過程のどの段階でつまずいているのかまでは分かりません。</a:t>
            </a:r>
          </a:p>
          <a:p>
            <a:endParaRPr kumimoji="1" lang="ja-JP" altLang="en-US" dirty="0"/>
          </a:p>
          <a:p>
            <a:r>
              <a:rPr kumimoji="1" lang="ja-JP" altLang="en-US" dirty="0"/>
              <a:t>また、未知の問題への汎化を評価するときには、何を未知とするのかによって、評価される能力も変わります。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ここまでの先行研究から、</a:t>
            </a:r>
            <a:r>
              <a:rPr kumimoji="1" lang="en-US" altLang="ja-JP" dirty="0"/>
              <a:t>SFT</a:t>
            </a:r>
            <a:r>
              <a:rPr kumimoji="1" lang="ja-JP" altLang="en-US" dirty="0"/>
              <a:t>による未知の問題への汎化は限定的である一方で、学習条件によっては汎化性能が向上することが分かっています。</a:t>
            </a:r>
          </a:p>
          <a:p>
            <a:r>
              <a:rPr kumimoji="1" lang="ja-JP" altLang="en-US" dirty="0"/>
              <a:t>そこで本研究では、そもそも何を未知とするのかを明確にした上で、</a:t>
            </a:r>
            <a:r>
              <a:rPr kumimoji="1" lang="en-US" altLang="ja-JP" dirty="0"/>
              <a:t>SFT</a:t>
            </a:r>
            <a:r>
              <a:rPr kumimoji="1" lang="ja-JP" altLang="en-US" dirty="0"/>
              <a:t>によってどのような能力が獲得されるのかを分析します。</a:t>
            </a:r>
          </a:p>
          <a:p>
            <a:r>
              <a:rPr kumimoji="1" lang="ja-JP" altLang="en-US" dirty="0"/>
              <a:t>特に今回は、既知の要素を新しい組み合わせで利用する能力に着目します。</a:t>
            </a:r>
          </a:p>
          <a:p>
            <a:r>
              <a:rPr kumimoji="1" lang="ja-JP" altLang="en-US" dirty="0"/>
              <a:t>これは、既知の単純な処理を組み合わせた、未知の複雑な処理への汎化が、</a:t>
            </a:r>
            <a:r>
              <a:rPr kumimoji="1" lang="en-US" altLang="ja-JP" dirty="0"/>
              <a:t>LLM</a:t>
            </a:r>
            <a:r>
              <a:rPr kumimoji="1" lang="ja-JP" altLang="en-US" dirty="0"/>
              <a:t>の性能を考える上で重要な側面であるという先行研究を踏まえたものです。</a:t>
            </a:r>
          </a:p>
          <a:p>
            <a:r>
              <a:rPr kumimoji="1" lang="ja-JP" altLang="en-US" dirty="0"/>
              <a:t>そこで、実験では個々の処理については学習済みとし、処理の組み合わせだけを未知とする問題を設定します。</a:t>
            </a:r>
          </a:p>
          <a:p>
            <a:r>
              <a:rPr kumimoji="1" lang="ja-JP" altLang="en-US" dirty="0"/>
              <a:t>このように、既知の構成要素を未知の組み合わせへ汎化することを、</a:t>
            </a:r>
            <a:r>
              <a:rPr kumimoji="1" lang="en-US" altLang="ja-JP" dirty="0"/>
              <a:t>Compositional Generalization</a:t>
            </a:r>
            <a:r>
              <a:rPr kumimoji="1" lang="ja-JP" altLang="en-US" dirty="0"/>
              <a:t>と呼びます。</a:t>
            </a:r>
          </a:p>
          <a:p>
            <a:r>
              <a:rPr kumimoji="1" lang="ja-JP" altLang="en-US" dirty="0"/>
              <a:t>本研究では、この</a:t>
            </a:r>
            <a:r>
              <a:rPr lang="en-US" altLang="ja-JP" dirty="0"/>
              <a:t>Compositional Generalization</a:t>
            </a:r>
            <a:r>
              <a:rPr kumimoji="1" lang="ja-JP" altLang="en-US" dirty="0"/>
              <a:t>に着目して、</a:t>
            </a:r>
            <a:r>
              <a:rPr kumimoji="1" lang="en-US" altLang="ja-JP" dirty="0"/>
              <a:t>SFT</a:t>
            </a:r>
            <a:r>
              <a:rPr kumimoji="1" lang="ja-JP" altLang="en-US" dirty="0"/>
              <a:t>によって問題解決能力がどのように変化するのかを分析します。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a:t>
            </a:r>
            <a:r>
              <a:rPr kumimoji="1" lang="en-US" altLang="ja-JP" dirty="0" err="1"/>
              <a:t>composeitional</a:t>
            </a:r>
            <a:r>
              <a:rPr kumimoji="1" lang="en-US" altLang="ja-JP" dirty="0"/>
              <a:t> generalization</a:t>
            </a:r>
            <a:r>
              <a:rPr kumimoji="1" lang="ja-JP" altLang="en-US" dirty="0"/>
              <a:t>に関する先行研究を紹介します。</a:t>
            </a:r>
          </a:p>
          <a:p>
            <a:endParaRPr kumimoji="1" lang="ja-JP" altLang="en-US" dirty="0"/>
          </a:p>
          <a:p>
            <a:r>
              <a:rPr kumimoji="1" lang="ja-JP" altLang="en-US" dirty="0"/>
              <a:t>まず、</a:t>
            </a:r>
            <a:r>
              <a:rPr kumimoji="1" lang="en-US" altLang="ja-JP" dirty="0"/>
              <a:t>Yang et al.</a:t>
            </a:r>
            <a:r>
              <a:rPr kumimoji="1" lang="ja-JP" altLang="en-US" dirty="0"/>
              <a:t>の研究では、複数の単純な指示を組み合わせた複雑な指示に対して、</a:t>
            </a:r>
            <a:r>
              <a:rPr kumimoji="1" lang="en-US" altLang="ja-JP" dirty="0"/>
              <a:t>LLM</a:t>
            </a:r>
            <a:r>
              <a:rPr kumimoji="1" lang="ja-JP" altLang="en-US" dirty="0"/>
              <a:t>がどの程度汎化できるのかを</a:t>
            </a:r>
            <a:r>
              <a:rPr kumimoji="1" lang="en-US" altLang="ja-JP" dirty="0"/>
              <a:t>SFT</a:t>
            </a:r>
            <a:r>
              <a:rPr kumimoji="1" lang="ja-JP" altLang="en-US" dirty="0"/>
              <a:t>によって検証しています。その結果、</a:t>
            </a:r>
            <a:r>
              <a:rPr kumimoji="1" lang="en-US" altLang="ja-JP" dirty="0"/>
              <a:t>SFT</a:t>
            </a:r>
            <a:r>
              <a:rPr kumimoji="1" lang="ja-JP" altLang="en-US" dirty="0"/>
              <a:t>による学習によって、学習した単純な指示を組み合わせた複雑な指示への汎化が可能であることが示されています。</a:t>
            </a:r>
          </a:p>
          <a:p>
            <a:endParaRPr kumimoji="1" lang="ja-JP" altLang="en-US" dirty="0"/>
          </a:p>
          <a:p>
            <a:r>
              <a:rPr kumimoji="1" lang="ja-JP" altLang="en-US" dirty="0"/>
              <a:t>また、</a:t>
            </a:r>
            <a:r>
              <a:rPr kumimoji="1" lang="en-US" altLang="ja-JP" dirty="0"/>
              <a:t>Hayati et al.</a:t>
            </a:r>
            <a:r>
              <a:rPr kumimoji="1" lang="ja-JP" altLang="en-US" dirty="0"/>
              <a:t>の研究では、複数の処理を組み合わせた問題を</a:t>
            </a:r>
            <a:r>
              <a:rPr kumimoji="1" lang="en-US" altLang="ja-JP" dirty="0"/>
              <a:t>SFT</a:t>
            </a:r>
            <a:r>
              <a:rPr kumimoji="1" lang="ja-JP" altLang="en-US" dirty="0"/>
              <a:t>し、学習時よりも長い処理の組み合わせに対しても汎化できるかを検証しています。その結果、学習時よりも長い処理の組み合わせへの汎化が可能であることが示されています。</a:t>
            </a:r>
          </a:p>
          <a:p>
            <a:endParaRPr kumimoji="1" lang="ja-JP" altLang="en-US" dirty="0"/>
          </a:p>
          <a:p>
            <a:r>
              <a:rPr kumimoji="1" lang="ja-JP" altLang="en-US" dirty="0"/>
              <a:t>これらの研究から、</a:t>
            </a:r>
            <a:r>
              <a:rPr kumimoji="1" lang="en-US" altLang="ja-JP" dirty="0"/>
              <a:t>SFT</a:t>
            </a:r>
            <a:r>
              <a:rPr kumimoji="1" lang="ja-JP" altLang="en-US" dirty="0"/>
              <a:t>によって、学習した単純な処理を組み合わせて、学習時には存在しなかった複雑な処理へ汎化できる可能性が示されています。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ここまでの先行研究を踏まえ、本研究では</a:t>
            </a:r>
            <a:r>
              <a:rPr kumimoji="1" lang="en-US" altLang="ja-JP" dirty="0"/>
              <a:t>2</a:t>
            </a:r>
            <a:r>
              <a:rPr kumimoji="1" lang="ja-JP" altLang="en-US" dirty="0"/>
              <a:t>つの研究課題を設定します。</a:t>
            </a:r>
          </a:p>
          <a:p>
            <a:endParaRPr kumimoji="1" lang="ja-JP" altLang="en-US" dirty="0"/>
          </a:p>
          <a:p>
            <a:r>
              <a:rPr kumimoji="1" lang="ja-JP" altLang="en-US" dirty="0"/>
              <a:t>まず、</a:t>
            </a:r>
            <a:r>
              <a:rPr kumimoji="1" lang="en-US" altLang="ja-JP" dirty="0"/>
              <a:t>RQ1</a:t>
            </a:r>
            <a:r>
              <a:rPr kumimoji="1" lang="ja-JP" altLang="en-US" dirty="0"/>
              <a:t>では、</a:t>
            </a:r>
            <a:r>
              <a:rPr kumimoji="1" lang="en-US" altLang="ja-JP" dirty="0"/>
              <a:t>SFT</a:t>
            </a:r>
            <a:r>
              <a:rPr kumimoji="1" lang="ja-JP" altLang="en-US" dirty="0"/>
              <a:t>によって、既知の処理を新しい組み合わせで適用する問題解決能力が獲得されるのかを明らかにします。</a:t>
            </a:r>
          </a:p>
          <a:p>
            <a:endParaRPr kumimoji="1" lang="ja-JP" altLang="en-US" dirty="0"/>
          </a:p>
          <a:p>
            <a:r>
              <a:rPr kumimoji="1" lang="ja-JP" altLang="en-US" dirty="0"/>
              <a:t>個々の処理については学習している状態で、それらを学習時とは異なる組み合わせで使う問題に対して、</a:t>
            </a:r>
            <a:r>
              <a:rPr kumimoji="1" lang="en-US" altLang="ja-JP" dirty="0"/>
              <a:t>SFT</a:t>
            </a:r>
            <a:r>
              <a:rPr kumimoji="1" lang="ja-JP" altLang="en-US" dirty="0"/>
              <a:t>によって対応できるようになるのかを検証します。</a:t>
            </a:r>
          </a:p>
          <a:p>
            <a:endParaRPr kumimoji="1" lang="ja-JP" altLang="en-US" dirty="0"/>
          </a:p>
          <a:p>
            <a:r>
              <a:rPr kumimoji="1" lang="ja-JP" altLang="en-US" dirty="0"/>
              <a:t>次に、</a:t>
            </a:r>
            <a:r>
              <a:rPr kumimoji="1" lang="en-US" altLang="ja-JP" dirty="0"/>
              <a:t>RQ2</a:t>
            </a:r>
            <a:r>
              <a:rPr kumimoji="1" lang="ja-JP" altLang="en-US" dirty="0"/>
              <a:t>では、教師データの違いが、この能力の獲得にどのような影響を与えるのかを明らかにします。</a:t>
            </a:r>
          </a:p>
          <a:p>
            <a:endParaRPr kumimoji="1" lang="ja-JP" altLang="en-US" dirty="0"/>
          </a:p>
          <a:p>
            <a:r>
              <a:rPr kumimoji="1" lang="ja-JP" altLang="en-US" dirty="0"/>
              <a:t>本研究では、答えのみを教える場合と、答えに加えて処理過程も教える場合を比較することで、教師データの違いによって、問題解決能力の獲得にどのような違いが生じるのかを検証します。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前述したような、数字の列に対して行う簡単な処理を</a:t>
            </a:r>
            <a:r>
              <a:rPr kumimoji="1" lang="en-US" altLang="ja-JP" dirty="0"/>
              <a:t>20</a:t>
            </a:r>
            <a:r>
              <a:rPr kumimoji="1" lang="ja-JP" altLang="en-US" dirty="0"/>
              <a:t>種類用意しました。問題を作成する際には、これらの処理をそのまま</a:t>
            </a:r>
            <a:r>
              <a:rPr kumimoji="1" lang="en-US" altLang="ja-JP" dirty="0"/>
              <a:t>1</a:t>
            </a:r>
            <a:r>
              <a:rPr kumimoji="1" lang="ja-JP" altLang="en-US" dirty="0"/>
              <a:t>つだけ適用する問題と、</a:t>
            </a:r>
            <a:r>
              <a:rPr kumimoji="1" lang="en-US" altLang="ja-JP" dirty="0"/>
              <a:t>2</a:t>
            </a:r>
            <a:r>
              <a:rPr kumimoji="1" lang="ja-JP" altLang="en-US" dirty="0"/>
              <a:t>つの処理を組み合わせて適用する問題を作成しました。ただし、</a:t>
            </a:r>
            <a:r>
              <a:rPr kumimoji="1" lang="en-US" altLang="ja-JP" dirty="0"/>
              <a:t>20</a:t>
            </a:r>
            <a:r>
              <a:rPr kumimoji="1" lang="ja-JP" altLang="en-US" dirty="0"/>
              <a:t>種類の処理をすべて組み合わせるわけではなく、処理単体の</a:t>
            </a:r>
            <a:r>
              <a:rPr kumimoji="1" lang="en-US" altLang="ja-JP" dirty="0"/>
              <a:t>20</a:t>
            </a:r>
            <a:r>
              <a:rPr kumimoji="1" lang="ja-JP" altLang="en-US" dirty="0"/>
              <a:t>種類に加えて、</a:t>
            </a:r>
            <a:r>
              <a:rPr kumimoji="1" lang="en-US" altLang="ja-JP" dirty="0"/>
              <a:t>2</a:t>
            </a:r>
            <a:r>
              <a:rPr kumimoji="1" lang="ja-JP" altLang="en-US" dirty="0"/>
              <a:t>つの処理を組み合わせた</a:t>
            </a:r>
            <a:r>
              <a:rPr kumimoji="1" lang="en-US" altLang="ja-JP" dirty="0"/>
              <a:t>52</a:t>
            </a:r>
            <a:r>
              <a:rPr kumimoji="1" lang="ja-JP" altLang="en-US" dirty="0"/>
              <a:t>種類のルールを用意しました。したがって、実験では全体で</a:t>
            </a:r>
            <a:r>
              <a:rPr kumimoji="1" lang="en-US" altLang="ja-JP" dirty="0"/>
              <a:t>72</a:t>
            </a:r>
            <a:r>
              <a:rPr kumimoji="1" lang="ja-JP" altLang="en-US"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こちらが実験結果です。</a:t>
            </a:r>
          </a:p>
          <a:p>
            <a:endParaRPr kumimoji="1" lang="ja-JP" altLang="en-US" dirty="0"/>
          </a:p>
          <a:p>
            <a:r>
              <a:rPr kumimoji="1" lang="ja-JP" altLang="en-US" dirty="0"/>
              <a:t>ベースモデル、答えのみ</a:t>
            </a:r>
            <a:r>
              <a:rPr kumimoji="1" lang="en-US" altLang="ja-JP" dirty="0"/>
              <a:t>SFT</a:t>
            </a:r>
            <a:r>
              <a:rPr kumimoji="1" lang="ja-JP" altLang="en-US" dirty="0"/>
              <a:t>、答え＋処理過程</a:t>
            </a:r>
            <a:r>
              <a:rPr kumimoji="1" lang="en-US" altLang="ja-JP" dirty="0"/>
              <a:t>SFT</a:t>
            </a:r>
            <a:r>
              <a:rPr kumimoji="1" lang="ja-JP" altLang="en-US" dirty="0"/>
              <a:t>の</a:t>
            </a:r>
            <a:r>
              <a:rPr kumimoji="1" lang="en-US" altLang="ja-JP" dirty="0"/>
              <a:t>3</a:t>
            </a:r>
            <a:r>
              <a:rPr kumimoji="1" lang="ja-JP" altLang="en-US" dirty="0"/>
              <a:t>つのモデルについて、</a:t>
            </a:r>
            <a:r>
              <a:rPr kumimoji="1" lang="en-US" altLang="ja-JP" dirty="0"/>
              <a:t>2</a:t>
            </a:r>
            <a:r>
              <a:rPr kumimoji="1" lang="ja-JP" altLang="en-US" dirty="0"/>
              <a:t>種類のテストデータで正解率を比較しました。</a:t>
            </a:r>
          </a:p>
          <a:p>
            <a:endParaRPr kumimoji="1" lang="ja-JP" altLang="en-US" dirty="0"/>
          </a:p>
          <a:p>
            <a:r>
              <a:rPr kumimoji="1" lang="ja-JP" altLang="en-US" dirty="0"/>
              <a:t>まず、テストデータ</a:t>
            </a:r>
            <a:r>
              <a:rPr kumimoji="1" lang="en-US" altLang="ja-JP" dirty="0"/>
              <a:t>1</a:t>
            </a:r>
            <a:r>
              <a:rPr kumimoji="1" lang="ja-JP" altLang="en-US" dirty="0"/>
              <a:t>では、ベースモデルが約</a:t>
            </a:r>
            <a:r>
              <a:rPr kumimoji="1" lang="en-US" altLang="ja-JP" dirty="0"/>
              <a:t>40</a:t>
            </a:r>
            <a:r>
              <a:rPr kumimoji="1" lang="ja-JP" altLang="en-US" dirty="0"/>
              <a:t>％だったのに対して、答えのみ</a:t>
            </a:r>
            <a:r>
              <a:rPr kumimoji="1" lang="en-US" altLang="ja-JP" dirty="0"/>
              <a:t>SFT</a:t>
            </a:r>
            <a:r>
              <a:rPr kumimoji="1" lang="ja-JP" altLang="en-US" dirty="0"/>
              <a:t>では約</a:t>
            </a:r>
            <a:r>
              <a:rPr kumimoji="1" lang="en-US" altLang="ja-JP" dirty="0"/>
              <a:t>71</a:t>
            </a:r>
            <a:r>
              <a:rPr kumimoji="1" lang="ja-JP" altLang="en-US" dirty="0"/>
              <a:t>％、答え＋処理過程</a:t>
            </a:r>
            <a:r>
              <a:rPr kumimoji="1" lang="en-US" altLang="ja-JP" dirty="0"/>
              <a:t>SFT</a:t>
            </a:r>
            <a:r>
              <a:rPr kumimoji="1" lang="ja-JP" altLang="en-US" dirty="0"/>
              <a:t>では約</a:t>
            </a:r>
            <a:r>
              <a:rPr kumimoji="1" lang="en-US" altLang="ja-JP" dirty="0"/>
              <a:t>80</a:t>
            </a:r>
            <a:r>
              <a:rPr kumimoji="1" lang="ja-JP" altLang="en-US" dirty="0"/>
              <a:t>％となりました。</a:t>
            </a:r>
          </a:p>
          <a:p>
            <a:endParaRPr kumimoji="1" lang="ja-JP" altLang="en-US" dirty="0"/>
          </a:p>
          <a:p>
            <a:r>
              <a:rPr kumimoji="1" lang="ja-JP" altLang="en-US" dirty="0"/>
              <a:t>このことから、</a:t>
            </a:r>
            <a:r>
              <a:rPr kumimoji="1" lang="en-US" altLang="ja-JP" dirty="0"/>
              <a:t>SFT</a:t>
            </a:r>
            <a:r>
              <a:rPr kumimoji="1" lang="ja-JP" altLang="en-US" dirty="0"/>
              <a:t>によって正解率が大きく向上しており、特に答えに加えて処理過程を学習させた場合に高い正解率が得られました。</a:t>
            </a:r>
          </a:p>
          <a:p>
            <a:endParaRPr kumimoji="1" lang="ja-JP" altLang="en-US" dirty="0"/>
          </a:p>
          <a:p>
            <a:r>
              <a:rPr kumimoji="1" lang="ja-JP" altLang="en-US" dirty="0"/>
              <a:t>一方、テストデータ</a:t>
            </a:r>
            <a:r>
              <a:rPr kumimoji="1" lang="en-US" altLang="ja-JP" dirty="0"/>
              <a:t>2</a:t>
            </a:r>
            <a:r>
              <a:rPr kumimoji="1" lang="ja-JP" altLang="en-US" dirty="0"/>
              <a:t>では、ベースモデルが約</a:t>
            </a:r>
            <a:r>
              <a:rPr kumimoji="1" lang="en-US" altLang="ja-JP" dirty="0"/>
              <a:t>13</a:t>
            </a:r>
            <a:r>
              <a:rPr kumimoji="1" lang="ja-JP" altLang="en-US" dirty="0"/>
              <a:t>％、答えのみ</a:t>
            </a:r>
            <a:r>
              <a:rPr kumimoji="1" lang="en-US" altLang="ja-JP" dirty="0"/>
              <a:t>SFT</a:t>
            </a:r>
            <a:r>
              <a:rPr kumimoji="1" lang="ja-JP" altLang="en-US" dirty="0"/>
              <a:t>が約</a:t>
            </a:r>
            <a:r>
              <a:rPr kumimoji="1" lang="en-US" altLang="ja-JP" dirty="0"/>
              <a:t>41</a:t>
            </a:r>
            <a:r>
              <a:rPr kumimoji="1" lang="ja-JP" altLang="en-US" dirty="0"/>
              <a:t>％、答え＋処理過程</a:t>
            </a:r>
            <a:r>
              <a:rPr kumimoji="1" lang="en-US" altLang="ja-JP" dirty="0"/>
              <a:t>SFT</a:t>
            </a:r>
            <a:r>
              <a:rPr kumimoji="1" lang="ja-JP" altLang="en-US" dirty="0"/>
              <a:t>が約</a:t>
            </a:r>
            <a:r>
              <a:rPr kumimoji="1" lang="en-US" altLang="ja-JP" dirty="0"/>
              <a:t>20</a:t>
            </a:r>
            <a:r>
              <a:rPr kumimoji="1" lang="ja-JP" altLang="en-US" dirty="0"/>
              <a:t>％となりました。</a:t>
            </a:r>
          </a:p>
          <a:p>
            <a:endParaRPr kumimoji="1" lang="ja-JP" altLang="en-US" dirty="0"/>
          </a:p>
          <a:p>
            <a:r>
              <a:rPr kumimoji="1" lang="ja-JP" altLang="en-US" dirty="0"/>
              <a:t>テストデータ</a:t>
            </a:r>
            <a:r>
              <a:rPr kumimoji="1" lang="en-US" altLang="ja-JP" dirty="0"/>
              <a:t>2</a:t>
            </a:r>
            <a:r>
              <a:rPr kumimoji="1" lang="ja-JP" altLang="en-US" dirty="0"/>
              <a:t>では、答えのみ</a:t>
            </a:r>
            <a:r>
              <a:rPr kumimoji="1" lang="en-US" altLang="ja-JP" dirty="0"/>
              <a:t>SFT</a:t>
            </a:r>
            <a:r>
              <a:rPr kumimoji="1" lang="ja-JP" altLang="en-US" dirty="0"/>
              <a:t>が最も高い正解率となっており、答え＋処理過程</a:t>
            </a:r>
            <a:r>
              <a:rPr kumimoji="1" lang="en-US" altLang="ja-JP" dirty="0"/>
              <a:t>SFT</a:t>
            </a:r>
            <a:r>
              <a:rPr kumimoji="1" lang="ja-JP" altLang="en-US" dirty="0"/>
              <a:t>では、テストデータ</a:t>
            </a:r>
            <a:r>
              <a:rPr kumimoji="1" lang="en-US" altLang="ja-JP" dirty="0"/>
              <a:t>1</a:t>
            </a:r>
            <a:r>
              <a:rPr kumimoji="1" lang="ja-JP" altLang="en-US" dirty="0"/>
              <a:t>と比べて正解率が大きく低下しています。</a:t>
            </a:r>
          </a:p>
          <a:p>
            <a:endParaRPr kumimoji="1" lang="ja-JP" altLang="en-US" dirty="0"/>
          </a:p>
          <a:p>
            <a:r>
              <a:rPr kumimoji="1" lang="ja-JP" altLang="en-US" dirty="0"/>
              <a:t>このように、教師データの違いによって、テストデータに対する性能に異なる傾向が見られました。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2026/9/15</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dirty="0"/>
              <a:t>生成</a:t>
            </a:r>
            <a:r>
              <a:rPr lang="en-US" altLang="ja-JP" dirty="0"/>
              <a:t>AI</a:t>
            </a:r>
          </a:p>
          <a:p>
            <a:pPr lvl="1"/>
            <a:r>
              <a:rPr lang="ja-JP" altLang="en-US" dirty="0"/>
              <a:t>ユーザの指示に基づき、文章・画像・プログラムコードなどの新しいコンテンツを生成する</a:t>
            </a:r>
            <a:r>
              <a:rPr lang="en-US" altLang="ja-JP" dirty="0"/>
              <a:t>AI</a:t>
            </a:r>
            <a:r>
              <a:rPr lang="en-US" altLang="ja-JP" baseline="30000" dirty="0"/>
              <a:t>1</a:t>
            </a:r>
          </a:p>
          <a:p>
            <a:endParaRPr lang="en-US" altLang="ja-JP" baseline="30000" dirty="0"/>
          </a:p>
          <a:p>
            <a:r>
              <a:rPr lang="en-US" altLang="ja-JP" dirty="0"/>
              <a:t>LLM(</a:t>
            </a:r>
            <a:r>
              <a:rPr lang="ja-JP" altLang="en-US" dirty="0"/>
              <a:t>大規模言語モデル</a:t>
            </a:r>
            <a:r>
              <a:rPr lang="en-US" altLang="ja-JP" dirty="0"/>
              <a:t>)</a:t>
            </a:r>
          </a:p>
          <a:p>
            <a:pPr lvl="1"/>
            <a:r>
              <a:rPr lang="ja-JP" altLang="en-US" dirty="0"/>
              <a:t>生成</a:t>
            </a:r>
            <a:r>
              <a:rPr lang="en-US" altLang="ja-JP" dirty="0"/>
              <a:t>AI</a:t>
            </a:r>
            <a:r>
              <a:rPr lang="ja-JP" altLang="en-US" dirty="0"/>
              <a:t>の中でも、主に「言語」を扱うモデル</a:t>
            </a:r>
            <a:endParaRPr lang="en-US" altLang="ja-JP" dirty="0"/>
          </a:p>
          <a:p>
            <a:pPr lvl="1"/>
            <a:r>
              <a:rPr lang="ja-JP" altLang="en-US" dirty="0"/>
              <a:t>大量のデータで事前学習された、大規模な言語モデル</a:t>
            </a:r>
            <a:r>
              <a:rPr lang="en-US" altLang="ja-JP"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lstStyle/>
          <a:p>
            <a:r>
              <a:rPr lang="en-US" altLang="ja-JP" dirty="0"/>
              <a:t>Post-training(</a:t>
            </a:r>
            <a:r>
              <a:rPr lang="ja-JP" altLang="en-US" dirty="0"/>
              <a:t>追加学習</a:t>
            </a:r>
            <a:r>
              <a:rPr lang="en-US" altLang="ja-JP" dirty="0"/>
              <a:t>)</a:t>
            </a:r>
          </a:p>
          <a:p>
            <a:pPr lvl="1"/>
            <a:r>
              <a:rPr lang="ja-JP" altLang="en-US" dirty="0"/>
              <a:t>事前学習後に、</a:t>
            </a:r>
            <a:r>
              <a:rPr lang="en-US" altLang="ja-JP" dirty="0"/>
              <a:t>LLM</a:t>
            </a:r>
            <a:r>
              <a:rPr lang="ja-JP" altLang="en-US" dirty="0"/>
              <a:t>を特定の目的に適応させるための学習</a:t>
            </a:r>
            <a:r>
              <a:rPr lang="en-US" altLang="ja-JP" baseline="30000" dirty="0"/>
              <a:t>3</a:t>
            </a:r>
          </a:p>
          <a:p>
            <a:endParaRPr lang="en-US" altLang="ja-JP" dirty="0"/>
          </a:p>
          <a:p>
            <a:r>
              <a:rPr lang="en-US" altLang="ja-JP" dirty="0"/>
              <a:t>Supervised Fine-tuning(SFT)</a:t>
            </a:r>
          </a:p>
          <a:p>
            <a:pPr lvl="1"/>
            <a:r>
              <a:rPr lang="ja-JP" altLang="en-US" dirty="0"/>
              <a:t>教師ありファインチューニング</a:t>
            </a:r>
          </a:p>
          <a:p>
            <a:pPr lvl="1"/>
            <a:r>
              <a:rPr lang="ja-JP" altLang="en-US" dirty="0"/>
              <a:t>入力された指示と、それに対応する出力の関係を</a:t>
            </a:r>
            <a:r>
              <a:rPr lang="en-US" altLang="ja-JP" dirty="0"/>
              <a:t>LLM</a:t>
            </a:r>
            <a:r>
              <a:rPr lang="ja-JP" altLang="en-US" dirty="0"/>
              <a:t>に学習させる手法</a:t>
            </a:r>
            <a:r>
              <a:rPr lang="en-US" altLang="ja-JP" baseline="30000" dirty="0"/>
              <a:t>3</a:t>
            </a:r>
          </a:p>
          <a:p>
            <a:pPr lvl="1"/>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dirty="0"/>
              <a:t>汎化性能：学習した知識や処理を、学習していない問題にも適用できる性能</a:t>
            </a:r>
            <a:endParaRPr lang="en-US" altLang="ja-JP" dirty="0"/>
          </a:p>
          <a:p>
            <a:pPr lvl="1"/>
            <a:r>
              <a:rPr lang="en-US" altLang="ja-JP" dirty="0"/>
              <a:t>SFT</a:t>
            </a:r>
            <a:r>
              <a:rPr lang="ja-JP" altLang="en-US" dirty="0"/>
              <a:t>による学習では、未知の問題への汎化は限定的</a:t>
            </a:r>
            <a:endParaRPr lang="en-US" altLang="ja-JP"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による未知の問題への汎化は限定的であり、その性能は学習条件に依存することが示されている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dirty="0"/>
              <a:t>「</a:t>
            </a:r>
            <a:r>
              <a:rPr lang="ja-JP" altLang="ja-JP" dirty="0"/>
              <a:t>既知の単純な処理から、それらを組み合わせた複雑な処理への汎化は、LLMの汎化の重要な側面である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dirty="0"/>
              <a:t>複雑な指示で学習すると単純な指示にも対応できる一方、単純な指示から複雑な指示への対応は難しいことが示された。</a:t>
            </a:r>
            <a:endParaRPr kumimoji="1" lang="en-US" altLang="ja-JP"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dirty="0"/>
              <a:t>処理の順序を含むデータで追加学習することで、複雑な指示や未知の問題への対応能力が向上した。</a:t>
            </a:r>
            <a:endParaRPr kumimoji="1" lang="en-US" altLang="ja-JP"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における教師データの違いは、この能力の獲得にどのような影響を与えるのか？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rmAutofit fontScale="92500" lnSpcReduction="10000"/>
          </a:bodyPr>
          <a:lstStyle/>
          <a:p>
            <a:r>
              <a:rPr lang="ja-JP" altLang="en-US" dirty="0"/>
              <a:t>前述</a:t>
            </a:r>
            <a:r>
              <a:rPr kumimoji="1" lang="ja-JP" altLang="en-US" dirty="0"/>
              <a:t>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pPr lvl="1"/>
            <a:r>
              <a:rPr lang="en-US" altLang="ja-JP" dirty="0"/>
              <a:t>2</a:t>
            </a:r>
            <a:r>
              <a:rPr lang="ja-JP" altLang="en-US" dirty="0"/>
              <a:t>つの処理を組み合わせた問題の中には、処理の順番は関係ないものもある。</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a:t>
            </a:r>
            <a:r>
              <a:rPr kumimoji="1" lang="en-US" altLang="ja-JP" dirty="0"/>
              <a:t>5</a:t>
            </a:r>
            <a:r>
              <a:rPr lang="en-US" altLang="ja-JP" dirty="0"/>
              <a:t>2</a:t>
            </a:r>
            <a:r>
              <a:rPr kumimoji="1" lang="ja-JP" altLang="en-US" dirty="0"/>
              <a:t>種類用意</a:t>
            </a:r>
            <a:endParaRPr kumimoji="1" lang="en-US" altLang="ja-JP" dirty="0"/>
          </a:p>
          <a:p>
            <a:endParaRPr lang="en-US" altLang="ja-JP" dirty="0"/>
          </a:p>
          <a:p>
            <a:r>
              <a:rPr lang="ja-JP" altLang="en-US" dirty="0"/>
              <a:t>全体で</a:t>
            </a:r>
            <a:r>
              <a:rPr lang="en-US" altLang="ja-JP" dirty="0"/>
              <a:t>72</a:t>
            </a:r>
            <a:r>
              <a:rPr lang="ja-JP" altLang="en-US" dirty="0"/>
              <a:t>種類のルール</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lang="ja-JP" altLang="en-US" dirty="0"/>
              <a:t>問題文と答えだけのセット</a:t>
            </a:r>
            <a:endParaRPr lang="en-US" altLang="ja-JP" dirty="0"/>
          </a:p>
          <a:p>
            <a:r>
              <a:rPr kumimoji="1" lang="ja-JP" altLang="en-US" dirty="0"/>
              <a:t>処理の過程を答えの部分に含めたもの</a:t>
            </a:r>
            <a:endParaRPr kumimoji="1" lang="en-US" altLang="ja-JP" dirty="0"/>
          </a:p>
          <a:p>
            <a:pPr lvl="1"/>
            <a:r>
              <a:rPr lang="ja-JP" altLang="en-US" dirty="0"/>
              <a:t>処理単体でも、</a:t>
            </a:r>
            <a:r>
              <a:rPr lang="en-US" altLang="ja-JP" dirty="0"/>
              <a:t>2</a:t>
            </a:r>
            <a:r>
              <a:rPr lang="ja-JP" altLang="en-US" dirty="0"/>
              <a:t>つの処理を組み合わせても解けるときは処理単体の方を選ぶ</a:t>
            </a:r>
            <a:endParaRPr kumimoji="1" lang="en-US" altLang="ja-JP" dirty="0"/>
          </a:p>
          <a:p>
            <a:pPr lvl="1"/>
            <a:r>
              <a:rPr lang="ja-JP" altLang="en-US" dirty="0"/>
              <a:t>順番が関係ない処理過程については、</a:t>
            </a:r>
            <a:r>
              <a:rPr lang="en-US" altLang="ja-JP" dirty="0"/>
              <a:t>2</a:t>
            </a:r>
            <a:r>
              <a:rPr lang="ja-JP" altLang="en-US" dirty="0"/>
              <a:t>通り以上あるときはその中のどれか</a:t>
            </a:r>
            <a:r>
              <a:rPr lang="en-US" altLang="ja-JP" dirty="0"/>
              <a:t>1</a:t>
            </a:r>
            <a:r>
              <a:rPr lang="ja-JP" altLang="en-US" dirty="0"/>
              <a:t>つだけを選んで作成</a:t>
            </a:r>
          </a:p>
          <a:p>
            <a:pPr lvl="1"/>
            <a:endParaRPr kumimoji="1" lang="en-US" altLang="ja-JP"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(reverse): [7, 1, 8, 3, 1, 2, 8, 3, 9, 6]</a:t>
            </a:r>
          </a:p>
          <a:p>
            <a:r>
              <a:rPr kumimoji="1" lang="en-US" altLang="ja-JP" dirty="0"/>
              <a:t>Step 2 (add_1):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(reverse): [8, 0, 8, 7, 0]</a:t>
            </a:r>
          </a:p>
          <a:p>
            <a:r>
              <a:rPr kumimoji="1" lang="en-US" altLang="ja-JP" dirty="0"/>
              <a:t>Step 2 (add_1):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(reverse): [2, 4, 8, 3, 7]</a:t>
            </a:r>
          </a:p>
          <a:p>
            <a:r>
              <a:rPr kumimoji="1" lang="en-US" altLang="ja-JP" dirty="0"/>
              <a:t>Step 2 (add_1): [3, 5, 9, 4, 8]</a:t>
            </a:r>
          </a:p>
          <a:p>
            <a:r>
              <a:rPr kumimoji="1" lang="en-US" altLang="ja-JP" dirty="0"/>
              <a:t>Final Answer: [3, 5, 9, 4, 8]</a:t>
            </a:r>
            <a:endParaRPr kumimoji="1" lang="ja-JP" altLang="en-US"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(add_1): [7, 10, 4, 9, 3, 2, 4, 9, 2, 8]</a:t>
            </a:r>
          </a:p>
          <a:p>
            <a:r>
              <a:rPr kumimoji="1" lang="en-US" altLang="ja-JP" dirty="0"/>
              <a:t>Step 2 (reverse):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(add_1): [1, 8, 9, 1, 9]</a:t>
            </a:r>
          </a:p>
          <a:p>
            <a:r>
              <a:rPr kumimoji="1" lang="en-US" altLang="ja-JP" dirty="0"/>
              <a:t>Step 2 (reverse):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(add_1): [8, 4, 9, 5, 3]</a:t>
            </a:r>
          </a:p>
          <a:p>
            <a:r>
              <a:rPr kumimoji="1" lang="en-US" altLang="ja-JP" dirty="0"/>
              <a:t>Step 2 (reverse): [3, 5, 9, 4, 8]</a:t>
            </a:r>
          </a:p>
          <a:p>
            <a:r>
              <a:rPr kumimoji="1" lang="en-US" altLang="ja-JP" dirty="0"/>
              <a:t>Final Answer: [3, 5, 9, 4, 8]</a:t>
            </a:r>
            <a:endParaRPr kumimoji="1" lang="ja-JP" altLang="en-US"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問題文と答えだけのセット</a:t>
            </a:r>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あとは全て同じ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訓練用のデータの問題と同じ処理単体と同じ組み合わせで</a:t>
            </a:r>
            <a:r>
              <a:rPr lang="en-US" altLang="ja-JP" dirty="0"/>
              <a:t>10</a:t>
            </a:r>
            <a:r>
              <a:rPr lang="ja-JP" altLang="en-US" dirty="0"/>
              <a:t>問ずつ</a:t>
            </a:r>
            <a:endParaRPr lang="en-US" altLang="ja-JP" dirty="0"/>
          </a:p>
          <a:p>
            <a:pPr lvl="1"/>
            <a:r>
              <a:rPr lang="ja-JP" altLang="en-US" dirty="0"/>
              <a:t>全体で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全ての問題が</a:t>
            </a:r>
            <a:r>
              <a:rPr lang="en-US" altLang="ja-JP" dirty="0"/>
              <a:t>2</a:t>
            </a:r>
            <a:r>
              <a:rPr lang="ja-JP" altLang="en-US" dirty="0"/>
              <a:t>つの処理の組み合わせ</a:t>
            </a:r>
            <a:endParaRPr lang="en-US" altLang="ja-JP" dirty="0"/>
          </a:p>
          <a:p>
            <a:pPr lvl="1"/>
            <a:r>
              <a:rPr lang="ja-JP" altLang="en-US" dirty="0"/>
              <a:t>全体で</a:t>
            </a:r>
            <a:r>
              <a:rPr lang="en-US" altLang="ja-JP" dirty="0"/>
              <a:t>480</a:t>
            </a:r>
            <a:r>
              <a:rPr lang="ja-JP" altLang="en-US" dirty="0"/>
              <a:t>問</a:t>
            </a:r>
            <a:endParaRPr lang="en-US" altLang="ja-JP" dirty="0"/>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r>
              <a:rPr lang="en-US" altLang="ja-JP" dirty="0"/>
              <a:t>(</a:t>
            </a:r>
            <a:r>
              <a:rPr lang="ja-JP" altLang="en-US" dirty="0"/>
              <a:t>使用するモデル</a:t>
            </a:r>
            <a:r>
              <a:rPr lang="en-US" altLang="ja-JP" dirty="0"/>
              <a:t>)</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2"/>
            <a:r>
              <a:rPr lang="en-US" altLang="ja-JP" dirty="0" err="1"/>
              <a:t>Kappagantula</a:t>
            </a:r>
            <a:r>
              <a:rPr lang="en-US" altLang="ja-JP" dirty="0"/>
              <a:t> et al. (2026)</a:t>
            </a:r>
            <a:r>
              <a:rPr lang="en-US" altLang="ja-JP" baseline="30000" dirty="0"/>
              <a:t>9</a:t>
            </a:r>
          </a:p>
          <a:p>
            <a:pPr lvl="2"/>
            <a:r>
              <a:rPr lang="ja-JP" altLang="ja-JP" dirty="0"/>
              <a:t>Shemla et al. (2026)</a:t>
            </a:r>
            <a:r>
              <a:rPr lang="en-US" altLang="ja-JP" baseline="30000" dirty="0"/>
              <a:t>10</a:t>
            </a:r>
          </a:p>
          <a:p>
            <a:r>
              <a:rPr lang="en-US" altLang="ja-JP" dirty="0"/>
              <a:t>LoRA</a:t>
            </a:r>
            <a:r>
              <a:rPr lang="en-US" altLang="ja-JP" baseline="30000" dirty="0"/>
              <a:t>11</a:t>
            </a:r>
            <a:r>
              <a:rPr lang="ja-JP" altLang="en-US" dirty="0"/>
              <a:t>（</a:t>
            </a:r>
            <a:r>
              <a:rPr lang="en-US" altLang="ja-JP" dirty="0"/>
              <a:t>Low-Rank Adaptation</a:t>
            </a:r>
            <a:r>
              <a:rPr lang="ja-JP" altLang="en-US" dirty="0"/>
              <a:t>）</a:t>
            </a:r>
            <a:r>
              <a:rPr lang="en-US" altLang="ja-JP" dirty="0"/>
              <a:t>(</a:t>
            </a:r>
            <a:r>
              <a:rPr lang="ja-JP" altLang="en-US" dirty="0"/>
              <a:t>学習手法</a:t>
            </a:r>
            <a:r>
              <a:rPr lang="en-US" altLang="ja-JP" dirty="0"/>
              <a:t>)</a:t>
            </a:r>
            <a:endParaRPr lang="ja-JP" altLang="en-US" dirty="0"/>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a:t>
            </a:r>
            <a:r>
              <a:rPr lang="ja-JP" altLang="en-US" dirty="0"/>
              <a:t>ベースモデルをそのまま使う</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br>
              <a:rPr lang="en-US" altLang="ja-JP" dirty="0"/>
            </a:br>
            <a:r>
              <a:rPr lang="en-US" altLang="ja-JP" dirty="0"/>
              <a:t>(</a:t>
            </a:r>
            <a:r>
              <a:rPr lang="ja-JP" altLang="en-US" dirty="0"/>
              <a:t>やり直しが必要</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305267878"/>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t>469/700</a:t>
                      </a:r>
                    </a:p>
                    <a:p>
                      <a:pPr algn="ctr"/>
                      <a:r>
                        <a:rPr kumimoji="1" lang="en-US" altLang="ja-JP" sz="2100" dirty="0"/>
                        <a:t>67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t>179/450</a:t>
                      </a:r>
                    </a:p>
                    <a:p>
                      <a:pPr algn="ctr"/>
                      <a:r>
                        <a:rPr kumimoji="1" lang="en-US" altLang="ja-JP" sz="2100" dirty="0"/>
                        <a:t>39.7</a:t>
                      </a:r>
                      <a:r>
                        <a:rPr kumimoji="1" lang="ja-JP" altLang="en-US" sz="2100" dirty="0"/>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solidFill>
                  <a:srgbClr val="FF0000"/>
                </a:solidFill>
              </a:rPr>
              <a:t>分析と考察</a:t>
            </a:r>
            <a:endParaRPr kumimoji="1" lang="en-US" altLang="ja-JP" dirty="0">
              <a:solidFill>
                <a:srgbClr val="FF0000"/>
              </a:solidFill>
            </a:endParaRPr>
          </a:p>
          <a:p>
            <a:pPr lvl="1"/>
            <a:r>
              <a:rPr kumimoji="1" lang="ja-JP" altLang="en-US" dirty="0"/>
              <a:t>単一処理・複数処理の比較</a:t>
            </a:r>
            <a:endParaRPr kumimoji="1" lang="en-US" altLang="ja-JP" dirty="0"/>
          </a:p>
          <a:p>
            <a:pPr lvl="1"/>
            <a:r>
              <a:rPr kumimoji="1" lang="ja-JP" altLang="en-US" dirty="0"/>
              <a:t>ベースモデルの分析</a:t>
            </a:r>
            <a:endParaRPr kumimoji="1" lang="en-US" altLang="ja-JP" dirty="0"/>
          </a:p>
          <a:p>
            <a:pPr lvl="1"/>
            <a:r>
              <a:rPr lang="ja-JP" altLang="en-US" dirty="0"/>
              <a:t>答えのみ</a:t>
            </a:r>
            <a:r>
              <a:rPr lang="en-US" altLang="ja-JP" dirty="0"/>
              <a:t>SFT</a:t>
            </a:r>
            <a:r>
              <a:rPr lang="ja-JP" altLang="en-US" dirty="0"/>
              <a:t>のモデルの分析</a:t>
            </a:r>
            <a:endParaRPr lang="en-US" altLang="ja-JP" dirty="0"/>
          </a:p>
          <a:p>
            <a:pPr lvl="1"/>
            <a:r>
              <a:rPr kumimoji="1" lang="ja-JP" altLang="en-US" dirty="0"/>
              <a:t>答え＋処理過程の</a:t>
            </a:r>
            <a:r>
              <a:rPr kumimoji="1" lang="en-US" altLang="ja-JP" dirty="0"/>
              <a:t>SFT</a:t>
            </a:r>
            <a:r>
              <a:rPr kumimoji="1" lang="ja-JP" altLang="en-US" dirty="0"/>
              <a:t>のモデルの分析</a:t>
            </a:r>
            <a:endParaRPr kumimoji="1" lang="en-US" altLang="ja-JP"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126232716"/>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dirty="0"/>
                    </a:p>
                  </a:txBody>
                  <a:tcPr anchor="ctr"/>
                </a:tc>
                <a:tc>
                  <a:txBody>
                    <a:bodyPr/>
                    <a:lstStyle/>
                    <a:p>
                      <a:pPr algn="ctr"/>
                      <a:r>
                        <a:rPr kumimoji="1" lang="ja-JP" altLang="en-US" dirty="0"/>
                        <a:t>ベースモデル</a:t>
                      </a:r>
                    </a:p>
                  </a:txBody>
                  <a:tcPr anchor="ctr"/>
                </a:tc>
                <a:tc>
                  <a:txBody>
                    <a:bodyPr/>
                    <a:lstStyle/>
                    <a:p>
                      <a:pPr algn="ctr"/>
                      <a:r>
                        <a:rPr kumimoji="1" lang="ja-JP" altLang="en-US" dirty="0"/>
                        <a:t>答えのみ</a:t>
                      </a:r>
                      <a:r>
                        <a:rPr kumimoji="1" lang="en-US" altLang="ja-JP" dirty="0"/>
                        <a:t>SFT</a:t>
                      </a:r>
                      <a:endParaRPr kumimoji="1" lang="ja-JP" altLang="en-US" dirty="0"/>
                    </a:p>
                  </a:txBody>
                  <a:tcPr anchor="ctr"/>
                </a:tc>
                <a:tc>
                  <a:txBody>
                    <a:bodyPr/>
                    <a:lstStyle/>
                    <a:p>
                      <a:pPr algn="ctr"/>
                      <a:r>
                        <a:rPr kumimoji="1" lang="ja-JP" altLang="en-US"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dirty="0"/>
                        <a:t>処理単体</a:t>
                      </a:r>
                    </a:p>
                  </a:txBody>
                  <a:tcPr anchor="ctr"/>
                </a:tc>
                <a:tc>
                  <a:txBody>
                    <a:bodyPr/>
                    <a:lstStyle/>
                    <a:p>
                      <a:pPr algn="ctr"/>
                      <a:r>
                        <a:rPr kumimoji="1" lang="en-US" altLang="ja-JP" dirty="0"/>
                        <a:t>194/240</a:t>
                      </a:r>
                    </a:p>
                    <a:p>
                      <a:pPr algn="ctr"/>
                      <a:r>
                        <a:rPr kumimoji="1" lang="en-US" altLang="zh-TW" dirty="0"/>
                        <a:t>80.8</a:t>
                      </a:r>
                      <a:r>
                        <a:rPr kumimoji="1" lang="en-US" altLang="ja-JP" dirty="0"/>
                        <a:t>%</a:t>
                      </a:r>
                      <a:endParaRPr kumimoji="1" lang="ja-JP" altLang="en-US" dirty="0"/>
                    </a:p>
                  </a:txBody>
                  <a:tcPr anchor="ctr"/>
                </a:tc>
                <a:tc>
                  <a:txBody>
                    <a:bodyPr/>
                    <a:lstStyle/>
                    <a:p>
                      <a:pPr algn="ctr"/>
                      <a:r>
                        <a:rPr kumimoji="1" lang="en-US" altLang="zh-TW" dirty="0"/>
                        <a:t>207</a:t>
                      </a:r>
                      <a:r>
                        <a:rPr kumimoji="1" lang="en-US" altLang="ja-JP" dirty="0"/>
                        <a:t>/240</a:t>
                      </a:r>
                    </a:p>
                    <a:p>
                      <a:pPr algn="ctr"/>
                      <a:r>
                        <a:rPr kumimoji="1" lang="en-US" altLang="zh-TW" dirty="0"/>
                        <a:t>86.2</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201</a:t>
                      </a:r>
                      <a:r>
                        <a:rPr kumimoji="1" lang="en-US" altLang="ja-JP" dirty="0"/>
                        <a:t>/240</a:t>
                      </a:r>
                    </a:p>
                    <a:p>
                      <a:pPr algn="ctr"/>
                      <a:r>
                        <a:rPr kumimoji="1" lang="en-US" altLang="zh-TW" dirty="0"/>
                        <a:t>83</a:t>
                      </a:r>
                      <a:r>
                        <a:rPr kumimoji="1" lang="en-US" altLang="ja-JP" dirty="0"/>
                        <a:t>.</a:t>
                      </a:r>
                      <a:r>
                        <a:rPr kumimoji="1" lang="en-US" altLang="zh-TW" dirty="0"/>
                        <a:t>7%</a:t>
                      </a:r>
                      <a:endParaRPr kumimoji="1" lang="ja-JP" altLang="en-US" dirty="0"/>
                    </a:p>
                  </a:txBody>
                  <a:tcPr anchor="ctr"/>
                </a:tc>
                <a:extLst>
                  <a:ext uri="{0D108BD9-81ED-4DB2-BD59-A6C34878D82A}">
                    <a16:rowId xmlns:a16="http://schemas.microsoft.com/office/drawing/2014/main" val="995411637"/>
                  </a:ext>
                </a:extLst>
              </a:tr>
              <a:tr h="981896">
                <a:tc>
                  <a:txBody>
                    <a:bodyPr/>
                    <a:lstStyle/>
                    <a:p>
                      <a:pPr algn="ctr"/>
                      <a:r>
                        <a:rPr kumimoji="1" lang="en-US" altLang="ja-JP" dirty="0"/>
                        <a:t>2</a:t>
                      </a:r>
                      <a:r>
                        <a:rPr kumimoji="1" lang="ja-JP" altLang="en-US" dirty="0"/>
                        <a:t>つの処理の組み合わせ</a:t>
                      </a:r>
                    </a:p>
                  </a:txBody>
                  <a:tcPr anchor="ctr"/>
                </a:tc>
                <a:tc>
                  <a:txBody>
                    <a:bodyPr/>
                    <a:lstStyle/>
                    <a:p>
                      <a:pPr algn="ctr"/>
                      <a:r>
                        <a:rPr kumimoji="1" lang="en-US" altLang="ja-JP" dirty="0"/>
                        <a:t>73/460</a:t>
                      </a:r>
                    </a:p>
                    <a:p>
                      <a:pPr algn="ctr"/>
                      <a:r>
                        <a:rPr kumimoji="1" lang="en-US" altLang="zh-TW" dirty="0"/>
                        <a:t>15.8</a:t>
                      </a:r>
                      <a:r>
                        <a:rPr kumimoji="1" lang="en-US" altLang="ja-JP" dirty="0"/>
                        <a:t>%</a:t>
                      </a:r>
                      <a:endParaRPr kumimoji="1" lang="ja-JP" altLang="en-US" dirty="0"/>
                    </a:p>
                  </a:txBody>
                  <a:tcPr anchor="ctr"/>
                </a:tc>
                <a:tc>
                  <a:txBody>
                    <a:bodyPr/>
                    <a:lstStyle/>
                    <a:p>
                      <a:pPr algn="ctr"/>
                      <a:r>
                        <a:rPr kumimoji="1" lang="en-US" altLang="zh-TW" dirty="0"/>
                        <a:t>262</a:t>
                      </a:r>
                      <a:r>
                        <a:rPr kumimoji="1" lang="en-US" altLang="ja-JP" dirty="0"/>
                        <a:t>/460</a:t>
                      </a:r>
                    </a:p>
                    <a:p>
                      <a:pPr algn="ctr"/>
                      <a:r>
                        <a:rPr kumimoji="1" lang="en-US" altLang="zh-TW" dirty="0"/>
                        <a:t>56.9</a:t>
                      </a:r>
                      <a:r>
                        <a:rPr kumimoji="1" lang="en-US"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362</a:t>
                      </a:r>
                      <a:r>
                        <a:rPr kumimoji="1" lang="en-US" altLang="ja-JP" dirty="0"/>
                        <a:t>/460</a:t>
                      </a:r>
                    </a:p>
                    <a:p>
                      <a:pPr algn="ctr"/>
                      <a:r>
                        <a:rPr kumimoji="1" lang="en-US" altLang="zh-TW" dirty="0"/>
                        <a:t>78.6%</a:t>
                      </a:r>
                      <a:endParaRPr kumimoji="1" lang="ja-JP" altLang="en-US"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[6, 0, 4, 8, 7, 6, 4, 7]</a:t>
            </a:r>
          </a:p>
          <a:p>
            <a:r>
              <a:rPr lang="en-US" altLang="ja-JP" dirty="0"/>
              <a:t>Output:</a:t>
            </a:r>
          </a:p>
          <a:p>
            <a:r>
              <a:rPr lang="en-US" altLang="ja-JP" dirty="0"/>
              <a:t>[7, 4, 6, 7, 8, 4, 0, 6]</a:t>
            </a:r>
          </a:p>
          <a:p>
            <a:endParaRPr lang="en-US" altLang="ja-JP" dirty="0"/>
          </a:p>
          <a:p>
            <a:r>
              <a:rPr lang="en-US" altLang="ja-JP" dirty="0"/>
              <a:t>Example 2</a:t>
            </a:r>
          </a:p>
          <a:p>
            <a:r>
              <a:rPr lang="en-US" altLang="ja-JP" dirty="0"/>
              <a:t>Input:</a:t>
            </a:r>
          </a:p>
          <a:p>
            <a:r>
              <a:rPr lang="en-US" altLang="ja-JP" dirty="0"/>
              <a:t>[9, 3, 8, 2, 4, 2, 1]</a:t>
            </a:r>
          </a:p>
          <a:p>
            <a:r>
              <a:rPr lang="en-US" altLang="ja-JP" dirty="0"/>
              <a:t>Output:</a:t>
            </a:r>
          </a:p>
          <a:p>
            <a:r>
              <a:rPr lang="en-US" altLang="ja-JP" dirty="0"/>
              <a:t>[1, 2, 4, 2, 8, 3, 9]</a:t>
            </a:r>
          </a:p>
          <a:p>
            <a:endParaRPr lang="en-US" altLang="ja-JP" dirty="0"/>
          </a:p>
          <a:p>
            <a:r>
              <a:rPr lang="en-US" altLang="ja-JP" dirty="0"/>
              <a:t>Query</a:t>
            </a:r>
          </a:p>
          <a:p>
            <a:r>
              <a:rPr lang="en-US" altLang="ja-JP" dirty="0"/>
              <a:t>Input:</a:t>
            </a:r>
          </a:p>
          <a:p>
            <a:r>
              <a:rPr lang="en-US" altLang="ja-JP" dirty="0"/>
              <a:t>[3, 5, 1, 3, 9, 3, 3]</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[3, 3, 9, 3, 1, 5, 3]</a:t>
            </a:r>
            <a:endParaRPr kumimoji="1" lang="ja-JP" altLang="en-US"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3520287" y="2931910"/>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26BE2935-B56A-3337-9BC9-0C81B5425EC7}"/>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3940663" y="2825950"/>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781097" y="5156315"/>
            <a:ext cx="5008102" cy="461665"/>
          </a:xfrm>
          <a:prstGeom prst="rect">
            <a:avLst/>
          </a:prstGeom>
          <a:noFill/>
        </p:spPr>
        <p:txBody>
          <a:bodyPr wrap="none" rtlCol="0">
            <a:spAutoFit/>
          </a:bodyPr>
          <a:lstStyle/>
          <a:p>
            <a:r>
              <a:rPr kumimoji="1" lang="ja-JP" altLang="en-US" sz="2400" dirty="0"/>
              <a:t>このルールの問題は</a:t>
            </a:r>
            <a:r>
              <a:rPr kumimoji="1" lang="en-US" altLang="ja-JP" sz="2400" dirty="0"/>
              <a:t>10</a:t>
            </a:r>
            <a:r>
              <a:rPr kumimoji="1" lang="ja-JP" altLang="en-US" sz="2400" dirty="0"/>
              <a:t>問中</a:t>
            </a:r>
            <a:r>
              <a:rPr kumimoji="1" lang="en-US" altLang="ja-JP" sz="2400" dirty="0"/>
              <a:t>9</a:t>
            </a:r>
            <a:r>
              <a:rPr kumimoji="1" lang="ja-JP" altLang="en-US" sz="24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dirty="0"/>
              <a:t>The transformation rule appears to be reversing the input array. </a:t>
            </a:r>
          </a:p>
          <a:p>
            <a:endParaRPr lang="en-US" altLang="ja-JP" dirty="0"/>
          </a:p>
          <a:p>
            <a:r>
              <a:rPr lang="en-US" altLang="ja-JP" dirty="0"/>
              <a:t>For the input `[3, 5, 1, 3, 9, 3, 3]`, reversing the elements gives:</a:t>
            </a:r>
          </a:p>
          <a:p>
            <a:endParaRPr lang="en-US" altLang="ja-JP" dirty="0"/>
          </a:p>
          <a:p>
            <a:r>
              <a:rPr lang="en-US" altLang="ja-JP" dirty="0"/>
              <a:t>**Output:**  </a:t>
            </a:r>
          </a:p>
          <a:p>
            <a:r>
              <a:rPr lang="en-US" altLang="ja-JP" dirty="0"/>
              <a:t>[3, 3, 9, 3, 1, 5, 3]  </a:t>
            </a:r>
          </a:p>
          <a:p>
            <a:endParaRPr lang="en-US" altLang="ja-JP" dirty="0"/>
          </a:p>
          <a:p>
            <a:r>
              <a:rPr lang="en-US" altLang="ja-JP" dirty="0"/>
              <a:t>**Final Answer:**  </a:t>
            </a:r>
          </a:p>
          <a:p>
            <a:r>
              <a:rPr lang="en-US" altLang="ja-JP" dirty="0"/>
              <a:t>[3, 3, 9, 3, 1, 5, 3]</a:t>
            </a:r>
            <a:endParaRPr kumimoji="1" lang="ja-JP" altLang="en-US"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[4, 5, 8, 0, 7, 3, 0, 2, 1]</a:t>
            </a:r>
          </a:p>
          <a:p>
            <a:r>
              <a:rPr lang="en-US" altLang="ja-JP" dirty="0"/>
              <a:t>Output:</a:t>
            </a:r>
          </a:p>
          <a:p>
            <a:r>
              <a:rPr lang="en-US" altLang="ja-JP" dirty="0"/>
              <a:t>[1, 2, 0, 3, 7, 0, 8, 5, 4]</a:t>
            </a:r>
          </a:p>
          <a:p>
            <a:endParaRPr lang="en-US" altLang="ja-JP" dirty="0"/>
          </a:p>
          <a:p>
            <a:r>
              <a:rPr lang="en-US" altLang="ja-JP" dirty="0"/>
              <a:t>Example 2</a:t>
            </a:r>
          </a:p>
          <a:p>
            <a:r>
              <a:rPr lang="en-US" altLang="ja-JP" dirty="0"/>
              <a:t>Input:</a:t>
            </a:r>
          </a:p>
          <a:p>
            <a:r>
              <a:rPr lang="en-US" altLang="ja-JP" dirty="0"/>
              <a:t>[7, 3, 6, 8, 1, 9, 3]</a:t>
            </a:r>
          </a:p>
          <a:p>
            <a:r>
              <a:rPr lang="en-US" altLang="ja-JP" dirty="0"/>
              <a:t>Output:</a:t>
            </a:r>
          </a:p>
          <a:p>
            <a:r>
              <a:rPr lang="en-US" altLang="ja-JP" dirty="0"/>
              <a:t>[3, 9, 1, 8, 6, 3, 7]</a:t>
            </a:r>
          </a:p>
          <a:p>
            <a:endParaRPr lang="en-US" altLang="ja-JP" dirty="0"/>
          </a:p>
          <a:p>
            <a:r>
              <a:rPr lang="en-US" altLang="ja-JP" dirty="0"/>
              <a:t>Query</a:t>
            </a:r>
          </a:p>
          <a:p>
            <a:r>
              <a:rPr lang="en-US" altLang="ja-JP" dirty="0"/>
              <a:t>Input:</a:t>
            </a:r>
          </a:p>
          <a:p>
            <a:r>
              <a:rPr lang="en-US" altLang="ja-JP" dirty="0"/>
              <a:t>[5, 3, 8, 3, 2, 3, 6]</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[6, 3, 2, 3, 8, 3, 5]</a:t>
            </a:r>
            <a:endParaRPr kumimoji="1" lang="ja-JP" altLang="en-US"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3717177" y="29196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CCE33A0F-FECC-06A5-E250-C8DC00EE7195}"/>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149318" y="2845015"/>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p:txBody>
          <a:bodyPr/>
          <a:lstStyle/>
          <a:p>
            <a:r>
              <a:rPr lang="ja-JP" altLang="en-US" dirty="0"/>
              <a:t>推論の過程を要約したもの</a:t>
            </a:r>
            <a:endParaRPr lang="en-US" altLang="ja-JP" dirty="0"/>
          </a:p>
          <a:p>
            <a:pPr lvl="1"/>
            <a:r>
              <a:rPr lang="ja-JP" altLang="ja-JP" dirty="0"/>
              <a:t>Example 1から出力の要素位置を確認</a:t>
            </a:r>
            <a:endParaRPr lang="en-US" altLang="ja-JP" dirty="0"/>
          </a:p>
          <a:p>
            <a:pPr lvl="1"/>
            <a:r>
              <a:rPr lang="ja-JP" altLang="en-US" dirty="0"/>
              <a:t>「順序を逆にするルール」</a:t>
            </a:r>
            <a:r>
              <a:rPr kumimoji="1" lang="ja-JP" altLang="en-US" dirty="0"/>
              <a:t>の可能性を検討するが、途中で否定 </a:t>
            </a:r>
          </a:p>
          <a:p>
            <a:pPr lvl="1"/>
            <a:r>
              <a:rPr kumimoji="1" lang="en-US" altLang="ja-JP" dirty="0"/>
              <a:t>Example 2</a:t>
            </a:r>
            <a:r>
              <a:rPr kumimoji="1" lang="ja-JP" altLang="en-US" dirty="0"/>
              <a:t>以降について、要素の位置関係を繰り返し検討 </a:t>
            </a:r>
          </a:p>
          <a:p>
            <a:pPr lvl="1"/>
            <a:r>
              <a:rPr kumimoji="1" lang="ja-JP" altLang="en-US" dirty="0"/>
              <a:t>明確なルールを特定できないまま推論が長大化</a:t>
            </a:r>
            <a:endParaRPr kumimoji="1" lang="en-US" altLang="ja-JP" dirty="0"/>
          </a:p>
          <a:p>
            <a:pPr lvl="2"/>
            <a:r>
              <a:rPr lang="ja-JP" altLang="en-US" dirty="0"/>
              <a:t>ただ当てはまりそうなルールを提示するだけで、検証はしなくなってしまった。</a:t>
            </a:r>
            <a:endParaRPr lang="en-US" altLang="ja-JP" dirty="0"/>
          </a:p>
          <a:p>
            <a:pPr lvl="2"/>
            <a:r>
              <a:rPr lang="ja-JP" altLang="en-US" dirty="0"/>
              <a:t>トークンの上限</a:t>
            </a:r>
            <a:r>
              <a:rPr lang="en-US" altLang="ja-JP" dirty="0"/>
              <a:t>(4096</a:t>
            </a:r>
            <a:r>
              <a:rPr lang="ja-JP" altLang="en-US" dirty="0"/>
              <a:t>トークンが上限</a:t>
            </a:r>
            <a:r>
              <a:rPr lang="en-US" altLang="ja-JP" dirty="0"/>
              <a:t>)</a:t>
            </a:r>
            <a:r>
              <a:rPr lang="ja-JP" altLang="en-US" dirty="0"/>
              <a:t>まで</a:t>
            </a:r>
            <a:r>
              <a:rPr kumimoji="1" lang="ja-JP" altLang="en-US" dirty="0"/>
              <a:t>ひたすらルールを提示し続ける</a:t>
            </a:r>
          </a:p>
          <a:p>
            <a:pPr lvl="1"/>
            <a:r>
              <a:rPr kumimoji="1" lang="ja-JP" altLang="en-US" dirty="0"/>
              <a:t>最終的な変換ルール・出力を正しく導出できず</a:t>
            </a:r>
          </a:p>
          <a:p>
            <a:pPr lvl="1"/>
            <a:endParaRPr kumimoji="1" lang="ja-JP" altLang="en-US"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2017600749"/>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dirty="0"/>
                    </a:p>
                  </a:txBody>
                  <a:tcPr anchor="ctr"/>
                </a:tc>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en-US" dirty="0"/>
                        <a:t>テストデータその</a:t>
                      </a:r>
                      <a:r>
                        <a:rPr kumimoji="1" lang="en-US" altLang="ja-JP" dirty="0"/>
                        <a:t>2</a:t>
                      </a:r>
                      <a:endParaRPr kumimoji="1" lang="ja-JP" altLang="en-US" dirty="0"/>
                    </a:p>
                  </a:txBody>
                  <a:tcPr anchor="ctr"/>
                </a:tc>
                <a:extLst>
                  <a:ext uri="{0D108BD9-81ED-4DB2-BD59-A6C34878D82A}">
                    <a16:rowId xmlns:a16="http://schemas.microsoft.com/office/drawing/2014/main" val="275587262"/>
                  </a:ext>
                </a:extLst>
              </a:tr>
              <a:tr h="827891">
                <a:tc>
                  <a:txBody>
                    <a:bodyPr/>
                    <a:lstStyle/>
                    <a:p>
                      <a:pPr algn="ctr"/>
                      <a:r>
                        <a:rPr kumimoji="1" lang="ja-JP" altLang="en-US" dirty="0"/>
                        <a:t>通常終了＋正解</a:t>
                      </a:r>
                    </a:p>
                  </a:txBody>
                  <a:tcPr anchor="ctr"/>
                </a:tc>
                <a:tc>
                  <a:txBody>
                    <a:bodyPr/>
                    <a:lstStyle/>
                    <a:p>
                      <a:pPr algn="ctr"/>
                      <a:r>
                        <a:rPr kumimoji="1" lang="en-US" altLang="ja-JP" dirty="0"/>
                        <a:t>254</a:t>
                      </a:r>
                      <a:endParaRPr kumimoji="1" lang="ja-JP" altLang="en-US" dirty="0"/>
                    </a:p>
                  </a:txBody>
                  <a:tcPr anchor="ctr"/>
                </a:tc>
                <a:tc>
                  <a:txBody>
                    <a:bodyPr/>
                    <a:lstStyle/>
                    <a:p>
                      <a:pPr algn="ctr"/>
                      <a:r>
                        <a:rPr kumimoji="1" lang="en-US" altLang="ja-JP" dirty="0"/>
                        <a:t>38</a:t>
                      </a:r>
                      <a:endParaRPr kumimoji="1" lang="ja-JP" altLang="en-US" dirty="0"/>
                    </a:p>
                  </a:txBody>
                  <a:tcPr anchor="ctr"/>
                </a:tc>
                <a:extLst>
                  <a:ext uri="{0D108BD9-81ED-4DB2-BD59-A6C34878D82A}">
                    <a16:rowId xmlns:a16="http://schemas.microsoft.com/office/drawing/2014/main" val="1068892279"/>
                  </a:ext>
                </a:extLst>
              </a:tr>
              <a:tr h="827891">
                <a:tc>
                  <a:txBody>
                    <a:bodyPr/>
                    <a:lstStyle/>
                    <a:p>
                      <a:pPr algn="ctr"/>
                      <a:r>
                        <a:rPr kumimoji="1" lang="ja-JP" altLang="en-US" dirty="0"/>
                        <a:t>通常終了＋不正解</a:t>
                      </a:r>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064241014"/>
                  </a:ext>
                </a:extLst>
              </a:tr>
              <a:tr h="827891">
                <a:tc>
                  <a:txBody>
                    <a:bodyPr/>
                    <a:lstStyle/>
                    <a:p>
                      <a:pPr algn="ctr"/>
                      <a:r>
                        <a:rPr kumimoji="1" lang="ja-JP" altLang="en-US" dirty="0"/>
                        <a:t>トークン上限に到達＋正解</a:t>
                      </a:r>
                    </a:p>
                  </a:txBody>
                  <a:tcPr anchor="ctr"/>
                </a:tc>
                <a:tc>
                  <a:txBody>
                    <a:bodyPr/>
                    <a:lstStyle/>
                    <a:p>
                      <a:pPr algn="ctr"/>
                      <a:r>
                        <a:rPr kumimoji="1" lang="en-US" altLang="ja-JP" dirty="0"/>
                        <a:t>13</a:t>
                      </a:r>
                      <a:endParaRPr kumimoji="1" lang="ja-JP" altLang="en-US" dirty="0"/>
                    </a:p>
                  </a:txBody>
                  <a:tcPr anchor="ctr"/>
                </a:tc>
                <a:tc>
                  <a:txBody>
                    <a:bodyPr/>
                    <a:lstStyle/>
                    <a:p>
                      <a:pPr algn="ctr"/>
                      <a:r>
                        <a:rPr kumimoji="1" lang="en-US" altLang="ja-JP" dirty="0"/>
                        <a:t>6</a:t>
                      </a:r>
                      <a:endParaRPr kumimoji="1" lang="ja-JP" altLang="en-US" dirty="0"/>
                    </a:p>
                  </a:txBody>
                  <a:tcPr anchor="ctr"/>
                </a:tc>
                <a:extLst>
                  <a:ext uri="{0D108BD9-81ED-4DB2-BD59-A6C34878D82A}">
                    <a16:rowId xmlns:a16="http://schemas.microsoft.com/office/drawing/2014/main" val="3511778032"/>
                  </a:ext>
                </a:extLst>
              </a:tr>
              <a:tr h="827891">
                <a:tc>
                  <a:txBody>
                    <a:bodyPr/>
                    <a:lstStyle/>
                    <a:p>
                      <a:pPr algn="ctr"/>
                      <a:r>
                        <a:rPr kumimoji="1" lang="ja-JP" altLang="en-US" dirty="0"/>
                        <a:t>トークン上限に到達＋不正解</a:t>
                      </a:r>
                    </a:p>
                  </a:txBody>
                  <a:tcPr anchor="ctr"/>
                </a:tc>
                <a:tc>
                  <a:txBody>
                    <a:bodyPr/>
                    <a:lstStyle/>
                    <a:p>
                      <a:pPr algn="ctr"/>
                      <a:r>
                        <a:rPr kumimoji="1" lang="en-US" altLang="ja-JP" dirty="0"/>
                        <a:t>430</a:t>
                      </a:r>
                      <a:endParaRPr kumimoji="1" lang="ja-JP" altLang="en-US" dirty="0"/>
                    </a:p>
                  </a:txBody>
                  <a:tcPr anchor="ctr"/>
                </a:tc>
                <a:tc>
                  <a:txBody>
                    <a:bodyPr/>
                    <a:lstStyle/>
                    <a:p>
                      <a:pPr algn="ctr"/>
                      <a:r>
                        <a:rPr kumimoji="1" lang="en-US" altLang="ja-JP" dirty="0"/>
                        <a:t>405</a:t>
                      </a:r>
                      <a:endParaRPr kumimoji="1" lang="ja-JP" altLang="en-US"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4204827249"/>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267/700</a:t>
                      </a:r>
                    </a:p>
                    <a:p>
                      <a:pPr algn="ctr"/>
                      <a:r>
                        <a:rPr kumimoji="1" lang="en-US" altLang="ja-JP" sz="2100" dirty="0"/>
                        <a:t>38.1</a:t>
                      </a:r>
                      <a:r>
                        <a:rPr kumimoji="1" lang="ja-JP" altLang="en-US" sz="2100" dirty="0"/>
                        <a:t>％</a:t>
                      </a:r>
                    </a:p>
                  </a:txBody>
                  <a:tcPr anchor="ctr"/>
                </a:tc>
                <a:tc>
                  <a:txBody>
                    <a:bodyPr/>
                    <a:lstStyle/>
                    <a:p>
                      <a:pPr algn="ctr"/>
                      <a:r>
                        <a:rPr kumimoji="1" lang="en-US" altLang="ja-JP" sz="2100" dirty="0">
                          <a:solidFill>
                            <a:srgbClr val="FF0000"/>
                          </a:solidFill>
                        </a:rPr>
                        <a:t>469/700</a:t>
                      </a:r>
                    </a:p>
                    <a:p>
                      <a:pPr algn="ctr"/>
                      <a:r>
                        <a:rPr kumimoji="1" lang="en-US" altLang="ja-JP" sz="2100" dirty="0">
                          <a:solidFill>
                            <a:srgbClr val="FF0000"/>
                          </a:solidFill>
                        </a:rPr>
                        <a:t>67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563/700</a:t>
                      </a:r>
                    </a:p>
                    <a:p>
                      <a:pPr algn="ctr"/>
                      <a:r>
                        <a:rPr kumimoji="1" lang="en-US" altLang="ja-JP" sz="2100" b="0" i="0" kern="1200" dirty="0">
                          <a:solidFill>
                            <a:schemeClr val="dk1"/>
                          </a:solidFill>
                          <a:effectLst/>
                          <a:latin typeface="+mn-lt"/>
                          <a:ea typeface="+mn-ea"/>
                          <a:cs typeface="+mn-cs"/>
                        </a:rPr>
                        <a:t>80.4</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en-US" altLang="ja-JP" sz="2100" dirty="0"/>
                        <a:t>44/450</a:t>
                      </a:r>
                    </a:p>
                    <a:p>
                      <a:pPr algn="ctr"/>
                      <a:r>
                        <a:rPr kumimoji="1" lang="en-US" altLang="ja-JP" sz="2100" dirty="0"/>
                        <a:t>9.7</a:t>
                      </a:r>
                      <a:r>
                        <a:rPr kumimoji="1" lang="ja-JP" altLang="en-US" sz="2100" dirty="0"/>
                        <a:t>％</a:t>
                      </a:r>
                    </a:p>
                  </a:txBody>
                  <a:tcPr anchor="ctr"/>
                </a:tc>
                <a:tc>
                  <a:txBody>
                    <a:bodyPr/>
                    <a:lstStyle/>
                    <a:p>
                      <a:pPr algn="ctr"/>
                      <a:r>
                        <a:rPr kumimoji="1" lang="en-US" altLang="ja-JP" sz="2100" dirty="0">
                          <a:solidFill>
                            <a:srgbClr val="FF0000"/>
                          </a:solidFill>
                        </a:rPr>
                        <a:t>179/450</a:t>
                      </a:r>
                    </a:p>
                    <a:p>
                      <a:pPr algn="ctr"/>
                      <a:r>
                        <a:rPr kumimoji="1" lang="en-US" altLang="ja-JP" sz="2100" dirty="0">
                          <a:solidFill>
                            <a:srgbClr val="FF0000"/>
                          </a:solidFill>
                        </a:rPr>
                        <a:t>39.7</a:t>
                      </a:r>
                      <a:r>
                        <a:rPr kumimoji="1" lang="ja-JP" altLang="en-US" sz="2100" dirty="0">
                          <a:solidFill>
                            <a:srgbClr val="FF0000"/>
                          </a:solidFill>
                        </a:rPr>
                        <a:t>％</a:t>
                      </a:r>
                    </a:p>
                  </a:txBody>
                  <a:tcPr anchor="ctr"/>
                </a:tc>
                <a:tc>
                  <a:txBody>
                    <a:bodyPr/>
                    <a:lstStyle/>
                    <a:p>
                      <a:pPr algn="ctr"/>
                      <a:r>
                        <a:rPr kumimoji="1" lang="en-US" altLang="ja-JP" sz="2100" b="0" i="0" kern="1200" dirty="0">
                          <a:solidFill>
                            <a:schemeClr val="dk1"/>
                          </a:solidFill>
                          <a:effectLst/>
                          <a:latin typeface="+mn-lt"/>
                          <a:ea typeface="+mn-ea"/>
                          <a:cs typeface="+mn-cs"/>
                        </a:rPr>
                        <a:t>80/450</a:t>
                      </a:r>
                    </a:p>
                    <a:p>
                      <a:pPr algn="ctr"/>
                      <a:r>
                        <a:rPr kumimoji="1" lang="en-US" altLang="ja-JP" sz="2100" b="0" i="0" kern="1200" dirty="0">
                          <a:solidFill>
                            <a:schemeClr val="dk1"/>
                          </a:solidFill>
                          <a:effectLst/>
                          <a:latin typeface="+mn-lt"/>
                          <a:ea typeface="+mn-ea"/>
                          <a:cs typeface="+mn-cs"/>
                        </a:rPr>
                        <a:t>17.7</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lstStyle/>
          <a:p>
            <a:r>
              <a:rPr lang="ja-JP" altLang="en-US" dirty="0"/>
              <a:t>処理の順序が関係ない問題の内、</a:t>
            </a:r>
            <a:r>
              <a:rPr lang="en-US" altLang="ja-JP" dirty="0"/>
              <a:t>7</a:t>
            </a:r>
            <a:r>
              <a:rPr lang="ja-JP" altLang="en-US" dirty="0"/>
              <a:t>例だけ学習時に教えていない順序を適用</a:t>
            </a:r>
            <a:endParaRPr kumimoji="1" lang="en-US" altLang="ja-JP" dirty="0"/>
          </a:p>
          <a:p>
            <a:pPr lvl="1"/>
            <a:r>
              <a:rPr lang="en-US" altLang="ja-JP" dirty="0"/>
              <a:t>7</a:t>
            </a:r>
            <a:r>
              <a:rPr lang="ja-JP" altLang="en-US" dirty="0"/>
              <a:t>例中</a:t>
            </a:r>
            <a:r>
              <a:rPr lang="en-US" altLang="ja-JP" dirty="0"/>
              <a:t>6</a:t>
            </a:r>
            <a:r>
              <a:rPr lang="ja-JP" altLang="en-US" dirty="0"/>
              <a:t>例が最終的な回答まで合っていた。</a:t>
            </a:r>
            <a:endParaRPr lang="en-US" altLang="ja-JP" dirty="0"/>
          </a:p>
          <a:p>
            <a:endParaRPr lang="en-US" altLang="ja-JP" dirty="0"/>
          </a:p>
          <a:p>
            <a:r>
              <a:rPr lang="ja-JP" altLang="ja-JP" dirty="0"/>
              <a:t>学習時に与えられた処理順序の単純な再現だけでは説明できない出力が確認された</a:t>
            </a:r>
            <a:endParaRPr lang="en-US" altLang="ja-JP"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lstStyle/>
          <a:p>
            <a:r>
              <a:rPr lang="ja-JP" altLang="ja-JP" dirty="0"/>
              <a:t>問題を解くために、モデルが学習データに存在しない処理を自発的に生成してしまう</a:t>
            </a:r>
            <a:endParaRPr lang="en-US" altLang="ja-JP" dirty="0"/>
          </a:p>
          <a:p>
            <a:endParaRPr kumimoji="1" lang="en-US" altLang="ja-JP" dirty="0"/>
          </a:p>
          <a:p>
            <a:r>
              <a:rPr lang="ja-JP" altLang="en-US" dirty="0"/>
              <a:t>処理単体として学習データではそもそも教えてない処理を生成してるものが</a:t>
            </a:r>
            <a:r>
              <a:rPr lang="en-US" altLang="ja-JP" dirty="0"/>
              <a:t>2</a:t>
            </a:r>
            <a:r>
              <a:rPr lang="ja-JP" altLang="en-US" dirty="0"/>
              <a:t>例存在した</a:t>
            </a:r>
            <a:endParaRPr lang="en-US" altLang="ja-JP" dirty="0"/>
          </a:p>
          <a:p>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a:p>
            <a:pPr lvl="1"/>
            <a:r>
              <a:rPr lang="ja-JP" altLang="en-US" dirty="0"/>
              <a:t>関係ない問題の内、学習時に教えていない順序で処理をした</a:t>
            </a:r>
            <a:r>
              <a:rPr lang="en-US" altLang="ja-JP" dirty="0"/>
              <a:t>7</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2176279908"/>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dirty="0"/>
                    </a:p>
                  </a:txBody>
                  <a:tcPr anchor="ctr"/>
                </a:tc>
                <a:tc>
                  <a:txBody>
                    <a:bodyPr/>
                    <a:lstStyle/>
                    <a:p>
                      <a:pPr algn="ctr"/>
                      <a:r>
                        <a:rPr lang="ja-JP" altLang="ja-JP" dirty="0"/>
                        <a:t>正解</a:t>
                      </a:r>
                      <a:endParaRPr kumimoji="1" lang="ja-JP" altLang="en-US" dirty="0"/>
                    </a:p>
                  </a:txBody>
                  <a:tcPr anchor="ctr"/>
                </a:tc>
                <a:tc>
                  <a:txBody>
                    <a:bodyPr/>
                    <a:lstStyle/>
                    <a:p>
                      <a:pPr algn="ctr"/>
                      <a:r>
                        <a:rPr lang="ja-JP" altLang="ja-JP" dirty="0"/>
                        <a:t>不正解</a:t>
                      </a:r>
                      <a:endParaRPr kumimoji="1" lang="ja-JP" altLang="en-US" dirty="0"/>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1172174070"/>
                  </a:ext>
                </a:extLst>
              </a:tr>
              <a:tr h="846894">
                <a:tc>
                  <a:txBody>
                    <a:bodyPr/>
                    <a:lstStyle/>
                    <a:p>
                      <a:pPr algn="ctr"/>
                      <a:r>
                        <a:rPr lang="ja-JP" altLang="ja-JP" dirty="0"/>
                        <a:t>正しいルール選択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52</a:t>
                      </a:r>
                      <a:r>
                        <a:rPr kumimoji="1" lang="en-US" altLang="ja-JP" sz="1800" b="0" i="0" kern="1200" dirty="0">
                          <a:solidFill>
                            <a:schemeClr val="dk1"/>
                          </a:solidFill>
                          <a:effectLst/>
                          <a:latin typeface="+mn-lt"/>
                          <a:ea typeface="+mn-ea"/>
                          <a:cs typeface="+mn-cs"/>
                        </a:rPr>
                        <a:t>1</a:t>
                      </a:r>
                      <a:r>
                        <a:rPr lang="ja-JP" altLang="ja-JP" dirty="0"/>
                        <a:t>(75.</a:t>
                      </a:r>
                      <a:r>
                        <a:rPr lang="en-US" altLang="ja-JP" dirty="0"/>
                        <a:t>2</a:t>
                      </a:r>
                      <a:r>
                        <a:rPr lang="ja-JP" altLang="ja-JP" dirty="0"/>
                        <a:t>%)</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a:t>
                      </a:r>
                      <a:r>
                        <a:rPr kumimoji="1" lang="en-US" altLang="ja-JP" sz="1800" b="0" i="0" kern="1200" dirty="0">
                          <a:solidFill>
                            <a:schemeClr val="dk1"/>
                          </a:solidFill>
                          <a:effectLst/>
                          <a:latin typeface="+mn-lt"/>
                          <a:ea typeface="+mn-ea"/>
                          <a:cs typeface="+mn-cs"/>
                        </a:rPr>
                        <a:t>6(3.8%)</a:t>
                      </a:r>
                      <a:endParaRPr kumimoji="1" lang="ja-JP" altLang="en-US" dirty="0"/>
                    </a:p>
                  </a:txBody>
                  <a:tcPr anchor="ctr"/>
                </a:tc>
                <a:tc>
                  <a:txBody>
                    <a:bodyPr/>
                    <a:lstStyle/>
                    <a:p>
                      <a:pPr algn="ctr"/>
                      <a:r>
                        <a:rPr kumimoji="1" lang="en-US" altLang="ja-JP" dirty="0"/>
                        <a:t>554 (79.1%)</a:t>
                      </a:r>
                      <a:endParaRPr kumimoji="1" lang="ja-JP" altLang="en-US" dirty="0"/>
                    </a:p>
                  </a:txBody>
                  <a:tcPr anchor="ctr"/>
                </a:tc>
                <a:extLst>
                  <a:ext uri="{0D108BD9-81ED-4DB2-BD59-A6C34878D82A}">
                    <a16:rowId xmlns:a16="http://schemas.microsoft.com/office/drawing/2014/main" val="6058657"/>
                  </a:ext>
                </a:extLst>
              </a:tr>
              <a:tr h="846894">
                <a:tc>
                  <a:txBody>
                    <a:bodyPr/>
                    <a:lstStyle/>
                    <a:p>
                      <a:pPr algn="ctr"/>
                      <a:r>
                        <a:rPr lang="ja-JP" altLang="ja-JP" dirty="0"/>
                        <a:t>誤ったルール選択</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36</a:t>
                      </a:r>
                      <a:r>
                        <a:rPr kumimoji="1" lang="en-US" altLang="ja-JP" sz="1800" b="0" i="0" kern="1200" dirty="0">
                          <a:solidFill>
                            <a:schemeClr val="dk1"/>
                          </a:solidFill>
                          <a:effectLst/>
                          <a:latin typeface="+mn-lt"/>
                          <a:ea typeface="+mn-ea"/>
                          <a:cs typeface="+mn-cs"/>
                        </a:rPr>
                        <a:t>(5.2%)</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110</a:t>
                      </a:r>
                      <a:r>
                        <a:rPr kumimoji="1" lang="en-US" altLang="ja-JP" sz="1800" b="0" i="0" kern="1200" dirty="0">
                          <a:solidFill>
                            <a:schemeClr val="dk1"/>
                          </a:solidFill>
                          <a:effectLst/>
                          <a:latin typeface="+mn-lt"/>
                          <a:ea typeface="+mn-ea"/>
                          <a:cs typeface="+mn-cs"/>
                        </a:rPr>
                        <a:t>(15.9%)</a:t>
                      </a:r>
                      <a:endParaRPr kumimoji="1" lang="ja-JP" altLang="en-US" dirty="0"/>
                    </a:p>
                  </a:txBody>
                  <a:tcPr anchor="ctr"/>
                </a:tc>
                <a:tc>
                  <a:txBody>
                    <a:bodyPr/>
                    <a:lstStyle/>
                    <a:p>
                      <a:pPr algn="ctr"/>
                      <a:r>
                        <a:rPr kumimoji="1" lang="en-US" altLang="ja-JP" dirty="0"/>
                        <a:t>146 (20.9%)</a:t>
                      </a:r>
                      <a:endParaRPr kumimoji="1" lang="ja-JP" altLang="en-US" dirty="0"/>
                    </a:p>
                  </a:txBody>
                  <a:tcPr anchor="ctr"/>
                </a:tc>
                <a:extLst>
                  <a:ext uri="{0D108BD9-81ED-4DB2-BD59-A6C34878D82A}">
                    <a16:rowId xmlns:a16="http://schemas.microsoft.com/office/drawing/2014/main" val="3555240128"/>
                  </a:ext>
                </a:extLst>
              </a:tr>
              <a:tr h="846894">
                <a:tc>
                  <a:txBody>
                    <a:bodyPr/>
                    <a:lstStyle/>
                    <a:p>
                      <a:pPr algn="ctr"/>
                      <a:r>
                        <a:rPr lang="ja-JP" altLang="ja-JP" dirty="0"/>
                        <a:t>計</a:t>
                      </a:r>
                      <a:endParaRPr kumimoji="1" lang="ja-JP" altLang="en-US" dirty="0"/>
                    </a:p>
                  </a:txBody>
                  <a:tcPr anchor="ctr"/>
                </a:tc>
                <a:tc>
                  <a:txBody>
                    <a:bodyPr/>
                    <a:lstStyle/>
                    <a:p>
                      <a:pPr algn="ctr"/>
                      <a:r>
                        <a:rPr lang="ja-JP" altLang="ja-JP" dirty="0"/>
                        <a:t>563</a:t>
                      </a:r>
                      <a:r>
                        <a:rPr kumimoji="1" lang="en-US" altLang="ja-JP" dirty="0"/>
                        <a:t>(80.4%)</a:t>
                      </a:r>
                      <a:endParaRPr kumimoji="1" lang="ja-JP" altLang="en-US" dirty="0"/>
                    </a:p>
                  </a:txBody>
                  <a:tcPr anchor="ctr"/>
                </a:tc>
                <a:tc>
                  <a:txBody>
                    <a:bodyPr/>
                    <a:lstStyle/>
                    <a:p>
                      <a:pPr algn="ctr"/>
                      <a:r>
                        <a:rPr kumimoji="1" lang="en-US" altLang="ja-JP" dirty="0"/>
                        <a:t>137(19.6%)</a:t>
                      </a:r>
                      <a:endParaRPr kumimoji="1" lang="ja-JP" altLang="en-US" dirty="0"/>
                    </a:p>
                  </a:txBody>
                  <a:tcPr anchor="ctr"/>
                </a:tc>
                <a:tc>
                  <a:txBody>
                    <a:bodyPr/>
                    <a:lstStyle/>
                    <a:p>
                      <a:pPr algn="ctr"/>
                      <a:r>
                        <a:rPr kumimoji="1" lang="en-US" altLang="ja-JP" dirty="0"/>
                        <a:t>693</a:t>
                      </a:r>
                      <a:endParaRPr kumimoji="1" lang="ja-JP" altLang="en-US"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lstStyle/>
          <a:p>
            <a:r>
              <a:rPr kumimoji="1" lang="ja-JP" altLang="en-US" dirty="0"/>
              <a:t>正しいルール選択 → 正解：</a:t>
            </a:r>
            <a:r>
              <a:rPr kumimoji="1" lang="en-US" altLang="ja-JP" dirty="0"/>
              <a:t>521 / 554 = 94%</a:t>
            </a:r>
          </a:p>
          <a:p>
            <a:r>
              <a:rPr kumimoji="1" lang="ja-JP" altLang="en-US" dirty="0"/>
              <a:t>誤ったルール選択 → 正解：</a:t>
            </a:r>
            <a:r>
              <a:rPr kumimoji="1" lang="en-US" altLang="ja-JP" dirty="0"/>
              <a:t>36 / 146 = 24.7% </a:t>
            </a:r>
          </a:p>
          <a:p>
            <a:r>
              <a:rPr kumimoji="1" lang="ja-JP" altLang="en-US" dirty="0"/>
              <a:t>ルール選択が正しい場合、その後の処理も高い確率で正しく行えている</a:t>
            </a:r>
            <a:endParaRPr kumimoji="1" lang="en-US" altLang="ja-JP" dirty="0"/>
          </a:p>
          <a:p>
            <a:r>
              <a:rPr kumimoji="1" lang="ja-JP" altLang="en-US" dirty="0"/>
              <a:t>不正解の主な要因は、ルール選択の段階での誤りである</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4131230018"/>
              </p:ext>
            </p:extLst>
          </p:nvPr>
        </p:nvGraphicFramePr>
        <p:xfrm>
          <a:off x="2032000" y="3052561"/>
          <a:ext cx="8128000" cy="3214096"/>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a:p>
                  </a:txBody>
                  <a:tcPr anchor="ctr"/>
                </a:tc>
                <a:tc>
                  <a:txBody>
                    <a:bodyPr/>
                    <a:lstStyle/>
                    <a:p>
                      <a:pPr algn="ctr"/>
                      <a:r>
                        <a:rPr kumimoji="1" lang="ja-JP" altLang="en-US" dirty="0"/>
                        <a:t>正解</a:t>
                      </a:r>
                    </a:p>
                  </a:txBody>
                  <a:tcPr anchor="ctr"/>
                </a:tc>
                <a:tc>
                  <a:txBody>
                    <a:bodyPr/>
                    <a:lstStyle/>
                    <a:p>
                      <a:pPr algn="ctr"/>
                      <a:r>
                        <a:rPr kumimoji="1" lang="ja-JP" altLang="en-US" dirty="0"/>
                        <a:t>不正解</a:t>
                      </a:r>
                    </a:p>
                  </a:txBody>
                  <a:tcPr anchor="ctr"/>
                </a:tc>
                <a:tc>
                  <a:txBody>
                    <a:bodyPr/>
                    <a:lstStyle/>
                    <a:p>
                      <a:pPr algn="ctr"/>
                      <a:r>
                        <a:rPr kumimoji="1" lang="ja-JP" altLang="en-US"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dirty="0"/>
                        <a:t>正しいルール適用</a:t>
                      </a:r>
                    </a:p>
                  </a:txBody>
                  <a:tcPr anchor="ctr"/>
                </a:tc>
                <a:tc>
                  <a:txBody>
                    <a:bodyPr/>
                    <a:lstStyle/>
                    <a:p>
                      <a:pPr algn="ctr"/>
                      <a:r>
                        <a:rPr kumimoji="1" lang="en-US" altLang="ja-JP" dirty="0"/>
                        <a:t>520</a:t>
                      </a:r>
                    </a:p>
                    <a:p>
                      <a:pPr algn="ctr"/>
                      <a:r>
                        <a:rPr lang="ja-JP" altLang="ja-JP" dirty="0"/>
                        <a:t>(74.5%)</a:t>
                      </a:r>
                      <a:endParaRPr kumimoji="1" lang="ja-JP" altLang="en-US" dirty="0"/>
                    </a:p>
                  </a:txBody>
                  <a:tcPr anchor="ctr"/>
                </a:tc>
                <a:tc>
                  <a:txBody>
                    <a:bodyPr/>
                    <a:lstStyle/>
                    <a:p>
                      <a:pPr algn="ctr"/>
                      <a:r>
                        <a:rPr kumimoji="1" lang="en-US" altLang="ja-JP" dirty="0"/>
                        <a:t>46</a:t>
                      </a:r>
                    </a:p>
                    <a:p>
                      <a:pPr algn="ctr"/>
                      <a:r>
                        <a:rPr lang="ja-JP" altLang="ja-JP" dirty="0"/>
                        <a:t>(6.6%)</a:t>
                      </a:r>
                      <a:endParaRPr kumimoji="1" lang="ja-JP" altLang="en-US" dirty="0"/>
                    </a:p>
                  </a:txBody>
                  <a:tcPr anchor="ctr"/>
                </a:tc>
                <a:tc>
                  <a:txBody>
                    <a:bodyPr/>
                    <a:lstStyle/>
                    <a:p>
                      <a:pPr algn="ctr"/>
                      <a:r>
                        <a:rPr kumimoji="1" lang="en-US" altLang="ja-JP" dirty="0"/>
                        <a:t>566</a:t>
                      </a:r>
                    </a:p>
                    <a:p>
                      <a:pPr algn="ctr"/>
                      <a:r>
                        <a:rPr kumimoji="1" lang="en-US" altLang="ja-JP" dirty="0"/>
                        <a:t>(81.1%)</a:t>
                      </a:r>
                      <a:endParaRPr kumimoji="1" lang="ja-JP" altLang="en-US" dirty="0"/>
                    </a:p>
                  </a:txBody>
                  <a:tcPr anchor="ctr"/>
                </a:tc>
                <a:extLst>
                  <a:ext uri="{0D108BD9-81ED-4DB2-BD59-A6C34878D82A}">
                    <a16:rowId xmlns:a16="http://schemas.microsoft.com/office/drawing/2014/main" val="3825885354"/>
                  </a:ext>
                </a:extLst>
              </a:tr>
              <a:tr h="803524">
                <a:tc>
                  <a:txBody>
                    <a:bodyPr/>
                    <a:lstStyle/>
                    <a:p>
                      <a:pPr algn="ctr"/>
                      <a:r>
                        <a:rPr kumimoji="1" lang="ja-JP" altLang="en-US" dirty="0"/>
                        <a:t>誤ったルール適用</a:t>
                      </a:r>
                    </a:p>
                  </a:txBody>
                  <a:tcPr anchor="ctr"/>
                </a:tc>
                <a:tc>
                  <a:txBody>
                    <a:bodyPr/>
                    <a:lstStyle/>
                    <a:p>
                      <a:pPr algn="ctr"/>
                      <a:r>
                        <a:rPr kumimoji="1" lang="en-US" altLang="ja-JP" dirty="0"/>
                        <a:t>42</a:t>
                      </a:r>
                      <a:r>
                        <a:rPr lang="ja-JP" altLang="ja-JP" dirty="0"/>
                        <a:t>(6%)</a:t>
                      </a:r>
                      <a:endParaRPr kumimoji="1" lang="ja-JP" altLang="en-US" dirty="0"/>
                    </a:p>
                  </a:txBody>
                  <a:tcPr anchor="ctr"/>
                </a:tc>
                <a:tc>
                  <a:txBody>
                    <a:bodyPr/>
                    <a:lstStyle/>
                    <a:p>
                      <a:pPr algn="ctr"/>
                      <a:r>
                        <a:rPr kumimoji="1" lang="en-US" altLang="ja-JP" dirty="0"/>
                        <a:t>90</a:t>
                      </a:r>
                      <a:r>
                        <a:rPr lang="ja-JP" altLang="ja-JP" dirty="0"/>
                        <a:t>(12.9%)</a:t>
                      </a:r>
                      <a:endParaRPr kumimoji="1" lang="ja-JP" altLang="en-US" dirty="0"/>
                    </a:p>
                  </a:txBody>
                  <a:tcPr anchor="ctr"/>
                </a:tc>
                <a:tc>
                  <a:txBody>
                    <a:bodyPr/>
                    <a:lstStyle/>
                    <a:p>
                      <a:pPr algn="ctr"/>
                      <a:r>
                        <a:rPr kumimoji="1" lang="en-US" altLang="ja-JP" dirty="0"/>
                        <a:t>132 (18.9%)</a:t>
                      </a:r>
                      <a:endParaRPr kumimoji="1" lang="ja-JP" altLang="en-US" dirty="0"/>
                    </a:p>
                  </a:txBody>
                  <a:tcPr anchor="ctr"/>
                </a:tc>
                <a:extLst>
                  <a:ext uri="{0D108BD9-81ED-4DB2-BD59-A6C34878D82A}">
                    <a16:rowId xmlns:a16="http://schemas.microsoft.com/office/drawing/2014/main" val="2562858176"/>
                  </a:ext>
                </a:extLst>
              </a:tr>
              <a:tr h="803524">
                <a:tc>
                  <a:txBody>
                    <a:bodyPr/>
                    <a:lstStyle/>
                    <a:p>
                      <a:pPr algn="ctr"/>
                      <a:r>
                        <a:rPr kumimoji="1" lang="ja-JP" altLang="en-US" dirty="0"/>
                        <a:t>計</a:t>
                      </a:r>
                    </a:p>
                  </a:txBody>
                  <a:tcPr anchor="ctr"/>
                </a:tc>
                <a:tc>
                  <a:txBody>
                    <a:bodyPr/>
                    <a:lstStyle/>
                    <a:p>
                      <a:pPr algn="ctr"/>
                      <a:r>
                        <a:rPr kumimoji="1" lang="en-US" altLang="ja-JP" dirty="0"/>
                        <a:t>562 (80.5%)</a:t>
                      </a:r>
                      <a:endParaRPr kumimoji="1" lang="ja-JP" altLang="en-US" dirty="0"/>
                    </a:p>
                  </a:txBody>
                  <a:tcPr anchor="ctr"/>
                </a:tc>
                <a:tc>
                  <a:txBody>
                    <a:bodyPr/>
                    <a:lstStyle/>
                    <a:p>
                      <a:pPr algn="ctr"/>
                      <a:r>
                        <a:rPr kumimoji="1" lang="en-US" altLang="ja-JP" dirty="0"/>
                        <a:t>136 (19.5%)</a:t>
                      </a:r>
                      <a:endParaRPr kumimoji="1" lang="ja-JP" altLang="en-US" dirty="0"/>
                    </a:p>
                  </a:txBody>
                  <a:tcPr anchor="ctr"/>
                </a:tc>
                <a:tc>
                  <a:txBody>
                    <a:bodyPr/>
                    <a:lstStyle/>
                    <a:p>
                      <a:pPr algn="ctr"/>
                      <a:r>
                        <a:rPr kumimoji="1" lang="en-US" altLang="ja-JP" dirty="0"/>
                        <a:t>698</a:t>
                      </a:r>
                      <a:endParaRPr kumimoji="1" lang="ja-JP" altLang="en-US"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519493314"/>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526</a:t>
                      </a:r>
                      <a:endParaRPr kumimoji="1" lang="ja-JP" altLang="en-US" dirty="0"/>
                    </a:p>
                  </a:txBody>
                  <a:tcPr anchor="ctr"/>
                </a:tc>
                <a:extLst>
                  <a:ext uri="{0D108BD9-81ED-4DB2-BD59-A6C34878D82A}">
                    <a16:rowId xmlns:a16="http://schemas.microsoft.com/office/drawing/2014/main" val="380766584"/>
                  </a:ext>
                </a:extLst>
              </a:tr>
              <a:tr h="682150">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0</a:t>
                      </a:r>
                      <a:endParaRPr kumimoji="1" lang="ja-JP" altLang="en-US" dirty="0"/>
                    </a:p>
                  </a:txBody>
                  <a:tcPr anchor="ctr"/>
                </a:tc>
                <a:extLst>
                  <a:ext uri="{0D108BD9-81ED-4DB2-BD59-A6C34878D82A}">
                    <a16:rowId xmlns:a16="http://schemas.microsoft.com/office/drawing/2014/main" val="3754421160"/>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r>
                        <a:rPr kumimoji="1" lang="en-US" altLang="ja-JP" dirty="0"/>
                        <a:t>1</a:t>
                      </a:r>
                      <a:endParaRPr kumimoji="1" lang="ja-JP" altLang="en-US" dirty="0"/>
                    </a:p>
                  </a:txBody>
                  <a:tcPr anchor="ctr"/>
                </a:tc>
                <a:extLst>
                  <a:ext uri="{0D108BD9-81ED-4DB2-BD59-A6C34878D82A}">
                    <a16:rowId xmlns:a16="http://schemas.microsoft.com/office/drawing/2014/main" val="2420634431"/>
                  </a:ext>
                </a:extLst>
              </a:tr>
              <a:tr h="682150">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t>×</a:t>
                      </a:r>
                      <a:endParaRPr kumimoji="1" lang="ja-JP" altLang="en-US" dirty="0"/>
                    </a:p>
                  </a:txBody>
                  <a:tcPr anchor="ctr"/>
                </a:tc>
                <a:tc>
                  <a:txBody>
                    <a:bodyPr/>
                    <a:lstStyle/>
                    <a:p>
                      <a:pPr algn="ctr"/>
                      <a:r>
                        <a:rPr kumimoji="1" lang="en-US" altLang="ja-JP" dirty="0"/>
                        <a:t>27</a:t>
                      </a:r>
                      <a:endParaRPr kumimoji="1" lang="ja-JP" altLang="en-US"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60871357"/>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kumimoji="1" lang="en-US" altLang="ja-JP" dirty="0"/>
                        <a:t>10</a:t>
                      </a:r>
                      <a:endParaRPr kumimoji="1" lang="ja-JP" altLang="en-US" dirty="0"/>
                    </a:p>
                  </a:txBody>
                  <a:tcPr anchor="ctr"/>
                </a:tc>
                <a:extLst>
                  <a:ext uri="{0D108BD9-81ED-4DB2-BD59-A6C34878D82A}">
                    <a16:rowId xmlns:a16="http://schemas.microsoft.com/office/drawing/2014/main" val="1564320072"/>
                  </a:ext>
                </a:extLst>
              </a:tr>
              <a:tr h="684000">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68</a:t>
                      </a:r>
                      <a:endParaRPr kumimoji="1" lang="ja-JP" altLang="en-US" dirty="0"/>
                    </a:p>
                  </a:txBody>
                  <a:tcPr anchor="ctr"/>
                </a:tc>
                <a:extLst>
                  <a:ext uri="{0D108BD9-81ED-4DB2-BD59-A6C34878D82A}">
                    <a16:rowId xmlns:a16="http://schemas.microsoft.com/office/drawing/2014/main" val="932963751"/>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25094660"/>
                  </a:ext>
                </a:extLst>
              </a:tr>
              <a:tr h="684000">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41</a:t>
                      </a:r>
                      <a:endParaRPr kumimoji="1" lang="ja-JP" altLang="en-US"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p:txBody>
          <a:bodyPr/>
          <a:lstStyle/>
          <a:p>
            <a:r>
              <a:rPr kumimoji="1" lang="ja-JP" altLang="en-US" dirty="0"/>
              <a:t>正しいルールを選べた場合、ほぼ「適用できるか」で決まる</a:t>
            </a:r>
            <a:endParaRPr kumimoji="1" lang="en-US" altLang="ja-JP" dirty="0"/>
          </a:p>
          <a:p>
            <a:r>
              <a:rPr kumimoji="1" lang="ja-JP" altLang="en-US" dirty="0"/>
              <a:t>正しいルールを選択し、正しく適用できた場合、最終回答はすべて正解した。</a:t>
            </a:r>
            <a:endParaRPr lang="en-US" altLang="ja-JP" dirty="0"/>
          </a:p>
          <a:p>
            <a:r>
              <a:rPr kumimoji="1" lang="ja-JP" altLang="en-US" dirty="0"/>
              <a:t>「正しいルールを選んだのに適用で失敗」が</a:t>
            </a:r>
            <a:r>
              <a:rPr kumimoji="1" lang="en-US" altLang="ja-JP" dirty="0"/>
              <a:t>27</a:t>
            </a:r>
            <a:r>
              <a:rPr kumimoji="1" lang="ja-JP" altLang="en-US" dirty="0"/>
              <a:t>問</a:t>
            </a:r>
            <a:endParaRPr kumimoji="1" lang="en-US" altLang="ja-JP" dirty="0"/>
          </a:p>
          <a:p>
            <a:r>
              <a:rPr kumimoji="1" lang="ja-JP" altLang="en-US" dirty="0"/>
              <a:t>誤ったルールを選んだ場合は、かなり不安定</a:t>
            </a:r>
            <a:endParaRPr kumimoji="1" lang="en-US" altLang="ja-JP" dirty="0"/>
          </a:p>
          <a:p>
            <a:r>
              <a:rPr kumimoji="1" lang="ja-JP" altLang="en-US" dirty="0"/>
              <a:t>ルール選択を誤った場合、選択したルールを正しく適用できる場合もあるが、それでも最終的な正解にはつながりにくい。</a:t>
            </a:r>
            <a:endParaRPr kumimoji="1" lang="en-US" altLang="ja-JP" dirty="0"/>
          </a:p>
          <a:p>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・回答○」が</a:t>
            </a:r>
            <a:r>
              <a:rPr kumimoji="1" lang="en-US" altLang="ja-JP" dirty="0"/>
              <a:t>25</a:t>
            </a:r>
            <a:r>
              <a:rPr kumimoji="1" lang="ja-JP" altLang="en-US"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lstStyle/>
          <a:p>
            <a:r>
              <a:rPr kumimoji="1" lang="en-US" altLang="ja-JP" dirty="0"/>
              <a:t>25</a:t>
            </a:r>
            <a:r>
              <a:rPr kumimoji="1" lang="ja-JP" altLang="en-US" dirty="0"/>
              <a:t>件の</a:t>
            </a:r>
            <a:r>
              <a:rPr lang="ja-JP" altLang="en-US" dirty="0"/>
              <a:t>「選択</a:t>
            </a:r>
            <a:r>
              <a:rPr lang="en-US" altLang="ja-JP" dirty="0"/>
              <a:t>×</a:t>
            </a:r>
            <a:r>
              <a:rPr lang="ja-JP" altLang="en-US" dirty="0"/>
              <a:t>・適用</a:t>
            </a:r>
            <a:r>
              <a:rPr lang="en-US" altLang="ja-JP" dirty="0"/>
              <a:t>×</a:t>
            </a:r>
            <a:r>
              <a:rPr lang="ja-JP" altLang="en-US" dirty="0"/>
              <a:t>・回答○」について</a:t>
            </a:r>
            <a:endParaRPr lang="en-US" altLang="ja-JP" dirty="0"/>
          </a:p>
          <a:p>
            <a:r>
              <a:rPr kumimoji="1" lang="ja-JP" altLang="en-US" dirty="0"/>
              <a:t>パターン①：ルール名の不一致</a:t>
            </a:r>
            <a:endParaRPr kumimoji="1" lang="en-US" altLang="ja-JP" dirty="0"/>
          </a:p>
          <a:p>
            <a:pPr lvl="1"/>
            <a:r>
              <a:rPr lang="ja-JP" altLang="en-US" dirty="0"/>
              <a:t>実際の処理は正しい</a:t>
            </a:r>
            <a:endParaRPr lang="en-US" altLang="ja-JP" dirty="0"/>
          </a:p>
          <a:p>
            <a:pPr lvl="1"/>
            <a:r>
              <a:rPr lang="ja-JP" altLang="en-US" dirty="0"/>
              <a:t>評価上は選択</a:t>
            </a:r>
            <a:r>
              <a:rPr lang="en-US" altLang="ja-JP" dirty="0"/>
              <a:t>×</a:t>
            </a:r>
            <a:r>
              <a:rPr lang="ja-JP" altLang="en-US" dirty="0"/>
              <a:t>・適用</a:t>
            </a:r>
            <a:r>
              <a:rPr lang="en-US" altLang="ja-JP" dirty="0"/>
              <a:t>×</a:t>
            </a:r>
            <a:r>
              <a:rPr lang="ja-JP" altLang="en-US" dirty="0"/>
              <a:t>になっている</a:t>
            </a:r>
            <a:endParaRPr lang="en-US" altLang="ja-JP" dirty="0"/>
          </a:p>
          <a:p>
            <a:r>
              <a:rPr kumimoji="1" lang="ja-JP" altLang="en-US" dirty="0"/>
              <a:t>パターン②：冗長な処理の追加</a:t>
            </a:r>
            <a:endParaRPr kumimoji="1" lang="en-US" altLang="ja-JP" dirty="0"/>
          </a:p>
          <a:p>
            <a:pPr lvl="1"/>
            <a:r>
              <a:rPr kumimoji="1" lang="ja-JP" altLang="en-US" dirty="0"/>
              <a:t>正解に必要な処理はできている</a:t>
            </a:r>
            <a:endParaRPr kumimoji="1" lang="en-US" altLang="ja-JP" dirty="0"/>
          </a:p>
          <a:p>
            <a:pPr lvl="1"/>
            <a:r>
              <a:rPr kumimoji="1" lang="ja-JP" altLang="en-US" dirty="0"/>
              <a:t>結果に影響しない処理を追加している</a:t>
            </a:r>
            <a:endParaRPr kumimoji="1" lang="en-US" altLang="ja-JP"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126471448"/>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dirty="0"/>
                        <a:t>ルール選択</a:t>
                      </a:r>
                    </a:p>
                  </a:txBody>
                  <a:tcPr anchor="ctr"/>
                </a:tc>
                <a:tc>
                  <a:txBody>
                    <a:bodyPr/>
                    <a:lstStyle/>
                    <a:p>
                      <a:pPr algn="ctr"/>
                      <a:r>
                        <a:rPr kumimoji="1" lang="ja-JP" altLang="en-US" dirty="0"/>
                        <a:t>ルール適用</a:t>
                      </a:r>
                    </a:p>
                  </a:txBody>
                  <a:tcPr anchor="ctr"/>
                </a:tc>
                <a:tc>
                  <a:txBody>
                    <a:bodyPr/>
                    <a:lstStyle/>
                    <a:p>
                      <a:pPr algn="ctr"/>
                      <a:r>
                        <a:rPr kumimoji="1" lang="ja-JP" altLang="en-US" dirty="0"/>
                        <a:t>最終回答</a:t>
                      </a:r>
                    </a:p>
                  </a:txBody>
                  <a:tcPr anchor="ctr"/>
                </a:tc>
                <a:tc>
                  <a:txBody>
                    <a:bodyPr/>
                    <a:lstStyle/>
                    <a:p>
                      <a:pPr algn="ctr"/>
                      <a:r>
                        <a:rPr kumimoji="1" lang="ja-JP" altLang="en-US"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ja-JP" altLang="en-US" dirty="0"/>
                        <a:t>〇</a:t>
                      </a:r>
                    </a:p>
                  </a:txBody>
                  <a:tcPr anchor="ctr"/>
                </a:tc>
                <a:tc>
                  <a:txBody>
                    <a:bodyPr/>
                    <a:lstStyle/>
                    <a:p>
                      <a:pPr algn="ctr"/>
                      <a:r>
                        <a:rPr lang="ja-JP" altLang="ja-JP" dirty="0"/>
                        <a:t>32</a:t>
                      </a:r>
                      <a:endParaRPr kumimoji="1" lang="ja-JP" altLang="en-US" dirty="0"/>
                    </a:p>
                  </a:txBody>
                  <a:tcPr anchor="ctr"/>
                </a:tc>
                <a:extLst>
                  <a:ext uri="{0D108BD9-81ED-4DB2-BD59-A6C34878D82A}">
                    <a16:rowId xmlns:a16="http://schemas.microsoft.com/office/drawing/2014/main" val="380766584"/>
                  </a:ext>
                </a:extLst>
              </a:tr>
              <a:tr h="690687">
                <a:tc>
                  <a:txBody>
                    <a:bodyPr/>
                    <a:lstStyle/>
                    <a:p>
                      <a:pPr algn="ctr"/>
                      <a:r>
                        <a:rPr kumimoji="1" lang="en-US" altLang="ja-JP" dirty="0"/>
                        <a:t>×</a:t>
                      </a:r>
                      <a:endParaRPr kumimoji="1" lang="ja-JP" altLang="en-US" dirty="0"/>
                    </a:p>
                  </a:txBody>
                  <a:tcPr anchor="ctr"/>
                </a:tc>
                <a:tc>
                  <a:txBody>
                    <a:bodyPr/>
                    <a:lstStyle/>
                    <a:p>
                      <a:pPr algn="ctr"/>
                      <a:r>
                        <a:rPr kumimoji="1" lang="ja-JP" altLang="en-US" dirty="0"/>
                        <a:t>〇</a:t>
                      </a:r>
                    </a:p>
                  </a:txBody>
                  <a:tcPr anchor="ctr"/>
                </a:tc>
                <a:tc>
                  <a:txBody>
                    <a:bodyPr/>
                    <a:lstStyle/>
                    <a:p>
                      <a:pPr algn="ctr"/>
                      <a:r>
                        <a:rPr kumimoji="1" lang="en-US" altLang="ja-JP" dirty="0"/>
                        <a:t>×</a:t>
                      </a:r>
                      <a:endParaRPr kumimoji="1" lang="ja-JP" altLang="en-US" dirty="0"/>
                    </a:p>
                  </a:txBody>
                  <a:tcPr anchor="ctr"/>
                </a:tc>
                <a:tc>
                  <a:txBody>
                    <a:bodyPr/>
                    <a:lstStyle/>
                    <a:p>
                      <a:pPr algn="ctr"/>
                      <a:r>
                        <a:rPr lang="ja-JP" altLang="ja-JP" dirty="0"/>
                        <a:t>271</a:t>
                      </a:r>
                      <a:endParaRPr kumimoji="1" lang="ja-JP" altLang="en-US" dirty="0"/>
                    </a:p>
                  </a:txBody>
                  <a:tcPr anchor="ctr"/>
                </a:tc>
                <a:extLst>
                  <a:ext uri="{0D108BD9-81ED-4DB2-BD59-A6C34878D82A}">
                    <a16:rowId xmlns:a16="http://schemas.microsoft.com/office/drawing/2014/main" val="3754421160"/>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〇</a:t>
                      </a:r>
                    </a:p>
                  </a:txBody>
                  <a:tcPr anchor="ctr"/>
                </a:tc>
                <a:tc>
                  <a:txBody>
                    <a:bodyPr/>
                    <a:lstStyle/>
                    <a:p>
                      <a:pPr algn="ctr">
                        <a:buNone/>
                      </a:pPr>
                      <a:r>
                        <a:rPr lang="en-US" altLang="ja-JP" dirty="0"/>
                        <a:t>40</a:t>
                      </a:r>
                      <a:endParaRPr lang="ja-JP" dirty="0"/>
                    </a:p>
                  </a:txBody>
                  <a:tcPr anchor="ctr"/>
                </a:tc>
                <a:extLst>
                  <a:ext uri="{0D108BD9-81ED-4DB2-BD59-A6C34878D82A}">
                    <a16:rowId xmlns:a16="http://schemas.microsoft.com/office/drawing/2014/main" val="2420634431"/>
                  </a:ext>
                </a:extLst>
              </a:tr>
              <a:tr h="690687">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ja-JP" dirty="0"/>
                        <a:t>88</a:t>
                      </a:r>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605655"/>
          </a:xfrm>
        </p:spPr>
        <p:txBody>
          <a:bodyPr/>
          <a:lstStyle/>
          <a:p>
            <a:r>
              <a:rPr kumimoji="1" lang="ja-JP" altLang="en-US" dirty="0"/>
              <a:t>正しいルール選択はほとんどできていない</a:t>
            </a:r>
            <a:endParaRPr kumimoji="1" lang="en-US" altLang="ja-JP" dirty="0"/>
          </a:p>
          <a:p>
            <a:pPr lvl="1"/>
            <a:r>
              <a:rPr kumimoji="1" lang="en-US" altLang="ja-JP" dirty="0"/>
              <a:t>1 / 432</a:t>
            </a:r>
            <a:r>
              <a:rPr kumimoji="1" lang="ja-JP" altLang="en-US" dirty="0"/>
              <a:t>件 </a:t>
            </a:r>
            <a:r>
              <a:rPr kumimoji="1" lang="en-US" altLang="ja-JP" dirty="0"/>
              <a:t>= 0.2%</a:t>
            </a:r>
            <a:endParaRPr lang="en-US" altLang="ja-JP" dirty="0"/>
          </a:p>
          <a:p>
            <a:r>
              <a:rPr kumimoji="1" lang="ja-JP" altLang="en-US" dirty="0"/>
              <a:t>最も多かったのは「選択</a:t>
            </a:r>
            <a:r>
              <a:rPr kumimoji="1" lang="en-US" altLang="ja-JP" dirty="0"/>
              <a:t>×</a:t>
            </a:r>
            <a:r>
              <a:rPr kumimoji="1" lang="ja-JP" altLang="en-US" dirty="0"/>
              <a:t>・適用○・回答</a:t>
            </a:r>
            <a:r>
              <a:rPr kumimoji="1" lang="en-US" altLang="ja-JP" dirty="0"/>
              <a:t>×</a:t>
            </a:r>
            <a:r>
              <a:rPr kumimoji="1" lang="ja-JP" altLang="en-US" dirty="0"/>
              <a:t>」</a:t>
            </a:r>
            <a:endParaRPr kumimoji="1" lang="en-US" altLang="ja-JP" dirty="0"/>
          </a:p>
          <a:p>
            <a:pPr lvl="1"/>
            <a:r>
              <a:rPr kumimoji="1" lang="en-US" altLang="ja-JP" dirty="0"/>
              <a:t>271 / 432</a:t>
            </a:r>
            <a:r>
              <a:rPr kumimoji="1" lang="ja-JP" altLang="en-US" dirty="0"/>
              <a:t>件 </a:t>
            </a:r>
            <a:r>
              <a:rPr kumimoji="1" lang="en-US" altLang="ja-JP" dirty="0"/>
              <a:t>= 62.7%</a:t>
            </a:r>
          </a:p>
          <a:p>
            <a:pPr lvl="1"/>
            <a:r>
              <a:rPr kumimoji="1" lang="ja-JP" altLang="en-US" dirty="0"/>
              <a:t>選択したルール自体は正しく適用できているが、ルールの組み合わせを正しく選択できず、最終的に不正解となった</a:t>
            </a:r>
            <a:endParaRPr kumimoji="1" lang="en-US" altLang="ja-JP" dirty="0"/>
          </a:p>
          <a:p>
            <a:pPr lvl="1"/>
            <a:r>
              <a:rPr kumimoji="1" lang="ja-JP" altLang="en-US" dirty="0"/>
              <a:t>既知の処理を適切に組み合わせることに難しさがある可能性</a:t>
            </a:r>
            <a:endParaRPr kumimoji="1" lang="en-US" altLang="ja-JP" dirty="0"/>
          </a:p>
          <a:p>
            <a:r>
              <a:rPr kumimoji="1" lang="ja-JP" altLang="en-US" dirty="0"/>
              <a:t>選択を間違えても正解するケースもある</a:t>
            </a:r>
            <a:endParaRPr kumimoji="1" lang="en-US" altLang="ja-JP" dirty="0"/>
          </a:p>
          <a:p>
            <a:pPr lvl="1"/>
            <a:r>
              <a:rPr kumimoji="1" lang="ja-JP" altLang="en-US" dirty="0"/>
              <a:t>選択</a:t>
            </a:r>
            <a:r>
              <a:rPr kumimoji="1" lang="en-US" altLang="ja-JP" dirty="0"/>
              <a:t>×</a:t>
            </a:r>
            <a:r>
              <a:rPr kumimoji="1" lang="ja-JP" altLang="en-US" dirty="0"/>
              <a:t>・適用○・回答○：</a:t>
            </a:r>
            <a:r>
              <a:rPr kumimoji="1" lang="en-US" altLang="ja-JP" dirty="0"/>
              <a:t>32</a:t>
            </a:r>
            <a:r>
              <a:rPr kumimoji="1" lang="ja-JP" altLang="en-US" dirty="0"/>
              <a:t>件</a:t>
            </a:r>
            <a:endParaRPr kumimoji="1" lang="en-US" altLang="ja-JP" dirty="0"/>
          </a:p>
          <a:p>
            <a:pPr lvl="1"/>
            <a:r>
              <a:rPr kumimoji="1" lang="ja-JP" altLang="en-US" dirty="0"/>
              <a:t>選択</a:t>
            </a:r>
            <a:r>
              <a:rPr kumimoji="1" lang="en-US" altLang="ja-JP" dirty="0"/>
              <a:t>×</a:t>
            </a:r>
            <a:r>
              <a:rPr kumimoji="1" lang="ja-JP" altLang="en-US" dirty="0"/>
              <a:t>・適用</a:t>
            </a:r>
            <a:r>
              <a:rPr kumimoji="1" lang="en-US" altLang="ja-JP" dirty="0"/>
              <a:t>×</a:t>
            </a:r>
            <a:r>
              <a:rPr kumimoji="1" lang="ja-JP" altLang="en-US" dirty="0"/>
              <a:t>・回答○：</a:t>
            </a:r>
            <a:r>
              <a:rPr kumimoji="1" lang="en-US" altLang="ja-JP" dirty="0"/>
              <a:t>40</a:t>
            </a:r>
            <a:r>
              <a:rPr kumimoji="1" lang="ja-JP" altLang="en-US" dirty="0"/>
              <a:t>件</a:t>
            </a:r>
            <a:endParaRPr kumimoji="1" lang="en-US" altLang="ja-JP" dirty="0"/>
          </a:p>
          <a:p>
            <a:endParaRPr kumimoji="1" lang="en-US" altLang="ja-JP" dirty="0"/>
          </a:p>
          <a:p>
            <a:pPr lvl="1"/>
            <a:endParaRPr kumimoji="1" lang="ja-JP" altLang="en-US"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lstStyle/>
          <a:p>
            <a:r>
              <a:rPr lang="en-US" altLang="ja-JP" dirty="0"/>
              <a:t>RQ1</a:t>
            </a:r>
            <a:r>
              <a:rPr lang="ja-JP" altLang="en-US" dirty="0"/>
              <a:t>：</a:t>
            </a:r>
            <a:r>
              <a:rPr lang="en-US" altLang="ja-JP" dirty="0"/>
              <a:t>SFT</a:t>
            </a:r>
            <a:r>
              <a:rPr lang="ja-JP" altLang="en-US" dirty="0"/>
              <a:t>によって、既知の処理を新しい組み合わせで利用する問題解決能力は獲得されるのか？</a:t>
            </a:r>
            <a:endParaRPr lang="en-US" altLang="ja-JP" dirty="0"/>
          </a:p>
          <a:p>
            <a:pPr lvl="1"/>
            <a:r>
              <a:rPr lang="ja-JP" altLang="en-US" dirty="0"/>
              <a:t>どちらの</a:t>
            </a:r>
            <a:r>
              <a:rPr lang="en-US" altLang="ja-JP" dirty="0"/>
              <a:t>SFT</a:t>
            </a:r>
            <a:r>
              <a:rPr lang="ja-JP" altLang="en-US" dirty="0"/>
              <a:t>でもテストデータその</a:t>
            </a:r>
            <a:r>
              <a:rPr lang="en-US" altLang="ja-JP" dirty="0"/>
              <a:t>2</a:t>
            </a:r>
            <a:r>
              <a:rPr lang="ja-JP" altLang="en-US" dirty="0"/>
              <a:t>での性能はベースモデルより向上しているため、</a:t>
            </a:r>
            <a:r>
              <a:rPr lang="en-US" altLang="ja-JP" dirty="0"/>
              <a:t>SFT</a:t>
            </a:r>
            <a:r>
              <a:rPr lang="ja-JP" altLang="en-US" dirty="0"/>
              <a:t>によって既知の処理を新しい組み合わせで利用する能力が一定程度獲得されたと考えられる。</a:t>
            </a:r>
            <a:endParaRPr lang="en-US" altLang="ja-JP" dirty="0"/>
          </a:p>
          <a:p>
            <a:pPr lvl="1"/>
            <a:r>
              <a:rPr lang="ja-JP" altLang="en-US" dirty="0"/>
              <a:t>テストデータその２での性能はテストデータその</a:t>
            </a:r>
            <a:r>
              <a:rPr lang="en-US" altLang="ja-JP" dirty="0"/>
              <a:t>1</a:t>
            </a:r>
            <a:r>
              <a:rPr lang="ja-JP" altLang="en-US" dirty="0"/>
              <a:t>での性能と比較して低く、獲得された能力は限定的である。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lstStyle/>
          <a:p>
            <a:r>
              <a:rPr lang="en-US" altLang="ja-JP" dirty="0"/>
              <a:t>RQ2</a:t>
            </a:r>
            <a:r>
              <a:rPr lang="ja-JP" altLang="en-US" dirty="0"/>
              <a:t>：</a:t>
            </a:r>
            <a:r>
              <a:rPr lang="en-US" altLang="ja-JP" dirty="0"/>
              <a:t>SFT</a:t>
            </a:r>
            <a:r>
              <a:rPr lang="ja-JP" altLang="en-US" dirty="0"/>
              <a:t>における教師データの違いは、この問題解決能力の獲得にどのような影響を与えるのか？</a:t>
            </a:r>
            <a:endParaRPr lang="en-US" altLang="ja-JP" dirty="0"/>
          </a:p>
          <a:p>
            <a:pPr lvl="1"/>
            <a:r>
              <a:rPr lang="ja-JP" altLang="en-US" dirty="0"/>
              <a:t>答え＋処理過程</a:t>
            </a:r>
            <a:r>
              <a:rPr lang="en-US" altLang="ja-JP" dirty="0"/>
              <a:t>SFT</a:t>
            </a:r>
            <a:r>
              <a:rPr lang="ja-JP" altLang="en-US" dirty="0"/>
              <a:t>は</a:t>
            </a:r>
            <a:r>
              <a:rPr lang="en-US" altLang="ja-JP" dirty="0"/>
              <a:t>IID</a:t>
            </a:r>
            <a:r>
              <a:rPr lang="ja-JP" altLang="en-US" dirty="0"/>
              <a:t>では</a:t>
            </a:r>
            <a:r>
              <a:rPr lang="en-US" altLang="ja-JP" dirty="0"/>
              <a:t>80%</a:t>
            </a:r>
            <a:r>
              <a:rPr lang="ja-JP" altLang="en-US" dirty="0"/>
              <a:t>と最も高いが、</a:t>
            </a:r>
            <a:r>
              <a:rPr lang="en-US" altLang="ja-JP" dirty="0"/>
              <a:t>OOD</a:t>
            </a:r>
            <a:r>
              <a:rPr lang="ja-JP" altLang="en-US" dirty="0"/>
              <a:t>では</a:t>
            </a:r>
            <a:r>
              <a:rPr lang="en-US" altLang="ja-JP" dirty="0"/>
              <a:t>20%</a:t>
            </a:r>
            <a:r>
              <a:rPr lang="ja-JP" altLang="en-US" dirty="0"/>
              <a:t>となり、答えのみ</a:t>
            </a:r>
            <a:r>
              <a:rPr lang="en-US" altLang="ja-JP" dirty="0"/>
              <a:t>SFT</a:t>
            </a:r>
            <a:r>
              <a:rPr lang="ja-JP" altLang="en-US" dirty="0"/>
              <a:t>の</a:t>
            </a:r>
            <a:r>
              <a:rPr lang="en-US" altLang="ja-JP" dirty="0"/>
              <a:t>41%</a:t>
            </a:r>
            <a:r>
              <a:rPr lang="ja-JP" altLang="en-US" dirty="0"/>
              <a:t>を下回った。</a:t>
            </a:r>
            <a:endParaRPr lang="en-US" altLang="ja-JP" dirty="0"/>
          </a:p>
          <a:p>
            <a:pPr lvl="1"/>
            <a:r>
              <a:rPr lang="ja-JP" altLang="en-US" dirty="0"/>
              <a:t>処理過程を教師として与えることは、学習した問題への適応には有効だが、新しい組み合わせへの汎化を必ずしも促進しない可能性がある。</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lstStyle/>
          <a:p>
            <a:r>
              <a:rPr lang="ja-JP" altLang="en-US" dirty="0"/>
              <a:t>テストデータその</a:t>
            </a:r>
            <a:r>
              <a:rPr lang="en-US" altLang="ja-JP" dirty="0"/>
              <a:t>2</a:t>
            </a:r>
            <a:r>
              <a:rPr lang="ja-JP" altLang="en-US" dirty="0"/>
              <a:t>でのルールの選択を間違えても正解するケースを分析</a:t>
            </a:r>
            <a:endParaRPr kumimoji="1" lang="en-US" altLang="ja-JP" dirty="0"/>
          </a:p>
          <a:p>
            <a:endParaRPr kumimoji="1" lang="ja-JP" altLang="en-US" dirty="0"/>
          </a:p>
          <a:p>
            <a:r>
              <a:rPr kumimoji="1" lang="ja-JP" altLang="en-US" dirty="0"/>
              <a:t>推論過程の最初の誤りが発生する位置・原因を分析</a:t>
            </a:r>
            <a:endParaRPr kumimoji="1" lang="en-US" altLang="ja-JP" dirty="0"/>
          </a:p>
          <a:p>
            <a:endParaRPr lang="en-US" altLang="ja-JP"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lstStyle/>
          <a:p>
            <a:r>
              <a:rPr lang="ja-JP" altLang="en-US" dirty="0"/>
              <a:t>問題文の部分も </a:t>
            </a:r>
            <a:r>
              <a:rPr lang="en-US" altLang="ja-JP" dirty="0"/>
              <a:t>loss</a:t>
            </a:r>
            <a:r>
              <a:rPr lang="ja-JP" altLang="en-US" dirty="0"/>
              <a:t>の計算に含めない</a:t>
            </a:r>
            <a:endParaRPr lang="en-US" altLang="ja-JP" dirty="0"/>
          </a:p>
          <a:p>
            <a:endParaRPr lang="en-US" altLang="ja-JP" dirty="0"/>
          </a:p>
          <a:p>
            <a:r>
              <a:rPr lang="ja-JP" altLang="en-US" dirty="0"/>
              <a:t>教師データの偏り</a:t>
            </a:r>
            <a:endParaRPr lang="en-US" altLang="ja-JP"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dirty="0"/>
              <a:t>口語を改善</a:t>
            </a:r>
            <a:endParaRPr kumimoji="1" lang="en-US" altLang="ja-JP" dirty="0"/>
          </a:p>
          <a:p>
            <a:r>
              <a:rPr lang="ja-JP" altLang="en-US" dirty="0"/>
              <a:t>全部→全体</a:t>
            </a:r>
            <a:endParaRPr lang="en-US" altLang="ja-JP" dirty="0"/>
          </a:p>
          <a:p>
            <a:r>
              <a:rPr kumimoji="1" lang="ja-JP" altLang="en-US" dirty="0"/>
              <a:t>参考文献の引用の仕方を長くてもいいから、正式な形で</a:t>
            </a:r>
            <a:endParaRPr kumimoji="1" lang="en-US" altLang="ja-JP" dirty="0"/>
          </a:p>
          <a:p>
            <a:r>
              <a:rPr kumimoji="1" lang="ja-JP" altLang="en-US" dirty="0">
                <a:solidFill>
                  <a:srgbClr val="FF0000"/>
                </a:solidFill>
              </a:rPr>
              <a:t>今のところばらばらの実験でやってるから最後はちゃんと同じ結果を入れる</a:t>
            </a:r>
            <a:endParaRPr kumimoji="1" lang="en-US" altLang="ja-JP" dirty="0">
              <a:solidFill>
                <a:srgbClr val="FF0000"/>
              </a:solidFill>
            </a:endParaRPr>
          </a:p>
          <a:p>
            <a:endParaRPr kumimoji="1" lang="ja-JP" altLang="en-US" dirty="0"/>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9859</TotalTime>
  <Words>6538</Words>
  <Application>Microsoft Office PowerPoint</Application>
  <PresentationFormat>ワイド画面</PresentationFormat>
  <Paragraphs>752</Paragraphs>
  <Slides>50</Slides>
  <Notes>11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50</vt:i4>
      </vt:variant>
    </vt:vector>
  </HeadingPairs>
  <TitlesOfParts>
    <vt:vector size="54"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 (やり直しが必要)</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考察</vt:lpstr>
      <vt:lpstr>考察</vt:lpstr>
      <vt:lpstr>今後の課題</vt:lpstr>
      <vt:lpstr>実験の改善点</vt:lpstr>
      <vt:lpstr>改善点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12</cp:revision>
  <dcterms:created xsi:type="dcterms:W3CDTF">2026-09-01T15:23:02Z</dcterms:created>
  <dcterms:modified xsi:type="dcterms:W3CDTF">2026-09-15T13:53:14Z</dcterms:modified>
</cp:coreProperties>
</file>