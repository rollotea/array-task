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256" r:id="rId2"/>
    <p:sldId id="257" r:id="rId3"/>
    <p:sldId id="265" r:id="rId4"/>
    <p:sldId id="258" r:id="rId5"/>
    <p:sldId id="324" r:id="rId6"/>
    <p:sldId id="259" r:id="rId7"/>
    <p:sldId id="260" r:id="rId8"/>
    <p:sldId id="261" r:id="rId9"/>
    <p:sldId id="263" r:id="rId10"/>
    <p:sldId id="262" r:id="rId11"/>
    <p:sldId id="264" r:id="rId12"/>
    <p:sldId id="267" r:id="rId13"/>
    <p:sldId id="269" r:id="rId14"/>
    <p:sldId id="271" r:id="rId15"/>
    <p:sldId id="272" r:id="rId16"/>
    <p:sldId id="273" r:id="rId17"/>
    <p:sldId id="274" r:id="rId18"/>
    <p:sldId id="275" r:id="rId19"/>
    <p:sldId id="306" r:id="rId20"/>
    <p:sldId id="276" r:id="rId21"/>
    <p:sldId id="277" r:id="rId22"/>
    <p:sldId id="278" r:id="rId23"/>
    <p:sldId id="279" r:id="rId24"/>
    <p:sldId id="281" r:id="rId25"/>
    <p:sldId id="282" r:id="rId26"/>
    <p:sldId id="296" r:id="rId27"/>
    <p:sldId id="325" r:id="rId28"/>
    <p:sldId id="327" r:id="rId29"/>
    <p:sldId id="328" r:id="rId30"/>
    <p:sldId id="329" r:id="rId31"/>
    <p:sldId id="330" r:id="rId32"/>
    <p:sldId id="326" r:id="rId33"/>
    <p:sldId id="299" r:id="rId34"/>
    <p:sldId id="302" r:id="rId35"/>
    <p:sldId id="303" r:id="rId36"/>
    <p:sldId id="308" r:id="rId37"/>
    <p:sldId id="309" r:id="rId38"/>
    <p:sldId id="311" r:id="rId39"/>
    <p:sldId id="312" r:id="rId40"/>
    <p:sldId id="313" r:id="rId41"/>
    <p:sldId id="314" r:id="rId42"/>
    <p:sldId id="315" r:id="rId43"/>
    <p:sldId id="316" r:id="rId44"/>
    <p:sldId id="317" r:id="rId45"/>
    <p:sldId id="319" r:id="rId46"/>
    <p:sldId id="320" r:id="rId47"/>
    <p:sldId id="321" r:id="rId48"/>
    <p:sldId id="322" r:id="rId49"/>
    <p:sldId id="323" r:id="rId50"/>
    <p:sldId id="284" r:id="rId5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72"/>
  </p:normalViewPr>
  <p:slideViewPr>
    <p:cSldViewPr snapToGrid="0">
      <p:cViewPr varScale="1">
        <p:scale>
          <a:sx n="156" d="100"/>
          <a:sy n="156" d="100"/>
        </p:scale>
        <p:origin x="348" y="132"/>
      </p:cViewPr>
      <p:guideLst/>
    </p:cSldViewPr>
  </p:slideViewPr>
  <p:notesTextViewPr>
    <p:cViewPr>
      <p:scale>
        <a:sx n="3" d="2"/>
        <a:sy n="3" d="2"/>
      </p:scale>
      <p:origin x="0" y="0"/>
    </p:cViewPr>
  </p:notesTextViewPr>
  <p:notesViewPr>
    <p:cSldViewPr snapToGrid="0">
      <p:cViewPr varScale="1">
        <p:scale>
          <a:sx n="125" d="100"/>
          <a:sy n="125" d="100"/>
        </p:scale>
        <p:origin x="493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1C62D9E-085A-E766-4459-84109B9601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26E88DC-CA8F-B845-ED88-928A9EBD45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0BDCF3-6838-49F9-878F-F13A4D3F69AF}" type="datetimeFigureOut">
              <a:rPr kumimoji="1" lang="ja-JP" altLang="en-US" smtClean="0"/>
              <a:t>2026/9/15</a:t>
            </a:fld>
            <a:endParaRPr kumimoji="1" lang="ja-JP" altLang="en-US"/>
          </a:p>
        </p:txBody>
      </p:sp>
      <p:sp>
        <p:nvSpPr>
          <p:cNvPr id="4" name="フッター プレースホルダー 3">
            <a:extLst>
              <a:ext uri="{FF2B5EF4-FFF2-40B4-BE49-F238E27FC236}">
                <a16:creationId xmlns:a16="http://schemas.microsoft.com/office/drawing/2014/main" id="{6BA09338-4410-469A-C088-1E372AB4C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4043C3C-3033-6782-5183-13BB271C2A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16AACF-0064-475C-82B7-308A3EEA8AD9}" type="slidenum">
              <a:rPr kumimoji="1" lang="ja-JP" altLang="en-US" smtClean="0"/>
              <a:t>‹#›</a:t>
            </a:fld>
            <a:endParaRPr kumimoji="1" lang="ja-JP" altLang="en-US"/>
          </a:p>
        </p:txBody>
      </p:sp>
    </p:spTree>
    <p:extLst>
      <p:ext uri="{BB962C8B-B14F-4D97-AF65-F5344CB8AC3E}">
        <p14:creationId xmlns:p14="http://schemas.microsoft.com/office/powerpoint/2010/main" val="29935829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7D25B-E7F4-42EB-A3A2-379C00250A8D}" type="datetimeFigureOut">
              <a:rPr kumimoji="1" lang="ja-JP" altLang="en-US" smtClean="0"/>
              <a:t>2026/9/15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DA8E0A-CFBF-4245-917B-805B87964056}" type="slidenum">
              <a:rPr kumimoji="1" lang="ja-JP" altLang="en-US" smtClean="0"/>
              <a:t>‹#›</a:t>
            </a:fld>
            <a:endParaRPr kumimoji="1" lang="ja-JP" altLang="en-US"/>
          </a:p>
        </p:txBody>
      </p:sp>
    </p:spTree>
    <p:extLst>
      <p:ext uri="{BB962C8B-B14F-4D97-AF65-F5344CB8AC3E}">
        <p14:creationId xmlns:p14="http://schemas.microsoft.com/office/powerpoint/2010/main" val="12217891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まず、本研究で扱う「生成</a:t>
            </a:r>
            <a:r>
              <a:rPr kumimoji="1" lang="en-US" altLang="ja-JP" dirty="0"/>
              <a:t>AI</a:t>
            </a:r>
            <a:r>
              <a:rPr kumimoji="1" lang="ja-JP" altLang="en-US" dirty="0"/>
              <a:t>」と「</a:t>
            </a:r>
            <a:r>
              <a:rPr kumimoji="1" lang="en-US" altLang="ja-JP" dirty="0"/>
              <a:t>LLM</a:t>
            </a:r>
            <a:r>
              <a:rPr kumimoji="1" lang="ja-JP" altLang="en-US" dirty="0"/>
              <a:t>」について説明します。生成</a:t>
            </a:r>
            <a:r>
              <a:rPr kumimoji="1" lang="en-US" altLang="ja-JP" dirty="0"/>
              <a:t>AI</a:t>
            </a:r>
            <a:r>
              <a:rPr kumimoji="1" lang="ja-JP" altLang="en-US" dirty="0"/>
              <a:t>とは、ユーザの指示に基づいて、文章や画像、プログラムコードなどの新しいコンテンツを生成する</a:t>
            </a:r>
            <a:r>
              <a:rPr kumimoji="1" lang="en-US" altLang="ja-JP" dirty="0"/>
              <a:t>AI</a:t>
            </a:r>
            <a:r>
              <a:rPr kumimoji="1" lang="ja-JP" altLang="en-US" dirty="0"/>
              <a:t>のことです。今回の研究では、生成</a:t>
            </a:r>
            <a:r>
              <a:rPr kumimoji="1" lang="en-US" altLang="ja-JP" dirty="0"/>
              <a:t>AI</a:t>
            </a:r>
            <a:r>
              <a:rPr kumimoji="1" lang="ja-JP" altLang="en-US" dirty="0"/>
              <a:t>の中でも、主に言語を扱う</a:t>
            </a:r>
            <a:r>
              <a:rPr kumimoji="1" lang="en-US" altLang="ja-JP" dirty="0"/>
              <a:t>LLM</a:t>
            </a:r>
            <a:r>
              <a:rPr kumimoji="1" lang="ja-JP" altLang="en-US" dirty="0"/>
              <a:t>、大規模言語モデルを対象とします。</a:t>
            </a:r>
            <a:r>
              <a:rPr kumimoji="1" lang="en-US" altLang="ja-JP" dirty="0"/>
              <a:t>LLM</a:t>
            </a:r>
            <a:r>
              <a:rPr kumimoji="1" lang="ja-JP" altLang="en-US" dirty="0"/>
              <a:t>は、大量のデータを用いて事前学習された、大規模な言語モデルです。</a:t>
            </a:r>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4</a:t>
            </a:fld>
            <a:endParaRPr kumimoji="1" lang="ja-JP" altLang="en-US"/>
          </a:p>
        </p:txBody>
      </p:sp>
    </p:spTree>
    <p:extLst>
      <p:ext uri="{BB962C8B-B14F-4D97-AF65-F5344CB8AC3E}">
        <p14:creationId xmlns:p14="http://schemas.microsoft.com/office/powerpoint/2010/main" val="2203902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a:t>
            </a:r>
            <a:r>
              <a:rPr kumimoji="1" lang="en-US" altLang="ja-JP" dirty="0"/>
              <a:t>LLM</a:t>
            </a:r>
            <a:r>
              <a:rPr kumimoji="1" lang="ja-JP" altLang="en-US" dirty="0"/>
              <a:t>に対して行う「追加学習」について説明します。</a:t>
            </a:r>
            <a:r>
              <a:rPr kumimoji="1" lang="en-US" altLang="ja-JP" dirty="0"/>
              <a:t>LLM</a:t>
            </a:r>
            <a:r>
              <a:rPr kumimoji="1" lang="ja-JP" altLang="en-US" dirty="0"/>
              <a:t>はまず、大量のデータを使って事前学習されますが、その後、特定の目的に適応させるために追加の学習を行うことがあります。このような事前学習後の学習を、</a:t>
            </a:r>
            <a:r>
              <a:rPr kumimoji="1" lang="en-US" altLang="ja-JP" dirty="0"/>
              <a:t>Post-training</a:t>
            </a:r>
            <a:r>
              <a:rPr kumimoji="1" lang="ja-JP" altLang="en-US" dirty="0"/>
              <a:t>、追加学習と呼びます。本研究では、その中でも</a:t>
            </a:r>
            <a:r>
              <a:rPr kumimoji="1" lang="en-US" altLang="ja-JP" dirty="0"/>
              <a:t>Supervised Fine-tuning</a:t>
            </a:r>
            <a:r>
              <a:rPr kumimoji="1" lang="ja-JP" altLang="en-US" dirty="0"/>
              <a:t>、</a:t>
            </a:r>
            <a:r>
              <a:rPr kumimoji="1" lang="en-US" altLang="ja-JP" dirty="0"/>
              <a:t>SFT</a:t>
            </a:r>
            <a:r>
              <a:rPr kumimoji="1" lang="ja-JP" altLang="en-US" dirty="0"/>
              <a:t>と呼ばれる教師ありファインチューニングを扱います。</a:t>
            </a:r>
            <a:r>
              <a:rPr kumimoji="1" lang="en-US" altLang="ja-JP" dirty="0"/>
              <a:t>SFT</a:t>
            </a:r>
            <a:r>
              <a:rPr kumimoji="1" lang="ja-JP" altLang="en-US" dirty="0"/>
              <a:t>は、入力された指示と、それに対応する望ましい出力の組み合わせを用いて、</a:t>
            </a:r>
            <a:r>
              <a:rPr kumimoji="1" lang="en-US" altLang="ja-JP" dirty="0"/>
              <a:t>LLM</a:t>
            </a:r>
            <a:r>
              <a:rPr kumimoji="1" lang="ja-JP" altLang="en-US" dirty="0"/>
              <a:t>にその対応関係を学習させる手法です。本研究では、この</a:t>
            </a:r>
            <a:r>
              <a:rPr kumimoji="1" lang="en-US" altLang="ja-JP" dirty="0"/>
              <a:t>SFT</a:t>
            </a:r>
            <a:r>
              <a:rPr kumimoji="1" lang="ja-JP" altLang="en-US" dirty="0"/>
              <a:t>によって、</a:t>
            </a:r>
            <a:r>
              <a:rPr kumimoji="1" lang="en-US" altLang="ja-JP" dirty="0"/>
              <a:t>LLM</a:t>
            </a:r>
            <a:r>
              <a:rPr kumimoji="1" lang="ja-JP" altLang="en-US" dirty="0"/>
              <a:t>の問題解決能力がどのように変化するのかを分析します。</a:t>
            </a:r>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5</a:t>
            </a:fld>
            <a:endParaRPr kumimoji="1" lang="ja-JP" altLang="en-US"/>
          </a:p>
        </p:txBody>
      </p:sp>
    </p:spTree>
    <p:extLst>
      <p:ext uri="{BB962C8B-B14F-4D97-AF65-F5344CB8AC3E}">
        <p14:creationId xmlns:p14="http://schemas.microsoft.com/office/powerpoint/2010/main" val="3511622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a:t>
            </a:r>
            <a:r>
              <a:rPr kumimoji="1" lang="en-US" altLang="ja-JP" dirty="0"/>
              <a:t>SFT</a:t>
            </a:r>
            <a:r>
              <a:rPr kumimoji="1" lang="ja-JP" altLang="en-US" dirty="0"/>
              <a:t>による学習と、未知の問題への汎化についての先行研究を紹介します。</a:t>
            </a:r>
            <a:endParaRPr kumimoji="1" lang="en-US" altLang="ja-JP" dirty="0"/>
          </a:p>
          <a:p>
            <a:endParaRPr kumimoji="1" lang="ja-JP" altLang="en-US" dirty="0"/>
          </a:p>
          <a:p>
            <a:r>
              <a:rPr kumimoji="1" lang="ja-JP" altLang="en-US" dirty="0"/>
              <a:t>まず、</a:t>
            </a:r>
            <a:r>
              <a:rPr kumimoji="1" lang="en-US" altLang="ja-JP" dirty="0"/>
              <a:t>Chu et al.</a:t>
            </a:r>
            <a:r>
              <a:rPr kumimoji="1" lang="ja-JP" altLang="en-US" dirty="0"/>
              <a:t>の研究では、</a:t>
            </a:r>
            <a:r>
              <a:rPr kumimoji="1" lang="en-US" altLang="ja-JP" dirty="0"/>
              <a:t>SFT</a:t>
            </a:r>
            <a:r>
              <a:rPr kumimoji="1" lang="ja-JP" altLang="en-US" dirty="0"/>
              <a:t>と、</a:t>
            </a:r>
            <a:r>
              <a:rPr kumimoji="1" lang="en-US" altLang="ja-JP" dirty="0"/>
              <a:t>SFT</a:t>
            </a:r>
            <a:r>
              <a:rPr kumimoji="1" lang="ja-JP" altLang="en-US" dirty="0"/>
              <a:t>とは異なる学習手法である</a:t>
            </a:r>
            <a:r>
              <a:rPr kumimoji="1" lang="en-US" altLang="ja-JP" dirty="0"/>
              <a:t>RL</a:t>
            </a:r>
            <a:r>
              <a:rPr kumimoji="1" lang="ja-JP" altLang="en-US" dirty="0"/>
              <a:t>の汎化性能を比較しています。</a:t>
            </a:r>
          </a:p>
          <a:p>
            <a:r>
              <a:rPr kumimoji="1" lang="ja-JP" altLang="en-US" dirty="0"/>
              <a:t>ここでいう汎化性能とは、学習した知識や処理を、学習していない問題にも適用できる性能のことです。</a:t>
            </a:r>
          </a:p>
          <a:p>
            <a:r>
              <a:rPr kumimoji="1" lang="ja-JP" altLang="en-US" dirty="0"/>
              <a:t>この研究では、</a:t>
            </a:r>
            <a:r>
              <a:rPr kumimoji="1" lang="en-US" altLang="ja-JP" dirty="0"/>
              <a:t>SFT</a:t>
            </a:r>
            <a:r>
              <a:rPr kumimoji="1" lang="ja-JP" altLang="en-US" dirty="0"/>
              <a:t>は学習データを記憶する傾向があり、未知の問題への汎化は限定的であることが示されています。</a:t>
            </a:r>
            <a:endParaRPr kumimoji="1" lang="en-US" altLang="ja-JP" dirty="0"/>
          </a:p>
          <a:p>
            <a:endParaRPr kumimoji="1" lang="ja-JP" altLang="en-US" dirty="0"/>
          </a:p>
          <a:p>
            <a:r>
              <a:rPr kumimoji="1" lang="ja-JP" altLang="en-US" dirty="0"/>
              <a:t>一方、</a:t>
            </a:r>
            <a:r>
              <a:rPr kumimoji="1" lang="en-US" altLang="ja-JP" dirty="0"/>
              <a:t>Ren et al.</a:t>
            </a:r>
            <a:r>
              <a:rPr kumimoji="1" lang="ja-JP" altLang="en-US" dirty="0"/>
              <a:t>の研究では、</a:t>
            </a:r>
            <a:r>
              <a:rPr kumimoji="1" lang="en-US" altLang="ja-JP" dirty="0"/>
              <a:t>SFT</a:t>
            </a:r>
            <a:r>
              <a:rPr kumimoji="1" lang="ja-JP" altLang="en-US" dirty="0"/>
              <a:t>による汎化性能が、どのような条件で変化するのかを分析しています。</a:t>
            </a:r>
          </a:p>
          <a:p>
            <a:r>
              <a:rPr kumimoji="1" lang="ja-JP" altLang="en-US" dirty="0"/>
              <a:t>その結果、最適化方法や学習データ、モデルの能力など、学習条件によって</a:t>
            </a:r>
            <a:r>
              <a:rPr kumimoji="1" lang="en-US" altLang="ja-JP" dirty="0"/>
              <a:t>SFT</a:t>
            </a:r>
            <a:r>
              <a:rPr kumimoji="1" lang="ja-JP" altLang="en-US" dirty="0"/>
              <a:t>の汎化性能が変化することが示されています。</a:t>
            </a:r>
          </a:p>
          <a:p>
            <a:r>
              <a:rPr kumimoji="1" lang="en-US" altLang="ja-JP" dirty="0"/>
              <a:t>SFT</a:t>
            </a:r>
            <a:r>
              <a:rPr kumimoji="1" lang="ja-JP" altLang="en-US" dirty="0"/>
              <a:t>では必ずしも未知の問題への汎化が難しいわけではなく、条件によっては汎化性能が向上することが分かっています。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7</a:t>
            </a:fld>
            <a:endParaRPr kumimoji="1" lang="ja-JP" altLang="en-US"/>
          </a:p>
        </p:txBody>
      </p:sp>
    </p:spTree>
    <p:extLst>
      <p:ext uri="{BB962C8B-B14F-4D97-AF65-F5344CB8AC3E}">
        <p14:creationId xmlns:p14="http://schemas.microsoft.com/office/powerpoint/2010/main" val="2262478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ここまでの先行研究から、</a:t>
            </a:r>
            <a:r>
              <a:rPr kumimoji="1" lang="en-US" altLang="ja-JP" dirty="0"/>
              <a:t>SFT</a:t>
            </a:r>
            <a:r>
              <a:rPr kumimoji="1" lang="ja-JP" altLang="en-US" dirty="0"/>
              <a:t>による未知の問題への汎化は限定的である一方で、その性能は学習条件によって変化することが分かっています。</a:t>
            </a:r>
          </a:p>
          <a:p>
            <a:endParaRPr kumimoji="1" lang="ja-JP" altLang="en-US" dirty="0"/>
          </a:p>
          <a:p>
            <a:r>
              <a:rPr kumimoji="1" lang="ja-JP" altLang="en-US" dirty="0"/>
              <a:t>しかし、これまでの研究では、主に正解率を用いて汎化性能を評価しているため、モデルが問題を解く過程のどの段階でつまずいているのかまでは分かりません。</a:t>
            </a:r>
          </a:p>
          <a:p>
            <a:endParaRPr kumimoji="1" lang="ja-JP" altLang="en-US" dirty="0"/>
          </a:p>
          <a:p>
            <a:r>
              <a:rPr kumimoji="1" lang="ja-JP" altLang="en-US" dirty="0"/>
              <a:t>また、未知の問題への汎化を評価するときには、何を未知とするのかによって、評価される能力も変わります。</a:t>
            </a:r>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8</a:t>
            </a:fld>
            <a:endParaRPr kumimoji="1" lang="ja-JP" altLang="en-US"/>
          </a:p>
        </p:txBody>
      </p:sp>
    </p:spTree>
    <p:extLst>
      <p:ext uri="{BB962C8B-B14F-4D97-AF65-F5344CB8AC3E}">
        <p14:creationId xmlns:p14="http://schemas.microsoft.com/office/powerpoint/2010/main" val="3104118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ここまでの先行研究から、</a:t>
            </a:r>
            <a:r>
              <a:rPr kumimoji="1" lang="en-US" altLang="ja-JP" dirty="0"/>
              <a:t>SFT</a:t>
            </a:r>
            <a:r>
              <a:rPr kumimoji="1" lang="ja-JP" altLang="en-US" dirty="0"/>
              <a:t>による未知の問題への汎化は限定的である一方で、学習条件によっては汎化性能が向上することが分かっています。</a:t>
            </a:r>
          </a:p>
          <a:p>
            <a:r>
              <a:rPr kumimoji="1" lang="ja-JP" altLang="en-US" dirty="0"/>
              <a:t>そこで本研究では、そもそも何を未知とするのかを明確にした上で、</a:t>
            </a:r>
            <a:r>
              <a:rPr kumimoji="1" lang="en-US" altLang="ja-JP" dirty="0"/>
              <a:t>SFT</a:t>
            </a:r>
            <a:r>
              <a:rPr kumimoji="1" lang="ja-JP" altLang="en-US" dirty="0"/>
              <a:t>によってどのような能力が獲得されるのかを分析します。</a:t>
            </a:r>
          </a:p>
          <a:p>
            <a:r>
              <a:rPr kumimoji="1" lang="ja-JP" altLang="en-US" dirty="0"/>
              <a:t>特に今回は、既知の要素を新しい組み合わせで利用する能力に着目します。</a:t>
            </a:r>
          </a:p>
          <a:p>
            <a:r>
              <a:rPr kumimoji="1" lang="ja-JP" altLang="en-US" dirty="0"/>
              <a:t>これは、既知の単純な処理を組み合わせた、未知の複雑な処理への汎化が、</a:t>
            </a:r>
            <a:r>
              <a:rPr kumimoji="1" lang="en-US" altLang="ja-JP" dirty="0"/>
              <a:t>LLM</a:t>
            </a:r>
            <a:r>
              <a:rPr kumimoji="1" lang="ja-JP" altLang="en-US" dirty="0"/>
              <a:t>の汎化を考える上で重要な側面であるという先行研究を踏まえたものです。</a:t>
            </a:r>
          </a:p>
          <a:p>
            <a:r>
              <a:rPr kumimoji="1" lang="ja-JP" altLang="en-US" dirty="0"/>
              <a:t>そこで、実験では個々の処理については学習済みとし、処理の組み合わせだけを未知とする問題を設定します。</a:t>
            </a:r>
          </a:p>
          <a:p>
            <a:r>
              <a:rPr kumimoji="1" lang="ja-JP" altLang="en-US" dirty="0"/>
              <a:t>このように、既知の構成要素を未知の組み合わせへ汎化することを、</a:t>
            </a:r>
            <a:r>
              <a:rPr kumimoji="1" lang="en-US" altLang="ja-JP" dirty="0"/>
              <a:t>Compositional Generalization</a:t>
            </a:r>
            <a:r>
              <a:rPr kumimoji="1" lang="ja-JP" altLang="en-US" dirty="0"/>
              <a:t>と呼びます。</a:t>
            </a:r>
          </a:p>
          <a:p>
            <a:r>
              <a:rPr kumimoji="1" lang="ja-JP" altLang="en-US" dirty="0"/>
              <a:t>本研究では、この</a:t>
            </a:r>
            <a:r>
              <a:rPr lang="en-US" altLang="ja-JP" dirty="0"/>
              <a:t>Compositional Generalization</a:t>
            </a:r>
            <a:r>
              <a:rPr kumimoji="1" lang="ja-JP" altLang="en-US" dirty="0"/>
              <a:t>に着目して、</a:t>
            </a:r>
            <a:r>
              <a:rPr kumimoji="1" lang="en-US" altLang="ja-JP" dirty="0"/>
              <a:t>SFT</a:t>
            </a:r>
            <a:r>
              <a:rPr kumimoji="1" lang="ja-JP" altLang="en-US" dirty="0"/>
              <a:t>によって問題解決能力がどのように変化するのかを分析します。</a:t>
            </a:r>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9</a:t>
            </a:fld>
            <a:endParaRPr kumimoji="1" lang="ja-JP" altLang="en-US"/>
          </a:p>
        </p:txBody>
      </p:sp>
    </p:spTree>
    <p:extLst>
      <p:ext uri="{BB962C8B-B14F-4D97-AF65-F5344CB8AC3E}">
        <p14:creationId xmlns:p14="http://schemas.microsoft.com/office/powerpoint/2010/main" val="3377148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次に、構成的汎化に関する先行研究を紹介します。</a:t>
            </a:r>
          </a:p>
          <a:p>
            <a:endParaRPr kumimoji="1" lang="ja-JP" altLang="en-US" dirty="0"/>
          </a:p>
          <a:p>
            <a:r>
              <a:rPr kumimoji="1" lang="ja-JP" altLang="en-US" dirty="0"/>
              <a:t>まず、</a:t>
            </a:r>
            <a:r>
              <a:rPr kumimoji="1" lang="en-US" altLang="ja-JP" dirty="0"/>
              <a:t>Yang et al.</a:t>
            </a:r>
            <a:r>
              <a:rPr kumimoji="1" lang="ja-JP" altLang="en-US" dirty="0"/>
              <a:t>の研究では、複数の単純な指示を組み合わせた複雑な指示に対して、</a:t>
            </a:r>
            <a:r>
              <a:rPr kumimoji="1" lang="en-US" altLang="ja-JP" dirty="0"/>
              <a:t>LLM</a:t>
            </a:r>
            <a:r>
              <a:rPr kumimoji="1" lang="ja-JP" altLang="en-US" dirty="0"/>
              <a:t>がどの程度汎化できるのかを</a:t>
            </a:r>
            <a:r>
              <a:rPr kumimoji="1" lang="en-US" altLang="ja-JP" dirty="0"/>
              <a:t>SFT</a:t>
            </a:r>
            <a:r>
              <a:rPr kumimoji="1" lang="ja-JP" altLang="en-US" dirty="0"/>
              <a:t>によって検証しています。その結果、</a:t>
            </a:r>
            <a:r>
              <a:rPr kumimoji="1" lang="en-US" altLang="ja-JP" dirty="0"/>
              <a:t>SFT</a:t>
            </a:r>
            <a:r>
              <a:rPr kumimoji="1" lang="ja-JP" altLang="en-US" dirty="0"/>
              <a:t>による学習によって、学習した単純な指示を組み合わせた複雑な指示への汎化が可能であることが示されています。</a:t>
            </a:r>
          </a:p>
          <a:p>
            <a:endParaRPr kumimoji="1" lang="ja-JP" altLang="en-US" dirty="0"/>
          </a:p>
          <a:p>
            <a:r>
              <a:rPr kumimoji="1" lang="ja-JP" altLang="en-US" dirty="0"/>
              <a:t>また、</a:t>
            </a:r>
            <a:r>
              <a:rPr kumimoji="1" lang="en-US" altLang="ja-JP" dirty="0"/>
              <a:t>Hayati et al.</a:t>
            </a:r>
            <a:r>
              <a:rPr kumimoji="1" lang="ja-JP" altLang="en-US" dirty="0"/>
              <a:t>の研究では、複数の処理を組み合わせた問題を</a:t>
            </a:r>
            <a:r>
              <a:rPr kumimoji="1" lang="en-US" altLang="ja-JP" dirty="0"/>
              <a:t>SFT</a:t>
            </a:r>
            <a:r>
              <a:rPr kumimoji="1" lang="ja-JP" altLang="en-US" dirty="0"/>
              <a:t>し、学習時よりも長い処理の組み合わせに対しても汎化できるかを検証しています。その結果、学習時よりも長い処理の組み合わせへの汎化が可能であることが示されています。</a:t>
            </a:r>
          </a:p>
          <a:p>
            <a:endParaRPr kumimoji="1" lang="ja-JP" altLang="en-US" dirty="0"/>
          </a:p>
          <a:p>
            <a:r>
              <a:rPr kumimoji="1" lang="ja-JP" altLang="en-US" dirty="0"/>
              <a:t>これらの研究から、</a:t>
            </a:r>
            <a:r>
              <a:rPr kumimoji="1" lang="en-US" altLang="ja-JP" dirty="0"/>
              <a:t>SFT</a:t>
            </a:r>
            <a:r>
              <a:rPr kumimoji="1" lang="ja-JP" altLang="en-US" dirty="0"/>
              <a:t>によって、学習した単純な処理を組み合わせて、学習時には存在しなかった複雑な処理へ汎化できる可能性が示されています。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10</a:t>
            </a:fld>
            <a:endParaRPr kumimoji="1" lang="ja-JP" altLang="en-US"/>
          </a:p>
        </p:txBody>
      </p:sp>
    </p:spTree>
    <p:extLst>
      <p:ext uri="{BB962C8B-B14F-4D97-AF65-F5344CB8AC3E}">
        <p14:creationId xmlns:p14="http://schemas.microsoft.com/office/powerpoint/2010/main" val="1456156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ここまでの先行研究を踏まえ、本研究では</a:t>
            </a:r>
            <a:r>
              <a:rPr kumimoji="1" lang="en-US" altLang="ja-JP" dirty="0"/>
              <a:t>2</a:t>
            </a:r>
            <a:r>
              <a:rPr kumimoji="1" lang="ja-JP" altLang="en-US" dirty="0"/>
              <a:t>つの研究課題を設定します。</a:t>
            </a:r>
          </a:p>
          <a:p>
            <a:endParaRPr kumimoji="1" lang="ja-JP" altLang="en-US" dirty="0"/>
          </a:p>
          <a:p>
            <a:r>
              <a:rPr kumimoji="1" lang="ja-JP" altLang="en-US" dirty="0"/>
              <a:t>まず、</a:t>
            </a:r>
            <a:r>
              <a:rPr kumimoji="1" lang="en-US" altLang="ja-JP" dirty="0"/>
              <a:t>RQ1</a:t>
            </a:r>
            <a:r>
              <a:rPr kumimoji="1" lang="ja-JP" altLang="en-US" dirty="0"/>
              <a:t>では、</a:t>
            </a:r>
            <a:r>
              <a:rPr kumimoji="1" lang="en-US" altLang="ja-JP" dirty="0"/>
              <a:t>SFT</a:t>
            </a:r>
            <a:r>
              <a:rPr kumimoji="1" lang="ja-JP" altLang="en-US" dirty="0"/>
              <a:t>によって、既知の処理を新しい組み合わせで適用する問題解決能力が獲得されるのかを明らかにします。</a:t>
            </a:r>
          </a:p>
          <a:p>
            <a:endParaRPr kumimoji="1" lang="ja-JP" altLang="en-US" dirty="0"/>
          </a:p>
          <a:p>
            <a:r>
              <a:rPr kumimoji="1" lang="ja-JP" altLang="en-US" dirty="0"/>
              <a:t>つまり、個々の処理については学習している状態で、それらを学習時とは異なる組み合わせで使う問題に対して、</a:t>
            </a:r>
            <a:r>
              <a:rPr kumimoji="1" lang="en-US" altLang="ja-JP" dirty="0"/>
              <a:t>SFT</a:t>
            </a:r>
            <a:r>
              <a:rPr kumimoji="1" lang="ja-JP" altLang="en-US" dirty="0"/>
              <a:t>によって対応できるようになるのかを検証します。</a:t>
            </a:r>
          </a:p>
          <a:p>
            <a:endParaRPr kumimoji="1" lang="ja-JP" altLang="en-US" dirty="0"/>
          </a:p>
          <a:p>
            <a:r>
              <a:rPr kumimoji="1" lang="ja-JP" altLang="en-US" dirty="0"/>
              <a:t>次に、</a:t>
            </a:r>
            <a:r>
              <a:rPr kumimoji="1" lang="en-US" altLang="ja-JP" dirty="0"/>
              <a:t>RQ2</a:t>
            </a:r>
            <a:r>
              <a:rPr kumimoji="1" lang="ja-JP" altLang="en-US" dirty="0"/>
              <a:t>では、</a:t>
            </a:r>
            <a:r>
              <a:rPr kumimoji="1" lang="en-US" altLang="ja-JP" dirty="0"/>
              <a:t>SFT</a:t>
            </a:r>
            <a:r>
              <a:rPr kumimoji="1" lang="ja-JP" altLang="en-US" dirty="0"/>
              <a:t>における教師データの違いが、この能力の獲得にどのような影響を与えるのかを明らかにします。</a:t>
            </a:r>
          </a:p>
          <a:p>
            <a:endParaRPr kumimoji="1" lang="ja-JP" altLang="en-US" dirty="0"/>
          </a:p>
          <a:p>
            <a:r>
              <a:rPr kumimoji="1" lang="ja-JP" altLang="en-US" dirty="0"/>
              <a:t>本研究では、答えのみを教える場合と、答えに加えて処理過程も教える場合を比較することで、教師データの違いによって、問題解決能力の獲得にどのような違いが生じるのかを検証します。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11</a:t>
            </a:fld>
            <a:endParaRPr kumimoji="1" lang="ja-JP" altLang="en-US"/>
          </a:p>
        </p:txBody>
      </p:sp>
    </p:spTree>
    <p:extLst>
      <p:ext uri="{BB962C8B-B14F-4D97-AF65-F5344CB8AC3E}">
        <p14:creationId xmlns:p14="http://schemas.microsoft.com/office/powerpoint/2010/main" val="3777327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前述したような、数字の列に対して行う簡単な処理を</a:t>
            </a:r>
            <a:r>
              <a:rPr kumimoji="1" lang="en-US" altLang="ja-JP" dirty="0"/>
              <a:t>20</a:t>
            </a:r>
            <a:r>
              <a:rPr kumimoji="1" lang="ja-JP" altLang="en-US" dirty="0"/>
              <a:t>種類用意しました。問題を作成する際には、これらの処理をそのまま</a:t>
            </a:r>
            <a:r>
              <a:rPr kumimoji="1" lang="en-US" altLang="ja-JP" dirty="0"/>
              <a:t>1</a:t>
            </a:r>
            <a:r>
              <a:rPr kumimoji="1" lang="ja-JP" altLang="en-US" dirty="0"/>
              <a:t>つだけ適用する問題と、</a:t>
            </a:r>
            <a:r>
              <a:rPr kumimoji="1" lang="en-US" altLang="ja-JP" dirty="0"/>
              <a:t>2</a:t>
            </a:r>
            <a:r>
              <a:rPr kumimoji="1" lang="ja-JP" altLang="en-US" dirty="0"/>
              <a:t>つの処理を組み合わせて適用する問題を作成しました。ただし、</a:t>
            </a:r>
            <a:r>
              <a:rPr kumimoji="1" lang="en-US" altLang="ja-JP" dirty="0"/>
              <a:t>20</a:t>
            </a:r>
            <a:r>
              <a:rPr kumimoji="1" lang="ja-JP" altLang="en-US" dirty="0"/>
              <a:t>種類の処理をすべて組み合わせるわけではなく、処理単体の</a:t>
            </a:r>
            <a:r>
              <a:rPr kumimoji="1" lang="en-US" altLang="ja-JP" dirty="0"/>
              <a:t>20</a:t>
            </a:r>
            <a:r>
              <a:rPr kumimoji="1" lang="ja-JP" altLang="en-US" dirty="0"/>
              <a:t>種類に加えて、</a:t>
            </a:r>
            <a:r>
              <a:rPr kumimoji="1" lang="en-US" altLang="ja-JP" dirty="0"/>
              <a:t>2</a:t>
            </a:r>
            <a:r>
              <a:rPr kumimoji="1" lang="ja-JP" altLang="en-US" dirty="0"/>
              <a:t>つの処理を組み合わせた</a:t>
            </a:r>
            <a:r>
              <a:rPr kumimoji="1" lang="en-US" altLang="ja-JP" dirty="0"/>
              <a:t>52</a:t>
            </a:r>
            <a:r>
              <a:rPr kumimoji="1" lang="ja-JP" altLang="en-US" dirty="0"/>
              <a:t>種類のルールを用意しました。したがって、実験では全体で</a:t>
            </a:r>
            <a:r>
              <a:rPr kumimoji="1" lang="en-US" altLang="ja-JP" dirty="0"/>
              <a:t>72</a:t>
            </a:r>
            <a:r>
              <a:rPr kumimoji="1" lang="ja-JP" altLang="en-US" dirty="0"/>
              <a:t>種類のルールを使用しています。</a:t>
            </a:r>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16</a:t>
            </a:fld>
            <a:endParaRPr kumimoji="1" lang="ja-JP" altLang="en-US"/>
          </a:p>
        </p:txBody>
      </p:sp>
    </p:spTree>
    <p:extLst>
      <p:ext uri="{BB962C8B-B14F-4D97-AF65-F5344CB8AC3E}">
        <p14:creationId xmlns:p14="http://schemas.microsoft.com/office/powerpoint/2010/main" val="1813327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22</a:t>
            </a:fld>
            <a:endParaRPr kumimoji="1" lang="ja-JP" altLang="en-US"/>
          </a:p>
        </p:txBody>
      </p:sp>
    </p:spTree>
    <p:extLst>
      <p:ext uri="{BB962C8B-B14F-4D97-AF65-F5344CB8AC3E}">
        <p14:creationId xmlns:p14="http://schemas.microsoft.com/office/powerpoint/2010/main" val="2361270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こちらが実験結果です。</a:t>
            </a:r>
          </a:p>
          <a:p>
            <a:endParaRPr kumimoji="1" lang="ja-JP" altLang="en-US" dirty="0"/>
          </a:p>
          <a:p>
            <a:r>
              <a:rPr kumimoji="1" lang="ja-JP" altLang="en-US" dirty="0"/>
              <a:t>ベースモデル、答えのみ</a:t>
            </a:r>
            <a:r>
              <a:rPr kumimoji="1" lang="en-US" altLang="ja-JP" dirty="0"/>
              <a:t>SFT</a:t>
            </a:r>
            <a:r>
              <a:rPr kumimoji="1" lang="ja-JP" altLang="en-US" dirty="0"/>
              <a:t>、答え＋処理過程</a:t>
            </a:r>
            <a:r>
              <a:rPr kumimoji="1" lang="en-US" altLang="ja-JP" dirty="0"/>
              <a:t>SFT</a:t>
            </a:r>
            <a:r>
              <a:rPr kumimoji="1" lang="ja-JP" altLang="en-US" dirty="0"/>
              <a:t>の</a:t>
            </a:r>
            <a:r>
              <a:rPr kumimoji="1" lang="en-US" altLang="ja-JP" dirty="0"/>
              <a:t>3</a:t>
            </a:r>
            <a:r>
              <a:rPr kumimoji="1" lang="ja-JP" altLang="en-US" dirty="0"/>
              <a:t>つのモデルについて、</a:t>
            </a:r>
            <a:r>
              <a:rPr kumimoji="1" lang="en-US" altLang="ja-JP" dirty="0"/>
              <a:t>2</a:t>
            </a:r>
            <a:r>
              <a:rPr kumimoji="1" lang="ja-JP" altLang="en-US" dirty="0"/>
              <a:t>種類のテストデータで正解率を比較しました。</a:t>
            </a:r>
          </a:p>
          <a:p>
            <a:endParaRPr kumimoji="1" lang="ja-JP" altLang="en-US" dirty="0"/>
          </a:p>
          <a:p>
            <a:r>
              <a:rPr kumimoji="1" lang="ja-JP" altLang="en-US" dirty="0"/>
              <a:t>まず、テストデータ</a:t>
            </a:r>
            <a:r>
              <a:rPr kumimoji="1" lang="en-US" altLang="ja-JP" dirty="0"/>
              <a:t>1</a:t>
            </a:r>
            <a:r>
              <a:rPr kumimoji="1" lang="ja-JP" altLang="en-US" dirty="0"/>
              <a:t>では、ベースモデルが約</a:t>
            </a:r>
            <a:r>
              <a:rPr kumimoji="1" lang="en-US" altLang="ja-JP" dirty="0"/>
              <a:t>40</a:t>
            </a:r>
            <a:r>
              <a:rPr kumimoji="1" lang="ja-JP" altLang="en-US" dirty="0"/>
              <a:t>％だったのに対して、答えのみ</a:t>
            </a:r>
            <a:r>
              <a:rPr kumimoji="1" lang="en-US" altLang="ja-JP" dirty="0"/>
              <a:t>SFT</a:t>
            </a:r>
            <a:r>
              <a:rPr kumimoji="1" lang="ja-JP" altLang="en-US" dirty="0"/>
              <a:t>では約</a:t>
            </a:r>
            <a:r>
              <a:rPr kumimoji="1" lang="en-US" altLang="ja-JP" dirty="0"/>
              <a:t>71</a:t>
            </a:r>
            <a:r>
              <a:rPr kumimoji="1" lang="ja-JP" altLang="en-US" dirty="0"/>
              <a:t>％、答え＋処理過程</a:t>
            </a:r>
            <a:r>
              <a:rPr kumimoji="1" lang="en-US" altLang="ja-JP" dirty="0"/>
              <a:t>SFT</a:t>
            </a:r>
            <a:r>
              <a:rPr kumimoji="1" lang="ja-JP" altLang="en-US" dirty="0"/>
              <a:t>では約</a:t>
            </a:r>
            <a:r>
              <a:rPr kumimoji="1" lang="en-US" altLang="ja-JP" dirty="0"/>
              <a:t>80</a:t>
            </a:r>
            <a:r>
              <a:rPr kumimoji="1" lang="ja-JP" altLang="en-US" dirty="0"/>
              <a:t>％となりました。</a:t>
            </a:r>
          </a:p>
          <a:p>
            <a:endParaRPr kumimoji="1" lang="ja-JP" altLang="en-US" dirty="0"/>
          </a:p>
          <a:p>
            <a:r>
              <a:rPr kumimoji="1" lang="ja-JP" altLang="en-US" dirty="0"/>
              <a:t>このことから、</a:t>
            </a:r>
            <a:r>
              <a:rPr kumimoji="1" lang="en-US" altLang="ja-JP" dirty="0"/>
              <a:t>SFT</a:t>
            </a:r>
            <a:r>
              <a:rPr kumimoji="1" lang="ja-JP" altLang="en-US" dirty="0"/>
              <a:t>によって正解率が大きく向上しており、特に答えに加えて処理過程を学習させた場合に高い正解率が得られました。</a:t>
            </a:r>
          </a:p>
          <a:p>
            <a:endParaRPr kumimoji="1" lang="ja-JP" altLang="en-US" dirty="0"/>
          </a:p>
          <a:p>
            <a:r>
              <a:rPr kumimoji="1" lang="ja-JP" altLang="en-US" dirty="0"/>
              <a:t>一方、テストデータ</a:t>
            </a:r>
            <a:r>
              <a:rPr kumimoji="1" lang="en-US" altLang="ja-JP" dirty="0"/>
              <a:t>2</a:t>
            </a:r>
            <a:r>
              <a:rPr kumimoji="1" lang="ja-JP" altLang="en-US" dirty="0"/>
              <a:t>では、ベースモデルが約</a:t>
            </a:r>
            <a:r>
              <a:rPr kumimoji="1" lang="en-US" altLang="ja-JP" dirty="0"/>
              <a:t>13</a:t>
            </a:r>
            <a:r>
              <a:rPr kumimoji="1" lang="ja-JP" altLang="en-US" dirty="0"/>
              <a:t>％、答えのみ</a:t>
            </a:r>
            <a:r>
              <a:rPr kumimoji="1" lang="en-US" altLang="ja-JP" dirty="0"/>
              <a:t>SFT</a:t>
            </a:r>
            <a:r>
              <a:rPr kumimoji="1" lang="ja-JP" altLang="en-US" dirty="0"/>
              <a:t>が約</a:t>
            </a:r>
            <a:r>
              <a:rPr kumimoji="1" lang="en-US" altLang="ja-JP" dirty="0"/>
              <a:t>41</a:t>
            </a:r>
            <a:r>
              <a:rPr kumimoji="1" lang="ja-JP" altLang="en-US" dirty="0"/>
              <a:t>％、答え＋処理過程</a:t>
            </a:r>
            <a:r>
              <a:rPr kumimoji="1" lang="en-US" altLang="ja-JP" dirty="0"/>
              <a:t>SFT</a:t>
            </a:r>
            <a:r>
              <a:rPr kumimoji="1" lang="ja-JP" altLang="en-US" dirty="0"/>
              <a:t>が約</a:t>
            </a:r>
            <a:r>
              <a:rPr kumimoji="1" lang="en-US" altLang="ja-JP" dirty="0"/>
              <a:t>20</a:t>
            </a:r>
            <a:r>
              <a:rPr kumimoji="1" lang="ja-JP" altLang="en-US" dirty="0"/>
              <a:t>％となりました。</a:t>
            </a:r>
          </a:p>
          <a:p>
            <a:endParaRPr kumimoji="1" lang="ja-JP" altLang="en-US" dirty="0"/>
          </a:p>
          <a:p>
            <a:r>
              <a:rPr kumimoji="1" lang="ja-JP" altLang="en-US" dirty="0"/>
              <a:t>テストデータ</a:t>
            </a:r>
            <a:r>
              <a:rPr kumimoji="1" lang="en-US" altLang="ja-JP" dirty="0"/>
              <a:t>2</a:t>
            </a:r>
            <a:r>
              <a:rPr kumimoji="1" lang="ja-JP" altLang="en-US" dirty="0"/>
              <a:t>では、答えのみ</a:t>
            </a:r>
            <a:r>
              <a:rPr kumimoji="1" lang="en-US" altLang="ja-JP" dirty="0"/>
              <a:t>SFT</a:t>
            </a:r>
            <a:r>
              <a:rPr kumimoji="1" lang="ja-JP" altLang="en-US" dirty="0"/>
              <a:t>が最も高い正解率となっており、答え＋処理過程</a:t>
            </a:r>
            <a:r>
              <a:rPr kumimoji="1" lang="en-US" altLang="ja-JP" dirty="0"/>
              <a:t>SFT</a:t>
            </a:r>
            <a:r>
              <a:rPr kumimoji="1" lang="ja-JP" altLang="en-US" dirty="0"/>
              <a:t>では、テストデータ</a:t>
            </a:r>
            <a:r>
              <a:rPr kumimoji="1" lang="en-US" altLang="ja-JP" dirty="0"/>
              <a:t>1</a:t>
            </a:r>
            <a:r>
              <a:rPr kumimoji="1" lang="ja-JP" altLang="en-US" dirty="0"/>
              <a:t>と比べて正解率が大きく低下しています。</a:t>
            </a:r>
          </a:p>
          <a:p>
            <a:endParaRPr kumimoji="1" lang="ja-JP" altLang="en-US" dirty="0"/>
          </a:p>
          <a:p>
            <a:r>
              <a:rPr kumimoji="1" lang="ja-JP" altLang="en-US" dirty="0"/>
              <a:t>このように、教師データの違いによって、テストデータに対する性能に異なる傾向が見られました。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25</a:t>
            </a:fld>
            <a:endParaRPr kumimoji="1" lang="ja-JP" altLang="en-US"/>
          </a:p>
        </p:txBody>
      </p:sp>
    </p:spTree>
    <p:extLst>
      <p:ext uri="{BB962C8B-B14F-4D97-AF65-F5344CB8AC3E}">
        <p14:creationId xmlns:p14="http://schemas.microsoft.com/office/powerpoint/2010/main" val="2336495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① </a:t>
            </a:r>
            <a:r>
              <a:rPr kumimoji="1" lang="en-US" altLang="ja-JP" dirty="0"/>
              <a:t>Base</a:t>
            </a:r>
            <a:r>
              <a:rPr kumimoji="1" lang="ja-JP" altLang="en-US" dirty="0"/>
              <a:t>モデルの分析</a:t>
            </a:r>
          </a:p>
          <a:p>
            <a:r>
              <a:rPr kumimoji="1" lang="ja-JP" altLang="en-US" dirty="0"/>
              <a:t>単一処理 </a:t>
            </a:r>
            <a:r>
              <a:rPr kumimoji="1" lang="en-US" altLang="ja-JP" dirty="0"/>
              <a:t>vs </a:t>
            </a:r>
            <a:r>
              <a:rPr kumimoji="1" lang="ja-JP" altLang="en-US" dirty="0"/>
              <a:t>複数処理 </a:t>
            </a:r>
          </a:p>
          <a:p>
            <a:r>
              <a:rPr kumimoji="1" lang="ja-JP" altLang="en-US" dirty="0"/>
              <a:t>正解・不正解とトークン上限到達の関係 </a:t>
            </a:r>
          </a:p>
          <a:p>
            <a:r>
              <a:rPr kumimoji="1" lang="ja-JP" altLang="en-US" dirty="0"/>
              <a:t>仮説を立てて検証するような推論 </a:t>
            </a:r>
          </a:p>
          <a:p>
            <a:r>
              <a:rPr kumimoji="1" lang="ja-JP" altLang="en-US" dirty="0"/>
              <a:t>成功例・失敗例 </a:t>
            </a:r>
          </a:p>
          <a:p>
            <a:r>
              <a:rPr kumimoji="1" lang="ja-JP" altLang="en-US" dirty="0"/>
              <a:t>② </a:t>
            </a:r>
            <a:r>
              <a:rPr kumimoji="1" lang="en-US" altLang="ja-JP" dirty="0"/>
              <a:t>SFT</a:t>
            </a:r>
            <a:r>
              <a:rPr kumimoji="1" lang="ja-JP" altLang="en-US" dirty="0"/>
              <a:t>モデルのルール選択・適用分析</a:t>
            </a:r>
          </a:p>
          <a:p>
            <a:r>
              <a:rPr kumimoji="1" lang="ja-JP" altLang="en-US" dirty="0"/>
              <a:t>正しいルールを選べているか </a:t>
            </a:r>
          </a:p>
          <a:p>
            <a:r>
              <a:rPr kumimoji="1" lang="ja-JP" altLang="en-US" dirty="0"/>
              <a:t>選択したルールを正しく適用できているか </a:t>
            </a:r>
          </a:p>
          <a:p>
            <a:r>
              <a:rPr kumimoji="1" lang="ja-JP" altLang="en-US" dirty="0"/>
              <a:t>「ルール選択は間違っているのに最終回答は正しい」ケース </a:t>
            </a:r>
          </a:p>
          <a:p>
            <a:r>
              <a:rPr kumimoji="1" lang="ja-JP" altLang="en-US" dirty="0"/>
              <a:t>「ルール選択も適用も間違っているのに最終回答は正しい」ケース </a:t>
            </a:r>
          </a:p>
          <a:p>
            <a:r>
              <a:rPr kumimoji="1" lang="ja-JP" altLang="en-US" dirty="0"/>
              <a:t>③ 答えのみ</a:t>
            </a:r>
            <a:r>
              <a:rPr kumimoji="1" lang="en-US" altLang="ja-JP" dirty="0"/>
              <a:t>SFT vs </a:t>
            </a:r>
            <a:r>
              <a:rPr kumimoji="1" lang="ja-JP" altLang="en-US" dirty="0"/>
              <a:t>答え＋処理過程</a:t>
            </a:r>
            <a:r>
              <a:rPr kumimoji="1" lang="en-US" altLang="ja-JP" dirty="0"/>
              <a:t>SFT</a:t>
            </a:r>
          </a:p>
          <a:p>
            <a:r>
              <a:rPr kumimoji="1" lang="en-US" altLang="ja-JP" dirty="0"/>
              <a:t>IID</a:t>
            </a:r>
            <a:r>
              <a:rPr kumimoji="1" lang="ja-JP" altLang="en-US" dirty="0"/>
              <a:t>では答え＋処理過程が高い </a:t>
            </a:r>
          </a:p>
          <a:p>
            <a:r>
              <a:rPr kumimoji="1" lang="en-US" altLang="ja-JP" dirty="0"/>
              <a:t>OOD</a:t>
            </a:r>
            <a:r>
              <a:rPr kumimoji="1" lang="ja-JP" altLang="en-US" dirty="0"/>
              <a:t>では答えのみが高い </a:t>
            </a:r>
          </a:p>
          <a:p>
            <a:r>
              <a:rPr kumimoji="1" lang="ja-JP" altLang="en-US" dirty="0"/>
              <a:t>処理過程を学習したことで何が変わったのか </a:t>
            </a:r>
          </a:p>
          <a:p>
            <a:r>
              <a:rPr kumimoji="1" lang="ja-JP" altLang="en-US" dirty="0"/>
              <a:t>④ 構成的汎化の分析</a:t>
            </a:r>
          </a:p>
          <a:p>
            <a:r>
              <a:rPr kumimoji="1" lang="ja-JP" altLang="en-US" dirty="0"/>
              <a:t>未知の組み合わせへの対応 </a:t>
            </a:r>
          </a:p>
          <a:p>
            <a:r>
              <a:rPr kumimoji="1" lang="ja-JP" altLang="en-US" dirty="0"/>
              <a:t>処理順序が異なる場合 </a:t>
            </a:r>
          </a:p>
          <a:p>
            <a:r>
              <a:rPr kumimoji="1" lang="ja-JP" altLang="en-US" dirty="0"/>
              <a:t>順序に依存しない処理の組み合わせ </a:t>
            </a:r>
          </a:p>
          <a:p>
            <a:r>
              <a:rPr kumimoji="1" lang="ja-JP" altLang="en-US" dirty="0"/>
              <a:t>学習していないルールを出力するケース</a:t>
            </a:r>
          </a:p>
          <a:p>
            <a:endParaRPr kumimoji="1" lang="ja-JP" altLang="en-US" dirty="0"/>
          </a:p>
        </p:txBody>
      </p:sp>
      <p:sp>
        <p:nvSpPr>
          <p:cNvPr id="4" name="スライド番号プレースホルダー 3"/>
          <p:cNvSpPr>
            <a:spLocks noGrp="1"/>
          </p:cNvSpPr>
          <p:nvPr>
            <p:ph type="sldNum" sz="quarter" idx="5"/>
          </p:nvPr>
        </p:nvSpPr>
        <p:spPr/>
        <p:txBody>
          <a:bodyPr/>
          <a:lstStyle/>
          <a:p>
            <a:fld id="{68DA8E0A-CFBF-4245-917B-805B87964056}" type="slidenum">
              <a:rPr kumimoji="1" lang="ja-JP" altLang="en-US" smtClean="0"/>
              <a:t>26</a:t>
            </a:fld>
            <a:endParaRPr kumimoji="1" lang="ja-JP" altLang="en-US"/>
          </a:p>
        </p:txBody>
      </p:sp>
    </p:spTree>
    <p:extLst>
      <p:ext uri="{BB962C8B-B14F-4D97-AF65-F5344CB8AC3E}">
        <p14:creationId xmlns:p14="http://schemas.microsoft.com/office/powerpoint/2010/main" val="3164292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F4AF92-2292-3CE5-E00B-FAA5BBABBD6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CCBA7B7-16DF-6A26-665E-2C825772BE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789E10-EE99-BFF1-3129-76456A4F00AE}"/>
              </a:ext>
            </a:extLst>
          </p:cNvPr>
          <p:cNvSpPr>
            <a:spLocks noGrp="1"/>
          </p:cNvSpPr>
          <p:nvPr>
            <p:ph type="dt" sz="half" idx="10"/>
          </p:nvPr>
        </p:nvSpPr>
        <p:spPr/>
        <p:txBody>
          <a:bodyPr/>
          <a:lstStyle/>
          <a:p>
            <a:fld id="{A3A6DBD2-DA0F-4369-AACF-DF8255168190}"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B628457F-DFEF-A424-E440-B3C40595EDD2}"/>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6" name="スライド番号プレースホルダー 5">
            <a:extLst>
              <a:ext uri="{FF2B5EF4-FFF2-40B4-BE49-F238E27FC236}">
                <a16:creationId xmlns:a16="http://schemas.microsoft.com/office/drawing/2014/main" id="{F21A758F-0EC2-8B1D-8C36-59D5747639DB}"/>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1712216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0D6B52-A4D6-900E-DB8D-7C4C882520B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BE521F-4341-BE0F-52D5-3A6D6154506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83062C3-BBA2-E596-9911-87A719E34D8B}"/>
              </a:ext>
            </a:extLst>
          </p:cNvPr>
          <p:cNvSpPr>
            <a:spLocks noGrp="1"/>
          </p:cNvSpPr>
          <p:nvPr>
            <p:ph type="dt" sz="half" idx="10"/>
          </p:nvPr>
        </p:nvSpPr>
        <p:spPr/>
        <p:txBody>
          <a:bodyPr/>
          <a:lstStyle/>
          <a:p>
            <a:fld id="{DB0EC384-A088-42ED-AC29-547DFB1F70D3}"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685C09E1-D463-E0A3-8308-B35B3B8B4970}"/>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6" name="スライド番号プレースホルダー 5">
            <a:extLst>
              <a:ext uri="{FF2B5EF4-FFF2-40B4-BE49-F238E27FC236}">
                <a16:creationId xmlns:a16="http://schemas.microsoft.com/office/drawing/2014/main" id="{88FB6DD6-655A-D780-2F5E-3371FA6881C7}"/>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646371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9981A8-526D-220E-ACB1-F125F95B0FD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B0EA4A3-F163-93F2-5A32-DDCDC8CFEA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005994E-14EA-5EF2-331F-BD786E28C386}"/>
              </a:ext>
            </a:extLst>
          </p:cNvPr>
          <p:cNvSpPr>
            <a:spLocks noGrp="1"/>
          </p:cNvSpPr>
          <p:nvPr>
            <p:ph type="dt" sz="half" idx="10"/>
          </p:nvPr>
        </p:nvSpPr>
        <p:spPr/>
        <p:txBody>
          <a:bodyPr/>
          <a:lstStyle/>
          <a:p>
            <a:fld id="{72396E98-BCEA-43E3-A527-8B3F64AC7C63}"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47CCE1B9-989D-D2C1-C2A3-C255CEE4B14B}"/>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6" name="スライド番号プレースホルダー 5">
            <a:extLst>
              <a:ext uri="{FF2B5EF4-FFF2-40B4-BE49-F238E27FC236}">
                <a16:creationId xmlns:a16="http://schemas.microsoft.com/office/drawing/2014/main" id="{18FE1E8E-BD87-671D-A64D-88CD10EC249E}"/>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3699935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64FDBC-05DD-2DE4-EBDD-FA352DA791C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1854E5-1AEE-EA6D-18EC-15283ACE201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D3879AE-AFD9-9048-3639-6C5A802C4C2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5704807-7261-1FD1-31DC-BB0B735EE065}"/>
              </a:ext>
            </a:extLst>
          </p:cNvPr>
          <p:cNvSpPr>
            <a:spLocks noGrp="1"/>
          </p:cNvSpPr>
          <p:nvPr>
            <p:ph type="dt" sz="half" idx="10"/>
          </p:nvPr>
        </p:nvSpPr>
        <p:spPr/>
        <p:txBody>
          <a:bodyPr/>
          <a:lstStyle/>
          <a:p>
            <a:fld id="{1FEB46E7-DFC0-4570-B8A6-AF34C134E007}" type="datetime1">
              <a:rPr kumimoji="1" lang="ja-JP" altLang="en-US" smtClean="0"/>
              <a:t>2026/9/15</a:t>
            </a:fld>
            <a:endParaRPr kumimoji="1" lang="ja-JP" altLang="en-US"/>
          </a:p>
        </p:txBody>
      </p:sp>
      <p:sp>
        <p:nvSpPr>
          <p:cNvPr id="6" name="フッター プレースホルダー 5">
            <a:extLst>
              <a:ext uri="{FF2B5EF4-FFF2-40B4-BE49-F238E27FC236}">
                <a16:creationId xmlns:a16="http://schemas.microsoft.com/office/drawing/2014/main" id="{22E11EEF-4256-80B9-82B3-E964AFC86041}"/>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7" name="スライド番号プレースホルダー 6">
            <a:extLst>
              <a:ext uri="{FF2B5EF4-FFF2-40B4-BE49-F238E27FC236}">
                <a16:creationId xmlns:a16="http://schemas.microsoft.com/office/drawing/2014/main" id="{895B2884-8DC2-5ED0-243B-C3B3FADE9F0E}"/>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3914444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82B26E-BBDB-C4A6-6F9E-98847B75F5E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531A323-EC66-BB1D-6F79-7998530201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9D325EA-620B-2943-3015-9655E08667B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3D86F26-9D37-84D1-592E-C2768E4F91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FCEFD80-A2B9-BD1F-AC48-F84628E529C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49039CE-69D8-E289-E77A-92A59C5EF4BD}"/>
              </a:ext>
            </a:extLst>
          </p:cNvPr>
          <p:cNvSpPr>
            <a:spLocks noGrp="1"/>
          </p:cNvSpPr>
          <p:nvPr>
            <p:ph type="dt" sz="half" idx="10"/>
          </p:nvPr>
        </p:nvSpPr>
        <p:spPr/>
        <p:txBody>
          <a:bodyPr/>
          <a:lstStyle/>
          <a:p>
            <a:fld id="{D3810E2D-B8D9-4D54-BDF3-688F00317A31}" type="datetime1">
              <a:rPr kumimoji="1" lang="ja-JP" altLang="en-US" smtClean="0"/>
              <a:t>2026/9/15</a:t>
            </a:fld>
            <a:endParaRPr kumimoji="1" lang="ja-JP" altLang="en-US"/>
          </a:p>
        </p:txBody>
      </p:sp>
      <p:sp>
        <p:nvSpPr>
          <p:cNvPr id="8" name="フッター プレースホルダー 7">
            <a:extLst>
              <a:ext uri="{FF2B5EF4-FFF2-40B4-BE49-F238E27FC236}">
                <a16:creationId xmlns:a16="http://schemas.microsoft.com/office/drawing/2014/main" id="{97EA1AD2-F2F8-0665-8110-5CB883594FF1}"/>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9" name="スライド番号プレースホルダー 8">
            <a:extLst>
              <a:ext uri="{FF2B5EF4-FFF2-40B4-BE49-F238E27FC236}">
                <a16:creationId xmlns:a16="http://schemas.microsoft.com/office/drawing/2014/main" id="{320C9573-8E6C-8465-39E4-98FA2A517D32}"/>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1887688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CC538F-BFF1-C0A4-97AC-C7545B50B96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4814FCB-A23C-8814-B1D8-1BBB38CCBA0B}"/>
              </a:ext>
            </a:extLst>
          </p:cNvPr>
          <p:cNvSpPr>
            <a:spLocks noGrp="1"/>
          </p:cNvSpPr>
          <p:nvPr>
            <p:ph type="dt" sz="half" idx="10"/>
          </p:nvPr>
        </p:nvSpPr>
        <p:spPr/>
        <p:txBody>
          <a:bodyPr/>
          <a:lstStyle/>
          <a:p>
            <a:fld id="{79343A81-EC42-4B0B-B788-83B2979B1AC0}" type="datetime1">
              <a:rPr kumimoji="1" lang="ja-JP" altLang="en-US" smtClean="0"/>
              <a:t>2026/9/15</a:t>
            </a:fld>
            <a:endParaRPr kumimoji="1" lang="ja-JP" altLang="en-US"/>
          </a:p>
        </p:txBody>
      </p:sp>
      <p:sp>
        <p:nvSpPr>
          <p:cNvPr id="4" name="フッター プレースホルダー 3">
            <a:extLst>
              <a:ext uri="{FF2B5EF4-FFF2-40B4-BE49-F238E27FC236}">
                <a16:creationId xmlns:a16="http://schemas.microsoft.com/office/drawing/2014/main" id="{1622895D-BD80-A103-7DCF-17313F0B6759}"/>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5" name="スライド番号プレースホルダー 4">
            <a:extLst>
              <a:ext uri="{FF2B5EF4-FFF2-40B4-BE49-F238E27FC236}">
                <a16:creationId xmlns:a16="http://schemas.microsoft.com/office/drawing/2014/main" id="{D85647EC-8A8A-400E-E322-AF6B12E91F5D}"/>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3059874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F68687C-815B-6576-BE53-D6A3CB1AB55F}"/>
              </a:ext>
            </a:extLst>
          </p:cNvPr>
          <p:cNvSpPr>
            <a:spLocks noGrp="1"/>
          </p:cNvSpPr>
          <p:nvPr>
            <p:ph type="dt" sz="half" idx="10"/>
          </p:nvPr>
        </p:nvSpPr>
        <p:spPr/>
        <p:txBody>
          <a:bodyPr/>
          <a:lstStyle/>
          <a:p>
            <a:fld id="{9748B458-1745-45CB-B123-B28D42A66973}"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ABA6BE4A-98EA-3F84-D1EC-4758782CD581}"/>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4" name="スライド番号プレースホルダー 3">
            <a:extLst>
              <a:ext uri="{FF2B5EF4-FFF2-40B4-BE49-F238E27FC236}">
                <a16:creationId xmlns:a16="http://schemas.microsoft.com/office/drawing/2014/main" id="{97149DA9-656F-B162-F974-1908220926F3}"/>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183626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E4667A-8CCA-DF17-AE90-5CA604C2A2E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A649824-92D4-8338-A585-FF05564F0A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3947ABF-773A-8FC5-0B51-8A4E71491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EF21D1-E7D1-8F1D-0024-B00AF282E258}"/>
              </a:ext>
            </a:extLst>
          </p:cNvPr>
          <p:cNvSpPr>
            <a:spLocks noGrp="1"/>
          </p:cNvSpPr>
          <p:nvPr>
            <p:ph type="dt" sz="half" idx="10"/>
          </p:nvPr>
        </p:nvSpPr>
        <p:spPr/>
        <p:txBody>
          <a:bodyPr/>
          <a:lstStyle/>
          <a:p>
            <a:fld id="{170F0C33-9C7C-4089-8659-3DECCBA36575}" type="datetime1">
              <a:rPr kumimoji="1" lang="ja-JP" altLang="en-US" smtClean="0"/>
              <a:t>2026/9/15</a:t>
            </a:fld>
            <a:endParaRPr kumimoji="1" lang="ja-JP" altLang="en-US"/>
          </a:p>
        </p:txBody>
      </p:sp>
      <p:sp>
        <p:nvSpPr>
          <p:cNvPr id="6" name="フッター プレースホルダー 5">
            <a:extLst>
              <a:ext uri="{FF2B5EF4-FFF2-40B4-BE49-F238E27FC236}">
                <a16:creationId xmlns:a16="http://schemas.microsoft.com/office/drawing/2014/main" id="{FB12FF2E-FABD-27FD-5FA0-E896C07EB2C4}"/>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7" name="スライド番号プレースホルダー 6">
            <a:extLst>
              <a:ext uri="{FF2B5EF4-FFF2-40B4-BE49-F238E27FC236}">
                <a16:creationId xmlns:a16="http://schemas.microsoft.com/office/drawing/2014/main" id="{50C5075B-7332-D8A8-5D6D-02A83DCAC347}"/>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3612982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DEEE10-96D8-1946-3144-94D9807CE91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2895A00-CEFB-6161-5D73-6F35C27855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21A144B-A879-F9AF-F140-AAAF27386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7BB9BCB-6FD3-20C1-3943-9F3962E93C53}"/>
              </a:ext>
            </a:extLst>
          </p:cNvPr>
          <p:cNvSpPr>
            <a:spLocks noGrp="1"/>
          </p:cNvSpPr>
          <p:nvPr>
            <p:ph type="dt" sz="half" idx="10"/>
          </p:nvPr>
        </p:nvSpPr>
        <p:spPr/>
        <p:txBody>
          <a:bodyPr/>
          <a:lstStyle/>
          <a:p>
            <a:fld id="{5B765AC1-2970-4943-B44F-799C74942DCC}" type="datetime1">
              <a:rPr kumimoji="1" lang="ja-JP" altLang="en-US" smtClean="0"/>
              <a:t>2026/9/15</a:t>
            </a:fld>
            <a:endParaRPr kumimoji="1" lang="ja-JP" altLang="en-US"/>
          </a:p>
        </p:txBody>
      </p:sp>
      <p:sp>
        <p:nvSpPr>
          <p:cNvPr id="6" name="フッター プレースホルダー 5">
            <a:extLst>
              <a:ext uri="{FF2B5EF4-FFF2-40B4-BE49-F238E27FC236}">
                <a16:creationId xmlns:a16="http://schemas.microsoft.com/office/drawing/2014/main" id="{EF436DDF-863D-1BA4-EFAB-180CC656370D}"/>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7" name="スライド番号プレースホルダー 6">
            <a:extLst>
              <a:ext uri="{FF2B5EF4-FFF2-40B4-BE49-F238E27FC236}">
                <a16:creationId xmlns:a16="http://schemas.microsoft.com/office/drawing/2014/main" id="{8881ACA5-D0B1-2B2F-AE34-5C9667900CC7}"/>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2397113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8976B8-5C2C-4621-685F-6582D93404F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DE4E30-DED0-CCF2-3D89-0C1CB15D48C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46B60E-22E2-D595-B8BA-430ED75B92F5}"/>
              </a:ext>
            </a:extLst>
          </p:cNvPr>
          <p:cNvSpPr>
            <a:spLocks noGrp="1"/>
          </p:cNvSpPr>
          <p:nvPr>
            <p:ph type="dt" sz="half" idx="10"/>
          </p:nvPr>
        </p:nvSpPr>
        <p:spPr/>
        <p:txBody>
          <a:bodyPr/>
          <a:lstStyle/>
          <a:p>
            <a:fld id="{6D55F33B-3C44-4800-AEBE-821A56E94784}"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DA19BABE-19FB-9852-33C2-622F18B0F7B6}"/>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6" name="スライド番号プレースホルダー 5">
            <a:extLst>
              <a:ext uri="{FF2B5EF4-FFF2-40B4-BE49-F238E27FC236}">
                <a16:creationId xmlns:a16="http://schemas.microsoft.com/office/drawing/2014/main" id="{E85B72B6-CCDB-59BE-9FB5-97FBA6D66844}"/>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2768880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BB324BF-46B0-E862-DF60-17D7B1F0CA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3BC3CEA-D2B8-F0AF-EF9C-675BE2D75C3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917713F-48AF-01BC-A05A-7E13D180A524}"/>
              </a:ext>
            </a:extLst>
          </p:cNvPr>
          <p:cNvSpPr>
            <a:spLocks noGrp="1"/>
          </p:cNvSpPr>
          <p:nvPr>
            <p:ph type="dt" sz="half" idx="10"/>
          </p:nvPr>
        </p:nvSpPr>
        <p:spPr/>
        <p:txBody>
          <a:bodyPr/>
          <a:lstStyle/>
          <a:p>
            <a:fld id="{3D39F1BD-DB4A-41B8-812B-24EA046BEB95}"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E1919BAB-D0C3-FFF6-830B-28E5C3FFA75E}"/>
              </a:ext>
            </a:extLst>
          </p:cNvPr>
          <p:cNvSpPr>
            <a:spLocks noGrp="1"/>
          </p:cNvSpPr>
          <p:nvPr>
            <p:ph type="ftr" sz="quarter" idx="11"/>
          </p:nvPr>
        </p:nvSpPr>
        <p:spPr/>
        <p:txBody>
          <a:body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6" name="スライド番号プレースホルダー 5">
            <a:extLst>
              <a:ext uri="{FF2B5EF4-FFF2-40B4-BE49-F238E27FC236}">
                <a16:creationId xmlns:a16="http://schemas.microsoft.com/office/drawing/2014/main" id="{41DB04A1-7053-2219-9CB4-0127CEE6BA17}"/>
              </a:ext>
            </a:extLst>
          </p:cNvPr>
          <p:cNvSpPr>
            <a:spLocks noGrp="1"/>
          </p:cNvSpPr>
          <p:nvPr>
            <p:ph type="sldNum" sz="quarter" idx="12"/>
          </p:nvPr>
        </p:nvSpPr>
        <p:spPr/>
        <p:txBody>
          <a:body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3699250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B51ACA0-6C9C-B2DB-158D-89A476042A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24A1321-60FD-D77F-8A35-C48FE8FC61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C17A5BA-95D8-6448-FA23-1A7261A18E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1D47AA-5221-48CA-B202-E9B9DD006441}"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BFF71853-8734-51BF-E59D-9D0DD9A6CD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en-US" altLang="ja-JP"/>
              <a:t>1. Banh &amp; Strobel (2023). “Generative artificial intelligence” 2. Lopez-Lira &amp; Tang (2026). “Can ChatGPT Forecast Stock Price Movements?” 3. Lai et al. (2025). “A Survey of Post-Training Scaling in Large Language Models”</a:t>
            </a:r>
            <a:endParaRPr kumimoji="1" lang="ja-JP" altLang="en-US"/>
          </a:p>
        </p:txBody>
      </p:sp>
      <p:sp>
        <p:nvSpPr>
          <p:cNvPr id="6" name="スライド番号プレースホルダー 5">
            <a:extLst>
              <a:ext uri="{FF2B5EF4-FFF2-40B4-BE49-F238E27FC236}">
                <a16:creationId xmlns:a16="http://schemas.microsoft.com/office/drawing/2014/main" id="{DFB4C56B-5E24-BB14-D15C-36C119F9DC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649E7B-FC1B-418B-9B6A-00859DB1DEE8}" type="slidenum">
              <a:rPr kumimoji="1" lang="ja-JP" altLang="en-US" smtClean="0"/>
              <a:t>‹#›</a:t>
            </a:fld>
            <a:endParaRPr kumimoji="1" lang="ja-JP" altLang="en-US"/>
          </a:p>
        </p:txBody>
      </p:sp>
    </p:spTree>
    <p:extLst>
      <p:ext uri="{BB962C8B-B14F-4D97-AF65-F5344CB8AC3E}">
        <p14:creationId xmlns:p14="http://schemas.microsoft.com/office/powerpoint/2010/main" val="1434696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56A85E-8031-7842-6829-4F5ED40EAC36}"/>
              </a:ext>
            </a:extLst>
          </p:cNvPr>
          <p:cNvSpPr>
            <a:spLocks noGrp="1"/>
          </p:cNvSpPr>
          <p:nvPr>
            <p:ph type="ctrTitle"/>
          </p:nvPr>
        </p:nvSpPr>
        <p:spPr/>
        <p:txBody>
          <a:bodyPr/>
          <a:lstStyle/>
          <a:p>
            <a:r>
              <a:rPr lang="ja-JP" altLang="en-US" dirty="0"/>
              <a:t>生成</a:t>
            </a:r>
            <a:r>
              <a:rPr lang="en-US" altLang="ja-JP" dirty="0"/>
              <a:t>AI</a:t>
            </a:r>
            <a:r>
              <a:rPr lang="ja-JP" altLang="en-US" dirty="0"/>
              <a:t>の追加学習による問題解決能力の変化</a:t>
            </a:r>
            <a:endParaRPr kumimoji="1" lang="ja-JP" altLang="en-US" dirty="0"/>
          </a:p>
        </p:txBody>
      </p:sp>
      <p:sp>
        <p:nvSpPr>
          <p:cNvPr id="3" name="字幕 2">
            <a:extLst>
              <a:ext uri="{FF2B5EF4-FFF2-40B4-BE49-F238E27FC236}">
                <a16:creationId xmlns:a16="http://schemas.microsoft.com/office/drawing/2014/main" id="{824CC220-3657-A40C-0260-0F5A771FAE93}"/>
              </a:ext>
            </a:extLst>
          </p:cNvPr>
          <p:cNvSpPr>
            <a:spLocks noGrp="1"/>
          </p:cNvSpPr>
          <p:nvPr>
            <p:ph type="subTitle" idx="1"/>
          </p:nvPr>
        </p:nvSpPr>
        <p:spPr/>
        <p:txBody>
          <a:bodyPr/>
          <a:lstStyle/>
          <a:p>
            <a:r>
              <a:rPr kumimoji="1" lang="ja-JP" altLang="en-US" dirty="0"/>
              <a:t>慶應義塾大学　文学部　人文社会学科</a:t>
            </a:r>
            <a:endParaRPr kumimoji="1" lang="en-US" altLang="ja-JP" dirty="0"/>
          </a:p>
          <a:p>
            <a:r>
              <a:rPr lang="ja-JP" altLang="en-US" dirty="0"/>
              <a:t>図書館情報学　</a:t>
            </a:r>
            <a:r>
              <a:rPr lang="en-US" altLang="ja-JP" dirty="0"/>
              <a:t>4</a:t>
            </a:r>
            <a:r>
              <a:rPr lang="ja-JP" altLang="en-US" dirty="0"/>
              <a:t>年　小山竜史</a:t>
            </a:r>
            <a:endParaRPr kumimoji="1" lang="ja-JP" altLang="en-US" dirty="0"/>
          </a:p>
        </p:txBody>
      </p:sp>
      <p:sp>
        <p:nvSpPr>
          <p:cNvPr id="7" name="スライド番号プレースホルダー 6">
            <a:extLst>
              <a:ext uri="{FF2B5EF4-FFF2-40B4-BE49-F238E27FC236}">
                <a16:creationId xmlns:a16="http://schemas.microsoft.com/office/drawing/2014/main" id="{51D03811-63CF-FD27-4E55-56B57D713C01}"/>
              </a:ext>
            </a:extLst>
          </p:cNvPr>
          <p:cNvSpPr>
            <a:spLocks noGrp="1"/>
          </p:cNvSpPr>
          <p:nvPr>
            <p:ph type="sldNum" sz="quarter" idx="12"/>
          </p:nvPr>
        </p:nvSpPr>
        <p:spPr/>
        <p:txBody>
          <a:bodyPr/>
          <a:lstStyle/>
          <a:p>
            <a:fld id="{10649E7B-FC1B-418B-9B6A-00859DB1DEE8}" type="slidenum">
              <a:rPr kumimoji="1" lang="ja-JP" altLang="en-US" smtClean="0"/>
              <a:t>1</a:t>
            </a:fld>
            <a:endParaRPr kumimoji="1" lang="ja-JP" altLang="en-US"/>
          </a:p>
        </p:txBody>
      </p:sp>
    </p:spTree>
    <p:extLst>
      <p:ext uri="{BB962C8B-B14F-4D97-AF65-F5344CB8AC3E}">
        <p14:creationId xmlns:p14="http://schemas.microsoft.com/office/powerpoint/2010/main" val="4093643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A74D53-1A3F-89E2-9BBA-CF5B5B5A66A2}"/>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D73C0892-8DA2-6AB6-3BFE-4199F1A0B7ED}"/>
              </a:ext>
            </a:extLst>
          </p:cNvPr>
          <p:cNvSpPr>
            <a:spLocks noGrp="1"/>
          </p:cNvSpPr>
          <p:nvPr>
            <p:ph idx="1"/>
          </p:nvPr>
        </p:nvSpPr>
        <p:spPr/>
        <p:txBody>
          <a:bodyPr/>
          <a:lstStyle/>
          <a:p>
            <a:r>
              <a:rPr kumimoji="1" lang="ja-JP" altLang="en-US" dirty="0"/>
              <a:t>研究背景</a:t>
            </a:r>
            <a:endParaRPr kumimoji="1" lang="en-US" altLang="ja-JP" dirty="0"/>
          </a:p>
          <a:p>
            <a:r>
              <a:rPr lang="ja-JP" altLang="en-US" dirty="0"/>
              <a:t>研究方法</a:t>
            </a:r>
            <a:endParaRPr lang="en-US" altLang="ja-JP" dirty="0"/>
          </a:p>
          <a:p>
            <a:r>
              <a:rPr kumimoji="1" lang="ja-JP" altLang="en-US" dirty="0"/>
              <a:t>問題解決</a:t>
            </a:r>
            <a:r>
              <a:rPr lang="ja-JP" altLang="en-US" dirty="0"/>
              <a:t>能力の評価実験</a:t>
            </a:r>
            <a:endParaRPr lang="en-US" altLang="ja-JP" dirty="0"/>
          </a:p>
          <a:p>
            <a:r>
              <a:rPr kumimoji="1" lang="ja-JP" altLang="en-US" dirty="0"/>
              <a:t>分析と考察</a:t>
            </a:r>
          </a:p>
        </p:txBody>
      </p:sp>
      <p:sp>
        <p:nvSpPr>
          <p:cNvPr id="7" name="スライド番号プレースホルダー 6">
            <a:extLst>
              <a:ext uri="{FF2B5EF4-FFF2-40B4-BE49-F238E27FC236}">
                <a16:creationId xmlns:a16="http://schemas.microsoft.com/office/drawing/2014/main" id="{C1AF13FE-0158-1890-C46B-9CD1B7BE5DC3}"/>
              </a:ext>
            </a:extLst>
          </p:cNvPr>
          <p:cNvSpPr>
            <a:spLocks noGrp="1"/>
          </p:cNvSpPr>
          <p:nvPr>
            <p:ph type="sldNum" sz="quarter" idx="12"/>
          </p:nvPr>
        </p:nvSpPr>
        <p:spPr/>
        <p:txBody>
          <a:bodyPr/>
          <a:lstStyle/>
          <a:p>
            <a:fld id="{10649E7B-FC1B-418B-9B6A-00859DB1DEE8}" type="slidenum">
              <a:rPr kumimoji="1" lang="ja-JP" altLang="en-US" smtClean="0"/>
              <a:t>2</a:t>
            </a:fld>
            <a:endParaRPr kumimoji="1" lang="ja-JP" altLang="en-US"/>
          </a:p>
        </p:txBody>
      </p:sp>
    </p:spTree>
    <p:extLst>
      <p:ext uri="{BB962C8B-B14F-4D97-AF65-F5344CB8AC3E}">
        <p14:creationId xmlns:p14="http://schemas.microsoft.com/office/powerpoint/2010/main" val="959673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F334B-FDBB-A672-2E4D-D6B5908C64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B85FF3-F6EE-4285-4091-0973186413EA}"/>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C33145C6-AA19-15B0-CB78-D3BECF4A947D}"/>
              </a:ext>
            </a:extLst>
          </p:cNvPr>
          <p:cNvSpPr>
            <a:spLocks noGrp="1"/>
          </p:cNvSpPr>
          <p:nvPr>
            <p:ph idx="1"/>
          </p:nvPr>
        </p:nvSpPr>
        <p:spPr/>
        <p:txBody>
          <a:bodyPr/>
          <a:lstStyle/>
          <a:p>
            <a:r>
              <a:rPr kumimoji="1" lang="ja-JP" altLang="en-US" dirty="0">
                <a:solidFill>
                  <a:srgbClr val="FF0000"/>
                </a:solidFill>
              </a:rPr>
              <a:t>研究背景</a:t>
            </a:r>
            <a:endParaRPr kumimoji="1" lang="en-US" altLang="ja-JP" dirty="0">
              <a:solidFill>
                <a:srgbClr val="FF0000"/>
              </a:solidFill>
            </a:endParaRPr>
          </a:p>
          <a:p>
            <a:r>
              <a:rPr lang="ja-JP" altLang="en-US" dirty="0"/>
              <a:t>研究方法</a:t>
            </a:r>
            <a:endParaRPr lang="en-US" altLang="ja-JP" dirty="0"/>
          </a:p>
          <a:p>
            <a:r>
              <a:rPr kumimoji="1" lang="ja-JP" altLang="en-US" dirty="0"/>
              <a:t>問題解決</a:t>
            </a:r>
            <a:r>
              <a:rPr lang="ja-JP" altLang="en-US" dirty="0"/>
              <a:t>能力の評価実験</a:t>
            </a:r>
            <a:endParaRPr lang="en-US" altLang="ja-JP" dirty="0"/>
          </a:p>
          <a:p>
            <a:r>
              <a:rPr kumimoji="1" lang="ja-JP" altLang="en-US" dirty="0"/>
              <a:t>分析と考察</a:t>
            </a:r>
          </a:p>
        </p:txBody>
      </p:sp>
      <p:sp>
        <p:nvSpPr>
          <p:cNvPr id="7" name="スライド番号プレースホルダー 6">
            <a:extLst>
              <a:ext uri="{FF2B5EF4-FFF2-40B4-BE49-F238E27FC236}">
                <a16:creationId xmlns:a16="http://schemas.microsoft.com/office/drawing/2014/main" id="{665DCAC2-8785-1720-63B5-0814DF17D33C}"/>
              </a:ext>
            </a:extLst>
          </p:cNvPr>
          <p:cNvSpPr>
            <a:spLocks noGrp="1"/>
          </p:cNvSpPr>
          <p:nvPr>
            <p:ph type="sldNum" sz="quarter" idx="12"/>
          </p:nvPr>
        </p:nvSpPr>
        <p:spPr/>
        <p:txBody>
          <a:bodyPr/>
          <a:lstStyle/>
          <a:p>
            <a:fld id="{10649E7B-FC1B-418B-9B6A-00859DB1DEE8}" type="slidenum">
              <a:rPr kumimoji="1" lang="ja-JP" altLang="en-US" smtClean="0"/>
              <a:t>3</a:t>
            </a:fld>
            <a:endParaRPr kumimoji="1" lang="ja-JP" altLang="en-US"/>
          </a:p>
        </p:txBody>
      </p:sp>
    </p:spTree>
    <p:extLst>
      <p:ext uri="{BB962C8B-B14F-4D97-AF65-F5344CB8AC3E}">
        <p14:creationId xmlns:p14="http://schemas.microsoft.com/office/powerpoint/2010/main" val="2417424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D152E5-FF1D-0A46-290D-9A34D61E20F9}"/>
              </a:ext>
            </a:extLst>
          </p:cNvPr>
          <p:cNvSpPr>
            <a:spLocks noGrp="1"/>
          </p:cNvSpPr>
          <p:nvPr>
            <p:ph type="title"/>
          </p:nvPr>
        </p:nvSpPr>
        <p:spPr/>
        <p:txBody>
          <a:bodyPr/>
          <a:lstStyle/>
          <a:p>
            <a:r>
              <a:rPr lang="ja-JP" altLang="en-US" dirty="0"/>
              <a:t>用語の解説</a:t>
            </a:r>
            <a:endParaRPr kumimoji="1" lang="ja-JP" altLang="en-US" dirty="0"/>
          </a:p>
        </p:txBody>
      </p:sp>
      <p:sp>
        <p:nvSpPr>
          <p:cNvPr id="3" name="コンテンツ プレースホルダー 2">
            <a:extLst>
              <a:ext uri="{FF2B5EF4-FFF2-40B4-BE49-F238E27FC236}">
                <a16:creationId xmlns:a16="http://schemas.microsoft.com/office/drawing/2014/main" id="{60D3A0ED-B975-D9E5-73F6-B5040D83D1A5}"/>
              </a:ext>
            </a:extLst>
          </p:cNvPr>
          <p:cNvSpPr>
            <a:spLocks noGrp="1"/>
          </p:cNvSpPr>
          <p:nvPr>
            <p:ph idx="1"/>
          </p:nvPr>
        </p:nvSpPr>
        <p:spPr/>
        <p:txBody>
          <a:bodyPr>
            <a:normAutofit/>
          </a:bodyPr>
          <a:lstStyle/>
          <a:p>
            <a:r>
              <a:rPr lang="ja-JP" altLang="en-US" dirty="0"/>
              <a:t>生成</a:t>
            </a:r>
            <a:r>
              <a:rPr lang="en-US" altLang="ja-JP" dirty="0"/>
              <a:t>AI</a:t>
            </a:r>
          </a:p>
          <a:p>
            <a:pPr lvl="1"/>
            <a:r>
              <a:rPr lang="ja-JP" altLang="en-US" dirty="0"/>
              <a:t>ユーザの指示に基づき、文章・画像・プログラムコードなどの新しいコンテンツを生成する</a:t>
            </a:r>
            <a:r>
              <a:rPr lang="en-US" altLang="ja-JP" dirty="0"/>
              <a:t>AI</a:t>
            </a:r>
            <a:r>
              <a:rPr lang="en-US" altLang="ja-JP" baseline="30000" dirty="0"/>
              <a:t>1</a:t>
            </a:r>
          </a:p>
          <a:p>
            <a:endParaRPr lang="en-US" altLang="ja-JP" baseline="30000" dirty="0"/>
          </a:p>
          <a:p>
            <a:r>
              <a:rPr lang="en-US" altLang="ja-JP" dirty="0"/>
              <a:t>LLM(</a:t>
            </a:r>
            <a:r>
              <a:rPr lang="ja-JP" altLang="en-US" dirty="0"/>
              <a:t>大規模言語モデル</a:t>
            </a:r>
            <a:r>
              <a:rPr lang="en-US" altLang="ja-JP" dirty="0"/>
              <a:t>)</a:t>
            </a:r>
          </a:p>
          <a:p>
            <a:pPr lvl="1"/>
            <a:r>
              <a:rPr lang="ja-JP" altLang="en-US" dirty="0"/>
              <a:t>生成</a:t>
            </a:r>
            <a:r>
              <a:rPr lang="en-US" altLang="ja-JP" dirty="0"/>
              <a:t>AI</a:t>
            </a:r>
            <a:r>
              <a:rPr lang="ja-JP" altLang="en-US" dirty="0"/>
              <a:t>の中でも、主に「言語」を扱うモデル</a:t>
            </a:r>
            <a:endParaRPr lang="en-US" altLang="ja-JP" dirty="0"/>
          </a:p>
          <a:p>
            <a:pPr lvl="1"/>
            <a:r>
              <a:rPr lang="ja-JP" altLang="en-US" dirty="0"/>
              <a:t>大量のデータで事前学習された、大規模な言語モデル</a:t>
            </a:r>
            <a:r>
              <a:rPr lang="en-US" altLang="ja-JP" baseline="30000" dirty="0"/>
              <a:t>2</a:t>
            </a:r>
          </a:p>
        </p:txBody>
      </p:sp>
      <p:sp>
        <p:nvSpPr>
          <p:cNvPr id="5" name="スライド番号プレースホルダー 4">
            <a:extLst>
              <a:ext uri="{FF2B5EF4-FFF2-40B4-BE49-F238E27FC236}">
                <a16:creationId xmlns:a16="http://schemas.microsoft.com/office/drawing/2014/main" id="{8B99BE1C-0773-C3D6-9793-540B41CED105}"/>
              </a:ext>
            </a:extLst>
          </p:cNvPr>
          <p:cNvSpPr>
            <a:spLocks noGrp="1"/>
          </p:cNvSpPr>
          <p:nvPr>
            <p:ph type="sldNum" sz="quarter" idx="12"/>
          </p:nvPr>
        </p:nvSpPr>
        <p:spPr/>
        <p:txBody>
          <a:bodyPr/>
          <a:lstStyle/>
          <a:p>
            <a:fld id="{10649E7B-FC1B-418B-9B6A-00859DB1DEE8}" type="slidenum">
              <a:rPr kumimoji="1" lang="ja-JP" altLang="en-US" smtClean="0"/>
              <a:t>4</a:t>
            </a:fld>
            <a:endParaRPr kumimoji="1" lang="ja-JP" altLang="en-US" dirty="0"/>
          </a:p>
        </p:txBody>
      </p:sp>
      <p:sp>
        <p:nvSpPr>
          <p:cNvPr id="6" name="フッター プレースホルダー 5">
            <a:extLst>
              <a:ext uri="{FF2B5EF4-FFF2-40B4-BE49-F238E27FC236}">
                <a16:creationId xmlns:a16="http://schemas.microsoft.com/office/drawing/2014/main" id="{D7C39388-F272-0374-8C4A-880189C87223}"/>
              </a:ext>
            </a:extLst>
          </p:cNvPr>
          <p:cNvSpPr>
            <a:spLocks noGrp="1"/>
          </p:cNvSpPr>
          <p:nvPr>
            <p:ph type="ftr" sz="quarter" idx="11"/>
          </p:nvPr>
        </p:nvSpPr>
        <p:spPr>
          <a:xfrm>
            <a:off x="183572" y="5977803"/>
            <a:ext cx="11824855" cy="757094"/>
          </a:xfrm>
        </p:spPr>
        <p:txBody>
          <a:bodyPr/>
          <a:lstStyle/>
          <a:p>
            <a:pPr marL="228600" indent="-228600">
              <a:buAutoNum type="arabicPeriod"/>
            </a:pPr>
            <a:endParaRPr kumimoji="1" lang="en-US" altLang="ja-JP" dirty="0"/>
          </a:p>
          <a:p>
            <a:pPr marL="228600" indent="-228600">
              <a:buAutoNum type="arabicPeriod"/>
            </a:pPr>
            <a:endParaRPr kumimoji="1" lang="en-US" altLang="ja-JP" dirty="0"/>
          </a:p>
          <a:p>
            <a:pPr marL="228600" indent="-228600">
              <a:buAutoNum type="arabicPeriod"/>
            </a:pPr>
            <a:r>
              <a:rPr lang="ja-JP" altLang="ja-JP" dirty="0"/>
              <a:t>Banh, L., &amp; Strobel, G. (2023). Generative artificial intelligence. </a:t>
            </a:r>
            <a:r>
              <a:rPr lang="ja-JP" altLang="ja-JP" i="1" dirty="0"/>
              <a:t>Electronic markets</a:t>
            </a:r>
            <a:r>
              <a:rPr lang="ja-JP" altLang="ja-JP" dirty="0"/>
              <a:t>, </a:t>
            </a:r>
            <a:r>
              <a:rPr lang="ja-JP" altLang="ja-JP" i="1" dirty="0"/>
              <a:t>33</a:t>
            </a:r>
            <a:r>
              <a:rPr lang="ja-JP" altLang="ja-JP" dirty="0"/>
              <a:t>(1), 63.</a:t>
            </a:r>
            <a:endParaRPr lang="en-US" altLang="ja-JP" dirty="0"/>
          </a:p>
          <a:p>
            <a:pPr marL="228600" indent="-228600">
              <a:buAutoNum type="arabicPeriod"/>
            </a:pPr>
            <a:r>
              <a:rPr lang="ja-JP" altLang="ja-JP" dirty="0"/>
              <a:t>Lopez-Lira, A. (2024). Can ChatGPT forecast stock price movements?.</a:t>
            </a:r>
            <a:endParaRPr kumimoji="1" lang="en-US" altLang="ja-JP" dirty="0"/>
          </a:p>
        </p:txBody>
      </p:sp>
    </p:spTree>
    <p:extLst>
      <p:ext uri="{BB962C8B-B14F-4D97-AF65-F5344CB8AC3E}">
        <p14:creationId xmlns:p14="http://schemas.microsoft.com/office/powerpoint/2010/main" val="2632587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E6265A-B64C-92AD-27D7-4E0371545926}"/>
              </a:ext>
            </a:extLst>
          </p:cNvPr>
          <p:cNvSpPr>
            <a:spLocks noGrp="1"/>
          </p:cNvSpPr>
          <p:nvPr>
            <p:ph type="title"/>
          </p:nvPr>
        </p:nvSpPr>
        <p:spPr/>
        <p:txBody>
          <a:bodyPr/>
          <a:lstStyle/>
          <a:p>
            <a:r>
              <a:rPr lang="ja-JP" altLang="en-US" dirty="0"/>
              <a:t>用語の解説</a:t>
            </a:r>
            <a:endParaRPr kumimoji="1" lang="ja-JP" altLang="en-US" dirty="0"/>
          </a:p>
        </p:txBody>
      </p:sp>
      <p:sp>
        <p:nvSpPr>
          <p:cNvPr id="3" name="コンテンツ プレースホルダー 2">
            <a:extLst>
              <a:ext uri="{FF2B5EF4-FFF2-40B4-BE49-F238E27FC236}">
                <a16:creationId xmlns:a16="http://schemas.microsoft.com/office/drawing/2014/main" id="{49EC8E7F-8398-9B37-1C97-AE3DD3AB6C1E}"/>
              </a:ext>
            </a:extLst>
          </p:cNvPr>
          <p:cNvSpPr>
            <a:spLocks noGrp="1"/>
          </p:cNvSpPr>
          <p:nvPr>
            <p:ph idx="1"/>
          </p:nvPr>
        </p:nvSpPr>
        <p:spPr/>
        <p:txBody>
          <a:bodyPr/>
          <a:lstStyle/>
          <a:p>
            <a:r>
              <a:rPr lang="en-US" altLang="ja-JP" dirty="0"/>
              <a:t>Post-training(</a:t>
            </a:r>
            <a:r>
              <a:rPr lang="ja-JP" altLang="en-US" dirty="0"/>
              <a:t>追加学習</a:t>
            </a:r>
            <a:r>
              <a:rPr lang="en-US" altLang="ja-JP" dirty="0"/>
              <a:t>)</a:t>
            </a:r>
          </a:p>
          <a:p>
            <a:pPr lvl="1"/>
            <a:r>
              <a:rPr lang="ja-JP" altLang="en-US" dirty="0"/>
              <a:t>事前学習後に、</a:t>
            </a:r>
            <a:r>
              <a:rPr lang="en-US" altLang="ja-JP" dirty="0"/>
              <a:t>LLM</a:t>
            </a:r>
            <a:r>
              <a:rPr lang="ja-JP" altLang="en-US" dirty="0"/>
              <a:t>を特定の目的に適応させるための学習</a:t>
            </a:r>
            <a:r>
              <a:rPr lang="en-US" altLang="ja-JP" baseline="30000" dirty="0"/>
              <a:t>3</a:t>
            </a:r>
          </a:p>
          <a:p>
            <a:endParaRPr lang="en-US" altLang="ja-JP" dirty="0"/>
          </a:p>
          <a:p>
            <a:r>
              <a:rPr lang="en-US" altLang="ja-JP" dirty="0"/>
              <a:t>Supervised Fine-tuning(SFT)</a:t>
            </a:r>
          </a:p>
          <a:p>
            <a:pPr lvl="1"/>
            <a:r>
              <a:rPr lang="ja-JP" altLang="en-US" dirty="0"/>
              <a:t>教師ありファインチューニング</a:t>
            </a:r>
          </a:p>
          <a:p>
            <a:pPr lvl="1"/>
            <a:r>
              <a:rPr lang="ja-JP" altLang="en-US" dirty="0"/>
              <a:t>入力された指示と、それに対応する出力の関係を</a:t>
            </a:r>
            <a:r>
              <a:rPr lang="en-US" altLang="ja-JP" dirty="0"/>
              <a:t>LLM</a:t>
            </a:r>
            <a:r>
              <a:rPr lang="ja-JP" altLang="en-US" dirty="0"/>
              <a:t>に学習させる手法</a:t>
            </a:r>
            <a:r>
              <a:rPr lang="en-US" altLang="ja-JP" baseline="30000" dirty="0"/>
              <a:t>3</a:t>
            </a:r>
          </a:p>
          <a:p>
            <a:pPr lvl="1"/>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EC3A5FE5-61B1-1F93-6F67-4F8869E54AD5}"/>
              </a:ext>
            </a:extLst>
          </p:cNvPr>
          <p:cNvSpPr>
            <a:spLocks noGrp="1"/>
          </p:cNvSpPr>
          <p:nvPr>
            <p:ph type="sldNum" sz="quarter" idx="12"/>
          </p:nvPr>
        </p:nvSpPr>
        <p:spPr/>
        <p:txBody>
          <a:bodyPr/>
          <a:lstStyle/>
          <a:p>
            <a:fld id="{10649E7B-FC1B-418B-9B6A-00859DB1DEE8}" type="slidenum">
              <a:rPr kumimoji="1" lang="ja-JP" altLang="en-US" smtClean="0"/>
              <a:t>5</a:t>
            </a:fld>
            <a:endParaRPr kumimoji="1" lang="ja-JP" altLang="en-US"/>
          </a:p>
        </p:txBody>
      </p:sp>
      <p:sp>
        <p:nvSpPr>
          <p:cNvPr id="5" name="フッター プレースホルダー 4">
            <a:extLst>
              <a:ext uri="{FF2B5EF4-FFF2-40B4-BE49-F238E27FC236}">
                <a16:creationId xmlns:a16="http://schemas.microsoft.com/office/drawing/2014/main" id="{63F15080-627C-9DDC-4BEE-A7343A013C9D}"/>
              </a:ext>
            </a:extLst>
          </p:cNvPr>
          <p:cNvSpPr>
            <a:spLocks noGrp="1"/>
          </p:cNvSpPr>
          <p:nvPr>
            <p:ph type="ftr" sz="quarter" idx="11"/>
          </p:nvPr>
        </p:nvSpPr>
        <p:spPr>
          <a:xfrm>
            <a:off x="1110781" y="6356350"/>
            <a:ext cx="10445026" cy="365125"/>
          </a:xfrm>
        </p:spPr>
        <p:txBody>
          <a:bodyPr/>
          <a:lstStyle/>
          <a:p>
            <a:r>
              <a:rPr kumimoji="1" lang="en-US" altLang="ja-JP" dirty="0"/>
              <a:t>3. </a:t>
            </a:r>
            <a:r>
              <a:rPr lang="ja-JP" altLang="ja-JP" dirty="0"/>
              <a:t>Lai, H., Liu, X., Gao, J., Cheng, J., Qi, Z., Xu, Y., ... &amp; Tang, J. (2025, July). A survey of post-training scaling in large language models. In </a:t>
            </a:r>
            <a:r>
              <a:rPr lang="ja-JP" altLang="ja-JP" i="1" dirty="0"/>
              <a:t>Proceedings of the 63rd Annual Meeting of the Association for Computational Linguistics (Volume 1: Long Papers)</a:t>
            </a:r>
            <a:r>
              <a:rPr lang="ja-JP" altLang="ja-JP" dirty="0"/>
              <a:t> (pp. 2771-2791).</a:t>
            </a:r>
            <a:endParaRPr kumimoji="1" lang="en-US" altLang="ja-JP" dirty="0"/>
          </a:p>
        </p:txBody>
      </p:sp>
    </p:spTree>
    <p:extLst>
      <p:ext uri="{BB962C8B-B14F-4D97-AF65-F5344CB8AC3E}">
        <p14:creationId xmlns:p14="http://schemas.microsoft.com/office/powerpoint/2010/main" val="189560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1A7CE0-69BD-F5D6-E4F6-88532BA353F8}"/>
              </a:ext>
            </a:extLst>
          </p:cNvPr>
          <p:cNvSpPr>
            <a:spLocks noGrp="1"/>
          </p:cNvSpPr>
          <p:nvPr>
            <p:ph type="title"/>
          </p:nvPr>
        </p:nvSpPr>
        <p:spPr/>
        <p:txBody>
          <a:bodyPr/>
          <a:lstStyle/>
          <a:p>
            <a:r>
              <a:rPr lang="en-US" altLang="ja-JP" dirty="0"/>
              <a:t>SFT</a:t>
            </a:r>
            <a:r>
              <a:rPr lang="ja-JP" altLang="en-US" dirty="0"/>
              <a:t>による追加学習</a:t>
            </a:r>
            <a:endParaRPr kumimoji="1" lang="ja-JP" altLang="en-US" dirty="0"/>
          </a:p>
        </p:txBody>
      </p:sp>
      <p:sp>
        <p:nvSpPr>
          <p:cNvPr id="4" name="四角形: 角を丸くする 3">
            <a:extLst>
              <a:ext uri="{FF2B5EF4-FFF2-40B4-BE49-F238E27FC236}">
                <a16:creationId xmlns:a16="http://schemas.microsoft.com/office/drawing/2014/main" id="{16200363-F6D6-85D2-BA4B-B1B421F98811}"/>
              </a:ext>
            </a:extLst>
          </p:cNvPr>
          <p:cNvSpPr/>
          <p:nvPr/>
        </p:nvSpPr>
        <p:spPr>
          <a:xfrm>
            <a:off x="838200" y="1920879"/>
            <a:ext cx="3037772" cy="41608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学習データの例</a:t>
            </a:r>
            <a:endParaRPr kumimoji="1" lang="en-US" altLang="ja-JP" dirty="0"/>
          </a:p>
          <a:p>
            <a:pPr algn="ctr"/>
            <a:endParaRPr kumimoji="1" lang="en-US" altLang="ja-JP" dirty="0"/>
          </a:p>
          <a:p>
            <a:r>
              <a:rPr kumimoji="1" lang="ja-JP" altLang="en-US" dirty="0"/>
              <a:t>入力：</a:t>
            </a:r>
            <a:endParaRPr kumimoji="1" lang="en-US" altLang="ja-JP" dirty="0"/>
          </a:p>
          <a:p>
            <a:r>
              <a:rPr lang="ja-JP" altLang="en-US" dirty="0"/>
              <a:t>次の計算をしてください</a:t>
            </a:r>
            <a:endParaRPr lang="en-US" altLang="ja-JP" dirty="0"/>
          </a:p>
          <a:p>
            <a:r>
              <a:rPr kumimoji="1" lang="en-US" altLang="ja-JP" dirty="0"/>
              <a:t>12</a:t>
            </a:r>
            <a:r>
              <a:rPr kumimoji="1" lang="ja-JP" altLang="en-US" dirty="0"/>
              <a:t>＋８＝？</a:t>
            </a:r>
            <a:endParaRPr kumimoji="1" lang="en-US" altLang="ja-JP" dirty="0"/>
          </a:p>
          <a:p>
            <a:endParaRPr lang="en-US" altLang="ja-JP" dirty="0"/>
          </a:p>
          <a:p>
            <a:r>
              <a:rPr kumimoji="1" lang="ja-JP" altLang="en-US" dirty="0"/>
              <a:t>正解となる出力：</a:t>
            </a:r>
            <a:endParaRPr kumimoji="1" lang="en-US" altLang="ja-JP" dirty="0"/>
          </a:p>
          <a:p>
            <a:r>
              <a:rPr lang="en-US" altLang="ja-JP" dirty="0"/>
              <a:t>20</a:t>
            </a:r>
            <a:endParaRPr kumimoji="1" lang="ja-JP" altLang="en-US" dirty="0"/>
          </a:p>
        </p:txBody>
      </p:sp>
      <p:sp>
        <p:nvSpPr>
          <p:cNvPr id="5" name="四角形: 角を丸くする 4">
            <a:extLst>
              <a:ext uri="{FF2B5EF4-FFF2-40B4-BE49-F238E27FC236}">
                <a16:creationId xmlns:a16="http://schemas.microsoft.com/office/drawing/2014/main" id="{D40380A3-71BA-9B50-5089-73AAB8215ED9}"/>
              </a:ext>
            </a:extLst>
          </p:cNvPr>
          <p:cNvSpPr/>
          <p:nvPr/>
        </p:nvSpPr>
        <p:spPr>
          <a:xfrm>
            <a:off x="4603707" y="2915058"/>
            <a:ext cx="2984585" cy="217246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dirty="0"/>
              <a:t>LLM</a:t>
            </a:r>
            <a:br>
              <a:rPr kumimoji="1" lang="en-US" altLang="ja-JP" dirty="0"/>
            </a:br>
            <a:r>
              <a:rPr kumimoji="1" lang="ja-JP" altLang="en-US" dirty="0"/>
              <a:t>（事前学習済みモデル）</a:t>
            </a:r>
          </a:p>
        </p:txBody>
      </p:sp>
      <p:sp>
        <p:nvSpPr>
          <p:cNvPr id="6" name="四角形: 角を丸くする 5">
            <a:extLst>
              <a:ext uri="{FF2B5EF4-FFF2-40B4-BE49-F238E27FC236}">
                <a16:creationId xmlns:a16="http://schemas.microsoft.com/office/drawing/2014/main" id="{D204CEE7-7666-5FF7-B9FF-8EC61FC6398E}"/>
              </a:ext>
            </a:extLst>
          </p:cNvPr>
          <p:cNvSpPr/>
          <p:nvPr/>
        </p:nvSpPr>
        <p:spPr>
          <a:xfrm>
            <a:off x="8316028" y="1920879"/>
            <a:ext cx="3037772" cy="416082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kumimoji="1" lang="ja-JP" altLang="en-US" dirty="0"/>
              <a:t>学習後の例</a:t>
            </a:r>
            <a:endParaRPr kumimoji="1" lang="en-US" altLang="ja-JP" dirty="0"/>
          </a:p>
          <a:p>
            <a:pPr algn="ctr"/>
            <a:endParaRPr lang="en-US" altLang="ja-JP" dirty="0"/>
          </a:p>
          <a:p>
            <a:r>
              <a:rPr lang="ja-JP" altLang="en-US" dirty="0"/>
              <a:t>入力：</a:t>
            </a:r>
            <a:endParaRPr lang="en-US" altLang="ja-JP" dirty="0"/>
          </a:p>
          <a:p>
            <a:r>
              <a:rPr lang="ja-JP" altLang="en-US" dirty="0"/>
              <a:t>次の計算をしてください</a:t>
            </a:r>
            <a:endParaRPr lang="en-US" altLang="ja-JP" dirty="0"/>
          </a:p>
          <a:p>
            <a:r>
              <a:rPr lang="en-US" altLang="ja-JP" dirty="0"/>
              <a:t>21</a:t>
            </a:r>
            <a:r>
              <a:rPr lang="ja-JP" altLang="en-US" dirty="0"/>
              <a:t>＋</a:t>
            </a:r>
            <a:r>
              <a:rPr lang="en-US" altLang="ja-JP" dirty="0"/>
              <a:t>5</a:t>
            </a:r>
            <a:r>
              <a:rPr lang="ja-JP" altLang="en-US" dirty="0"/>
              <a:t>＝？</a:t>
            </a:r>
            <a:endParaRPr lang="en-US" altLang="ja-JP" dirty="0"/>
          </a:p>
          <a:p>
            <a:endParaRPr lang="en-US" altLang="ja-JP" dirty="0"/>
          </a:p>
          <a:p>
            <a:r>
              <a:rPr lang="ja-JP" altLang="en-US" dirty="0"/>
              <a:t>モデルの出力：</a:t>
            </a:r>
            <a:endParaRPr lang="en-US" altLang="ja-JP" dirty="0"/>
          </a:p>
          <a:p>
            <a:r>
              <a:rPr lang="en-US" altLang="ja-JP" dirty="0"/>
              <a:t>26</a:t>
            </a:r>
            <a:endParaRPr lang="ja-JP" altLang="en-US" dirty="0"/>
          </a:p>
          <a:p>
            <a:endParaRPr kumimoji="1" lang="ja-JP" altLang="en-US" dirty="0"/>
          </a:p>
        </p:txBody>
      </p:sp>
      <p:sp>
        <p:nvSpPr>
          <p:cNvPr id="7" name="矢印: 右 6">
            <a:extLst>
              <a:ext uri="{FF2B5EF4-FFF2-40B4-BE49-F238E27FC236}">
                <a16:creationId xmlns:a16="http://schemas.microsoft.com/office/drawing/2014/main" id="{471AE4F3-01C6-4F51-B6CB-8587CD7B0273}"/>
              </a:ext>
            </a:extLst>
          </p:cNvPr>
          <p:cNvSpPr/>
          <p:nvPr/>
        </p:nvSpPr>
        <p:spPr>
          <a:xfrm>
            <a:off x="4068773" y="3939898"/>
            <a:ext cx="374352" cy="3313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9DBB0480-6EB9-B1B3-8D5B-013AE90146CA}"/>
              </a:ext>
            </a:extLst>
          </p:cNvPr>
          <p:cNvSpPr/>
          <p:nvPr/>
        </p:nvSpPr>
        <p:spPr>
          <a:xfrm>
            <a:off x="7748874" y="3939898"/>
            <a:ext cx="374352" cy="3313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10">
            <a:extLst>
              <a:ext uri="{FF2B5EF4-FFF2-40B4-BE49-F238E27FC236}">
                <a16:creationId xmlns:a16="http://schemas.microsoft.com/office/drawing/2014/main" id="{B9AA247A-442C-D923-4626-FF2E59D28201}"/>
              </a:ext>
            </a:extLst>
          </p:cNvPr>
          <p:cNvSpPr>
            <a:spLocks noGrp="1"/>
          </p:cNvSpPr>
          <p:nvPr>
            <p:ph type="sldNum" sz="quarter" idx="12"/>
          </p:nvPr>
        </p:nvSpPr>
        <p:spPr/>
        <p:txBody>
          <a:bodyPr/>
          <a:lstStyle/>
          <a:p>
            <a:fld id="{10649E7B-FC1B-418B-9B6A-00859DB1DEE8}" type="slidenum">
              <a:rPr kumimoji="1" lang="ja-JP" altLang="en-US" smtClean="0"/>
              <a:t>6</a:t>
            </a:fld>
            <a:endParaRPr kumimoji="1" lang="ja-JP" altLang="en-US"/>
          </a:p>
        </p:txBody>
      </p:sp>
    </p:spTree>
    <p:extLst>
      <p:ext uri="{BB962C8B-B14F-4D97-AF65-F5344CB8AC3E}">
        <p14:creationId xmlns:p14="http://schemas.microsoft.com/office/powerpoint/2010/main" val="3257406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85B426-4B47-7AE7-2A8E-5B52F8577DB3}"/>
              </a:ext>
            </a:extLst>
          </p:cNvPr>
          <p:cNvSpPr>
            <a:spLocks noGrp="1"/>
          </p:cNvSpPr>
          <p:nvPr>
            <p:ph type="title"/>
          </p:nvPr>
        </p:nvSpPr>
        <p:spPr/>
        <p:txBody>
          <a:bodyPr/>
          <a:lstStyle/>
          <a:p>
            <a:r>
              <a:rPr kumimoji="1" lang="ja-JP" altLang="en-US" dirty="0"/>
              <a:t>先行研究</a:t>
            </a:r>
          </a:p>
        </p:txBody>
      </p:sp>
      <p:sp>
        <p:nvSpPr>
          <p:cNvPr id="3" name="コンテンツ プレースホルダー 2">
            <a:extLst>
              <a:ext uri="{FF2B5EF4-FFF2-40B4-BE49-F238E27FC236}">
                <a16:creationId xmlns:a16="http://schemas.microsoft.com/office/drawing/2014/main" id="{BCE9AAC2-8404-734C-BBDC-6C61F67C4122}"/>
              </a:ext>
            </a:extLst>
          </p:cNvPr>
          <p:cNvSpPr>
            <a:spLocks noGrp="1"/>
          </p:cNvSpPr>
          <p:nvPr>
            <p:ph idx="1"/>
          </p:nvPr>
        </p:nvSpPr>
        <p:spPr/>
        <p:txBody>
          <a:bodyPr/>
          <a:lstStyle/>
          <a:p>
            <a:r>
              <a:rPr lang="ja-JP" altLang="ja-JP" dirty="0"/>
              <a:t>Chu et al. (2025)</a:t>
            </a:r>
            <a:r>
              <a:rPr lang="en-US" altLang="ja-JP" baseline="30000" dirty="0"/>
              <a:t>4</a:t>
            </a:r>
            <a:r>
              <a:rPr lang="ja-JP" altLang="ja-JP" dirty="0"/>
              <a:t>：</a:t>
            </a:r>
            <a:r>
              <a:rPr lang="en-US" altLang="ja-JP" dirty="0"/>
              <a:t>SFT</a:t>
            </a:r>
            <a:r>
              <a:rPr lang="ja-JP" altLang="en-US" dirty="0"/>
              <a:t>と</a:t>
            </a:r>
            <a:r>
              <a:rPr lang="en-US" altLang="ja-JP" dirty="0"/>
              <a:t>RL</a:t>
            </a:r>
            <a:r>
              <a:rPr lang="ja-JP" altLang="en-US" dirty="0"/>
              <a:t>（</a:t>
            </a:r>
            <a:r>
              <a:rPr lang="en-US" altLang="ja-JP" dirty="0"/>
              <a:t>SFT</a:t>
            </a:r>
            <a:r>
              <a:rPr lang="ja-JP" altLang="en-US" dirty="0"/>
              <a:t>とは異なる学習手法）の汎化性能を比較し、</a:t>
            </a:r>
            <a:r>
              <a:rPr lang="en-US" altLang="ja-JP" dirty="0"/>
              <a:t>SFT</a:t>
            </a:r>
            <a:r>
              <a:rPr lang="ja-JP" altLang="en-US" dirty="0"/>
              <a:t>は学習データを記憶する傾向があることを示した研究</a:t>
            </a:r>
            <a:endParaRPr lang="en-US" altLang="ja-JP" dirty="0"/>
          </a:p>
          <a:p>
            <a:pPr lvl="1"/>
            <a:r>
              <a:rPr lang="ja-JP" altLang="en-US" dirty="0"/>
              <a:t>汎化性能：学習した知識や処理を、学習していない問題にも適用できる性能</a:t>
            </a:r>
            <a:endParaRPr lang="en-US" altLang="ja-JP" dirty="0"/>
          </a:p>
          <a:p>
            <a:pPr lvl="1"/>
            <a:r>
              <a:rPr lang="en-US" altLang="ja-JP" dirty="0"/>
              <a:t>SFT</a:t>
            </a:r>
            <a:r>
              <a:rPr lang="ja-JP" altLang="en-US" dirty="0"/>
              <a:t>による学習では、未知の問題への汎化は限定的</a:t>
            </a:r>
            <a:endParaRPr lang="en-US" altLang="ja-JP" dirty="0"/>
          </a:p>
          <a:p>
            <a:r>
              <a:rPr lang="en-US" altLang="ja-JP" dirty="0"/>
              <a:t>Ren et al. (2026)</a:t>
            </a:r>
            <a:r>
              <a:rPr lang="en-US" altLang="ja-JP" baseline="30000" dirty="0"/>
              <a:t>5</a:t>
            </a:r>
            <a:r>
              <a:rPr lang="ja-JP" altLang="en-US" dirty="0"/>
              <a:t>：</a:t>
            </a:r>
            <a:r>
              <a:rPr lang="en-US" altLang="ja-JP" dirty="0"/>
              <a:t>SFT</a:t>
            </a:r>
            <a:r>
              <a:rPr lang="ja-JP" altLang="en-US" dirty="0"/>
              <a:t>の汎化性能を分析し、最適化方法・学習データ・モデル能力などの条件によって、汎化性能が変化することを示した研究</a:t>
            </a:r>
            <a:endParaRPr lang="en-US" altLang="ja-JP" dirty="0"/>
          </a:p>
          <a:p>
            <a:pPr lvl="1"/>
            <a:r>
              <a:rPr lang="ja-JP" altLang="en-US" dirty="0"/>
              <a:t>条件によっては</a:t>
            </a:r>
            <a:r>
              <a:rPr lang="en-US" altLang="ja-JP" dirty="0"/>
              <a:t>SFT</a:t>
            </a:r>
            <a:r>
              <a:rPr lang="ja-JP" altLang="en-US" dirty="0"/>
              <a:t>による学習でも、汎化性能は向上する</a:t>
            </a:r>
            <a:endParaRPr lang="en-US" altLang="ja-JP" dirty="0"/>
          </a:p>
          <a:p>
            <a:pPr lvl="1"/>
            <a:endParaRPr kumimoji="1" lang="ja-JP" altLang="en-US" dirty="0"/>
          </a:p>
        </p:txBody>
      </p:sp>
      <p:sp>
        <p:nvSpPr>
          <p:cNvPr id="8" name="スライド番号プレースホルダー 7">
            <a:extLst>
              <a:ext uri="{FF2B5EF4-FFF2-40B4-BE49-F238E27FC236}">
                <a16:creationId xmlns:a16="http://schemas.microsoft.com/office/drawing/2014/main" id="{D062BAA2-568C-F449-CED1-D2702F507E00}"/>
              </a:ext>
            </a:extLst>
          </p:cNvPr>
          <p:cNvSpPr>
            <a:spLocks noGrp="1"/>
          </p:cNvSpPr>
          <p:nvPr>
            <p:ph type="sldNum" sz="quarter" idx="12"/>
          </p:nvPr>
        </p:nvSpPr>
        <p:spPr/>
        <p:txBody>
          <a:bodyPr/>
          <a:lstStyle/>
          <a:p>
            <a:fld id="{10649E7B-FC1B-418B-9B6A-00859DB1DEE8}" type="slidenum">
              <a:rPr kumimoji="1" lang="ja-JP" altLang="en-US" smtClean="0"/>
              <a:t>7</a:t>
            </a:fld>
            <a:endParaRPr kumimoji="1" lang="ja-JP" altLang="en-US"/>
          </a:p>
        </p:txBody>
      </p:sp>
      <p:sp>
        <p:nvSpPr>
          <p:cNvPr id="9" name="フッター プレースホルダー 8">
            <a:extLst>
              <a:ext uri="{FF2B5EF4-FFF2-40B4-BE49-F238E27FC236}">
                <a16:creationId xmlns:a16="http://schemas.microsoft.com/office/drawing/2014/main" id="{5C030DF3-D23A-EEA0-AF9D-6A8E7204086A}"/>
              </a:ext>
            </a:extLst>
          </p:cNvPr>
          <p:cNvSpPr>
            <a:spLocks noGrp="1"/>
          </p:cNvSpPr>
          <p:nvPr>
            <p:ph type="ftr" sz="quarter" idx="11"/>
          </p:nvPr>
        </p:nvSpPr>
        <p:spPr>
          <a:xfrm>
            <a:off x="0" y="5701192"/>
            <a:ext cx="12192000" cy="1136128"/>
          </a:xfrm>
        </p:spPr>
        <p:txBody>
          <a:bodyPr/>
          <a:lstStyle/>
          <a:p>
            <a:r>
              <a:rPr lang="en-US" altLang="ja-JP" dirty="0"/>
              <a:t>4. </a:t>
            </a:r>
            <a:r>
              <a:rPr lang="ja-JP" altLang="ja-JP" dirty="0"/>
              <a:t>Chu, T., Zhai, Y., Yang, J., Tong, S., Xie, S., Schuurmans, D., ... &amp; Ma, Y. (2025). Sft memorizes, rl generalizes: A comparative study of foundation model post-training. </a:t>
            </a:r>
            <a:r>
              <a:rPr lang="ja-JP" altLang="ja-JP" i="1" dirty="0"/>
              <a:t>arXiv preprint arXiv:2501.17161</a:t>
            </a:r>
            <a:r>
              <a:rPr lang="ja-JP" altLang="ja-JP" dirty="0"/>
              <a:t>.</a:t>
            </a:r>
            <a:endParaRPr lang="en-US" altLang="ja-JP" dirty="0"/>
          </a:p>
          <a:p>
            <a:r>
              <a:rPr kumimoji="1" lang="en-US" altLang="ja-JP" dirty="0"/>
              <a:t>5. </a:t>
            </a:r>
            <a:r>
              <a:rPr lang="ja-JP" altLang="ja-JP" dirty="0"/>
              <a:t>Ren, Q., Wang, P., Cai, R., Shao, S., Guo, D., Xie, Y., ... &amp; Liu, D. (2026). Rethinking generalization in reasoning sft: A conditional analysis on optimization, data, and model capability. </a:t>
            </a:r>
            <a:r>
              <a:rPr lang="ja-JP" altLang="ja-JP" i="1" dirty="0"/>
              <a:t>arXiv preprint arXiv:2604.06628</a:t>
            </a:r>
            <a:r>
              <a:rPr lang="ja-JP" altLang="ja-JP" dirty="0"/>
              <a:t>.</a:t>
            </a:r>
            <a:endParaRPr kumimoji="1" lang="ja-JP" altLang="en-US" dirty="0"/>
          </a:p>
        </p:txBody>
      </p:sp>
    </p:spTree>
    <p:extLst>
      <p:ext uri="{BB962C8B-B14F-4D97-AF65-F5344CB8AC3E}">
        <p14:creationId xmlns:p14="http://schemas.microsoft.com/office/powerpoint/2010/main" val="907310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4C5A37-DF08-9679-9678-677D04235E7C}"/>
              </a:ext>
            </a:extLst>
          </p:cNvPr>
          <p:cNvSpPr>
            <a:spLocks noGrp="1"/>
          </p:cNvSpPr>
          <p:nvPr>
            <p:ph type="title"/>
          </p:nvPr>
        </p:nvSpPr>
        <p:spPr/>
        <p:txBody>
          <a:bodyPr/>
          <a:lstStyle/>
          <a:p>
            <a:r>
              <a:rPr kumimoji="1" lang="ja-JP" altLang="en-US" dirty="0"/>
              <a:t>先行研究からわかること</a:t>
            </a:r>
          </a:p>
        </p:txBody>
      </p:sp>
      <p:sp>
        <p:nvSpPr>
          <p:cNvPr id="3" name="コンテンツ プレースホルダー 2">
            <a:extLst>
              <a:ext uri="{FF2B5EF4-FFF2-40B4-BE49-F238E27FC236}">
                <a16:creationId xmlns:a16="http://schemas.microsoft.com/office/drawing/2014/main" id="{DA5C64A8-528A-F371-E231-619767ACAB31}"/>
              </a:ext>
            </a:extLst>
          </p:cNvPr>
          <p:cNvSpPr>
            <a:spLocks noGrp="1"/>
          </p:cNvSpPr>
          <p:nvPr>
            <p:ph idx="1"/>
          </p:nvPr>
        </p:nvSpPr>
        <p:spPr>
          <a:xfrm>
            <a:off x="838200" y="1825625"/>
            <a:ext cx="10515600" cy="4875884"/>
          </a:xfrm>
        </p:spPr>
        <p:txBody>
          <a:bodyPr>
            <a:normAutofit/>
          </a:bodyPr>
          <a:lstStyle/>
          <a:p>
            <a:r>
              <a:rPr kumimoji="1" lang="ja-JP" altLang="en-US" dirty="0"/>
              <a:t>先行研究では、</a:t>
            </a:r>
            <a:r>
              <a:rPr kumimoji="1" lang="en-US" altLang="ja-JP" dirty="0"/>
              <a:t>SFT</a:t>
            </a:r>
            <a:r>
              <a:rPr kumimoji="1" lang="ja-JP" altLang="en-US" dirty="0"/>
              <a:t>による未知の問題への汎化は限定的であり、その性能は学習条件に依存することが示されている</a:t>
            </a:r>
            <a:endParaRPr kumimoji="1" lang="en-US" altLang="ja-JP" dirty="0"/>
          </a:p>
          <a:p>
            <a:endParaRPr kumimoji="1" lang="en-US" altLang="ja-JP" dirty="0"/>
          </a:p>
          <a:p>
            <a:r>
              <a:rPr kumimoji="1" lang="ja-JP" altLang="en-US" dirty="0"/>
              <a:t>しかし、正解率の比較だけでは、モデルが問題解決のどの段階でつまずいているのか分からない</a:t>
            </a:r>
            <a:endParaRPr kumimoji="1" lang="en-US" altLang="ja-JP" dirty="0"/>
          </a:p>
          <a:p>
            <a:endParaRPr kumimoji="1" lang="en-US" altLang="ja-JP" dirty="0"/>
          </a:p>
          <a:p>
            <a:r>
              <a:rPr kumimoji="1" lang="ja-JP" altLang="en-US" dirty="0"/>
              <a:t>また、</a:t>
            </a:r>
            <a:r>
              <a:rPr lang="ja-JP" altLang="en-US" dirty="0"/>
              <a:t>未知の問題</a:t>
            </a:r>
            <a:r>
              <a:rPr kumimoji="1" lang="ja-JP" altLang="en-US" dirty="0"/>
              <a:t>では「何を未知とするか」によって評価される能力が異なる</a:t>
            </a:r>
            <a:endParaRPr kumimoji="1" lang="en-US" altLang="ja-JP" dirty="0"/>
          </a:p>
        </p:txBody>
      </p:sp>
      <p:sp>
        <p:nvSpPr>
          <p:cNvPr id="7" name="スライド番号プレースホルダー 6">
            <a:extLst>
              <a:ext uri="{FF2B5EF4-FFF2-40B4-BE49-F238E27FC236}">
                <a16:creationId xmlns:a16="http://schemas.microsoft.com/office/drawing/2014/main" id="{840381B9-E1D0-E8C8-0E15-866A737B83C4}"/>
              </a:ext>
            </a:extLst>
          </p:cNvPr>
          <p:cNvSpPr>
            <a:spLocks noGrp="1"/>
          </p:cNvSpPr>
          <p:nvPr>
            <p:ph type="sldNum" sz="quarter" idx="12"/>
          </p:nvPr>
        </p:nvSpPr>
        <p:spPr/>
        <p:txBody>
          <a:bodyPr/>
          <a:lstStyle/>
          <a:p>
            <a:fld id="{10649E7B-FC1B-418B-9B6A-00859DB1DEE8}" type="slidenum">
              <a:rPr kumimoji="1" lang="ja-JP" altLang="en-US" smtClean="0"/>
              <a:t>8</a:t>
            </a:fld>
            <a:endParaRPr kumimoji="1" lang="ja-JP" altLang="en-US"/>
          </a:p>
        </p:txBody>
      </p:sp>
    </p:spTree>
    <p:extLst>
      <p:ext uri="{BB962C8B-B14F-4D97-AF65-F5344CB8AC3E}">
        <p14:creationId xmlns:p14="http://schemas.microsoft.com/office/powerpoint/2010/main" val="681277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94C3FE-9FF7-0E63-C193-4232B100FB60}"/>
              </a:ext>
            </a:extLst>
          </p:cNvPr>
          <p:cNvSpPr>
            <a:spLocks noGrp="1"/>
          </p:cNvSpPr>
          <p:nvPr>
            <p:ph type="title"/>
          </p:nvPr>
        </p:nvSpPr>
        <p:spPr/>
        <p:txBody>
          <a:bodyPr/>
          <a:lstStyle/>
          <a:p>
            <a:r>
              <a:rPr lang="ja-JP" altLang="en-US"/>
              <a:t>問題関心</a:t>
            </a:r>
            <a:endParaRPr kumimoji="1" lang="ja-JP" altLang="en-US" dirty="0"/>
          </a:p>
        </p:txBody>
      </p:sp>
      <p:sp>
        <p:nvSpPr>
          <p:cNvPr id="3" name="コンテンツ プレースホルダー 2">
            <a:extLst>
              <a:ext uri="{FF2B5EF4-FFF2-40B4-BE49-F238E27FC236}">
                <a16:creationId xmlns:a16="http://schemas.microsoft.com/office/drawing/2014/main" id="{63F28E97-97A1-FF2F-E803-FC05B850ED40}"/>
              </a:ext>
            </a:extLst>
          </p:cNvPr>
          <p:cNvSpPr>
            <a:spLocks noGrp="1"/>
          </p:cNvSpPr>
          <p:nvPr>
            <p:ph idx="1"/>
          </p:nvPr>
        </p:nvSpPr>
        <p:spPr>
          <a:xfrm>
            <a:off x="838200" y="1690688"/>
            <a:ext cx="10515600" cy="4973999"/>
          </a:xfrm>
        </p:spPr>
        <p:txBody>
          <a:bodyPr>
            <a:normAutofit/>
          </a:bodyPr>
          <a:lstStyle/>
          <a:p>
            <a:r>
              <a:rPr lang="ja-JP" altLang="en-US" dirty="0"/>
              <a:t>本研究では、「何を未知とするか」を明確に設定した問題を用いて、</a:t>
            </a:r>
            <a:r>
              <a:rPr lang="en-US" altLang="ja-JP" dirty="0"/>
              <a:t>SFT</a:t>
            </a:r>
            <a:r>
              <a:rPr lang="ja-JP" altLang="en-US" dirty="0"/>
              <a:t>によって獲得される能力を分析する</a:t>
            </a:r>
            <a:endParaRPr lang="en-US" altLang="ja-JP" dirty="0"/>
          </a:p>
          <a:p>
            <a:r>
              <a:rPr lang="ja-JP" altLang="en-US" dirty="0"/>
              <a:t>特に、既知の要素を新たな組み合わせで利用する能力に着目</a:t>
            </a:r>
            <a:endParaRPr lang="en-US" altLang="ja-JP" dirty="0"/>
          </a:p>
          <a:p>
            <a:pPr lvl="1"/>
            <a:r>
              <a:rPr lang="ja-JP" altLang="en-US" dirty="0"/>
              <a:t>「</a:t>
            </a:r>
            <a:r>
              <a:rPr lang="ja-JP" altLang="ja-JP" dirty="0"/>
              <a:t>既知の単純な処理から、それらを組み合わせた複雑な処理への汎化は、LLMの汎化の重要な側面である</a:t>
            </a:r>
            <a:r>
              <a:rPr lang="ja-JP" altLang="en-US" dirty="0"/>
              <a:t>」</a:t>
            </a:r>
            <a:r>
              <a:rPr lang="en-US" altLang="ja-JP" baseline="30000" dirty="0"/>
              <a:t>6</a:t>
            </a:r>
          </a:p>
          <a:p>
            <a:r>
              <a:rPr lang="ja-JP" altLang="en-US" dirty="0"/>
              <a:t>そこで、個々の処理は学習済みとし、処理の組み合わせのみを未知とする</a:t>
            </a:r>
            <a:endParaRPr lang="en-US" altLang="ja-JP" dirty="0"/>
          </a:p>
          <a:p>
            <a:r>
              <a:rPr lang="en-US" altLang="ja-JP" dirty="0"/>
              <a:t>C</a:t>
            </a:r>
            <a:r>
              <a:rPr lang="ja-JP" altLang="ja-JP" dirty="0"/>
              <a:t>ompositional </a:t>
            </a:r>
            <a:r>
              <a:rPr lang="en-US" altLang="ja-JP" dirty="0"/>
              <a:t>G</a:t>
            </a:r>
            <a:r>
              <a:rPr lang="ja-JP" altLang="ja-JP" dirty="0"/>
              <a:t>eneralization</a:t>
            </a:r>
            <a:endParaRPr lang="en-US" altLang="ja-JP" dirty="0"/>
          </a:p>
          <a:p>
            <a:pPr lvl="1"/>
            <a:r>
              <a:rPr lang="ja-JP" altLang="ja-JP" dirty="0"/>
              <a:t>既知の構成要素を未知の組み合わせで利用する能力</a:t>
            </a:r>
            <a:endParaRPr lang="ja-JP" altLang="en-US" dirty="0"/>
          </a:p>
          <a:p>
            <a:endParaRPr kumimoji="1" lang="ja-JP" altLang="en-US" dirty="0"/>
          </a:p>
        </p:txBody>
      </p:sp>
      <p:sp>
        <p:nvSpPr>
          <p:cNvPr id="7" name="スライド番号プレースホルダー 6">
            <a:extLst>
              <a:ext uri="{FF2B5EF4-FFF2-40B4-BE49-F238E27FC236}">
                <a16:creationId xmlns:a16="http://schemas.microsoft.com/office/drawing/2014/main" id="{C15F63CA-2E0A-92A9-B6CB-9B6B33283112}"/>
              </a:ext>
            </a:extLst>
          </p:cNvPr>
          <p:cNvSpPr>
            <a:spLocks noGrp="1"/>
          </p:cNvSpPr>
          <p:nvPr>
            <p:ph type="sldNum" sz="quarter" idx="12"/>
          </p:nvPr>
        </p:nvSpPr>
        <p:spPr/>
        <p:txBody>
          <a:bodyPr/>
          <a:lstStyle/>
          <a:p>
            <a:fld id="{10649E7B-FC1B-418B-9B6A-00859DB1DEE8}" type="slidenum">
              <a:rPr kumimoji="1" lang="ja-JP" altLang="en-US" smtClean="0"/>
              <a:t>9</a:t>
            </a:fld>
            <a:endParaRPr kumimoji="1" lang="ja-JP" altLang="en-US"/>
          </a:p>
        </p:txBody>
      </p:sp>
      <p:sp>
        <p:nvSpPr>
          <p:cNvPr id="8" name="フッター プレースホルダー 7">
            <a:extLst>
              <a:ext uri="{FF2B5EF4-FFF2-40B4-BE49-F238E27FC236}">
                <a16:creationId xmlns:a16="http://schemas.microsoft.com/office/drawing/2014/main" id="{A2370C04-5D16-8D22-97BE-759091EE577F}"/>
              </a:ext>
            </a:extLst>
          </p:cNvPr>
          <p:cNvSpPr>
            <a:spLocks noGrp="1"/>
          </p:cNvSpPr>
          <p:nvPr>
            <p:ph type="ftr" sz="quarter" idx="11"/>
          </p:nvPr>
        </p:nvSpPr>
        <p:spPr>
          <a:xfrm>
            <a:off x="0" y="6055641"/>
            <a:ext cx="12192000" cy="365125"/>
          </a:xfrm>
        </p:spPr>
        <p:txBody>
          <a:bodyPr/>
          <a:lstStyle/>
          <a:p>
            <a:r>
              <a:rPr lang="en-US" altLang="ja-JP" dirty="0"/>
              <a:t>6</a:t>
            </a:r>
            <a:r>
              <a:rPr kumimoji="1" lang="en-US" altLang="ja-JP" dirty="0"/>
              <a:t>. </a:t>
            </a:r>
            <a:r>
              <a:rPr lang="ja-JP" altLang="ja-JP" dirty="0"/>
              <a:t>Yang, H., Lu, H., Lam, W., &amp; Cai, D. (2024, June). Exploring compositional generalization of large language models. In </a:t>
            </a:r>
            <a:r>
              <a:rPr lang="ja-JP" altLang="ja-JP" i="1" dirty="0"/>
              <a:t>Proceedings of the 2024 Conference of the North American Chapter of the Association for Computational Linguistics: Human Language Technologies (Volume 4: Student Research Workshop)</a:t>
            </a:r>
            <a:r>
              <a:rPr lang="ja-JP" altLang="ja-JP" dirty="0"/>
              <a:t> (pp. 16-24).</a:t>
            </a:r>
            <a:endParaRPr kumimoji="1" lang="ja-JP" altLang="en-US" dirty="0"/>
          </a:p>
        </p:txBody>
      </p:sp>
    </p:spTree>
    <p:extLst>
      <p:ext uri="{BB962C8B-B14F-4D97-AF65-F5344CB8AC3E}">
        <p14:creationId xmlns:p14="http://schemas.microsoft.com/office/powerpoint/2010/main" val="2860176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4F728-2D26-69A4-7107-A2F170611FC0}"/>
              </a:ext>
            </a:extLst>
          </p:cNvPr>
          <p:cNvSpPr>
            <a:spLocks noGrp="1"/>
          </p:cNvSpPr>
          <p:nvPr>
            <p:ph type="title"/>
          </p:nvPr>
        </p:nvSpPr>
        <p:spPr/>
        <p:txBody>
          <a:bodyPr/>
          <a:lstStyle/>
          <a:p>
            <a:r>
              <a:rPr lang="en-US" altLang="ja-JP" dirty="0"/>
              <a:t>C</a:t>
            </a:r>
            <a:r>
              <a:rPr lang="ja-JP" altLang="ja-JP" dirty="0"/>
              <a:t>ompositional </a:t>
            </a:r>
            <a:r>
              <a:rPr lang="en-US" altLang="ja-JP" dirty="0"/>
              <a:t>G</a:t>
            </a:r>
            <a:r>
              <a:rPr lang="ja-JP" altLang="ja-JP" dirty="0"/>
              <a:t>eneralization</a:t>
            </a:r>
            <a:r>
              <a:rPr lang="ja-JP" altLang="en-US" dirty="0"/>
              <a:t>の先行研究</a:t>
            </a:r>
            <a:endParaRPr kumimoji="1" lang="ja-JP" altLang="en-US" dirty="0"/>
          </a:p>
        </p:txBody>
      </p:sp>
      <p:sp>
        <p:nvSpPr>
          <p:cNvPr id="3" name="コンテンツ プレースホルダー 2">
            <a:extLst>
              <a:ext uri="{FF2B5EF4-FFF2-40B4-BE49-F238E27FC236}">
                <a16:creationId xmlns:a16="http://schemas.microsoft.com/office/drawing/2014/main" id="{2911E6D9-D9A3-89D9-A9E8-946C2DED5D31}"/>
              </a:ext>
            </a:extLst>
          </p:cNvPr>
          <p:cNvSpPr>
            <a:spLocks noGrp="1"/>
          </p:cNvSpPr>
          <p:nvPr>
            <p:ph idx="1"/>
          </p:nvPr>
        </p:nvSpPr>
        <p:spPr/>
        <p:txBody>
          <a:bodyPr/>
          <a:lstStyle/>
          <a:p>
            <a:r>
              <a:rPr kumimoji="1" lang="en-US" altLang="ja-JP" dirty="0"/>
              <a:t>Yang et al. (2024)</a:t>
            </a:r>
            <a:r>
              <a:rPr kumimoji="1" lang="en-US" altLang="ja-JP" baseline="30000" dirty="0"/>
              <a:t>6</a:t>
            </a:r>
            <a:r>
              <a:rPr kumimoji="1" lang="ja-JP" altLang="en-US" dirty="0"/>
              <a:t>：複数の単純な指示を組み合わせた複雑な指示への、</a:t>
            </a:r>
            <a:r>
              <a:rPr kumimoji="1" lang="en-US" altLang="ja-JP" dirty="0"/>
              <a:t>LLM</a:t>
            </a:r>
            <a:r>
              <a:rPr kumimoji="1" lang="ja-JP" altLang="en-US" dirty="0"/>
              <a:t>の汎化能力を</a:t>
            </a:r>
            <a:r>
              <a:rPr kumimoji="1" lang="en-US" altLang="ja-JP" dirty="0"/>
              <a:t>SFT</a:t>
            </a:r>
            <a:r>
              <a:rPr kumimoji="1" lang="ja-JP" altLang="en-US" dirty="0"/>
              <a:t>によって検証した研究</a:t>
            </a:r>
            <a:endParaRPr kumimoji="1" lang="en-US" altLang="ja-JP" dirty="0"/>
          </a:p>
          <a:p>
            <a:pPr lvl="1"/>
            <a:r>
              <a:rPr kumimoji="1" lang="en-US" altLang="ja-JP" dirty="0"/>
              <a:t>SFT</a:t>
            </a:r>
            <a:r>
              <a:rPr kumimoji="1" lang="ja-JP" altLang="en-US" dirty="0"/>
              <a:t>による学習によって、学習した単純な指示を組み合わせた複雑な指示への汎化が可能</a:t>
            </a:r>
            <a:endParaRPr kumimoji="1" lang="en-US" altLang="ja-JP" dirty="0"/>
          </a:p>
          <a:p>
            <a:pPr lvl="1"/>
            <a:endParaRPr kumimoji="1" lang="en-US" altLang="ja-JP" dirty="0"/>
          </a:p>
          <a:p>
            <a:r>
              <a:rPr kumimoji="1" lang="en-US" altLang="ja-JP" dirty="0"/>
              <a:t>Hayati et al. (2025)</a:t>
            </a:r>
            <a:r>
              <a:rPr kumimoji="1" lang="en-US" altLang="ja-JP" baseline="30000" dirty="0"/>
              <a:t>7</a:t>
            </a:r>
            <a:r>
              <a:rPr kumimoji="1" lang="ja-JP" altLang="en-US" dirty="0"/>
              <a:t>：複数の処理を組み合わせた問題を</a:t>
            </a:r>
            <a:r>
              <a:rPr kumimoji="1" lang="en-US" altLang="ja-JP" dirty="0"/>
              <a:t>SFT</a:t>
            </a:r>
            <a:r>
              <a:rPr kumimoji="1" lang="ja-JP" altLang="en-US" dirty="0"/>
              <a:t>し、学習時よりも長い処理の組み合わせへの汎化を検証した研究</a:t>
            </a:r>
            <a:endParaRPr kumimoji="1" lang="en-US" altLang="ja-JP" dirty="0"/>
          </a:p>
          <a:p>
            <a:pPr lvl="1"/>
            <a:r>
              <a:rPr kumimoji="1" lang="en-US" altLang="ja-JP" dirty="0"/>
              <a:t>SFT</a:t>
            </a:r>
            <a:r>
              <a:rPr kumimoji="1" lang="ja-JP" altLang="en-US" dirty="0"/>
              <a:t>による学習によって、学習時よりも長い処理の組み合わせへの汎化が可能</a:t>
            </a:r>
          </a:p>
        </p:txBody>
      </p:sp>
      <p:sp>
        <p:nvSpPr>
          <p:cNvPr id="7" name="スライド番号プレースホルダー 6">
            <a:extLst>
              <a:ext uri="{FF2B5EF4-FFF2-40B4-BE49-F238E27FC236}">
                <a16:creationId xmlns:a16="http://schemas.microsoft.com/office/drawing/2014/main" id="{2B1821E7-7C8C-2831-B55A-1D57515001BF}"/>
              </a:ext>
            </a:extLst>
          </p:cNvPr>
          <p:cNvSpPr>
            <a:spLocks noGrp="1"/>
          </p:cNvSpPr>
          <p:nvPr>
            <p:ph type="sldNum" sz="quarter" idx="12"/>
          </p:nvPr>
        </p:nvSpPr>
        <p:spPr/>
        <p:txBody>
          <a:bodyPr/>
          <a:lstStyle/>
          <a:p>
            <a:fld id="{10649E7B-FC1B-418B-9B6A-00859DB1DEE8}" type="slidenum">
              <a:rPr kumimoji="1" lang="ja-JP" altLang="en-US" smtClean="0"/>
              <a:t>10</a:t>
            </a:fld>
            <a:endParaRPr kumimoji="1" lang="ja-JP" altLang="en-US"/>
          </a:p>
        </p:txBody>
      </p:sp>
      <p:sp>
        <p:nvSpPr>
          <p:cNvPr id="8" name="フッター プレースホルダー 7">
            <a:extLst>
              <a:ext uri="{FF2B5EF4-FFF2-40B4-BE49-F238E27FC236}">
                <a16:creationId xmlns:a16="http://schemas.microsoft.com/office/drawing/2014/main" id="{A5405178-DE17-ACF4-EDCB-AF4B078DBF09}"/>
              </a:ext>
            </a:extLst>
          </p:cNvPr>
          <p:cNvSpPr>
            <a:spLocks noGrp="1"/>
          </p:cNvSpPr>
          <p:nvPr>
            <p:ph type="ftr" sz="quarter" idx="11"/>
          </p:nvPr>
        </p:nvSpPr>
        <p:spPr>
          <a:xfrm>
            <a:off x="491836" y="5798128"/>
            <a:ext cx="11208328" cy="923348"/>
          </a:xfrm>
        </p:spPr>
        <p:txBody>
          <a:bodyPr/>
          <a:lstStyle/>
          <a:p>
            <a:r>
              <a:rPr lang="en-US" altLang="ja-JP" dirty="0"/>
              <a:t>7</a:t>
            </a:r>
            <a:r>
              <a:rPr kumimoji="1" lang="en-US" altLang="ja-JP" dirty="0"/>
              <a:t>. </a:t>
            </a:r>
            <a:r>
              <a:rPr lang="ja-JP" altLang="ja-JP" dirty="0"/>
              <a:t>Hayati, S. A., Jung, T., Bodding-Long, T., Kar, S., Sethy, A., Kim, J. K., &amp; Kang, D. (2025, April). Chain-of-instructions: Compositional instruction tuning on large language models. In </a:t>
            </a:r>
            <a:r>
              <a:rPr lang="ja-JP" altLang="ja-JP" i="1" dirty="0"/>
              <a:t>Proceedings of the AAAI Conference on Artificial Intelligence</a:t>
            </a:r>
            <a:r>
              <a:rPr lang="ja-JP" altLang="ja-JP" dirty="0"/>
              <a:t> (Vol. 39, No. 22, pp. 24005-24013).</a:t>
            </a:r>
            <a:endParaRPr kumimoji="1" lang="ja-JP" altLang="en-US" dirty="0"/>
          </a:p>
        </p:txBody>
      </p:sp>
    </p:spTree>
    <p:extLst>
      <p:ext uri="{BB962C8B-B14F-4D97-AF65-F5344CB8AC3E}">
        <p14:creationId xmlns:p14="http://schemas.microsoft.com/office/powerpoint/2010/main" val="2481484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F9F41A-CE18-5F18-591A-BB45A6876FDF}"/>
              </a:ext>
            </a:extLst>
          </p:cNvPr>
          <p:cNvSpPr>
            <a:spLocks noGrp="1"/>
          </p:cNvSpPr>
          <p:nvPr>
            <p:ph type="title"/>
          </p:nvPr>
        </p:nvSpPr>
        <p:spPr/>
        <p:txBody>
          <a:bodyPr/>
          <a:lstStyle/>
          <a:p>
            <a:r>
              <a:rPr kumimoji="1" lang="ja-JP" altLang="en-US" dirty="0"/>
              <a:t>研究目的</a:t>
            </a:r>
          </a:p>
        </p:txBody>
      </p:sp>
      <p:sp>
        <p:nvSpPr>
          <p:cNvPr id="3" name="コンテンツ プレースホルダー 2">
            <a:extLst>
              <a:ext uri="{FF2B5EF4-FFF2-40B4-BE49-F238E27FC236}">
                <a16:creationId xmlns:a16="http://schemas.microsoft.com/office/drawing/2014/main" id="{465C095D-EFF2-D632-7E45-9AAFEB2241B8}"/>
              </a:ext>
            </a:extLst>
          </p:cNvPr>
          <p:cNvSpPr>
            <a:spLocks noGrp="1"/>
          </p:cNvSpPr>
          <p:nvPr>
            <p:ph idx="1"/>
          </p:nvPr>
        </p:nvSpPr>
        <p:spPr/>
        <p:txBody>
          <a:bodyPr/>
          <a:lstStyle/>
          <a:p>
            <a:r>
              <a:rPr kumimoji="1" lang="en-US" altLang="ja-JP" dirty="0"/>
              <a:t>RQ1</a:t>
            </a:r>
            <a:r>
              <a:rPr kumimoji="1" lang="ja-JP" altLang="en-US" dirty="0"/>
              <a:t>：</a:t>
            </a:r>
            <a:r>
              <a:rPr kumimoji="1" lang="en-US" altLang="ja-JP" dirty="0"/>
              <a:t>SFT</a:t>
            </a:r>
            <a:r>
              <a:rPr kumimoji="1" lang="ja-JP" altLang="en-US" dirty="0"/>
              <a:t>によって、既知の処理を新しい組み合わせで適用する問題解決能力は獲得されるのか？</a:t>
            </a:r>
            <a:endParaRPr kumimoji="1" lang="en-US" altLang="ja-JP" dirty="0"/>
          </a:p>
          <a:p>
            <a:endParaRPr kumimoji="1" lang="en-US" altLang="ja-JP" dirty="0"/>
          </a:p>
          <a:p>
            <a:r>
              <a:rPr kumimoji="1" lang="en-US" altLang="ja-JP" dirty="0"/>
              <a:t>RQ2</a:t>
            </a:r>
            <a:r>
              <a:rPr kumimoji="1" lang="ja-JP" altLang="en-US" dirty="0"/>
              <a:t>：</a:t>
            </a:r>
            <a:r>
              <a:rPr kumimoji="1" lang="en-US" altLang="ja-JP" dirty="0"/>
              <a:t>SFT</a:t>
            </a:r>
            <a:r>
              <a:rPr kumimoji="1" lang="ja-JP" altLang="en-US" dirty="0"/>
              <a:t>における教師データの違いは、この能力の獲得にどのような影響を与えるのか？</a:t>
            </a:r>
            <a:endParaRPr kumimoji="1" lang="en-US" altLang="ja-JP" dirty="0"/>
          </a:p>
        </p:txBody>
      </p:sp>
      <p:sp>
        <p:nvSpPr>
          <p:cNvPr id="7" name="スライド番号プレースホルダー 6">
            <a:extLst>
              <a:ext uri="{FF2B5EF4-FFF2-40B4-BE49-F238E27FC236}">
                <a16:creationId xmlns:a16="http://schemas.microsoft.com/office/drawing/2014/main" id="{A95ABCF3-37CD-9944-1EC4-60D6EFC8CF3E}"/>
              </a:ext>
            </a:extLst>
          </p:cNvPr>
          <p:cNvSpPr>
            <a:spLocks noGrp="1"/>
          </p:cNvSpPr>
          <p:nvPr>
            <p:ph type="sldNum" sz="quarter" idx="12"/>
          </p:nvPr>
        </p:nvSpPr>
        <p:spPr/>
        <p:txBody>
          <a:bodyPr/>
          <a:lstStyle/>
          <a:p>
            <a:fld id="{10649E7B-FC1B-418B-9B6A-00859DB1DEE8}" type="slidenum">
              <a:rPr kumimoji="1" lang="ja-JP" altLang="en-US" smtClean="0"/>
              <a:t>11</a:t>
            </a:fld>
            <a:endParaRPr kumimoji="1" lang="ja-JP" altLang="en-US"/>
          </a:p>
        </p:txBody>
      </p:sp>
    </p:spTree>
    <p:extLst>
      <p:ext uri="{BB962C8B-B14F-4D97-AF65-F5344CB8AC3E}">
        <p14:creationId xmlns:p14="http://schemas.microsoft.com/office/powerpoint/2010/main" val="1879858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C706-F151-66C5-6360-899F3CA26F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2948C0-A09B-B3CA-4C95-4CFBD5653C77}"/>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3F89F93E-EDCD-1507-01D7-719895B455B8}"/>
              </a:ext>
            </a:extLst>
          </p:cNvPr>
          <p:cNvSpPr>
            <a:spLocks noGrp="1"/>
          </p:cNvSpPr>
          <p:nvPr>
            <p:ph idx="1"/>
          </p:nvPr>
        </p:nvSpPr>
        <p:spPr/>
        <p:txBody>
          <a:bodyPr/>
          <a:lstStyle/>
          <a:p>
            <a:r>
              <a:rPr kumimoji="1" lang="ja-JP" altLang="en-US" dirty="0"/>
              <a:t>研究背景</a:t>
            </a:r>
            <a:endParaRPr kumimoji="1" lang="en-US" altLang="ja-JP" dirty="0"/>
          </a:p>
          <a:p>
            <a:r>
              <a:rPr lang="ja-JP" altLang="en-US" dirty="0">
                <a:solidFill>
                  <a:srgbClr val="FF0000"/>
                </a:solidFill>
              </a:rPr>
              <a:t>研究方法</a:t>
            </a:r>
            <a:endParaRPr lang="en-US" altLang="ja-JP" dirty="0">
              <a:solidFill>
                <a:srgbClr val="FF0000"/>
              </a:solidFill>
            </a:endParaRPr>
          </a:p>
          <a:p>
            <a:r>
              <a:rPr kumimoji="1" lang="ja-JP" altLang="en-US" dirty="0"/>
              <a:t>問題解決</a:t>
            </a:r>
            <a:r>
              <a:rPr lang="ja-JP" altLang="en-US" dirty="0"/>
              <a:t>能力の評価実験</a:t>
            </a:r>
            <a:endParaRPr lang="en-US" altLang="ja-JP" dirty="0"/>
          </a:p>
          <a:p>
            <a:r>
              <a:rPr kumimoji="1" lang="ja-JP" altLang="en-US" dirty="0"/>
              <a:t>分析と考察</a:t>
            </a:r>
          </a:p>
        </p:txBody>
      </p:sp>
      <p:sp>
        <p:nvSpPr>
          <p:cNvPr id="7" name="スライド番号プレースホルダー 6">
            <a:extLst>
              <a:ext uri="{FF2B5EF4-FFF2-40B4-BE49-F238E27FC236}">
                <a16:creationId xmlns:a16="http://schemas.microsoft.com/office/drawing/2014/main" id="{2729DF3B-155E-F4CB-FFB2-E2D94119F0E7}"/>
              </a:ext>
            </a:extLst>
          </p:cNvPr>
          <p:cNvSpPr>
            <a:spLocks noGrp="1"/>
          </p:cNvSpPr>
          <p:nvPr>
            <p:ph type="sldNum" sz="quarter" idx="12"/>
          </p:nvPr>
        </p:nvSpPr>
        <p:spPr/>
        <p:txBody>
          <a:bodyPr/>
          <a:lstStyle/>
          <a:p>
            <a:fld id="{10649E7B-FC1B-418B-9B6A-00859DB1DEE8}" type="slidenum">
              <a:rPr kumimoji="1" lang="ja-JP" altLang="en-US" smtClean="0"/>
              <a:t>12</a:t>
            </a:fld>
            <a:endParaRPr kumimoji="1" lang="ja-JP" altLang="en-US"/>
          </a:p>
        </p:txBody>
      </p:sp>
    </p:spTree>
    <p:extLst>
      <p:ext uri="{BB962C8B-B14F-4D97-AF65-F5344CB8AC3E}">
        <p14:creationId xmlns:p14="http://schemas.microsoft.com/office/powerpoint/2010/main" val="2969684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E48A5-51DF-1103-CD84-1F3F7F2DDB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E9F082-E720-6B8B-D9D8-A0A29F4E413E}"/>
              </a:ext>
            </a:extLst>
          </p:cNvPr>
          <p:cNvSpPr>
            <a:spLocks noGrp="1"/>
          </p:cNvSpPr>
          <p:nvPr>
            <p:ph type="title"/>
          </p:nvPr>
        </p:nvSpPr>
        <p:spPr/>
        <p:txBody>
          <a:bodyPr/>
          <a:lstStyle/>
          <a:p>
            <a:r>
              <a:rPr kumimoji="1" lang="ja-JP" altLang="en-US" dirty="0"/>
              <a:t>研究方法</a:t>
            </a:r>
          </a:p>
        </p:txBody>
      </p:sp>
      <p:sp>
        <p:nvSpPr>
          <p:cNvPr id="4" name="四角形: 角を丸くする 3">
            <a:extLst>
              <a:ext uri="{FF2B5EF4-FFF2-40B4-BE49-F238E27FC236}">
                <a16:creationId xmlns:a16="http://schemas.microsoft.com/office/drawing/2014/main" id="{F7FDC776-FDFD-E4B6-7B21-0A453E67D7C8}"/>
              </a:ext>
            </a:extLst>
          </p:cNvPr>
          <p:cNvSpPr/>
          <p:nvPr/>
        </p:nvSpPr>
        <p:spPr>
          <a:xfrm>
            <a:off x="838200" y="1920879"/>
            <a:ext cx="3037772" cy="41608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学習データ</a:t>
            </a:r>
            <a:endParaRPr kumimoji="1" lang="en-US" altLang="ja-JP" dirty="0"/>
          </a:p>
          <a:p>
            <a:pPr algn="ctr"/>
            <a:endParaRPr kumimoji="1" lang="en-US" altLang="ja-JP" dirty="0"/>
          </a:p>
          <a:p>
            <a:pPr algn="ctr"/>
            <a:r>
              <a:rPr kumimoji="1" lang="ja-JP" altLang="en-US" dirty="0"/>
              <a:t>問題文と答えのセット</a:t>
            </a:r>
            <a:endParaRPr kumimoji="1" lang="en-US" altLang="ja-JP" dirty="0"/>
          </a:p>
        </p:txBody>
      </p:sp>
      <p:sp>
        <p:nvSpPr>
          <p:cNvPr id="5" name="四角形: 角を丸くする 4">
            <a:extLst>
              <a:ext uri="{FF2B5EF4-FFF2-40B4-BE49-F238E27FC236}">
                <a16:creationId xmlns:a16="http://schemas.microsoft.com/office/drawing/2014/main" id="{A7288DEC-552F-D51A-4FD8-CB7B740D9EAE}"/>
              </a:ext>
            </a:extLst>
          </p:cNvPr>
          <p:cNvSpPr/>
          <p:nvPr/>
        </p:nvSpPr>
        <p:spPr>
          <a:xfrm>
            <a:off x="4603707" y="2915058"/>
            <a:ext cx="2984585" cy="217246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dirty="0"/>
              <a:t>LLM</a:t>
            </a:r>
            <a:br>
              <a:rPr kumimoji="1" lang="en-US" altLang="ja-JP" dirty="0"/>
            </a:br>
            <a:r>
              <a:rPr kumimoji="1" lang="ja-JP" altLang="en-US" dirty="0"/>
              <a:t>（事前学習済みモデル）</a:t>
            </a:r>
          </a:p>
        </p:txBody>
      </p:sp>
      <p:sp>
        <p:nvSpPr>
          <p:cNvPr id="6" name="四角形: 角を丸くする 5">
            <a:extLst>
              <a:ext uri="{FF2B5EF4-FFF2-40B4-BE49-F238E27FC236}">
                <a16:creationId xmlns:a16="http://schemas.microsoft.com/office/drawing/2014/main" id="{4608D463-A703-9549-F869-917F5D091DB0}"/>
              </a:ext>
            </a:extLst>
          </p:cNvPr>
          <p:cNvSpPr/>
          <p:nvPr/>
        </p:nvSpPr>
        <p:spPr>
          <a:xfrm>
            <a:off x="8316028" y="1920879"/>
            <a:ext cx="3037772" cy="416082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dirty="0"/>
              <a:t>テスト用のデータ</a:t>
            </a:r>
            <a:endParaRPr lang="en-US" altLang="ja-JP" dirty="0"/>
          </a:p>
          <a:p>
            <a:endParaRPr lang="en-US" altLang="ja-JP" dirty="0"/>
          </a:p>
          <a:p>
            <a:pPr algn="ctr"/>
            <a:r>
              <a:rPr kumimoji="1" lang="ja-JP" altLang="en-US" dirty="0"/>
              <a:t>モデルの出力と</a:t>
            </a:r>
            <a:endParaRPr kumimoji="1" lang="en-US" altLang="ja-JP" dirty="0"/>
          </a:p>
          <a:p>
            <a:pPr algn="ctr"/>
            <a:r>
              <a:rPr kumimoji="1" lang="ja-JP" altLang="en-US" dirty="0"/>
              <a:t>答え合わせする</a:t>
            </a:r>
          </a:p>
        </p:txBody>
      </p:sp>
      <p:sp>
        <p:nvSpPr>
          <p:cNvPr id="7" name="矢印: 右 6">
            <a:extLst>
              <a:ext uri="{FF2B5EF4-FFF2-40B4-BE49-F238E27FC236}">
                <a16:creationId xmlns:a16="http://schemas.microsoft.com/office/drawing/2014/main" id="{BC9374AF-6B6A-0138-23DE-A69334A25228}"/>
              </a:ext>
            </a:extLst>
          </p:cNvPr>
          <p:cNvSpPr/>
          <p:nvPr/>
        </p:nvSpPr>
        <p:spPr>
          <a:xfrm>
            <a:off x="4068773" y="3939898"/>
            <a:ext cx="374352" cy="3313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5BEE9FC5-3C61-1AE4-8F90-ECF171AE5471}"/>
              </a:ext>
            </a:extLst>
          </p:cNvPr>
          <p:cNvSpPr/>
          <p:nvPr/>
        </p:nvSpPr>
        <p:spPr>
          <a:xfrm>
            <a:off x="7748874" y="3939898"/>
            <a:ext cx="374352" cy="3313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10">
            <a:extLst>
              <a:ext uri="{FF2B5EF4-FFF2-40B4-BE49-F238E27FC236}">
                <a16:creationId xmlns:a16="http://schemas.microsoft.com/office/drawing/2014/main" id="{E0E3275A-AE5D-09BB-0752-49B39B2F21EE}"/>
              </a:ext>
            </a:extLst>
          </p:cNvPr>
          <p:cNvSpPr>
            <a:spLocks noGrp="1"/>
          </p:cNvSpPr>
          <p:nvPr>
            <p:ph type="sldNum" sz="quarter" idx="12"/>
          </p:nvPr>
        </p:nvSpPr>
        <p:spPr/>
        <p:txBody>
          <a:bodyPr/>
          <a:lstStyle/>
          <a:p>
            <a:fld id="{10649E7B-FC1B-418B-9B6A-00859DB1DEE8}" type="slidenum">
              <a:rPr kumimoji="1" lang="ja-JP" altLang="en-US" smtClean="0"/>
              <a:t>13</a:t>
            </a:fld>
            <a:endParaRPr kumimoji="1" lang="ja-JP" altLang="en-US"/>
          </a:p>
        </p:txBody>
      </p:sp>
    </p:spTree>
    <p:extLst>
      <p:ext uri="{BB962C8B-B14F-4D97-AF65-F5344CB8AC3E}">
        <p14:creationId xmlns:p14="http://schemas.microsoft.com/office/powerpoint/2010/main" val="259032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159078-9777-B9BE-B85D-6D6A24A8EE8A}"/>
              </a:ext>
            </a:extLst>
          </p:cNvPr>
          <p:cNvSpPr>
            <a:spLocks noGrp="1"/>
          </p:cNvSpPr>
          <p:nvPr>
            <p:ph type="title"/>
          </p:nvPr>
        </p:nvSpPr>
        <p:spPr>
          <a:xfrm>
            <a:off x="838200" y="0"/>
            <a:ext cx="5181600" cy="1325563"/>
          </a:xfrm>
        </p:spPr>
        <p:txBody>
          <a:bodyPr/>
          <a:lstStyle/>
          <a:p>
            <a:r>
              <a:rPr lang="ja-JP" altLang="en-US" dirty="0"/>
              <a:t>問題</a:t>
            </a:r>
            <a:endParaRPr kumimoji="1" lang="ja-JP" altLang="en-US" dirty="0"/>
          </a:p>
        </p:txBody>
      </p:sp>
      <p:sp>
        <p:nvSpPr>
          <p:cNvPr id="3" name="コンテンツ プレースホルダー 2">
            <a:extLst>
              <a:ext uri="{FF2B5EF4-FFF2-40B4-BE49-F238E27FC236}">
                <a16:creationId xmlns:a16="http://schemas.microsoft.com/office/drawing/2014/main" id="{F22A9014-66C6-931E-E737-0DA1AD96F0E1}"/>
              </a:ext>
            </a:extLst>
          </p:cNvPr>
          <p:cNvSpPr>
            <a:spLocks noGrp="1"/>
          </p:cNvSpPr>
          <p:nvPr>
            <p:ph sz="half" idx="1"/>
          </p:nvPr>
        </p:nvSpPr>
        <p:spPr>
          <a:xfrm>
            <a:off x="838200" y="1037139"/>
            <a:ext cx="5181600" cy="5820862"/>
          </a:xfrm>
        </p:spPr>
        <p:txBody>
          <a:bodyPr>
            <a:normAutofit fontScale="55000" lnSpcReduction="20000"/>
          </a:bodyPr>
          <a:lstStyle/>
          <a:p>
            <a:pPr marL="0" indent="0">
              <a:buNone/>
            </a:pPr>
            <a:r>
              <a:rPr lang="en-US" altLang="ja-JP" dirty="0"/>
              <a:t>Infer the transformation rule from examples.</a:t>
            </a:r>
          </a:p>
          <a:p>
            <a:pPr marL="0" indent="0">
              <a:buNone/>
            </a:pPr>
            <a:r>
              <a:rPr lang="en-US" altLang="ja-JP" dirty="0"/>
              <a:t>Output the final array.        </a:t>
            </a:r>
          </a:p>
          <a:p>
            <a:pPr marL="0" indent="0">
              <a:buNone/>
            </a:pPr>
            <a:endParaRPr lang="en-US" altLang="ja-JP" dirty="0"/>
          </a:p>
          <a:p>
            <a:pPr marL="0" indent="0">
              <a:buNone/>
            </a:pPr>
            <a:r>
              <a:rPr lang="en-US" altLang="ja-JP" dirty="0"/>
              <a:t>Example 1</a:t>
            </a:r>
          </a:p>
          <a:p>
            <a:pPr marL="0" indent="0">
              <a:buNone/>
            </a:pPr>
            <a:r>
              <a:rPr lang="en-US" altLang="ja-JP" dirty="0"/>
              <a:t>Input:</a:t>
            </a:r>
          </a:p>
          <a:p>
            <a:pPr marL="0" indent="0">
              <a:buNone/>
            </a:pPr>
            <a:r>
              <a:rPr lang="en-US" altLang="ja-JP" dirty="0"/>
              <a:t>[1, 0, 4, 3, 3, 2, 1, 8, 1, 9]</a:t>
            </a:r>
          </a:p>
          <a:p>
            <a:pPr marL="0" indent="0">
              <a:buNone/>
            </a:pPr>
            <a:r>
              <a:rPr lang="en-US" altLang="ja-JP" dirty="0"/>
              <a:t>Output:</a:t>
            </a:r>
          </a:p>
          <a:p>
            <a:pPr marL="0" indent="0">
              <a:buNone/>
            </a:pPr>
            <a:r>
              <a:rPr lang="en-US" altLang="ja-JP" dirty="0"/>
              <a:t>[9, 1, 8, 1, 2, 3, 3, 4, 0, 1]</a:t>
            </a:r>
          </a:p>
          <a:p>
            <a:pPr marL="0" indent="0">
              <a:buNone/>
            </a:pPr>
            <a:endParaRPr lang="en-US" altLang="ja-JP" dirty="0"/>
          </a:p>
          <a:p>
            <a:pPr marL="0" indent="0">
              <a:buNone/>
            </a:pPr>
            <a:r>
              <a:rPr lang="en-US" altLang="ja-JP" dirty="0"/>
              <a:t>Example 2</a:t>
            </a:r>
          </a:p>
          <a:p>
            <a:pPr marL="0" indent="0">
              <a:buNone/>
            </a:pPr>
            <a:r>
              <a:rPr lang="en-US" altLang="ja-JP" dirty="0"/>
              <a:t>Input:</a:t>
            </a:r>
          </a:p>
          <a:p>
            <a:pPr marL="0" indent="0">
              <a:buNone/>
            </a:pPr>
            <a:r>
              <a:rPr lang="en-US" altLang="ja-JP" dirty="0"/>
              <a:t>[0, 0, 1, 3, 3, 8, 9, 0]</a:t>
            </a:r>
          </a:p>
          <a:p>
            <a:pPr marL="0" indent="0">
              <a:buNone/>
            </a:pPr>
            <a:r>
              <a:rPr lang="en-US" altLang="ja-JP" dirty="0"/>
              <a:t>Output:</a:t>
            </a:r>
          </a:p>
          <a:p>
            <a:pPr marL="0" indent="0">
              <a:buNone/>
            </a:pPr>
            <a:r>
              <a:rPr lang="en-US" altLang="ja-JP" dirty="0"/>
              <a:t>[0, 9, 8, 3, 3, 1, 0, 0]</a:t>
            </a:r>
          </a:p>
          <a:p>
            <a:pPr marL="0" indent="0">
              <a:buNone/>
            </a:pPr>
            <a:endParaRPr lang="en-US" altLang="ja-JP" dirty="0"/>
          </a:p>
          <a:p>
            <a:pPr marL="0" indent="0">
              <a:buNone/>
            </a:pPr>
            <a:r>
              <a:rPr lang="en-US" altLang="ja-JP" dirty="0"/>
              <a:t>Query</a:t>
            </a:r>
          </a:p>
          <a:p>
            <a:pPr marL="0" indent="0">
              <a:buNone/>
            </a:pPr>
            <a:r>
              <a:rPr lang="en-US" altLang="ja-JP" dirty="0"/>
              <a:t>Input:</a:t>
            </a:r>
          </a:p>
          <a:p>
            <a:pPr marL="0" indent="0">
              <a:buNone/>
            </a:pPr>
            <a:r>
              <a:rPr lang="en-US" altLang="ja-JP" dirty="0"/>
              <a:t>[1, 8, 4, 9, 5, 9, 3, 1]</a:t>
            </a:r>
          </a:p>
          <a:p>
            <a:pPr marL="0" indent="0">
              <a:buNone/>
            </a:pPr>
            <a:r>
              <a:rPr lang="en-US" altLang="ja-JP" dirty="0"/>
              <a:t>Output:</a:t>
            </a:r>
            <a:endParaRPr lang="ja-JP" altLang="en-US" dirty="0"/>
          </a:p>
          <a:p>
            <a:endParaRPr kumimoji="1" lang="ja-JP" altLang="en-US" dirty="0"/>
          </a:p>
        </p:txBody>
      </p:sp>
      <p:sp>
        <p:nvSpPr>
          <p:cNvPr id="4" name="コンテンツ プレースホルダー 3">
            <a:extLst>
              <a:ext uri="{FF2B5EF4-FFF2-40B4-BE49-F238E27FC236}">
                <a16:creationId xmlns:a16="http://schemas.microsoft.com/office/drawing/2014/main" id="{24ED5CC6-E2E2-3D6E-55BB-7ACFC48074F9}"/>
              </a:ext>
            </a:extLst>
          </p:cNvPr>
          <p:cNvSpPr>
            <a:spLocks noGrp="1"/>
          </p:cNvSpPr>
          <p:nvPr>
            <p:ph sz="half" idx="2"/>
          </p:nvPr>
        </p:nvSpPr>
        <p:spPr/>
        <p:txBody>
          <a:bodyPr>
            <a:normAutofit fontScale="55000" lnSpcReduction="20000"/>
          </a:bodyPr>
          <a:lstStyle/>
          <a:p>
            <a:pPr marL="0" indent="0" algn="ctr">
              <a:buNone/>
            </a:pPr>
            <a:endParaRPr lang="en-US" altLang="ja-JP" dirty="0"/>
          </a:p>
          <a:p>
            <a:pPr marL="0" indent="0" algn="ctr">
              <a:buNone/>
            </a:pPr>
            <a:endParaRPr lang="en-US" altLang="ja-JP" dirty="0"/>
          </a:p>
          <a:p>
            <a:pPr marL="0" indent="0" algn="ctr">
              <a:buNone/>
            </a:pPr>
            <a:endParaRPr lang="en-US" altLang="ja-JP" dirty="0"/>
          </a:p>
          <a:p>
            <a:pPr marL="0" indent="0" algn="ctr">
              <a:buNone/>
            </a:pPr>
            <a:endParaRPr lang="en-US" altLang="ja-JP" dirty="0"/>
          </a:p>
          <a:p>
            <a:pPr marL="0" indent="0" algn="ctr">
              <a:buNone/>
            </a:pPr>
            <a:endParaRPr lang="en-US" altLang="ja-JP" dirty="0"/>
          </a:p>
          <a:p>
            <a:pPr marL="0" indent="0" algn="ctr">
              <a:buNone/>
            </a:pPr>
            <a:endParaRPr lang="en-US" altLang="ja-JP" dirty="0"/>
          </a:p>
          <a:p>
            <a:pPr marL="0" indent="0" algn="ctr">
              <a:buNone/>
            </a:pPr>
            <a:endParaRPr lang="en-US" altLang="ja-JP" dirty="0"/>
          </a:p>
          <a:p>
            <a:pPr marL="0" indent="0" algn="ctr">
              <a:buNone/>
            </a:pPr>
            <a:r>
              <a:rPr lang="en-US" altLang="ja-JP" dirty="0"/>
              <a:t>[1, 3, 9, 5, 9, 4, 8, 1]</a:t>
            </a:r>
            <a:endParaRPr kumimoji="1" lang="ja-JP" altLang="en-US" dirty="0"/>
          </a:p>
        </p:txBody>
      </p:sp>
      <p:sp>
        <p:nvSpPr>
          <p:cNvPr id="5" name="タイトル 1">
            <a:extLst>
              <a:ext uri="{FF2B5EF4-FFF2-40B4-BE49-F238E27FC236}">
                <a16:creationId xmlns:a16="http://schemas.microsoft.com/office/drawing/2014/main" id="{C6332D2D-80E8-0A8C-7E50-7908C9D64052}"/>
              </a:ext>
            </a:extLst>
          </p:cNvPr>
          <p:cNvSpPr txBox="1">
            <a:spLocks/>
          </p:cNvSpPr>
          <p:nvPr/>
        </p:nvSpPr>
        <p:spPr>
          <a:xfrm>
            <a:off x="6096000" y="-1"/>
            <a:ext cx="5181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dirty="0"/>
              <a:t>正解</a:t>
            </a:r>
          </a:p>
        </p:txBody>
      </p:sp>
      <p:sp>
        <p:nvSpPr>
          <p:cNvPr id="6" name="四角形: 角を丸くする 5">
            <a:extLst>
              <a:ext uri="{FF2B5EF4-FFF2-40B4-BE49-F238E27FC236}">
                <a16:creationId xmlns:a16="http://schemas.microsoft.com/office/drawing/2014/main" id="{5338B3B1-66F1-3BCE-532F-283855FA6EA4}"/>
              </a:ext>
            </a:extLst>
          </p:cNvPr>
          <p:cNvSpPr/>
          <p:nvPr/>
        </p:nvSpPr>
        <p:spPr>
          <a:xfrm>
            <a:off x="533911" y="865306"/>
            <a:ext cx="5124323" cy="57564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0344297-29CE-0E05-618B-09F2B9153E7B}"/>
              </a:ext>
            </a:extLst>
          </p:cNvPr>
          <p:cNvSpPr/>
          <p:nvPr/>
        </p:nvSpPr>
        <p:spPr>
          <a:xfrm>
            <a:off x="7536129" y="3429000"/>
            <a:ext cx="2442491" cy="1050946"/>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a:p>
        </p:txBody>
      </p:sp>
      <p:sp>
        <p:nvSpPr>
          <p:cNvPr id="11" name="スライド番号プレースホルダー 10">
            <a:extLst>
              <a:ext uri="{FF2B5EF4-FFF2-40B4-BE49-F238E27FC236}">
                <a16:creationId xmlns:a16="http://schemas.microsoft.com/office/drawing/2014/main" id="{C1144DF9-FE90-6675-B8E5-CA11C506E70F}"/>
              </a:ext>
            </a:extLst>
          </p:cNvPr>
          <p:cNvSpPr>
            <a:spLocks noGrp="1"/>
          </p:cNvSpPr>
          <p:nvPr>
            <p:ph type="sldNum" sz="quarter" idx="12"/>
          </p:nvPr>
        </p:nvSpPr>
        <p:spPr/>
        <p:txBody>
          <a:bodyPr/>
          <a:lstStyle/>
          <a:p>
            <a:fld id="{10649E7B-FC1B-418B-9B6A-00859DB1DEE8}" type="slidenum">
              <a:rPr kumimoji="1" lang="ja-JP" altLang="en-US" smtClean="0"/>
              <a:t>14</a:t>
            </a:fld>
            <a:endParaRPr kumimoji="1" lang="ja-JP" altLang="en-US"/>
          </a:p>
        </p:txBody>
      </p:sp>
    </p:spTree>
    <p:extLst>
      <p:ext uri="{BB962C8B-B14F-4D97-AF65-F5344CB8AC3E}">
        <p14:creationId xmlns:p14="http://schemas.microsoft.com/office/powerpoint/2010/main" val="2938551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3D6291-311D-07BF-081B-C1426265B489}"/>
              </a:ext>
            </a:extLst>
          </p:cNvPr>
          <p:cNvSpPr>
            <a:spLocks noGrp="1"/>
          </p:cNvSpPr>
          <p:nvPr>
            <p:ph type="title"/>
          </p:nvPr>
        </p:nvSpPr>
        <p:spPr/>
        <p:txBody>
          <a:bodyPr/>
          <a:lstStyle/>
          <a:p>
            <a:r>
              <a:rPr kumimoji="1" lang="ja-JP" altLang="en-US" dirty="0"/>
              <a:t>仕組み</a:t>
            </a:r>
          </a:p>
        </p:txBody>
      </p:sp>
      <p:sp>
        <p:nvSpPr>
          <p:cNvPr id="4" name="四角形: 角を丸くする 3">
            <a:extLst>
              <a:ext uri="{FF2B5EF4-FFF2-40B4-BE49-F238E27FC236}">
                <a16:creationId xmlns:a16="http://schemas.microsoft.com/office/drawing/2014/main" id="{2EB4B975-79F6-253E-CC70-63033A61F435}"/>
              </a:ext>
            </a:extLst>
          </p:cNvPr>
          <p:cNvSpPr/>
          <p:nvPr/>
        </p:nvSpPr>
        <p:spPr>
          <a:xfrm>
            <a:off x="3485766" y="147286"/>
            <a:ext cx="5302293" cy="647444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dirty="0"/>
              <a:t>Infer the transformation rule from examples.</a:t>
            </a:r>
          </a:p>
          <a:p>
            <a:r>
              <a:rPr lang="en-US" altLang="ja-JP" dirty="0"/>
              <a:t>Output the final array.        </a:t>
            </a:r>
          </a:p>
          <a:p>
            <a:endParaRPr lang="en-US" altLang="ja-JP" dirty="0"/>
          </a:p>
          <a:p>
            <a:r>
              <a:rPr lang="en-US" altLang="ja-JP" dirty="0"/>
              <a:t>Example 1</a:t>
            </a:r>
          </a:p>
          <a:p>
            <a:r>
              <a:rPr lang="en-US" altLang="ja-JP" dirty="0"/>
              <a:t>Input:</a:t>
            </a:r>
          </a:p>
          <a:p>
            <a:r>
              <a:rPr lang="en-US" altLang="ja-JP" dirty="0"/>
              <a:t>[1, 0, 4, 3, 3, 2, 1, 8, 1, 9]</a:t>
            </a:r>
          </a:p>
          <a:p>
            <a:r>
              <a:rPr lang="en-US" altLang="ja-JP" dirty="0"/>
              <a:t>Output:</a:t>
            </a:r>
          </a:p>
          <a:p>
            <a:r>
              <a:rPr lang="en-US" altLang="ja-JP" dirty="0"/>
              <a:t>[9, 1, 8, 1, 2, 3, 3, 4, 0, 1]</a:t>
            </a:r>
          </a:p>
          <a:p>
            <a:endParaRPr lang="en-US" altLang="ja-JP" dirty="0"/>
          </a:p>
          <a:p>
            <a:r>
              <a:rPr lang="en-US" altLang="ja-JP" dirty="0"/>
              <a:t>Example 2</a:t>
            </a:r>
          </a:p>
          <a:p>
            <a:r>
              <a:rPr lang="en-US" altLang="ja-JP" dirty="0"/>
              <a:t>Input:</a:t>
            </a:r>
          </a:p>
          <a:p>
            <a:r>
              <a:rPr lang="en-US" altLang="ja-JP" dirty="0"/>
              <a:t>[0, 0, 1, 3, 3, 8, 9, 0]</a:t>
            </a:r>
          </a:p>
          <a:p>
            <a:r>
              <a:rPr lang="en-US" altLang="ja-JP" dirty="0"/>
              <a:t>Output:</a:t>
            </a:r>
          </a:p>
          <a:p>
            <a:r>
              <a:rPr lang="en-US" altLang="ja-JP" dirty="0"/>
              <a:t>[0, 9, 8, 3, 3, 1, 0, 0]</a:t>
            </a:r>
          </a:p>
          <a:p>
            <a:endParaRPr lang="en-US" altLang="ja-JP" dirty="0"/>
          </a:p>
          <a:p>
            <a:r>
              <a:rPr lang="en-US" altLang="ja-JP" dirty="0"/>
              <a:t>Query</a:t>
            </a:r>
          </a:p>
          <a:p>
            <a:r>
              <a:rPr lang="en-US" altLang="ja-JP" dirty="0"/>
              <a:t>Input:</a:t>
            </a:r>
          </a:p>
          <a:p>
            <a:r>
              <a:rPr lang="en-US" altLang="ja-JP" dirty="0"/>
              <a:t>[1, 8, 4, 9, 5, 9, 3, 1]</a:t>
            </a:r>
          </a:p>
          <a:p>
            <a:r>
              <a:rPr lang="en-US" altLang="ja-JP" dirty="0"/>
              <a:t>Output:</a:t>
            </a:r>
            <a:endParaRPr lang="ja-JP" altLang="en-US" dirty="0"/>
          </a:p>
          <a:p>
            <a:r>
              <a:rPr lang="en-US" altLang="ja-JP" dirty="0"/>
              <a:t>[1, 3, 9, 5, 9, 4, 8, 1]</a:t>
            </a:r>
            <a:endParaRPr lang="ja-JP" altLang="en-US" dirty="0"/>
          </a:p>
          <a:p>
            <a:pPr algn="ctr"/>
            <a:endParaRPr kumimoji="1" lang="ja-JP" altLang="en-US" dirty="0"/>
          </a:p>
        </p:txBody>
      </p:sp>
      <p:sp>
        <p:nvSpPr>
          <p:cNvPr id="5" name="矢印: 左カーブ 4">
            <a:extLst>
              <a:ext uri="{FF2B5EF4-FFF2-40B4-BE49-F238E27FC236}">
                <a16:creationId xmlns:a16="http://schemas.microsoft.com/office/drawing/2014/main" id="{3175BB34-C118-2EC4-30F5-22D33BFC6CD8}"/>
              </a:ext>
            </a:extLst>
          </p:cNvPr>
          <p:cNvSpPr/>
          <p:nvPr/>
        </p:nvSpPr>
        <p:spPr>
          <a:xfrm>
            <a:off x="6505128" y="2233836"/>
            <a:ext cx="362077" cy="49709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矢印: 左カーブ 6">
            <a:extLst>
              <a:ext uri="{FF2B5EF4-FFF2-40B4-BE49-F238E27FC236}">
                <a16:creationId xmlns:a16="http://schemas.microsoft.com/office/drawing/2014/main" id="{39E13BFF-6AED-FE84-CE76-479D4CA99904}"/>
              </a:ext>
            </a:extLst>
          </p:cNvPr>
          <p:cNvSpPr/>
          <p:nvPr/>
        </p:nvSpPr>
        <p:spPr>
          <a:xfrm>
            <a:off x="5955873" y="3779315"/>
            <a:ext cx="362077" cy="49709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矢印: 左カーブ 8">
            <a:extLst>
              <a:ext uri="{FF2B5EF4-FFF2-40B4-BE49-F238E27FC236}">
                <a16:creationId xmlns:a16="http://schemas.microsoft.com/office/drawing/2014/main" id="{E4A9C987-E5C2-5488-211D-E1793284FD6D}"/>
              </a:ext>
            </a:extLst>
          </p:cNvPr>
          <p:cNvSpPr/>
          <p:nvPr/>
        </p:nvSpPr>
        <p:spPr>
          <a:xfrm>
            <a:off x="5955872" y="5478217"/>
            <a:ext cx="362077" cy="49709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テキスト ボックス 9">
            <a:extLst>
              <a:ext uri="{FF2B5EF4-FFF2-40B4-BE49-F238E27FC236}">
                <a16:creationId xmlns:a16="http://schemas.microsoft.com/office/drawing/2014/main" id="{AD407649-AC4E-716B-0BE8-B2A0F4D7A601}"/>
              </a:ext>
            </a:extLst>
          </p:cNvPr>
          <p:cNvSpPr txBox="1"/>
          <p:nvPr/>
        </p:nvSpPr>
        <p:spPr>
          <a:xfrm>
            <a:off x="6916301" y="2159215"/>
            <a:ext cx="1350121" cy="646331"/>
          </a:xfrm>
          <a:prstGeom prst="rect">
            <a:avLst/>
          </a:prstGeom>
          <a:noFill/>
        </p:spPr>
        <p:txBody>
          <a:bodyPr wrap="square" rtlCol="0">
            <a:spAutoFit/>
          </a:bodyPr>
          <a:lstStyle/>
          <a:p>
            <a:r>
              <a:rPr kumimoji="1" lang="ja-JP" altLang="en-US" dirty="0"/>
              <a:t>順番を逆にするだけ</a:t>
            </a:r>
          </a:p>
        </p:txBody>
      </p:sp>
      <p:sp>
        <p:nvSpPr>
          <p:cNvPr id="11" name="テキスト ボックス 10">
            <a:extLst>
              <a:ext uri="{FF2B5EF4-FFF2-40B4-BE49-F238E27FC236}">
                <a16:creationId xmlns:a16="http://schemas.microsoft.com/office/drawing/2014/main" id="{F196734B-EA22-1139-9F59-2D5A8376FAFF}"/>
              </a:ext>
            </a:extLst>
          </p:cNvPr>
          <p:cNvSpPr txBox="1"/>
          <p:nvPr/>
        </p:nvSpPr>
        <p:spPr>
          <a:xfrm>
            <a:off x="1023586" y="5652141"/>
            <a:ext cx="2276795" cy="646331"/>
          </a:xfrm>
          <a:prstGeom prst="rect">
            <a:avLst/>
          </a:prstGeom>
          <a:noFill/>
        </p:spPr>
        <p:txBody>
          <a:bodyPr wrap="square" rtlCol="0">
            <a:spAutoFit/>
          </a:bodyPr>
          <a:lstStyle/>
          <a:p>
            <a:r>
              <a:rPr kumimoji="1" lang="en-US" altLang="ja-JP" dirty="0"/>
              <a:t>※</a:t>
            </a:r>
            <a:r>
              <a:rPr kumimoji="1" lang="ja-JP" altLang="en-US" dirty="0"/>
              <a:t>実際は５つの例を使います</a:t>
            </a:r>
          </a:p>
        </p:txBody>
      </p:sp>
      <p:sp>
        <p:nvSpPr>
          <p:cNvPr id="12" name="スライド番号プレースホルダー 11">
            <a:extLst>
              <a:ext uri="{FF2B5EF4-FFF2-40B4-BE49-F238E27FC236}">
                <a16:creationId xmlns:a16="http://schemas.microsoft.com/office/drawing/2014/main" id="{3771BADB-5335-E51D-48A8-03D3623986BF}"/>
              </a:ext>
            </a:extLst>
          </p:cNvPr>
          <p:cNvSpPr>
            <a:spLocks noGrp="1"/>
          </p:cNvSpPr>
          <p:nvPr>
            <p:ph type="sldNum" sz="quarter" idx="12"/>
          </p:nvPr>
        </p:nvSpPr>
        <p:spPr/>
        <p:txBody>
          <a:bodyPr/>
          <a:lstStyle/>
          <a:p>
            <a:fld id="{10649E7B-FC1B-418B-9B6A-00859DB1DEE8}" type="slidenum">
              <a:rPr kumimoji="1" lang="ja-JP" altLang="en-US" smtClean="0"/>
              <a:t>15</a:t>
            </a:fld>
            <a:endParaRPr kumimoji="1" lang="ja-JP" altLang="en-US"/>
          </a:p>
        </p:txBody>
      </p:sp>
    </p:spTree>
    <p:extLst>
      <p:ext uri="{BB962C8B-B14F-4D97-AF65-F5344CB8AC3E}">
        <p14:creationId xmlns:p14="http://schemas.microsoft.com/office/powerpoint/2010/main" val="3562838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CC8AAF-7604-12E7-DBED-A8AA0EF9AEA0}"/>
              </a:ext>
            </a:extLst>
          </p:cNvPr>
          <p:cNvSpPr>
            <a:spLocks noGrp="1"/>
          </p:cNvSpPr>
          <p:nvPr>
            <p:ph type="title"/>
          </p:nvPr>
        </p:nvSpPr>
        <p:spPr/>
        <p:txBody>
          <a:bodyPr/>
          <a:lstStyle/>
          <a:p>
            <a:r>
              <a:rPr kumimoji="1" lang="ja-JP" altLang="en-US" dirty="0"/>
              <a:t>研究方法</a:t>
            </a:r>
          </a:p>
        </p:txBody>
      </p:sp>
      <p:sp>
        <p:nvSpPr>
          <p:cNvPr id="3" name="コンテンツ プレースホルダー 2">
            <a:extLst>
              <a:ext uri="{FF2B5EF4-FFF2-40B4-BE49-F238E27FC236}">
                <a16:creationId xmlns:a16="http://schemas.microsoft.com/office/drawing/2014/main" id="{517FACB3-A2E9-BE9D-58F6-CAA1767CCA75}"/>
              </a:ext>
            </a:extLst>
          </p:cNvPr>
          <p:cNvSpPr>
            <a:spLocks noGrp="1"/>
          </p:cNvSpPr>
          <p:nvPr>
            <p:ph idx="1"/>
          </p:nvPr>
        </p:nvSpPr>
        <p:spPr/>
        <p:txBody>
          <a:bodyPr>
            <a:normAutofit fontScale="92500" lnSpcReduction="10000"/>
          </a:bodyPr>
          <a:lstStyle/>
          <a:p>
            <a:r>
              <a:rPr lang="ja-JP" altLang="en-US" dirty="0"/>
              <a:t>前述</a:t>
            </a:r>
            <a:r>
              <a:rPr kumimoji="1" lang="ja-JP" altLang="en-US" dirty="0"/>
              <a:t>のような簡単な処理を２０種類用意</a:t>
            </a:r>
            <a:endParaRPr kumimoji="1" lang="en-US" altLang="ja-JP" dirty="0"/>
          </a:p>
          <a:p>
            <a:endParaRPr kumimoji="1" lang="en-US" altLang="ja-JP" dirty="0"/>
          </a:p>
          <a:p>
            <a:r>
              <a:rPr lang="ja-JP" altLang="en-US" dirty="0"/>
              <a:t>問題を作るときは、簡単な処理単体とそれらのうち</a:t>
            </a:r>
            <a:r>
              <a:rPr lang="en-US" altLang="ja-JP" dirty="0"/>
              <a:t>2</a:t>
            </a:r>
            <a:r>
              <a:rPr lang="ja-JP" altLang="en-US" dirty="0"/>
              <a:t>つをくみあわせたもの</a:t>
            </a:r>
            <a:endParaRPr lang="en-US" altLang="ja-JP" dirty="0"/>
          </a:p>
          <a:p>
            <a:pPr lvl="1"/>
            <a:r>
              <a:rPr lang="en-US" altLang="ja-JP" dirty="0"/>
              <a:t>2</a:t>
            </a:r>
            <a:r>
              <a:rPr lang="ja-JP" altLang="en-US" dirty="0"/>
              <a:t>つの処理を組み合わせた問題の中には、処理の順番は関係ないものもある。</a:t>
            </a:r>
            <a:endParaRPr lang="en-US" altLang="ja-JP" dirty="0"/>
          </a:p>
          <a:p>
            <a:endParaRPr lang="en-US" altLang="ja-JP" dirty="0"/>
          </a:p>
          <a:p>
            <a:r>
              <a:rPr kumimoji="1" lang="ja-JP" altLang="en-US" dirty="0"/>
              <a:t>全部を組み合わせるのではなく、実際には処理単体の</a:t>
            </a:r>
            <a:r>
              <a:rPr kumimoji="1" lang="en-US" altLang="ja-JP" dirty="0"/>
              <a:t>20</a:t>
            </a:r>
            <a:r>
              <a:rPr kumimoji="1" lang="ja-JP" altLang="en-US" dirty="0"/>
              <a:t>種類と、組み合わせた処理を</a:t>
            </a:r>
            <a:r>
              <a:rPr kumimoji="1" lang="en-US" altLang="ja-JP" dirty="0"/>
              <a:t>5</a:t>
            </a:r>
            <a:r>
              <a:rPr lang="en-US" altLang="ja-JP" dirty="0"/>
              <a:t>2</a:t>
            </a:r>
            <a:r>
              <a:rPr kumimoji="1" lang="ja-JP" altLang="en-US" dirty="0"/>
              <a:t>種類用意</a:t>
            </a:r>
            <a:endParaRPr kumimoji="1" lang="en-US" altLang="ja-JP" dirty="0"/>
          </a:p>
          <a:p>
            <a:endParaRPr lang="en-US" altLang="ja-JP" dirty="0"/>
          </a:p>
          <a:p>
            <a:r>
              <a:rPr lang="ja-JP" altLang="en-US" dirty="0"/>
              <a:t>全体で</a:t>
            </a:r>
            <a:r>
              <a:rPr lang="en-US" altLang="ja-JP" dirty="0"/>
              <a:t>72</a:t>
            </a:r>
            <a:r>
              <a:rPr lang="ja-JP" altLang="en-US" dirty="0"/>
              <a:t>種類のルール</a:t>
            </a:r>
            <a:endParaRPr kumimoji="1" lang="ja-JP" altLang="en-US" dirty="0"/>
          </a:p>
        </p:txBody>
      </p:sp>
      <p:sp>
        <p:nvSpPr>
          <p:cNvPr id="7" name="スライド番号プレースホルダー 6">
            <a:extLst>
              <a:ext uri="{FF2B5EF4-FFF2-40B4-BE49-F238E27FC236}">
                <a16:creationId xmlns:a16="http://schemas.microsoft.com/office/drawing/2014/main" id="{5661278E-6E6F-0F9A-13E9-DB8B232991DB}"/>
              </a:ext>
            </a:extLst>
          </p:cNvPr>
          <p:cNvSpPr>
            <a:spLocks noGrp="1"/>
          </p:cNvSpPr>
          <p:nvPr>
            <p:ph type="sldNum" sz="quarter" idx="12"/>
          </p:nvPr>
        </p:nvSpPr>
        <p:spPr/>
        <p:txBody>
          <a:bodyPr/>
          <a:lstStyle/>
          <a:p>
            <a:fld id="{10649E7B-FC1B-418B-9B6A-00859DB1DEE8}" type="slidenum">
              <a:rPr kumimoji="1" lang="ja-JP" altLang="en-US" smtClean="0"/>
              <a:t>16</a:t>
            </a:fld>
            <a:endParaRPr kumimoji="1" lang="ja-JP" altLang="en-US"/>
          </a:p>
        </p:txBody>
      </p:sp>
    </p:spTree>
    <p:extLst>
      <p:ext uri="{BB962C8B-B14F-4D97-AF65-F5344CB8AC3E}">
        <p14:creationId xmlns:p14="http://schemas.microsoft.com/office/powerpoint/2010/main" val="279596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28B54E-846A-CC68-EF4C-091F126A1397}"/>
              </a:ext>
            </a:extLst>
          </p:cNvPr>
          <p:cNvSpPr>
            <a:spLocks noGrp="1"/>
          </p:cNvSpPr>
          <p:nvPr>
            <p:ph type="title"/>
          </p:nvPr>
        </p:nvSpPr>
        <p:spPr/>
        <p:txBody>
          <a:bodyPr/>
          <a:lstStyle/>
          <a:p>
            <a:r>
              <a:rPr lang="ja-JP" altLang="en-US" dirty="0"/>
              <a:t>訓練用</a:t>
            </a:r>
            <a:r>
              <a:rPr kumimoji="1" lang="ja-JP" altLang="en-US" dirty="0"/>
              <a:t>データについて</a:t>
            </a:r>
          </a:p>
        </p:txBody>
      </p:sp>
      <p:sp>
        <p:nvSpPr>
          <p:cNvPr id="3" name="コンテンツ プレースホルダー 2">
            <a:extLst>
              <a:ext uri="{FF2B5EF4-FFF2-40B4-BE49-F238E27FC236}">
                <a16:creationId xmlns:a16="http://schemas.microsoft.com/office/drawing/2014/main" id="{8ED1B3E0-B287-0E7B-D024-A0EE97C8BF53}"/>
              </a:ext>
            </a:extLst>
          </p:cNvPr>
          <p:cNvSpPr>
            <a:spLocks noGrp="1"/>
          </p:cNvSpPr>
          <p:nvPr>
            <p:ph idx="1"/>
          </p:nvPr>
        </p:nvSpPr>
        <p:spPr/>
        <p:txBody>
          <a:bodyPr/>
          <a:lstStyle/>
          <a:p>
            <a:r>
              <a:rPr lang="ja-JP" altLang="en-US" dirty="0"/>
              <a:t>問題文と答えだけのセット</a:t>
            </a:r>
            <a:endParaRPr lang="en-US" altLang="ja-JP" dirty="0"/>
          </a:p>
          <a:p>
            <a:r>
              <a:rPr kumimoji="1" lang="ja-JP" altLang="en-US" dirty="0"/>
              <a:t>処理の過程を答えの部分に含めたもの</a:t>
            </a:r>
            <a:endParaRPr kumimoji="1" lang="en-US" altLang="ja-JP" dirty="0"/>
          </a:p>
          <a:p>
            <a:pPr lvl="1"/>
            <a:r>
              <a:rPr lang="ja-JP" altLang="en-US" dirty="0"/>
              <a:t>処理単体でも、</a:t>
            </a:r>
            <a:r>
              <a:rPr lang="en-US" altLang="ja-JP" dirty="0"/>
              <a:t>2</a:t>
            </a:r>
            <a:r>
              <a:rPr lang="ja-JP" altLang="en-US" dirty="0"/>
              <a:t>つの処理を組み合わせても解けるときは処理単体の方を選ぶ</a:t>
            </a:r>
            <a:endParaRPr kumimoji="1" lang="en-US" altLang="ja-JP" dirty="0"/>
          </a:p>
          <a:p>
            <a:pPr lvl="1"/>
            <a:r>
              <a:rPr lang="ja-JP" altLang="en-US" dirty="0"/>
              <a:t>順番が関係ない処理過程については、</a:t>
            </a:r>
            <a:r>
              <a:rPr lang="en-US" altLang="ja-JP" dirty="0"/>
              <a:t>2</a:t>
            </a:r>
            <a:r>
              <a:rPr lang="ja-JP" altLang="en-US" dirty="0"/>
              <a:t>通り以上あるときはその中のどれか</a:t>
            </a:r>
            <a:r>
              <a:rPr lang="en-US" altLang="ja-JP" dirty="0"/>
              <a:t>1</a:t>
            </a:r>
            <a:r>
              <a:rPr lang="ja-JP" altLang="en-US" dirty="0"/>
              <a:t>つだけを選んで作成</a:t>
            </a:r>
          </a:p>
          <a:p>
            <a:pPr lvl="1"/>
            <a:endParaRPr kumimoji="1" lang="en-US" altLang="ja-JP" dirty="0"/>
          </a:p>
        </p:txBody>
      </p:sp>
      <p:sp>
        <p:nvSpPr>
          <p:cNvPr id="7" name="スライド番号プレースホルダー 6">
            <a:extLst>
              <a:ext uri="{FF2B5EF4-FFF2-40B4-BE49-F238E27FC236}">
                <a16:creationId xmlns:a16="http://schemas.microsoft.com/office/drawing/2014/main" id="{18721A68-7548-9ECB-9266-57577E546E2E}"/>
              </a:ext>
            </a:extLst>
          </p:cNvPr>
          <p:cNvSpPr>
            <a:spLocks noGrp="1"/>
          </p:cNvSpPr>
          <p:nvPr>
            <p:ph type="sldNum" sz="quarter" idx="12"/>
          </p:nvPr>
        </p:nvSpPr>
        <p:spPr/>
        <p:txBody>
          <a:bodyPr/>
          <a:lstStyle/>
          <a:p>
            <a:fld id="{10649E7B-FC1B-418B-9B6A-00859DB1DEE8}" type="slidenum">
              <a:rPr kumimoji="1" lang="ja-JP" altLang="en-US" smtClean="0"/>
              <a:t>17</a:t>
            </a:fld>
            <a:endParaRPr kumimoji="1" lang="ja-JP" altLang="en-US"/>
          </a:p>
        </p:txBody>
      </p:sp>
    </p:spTree>
    <p:extLst>
      <p:ext uri="{BB962C8B-B14F-4D97-AF65-F5344CB8AC3E}">
        <p14:creationId xmlns:p14="http://schemas.microsoft.com/office/powerpoint/2010/main" val="479739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DBF9F7-35B9-7859-A281-38155B7BF201}"/>
              </a:ext>
            </a:extLst>
          </p:cNvPr>
          <p:cNvSpPr>
            <a:spLocks noGrp="1"/>
          </p:cNvSpPr>
          <p:nvPr>
            <p:ph type="title"/>
          </p:nvPr>
        </p:nvSpPr>
        <p:spPr>
          <a:xfrm>
            <a:off x="838201" y="-178127"/>
            <a:ext cx="10515600" cy="1325563"/>
          </a:xfrm>
        </p:spPr>
        <p:txBody>
          <a:bodyPr/>
          <a:lstStyle/>
          <a:p>
            <a:r>
              <a:rPr lang="ja-JP" altLang="en-US" dirty="0"/>
              <a:t>処理の過程を答えの部分に含めたもの</a:t>
            </a:r>
            <a:endParaRPr kumimoji="1" lang="ja-JP" altLang="en-US" dirty="0"/>
          </a:p>
        </p:txBody>
      </p:sp>
      <p:sp>
        <p:nvSpPr>
          <p:cNvPr id="4" name="四角形: 角を丸くする 3">
            <a:extLst>
              <a:ext uri="{FF2B5EF4-FFF2-40B4-BE49-F238E27FC236}">
                <a16:creationId xmlns:a16="http://schemas.microsoft.com/office/drawing/2014/main" id="{9FA464A1-DC7E-EF42-D016-35B9CEA99DFE}"/>
              </a:ext>
            </a:extLst>
          </p:cNvPr>
          <p:cNvSpPr/>
          <p:nvPr/>
        </p:nvSpPr>
        <p:spPr>
          <a:xfrm>
            <a:off x="724157" y="724155"/>
            <a:ext cx="5005675" cy="605713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en-US" altLang="ja-JP" dirty="0"/>
              <a:t>Infer the transformation rule from examples.</a:t>
            </a:r>
          </a:p>
          <a:p>
            <a:r>
              <a:rPr kumimoji="1" lang="en-US" altLang="ja-JP" dirty="0"/>
              <a:t>Output the final array.</a:t>
            </a:r>
          </a:p>
          <a:p>
            <a:r>
              <a:rPr kumimoji="1" lang="en-US" altLang="ja-JP" dirty="0"/>
              <a:t>        </a:t>
            </a:r>
          </a:p>
          <a:p>
            <a:r>
              <a:rPr kumimoji="1" lang="en-US" altLang="ja-JP" dirty="0"/>
              <a:t>Example 1</a:t>
            </a:r>
          </a:p>
          <a:p>
            <a:r>
              <a:rPr kumimoji="1" lang="en-US" altLang="ja-JP" dirty="0"/>
              <a:t>Input:</a:t>
            </a:r>
          </a:p>
          <a:p>
            <a:r>
              <a:rPr kumimoji="1" lang="en-US" altLang="ja-JP" dirty="0"/>
              <a:t>[8, 9, 1, 4, 4]</a:t>
            </a:r>
          </a:p>
          <a:p>
            <a:r>
              <a:rPr kumimoji="1" lang="en-US" altLang="ja-JP" dirty="0"/>
              <a:t>Output:</a:t>
            </a:r>
          </a:p>
          <a:p>
            <a:r>
              <a:rPr kumimoji="1" lang="en-US" altLang="ja-JP" dirty="0"/>
              <a:t>[5, 5, 2, 10, 9]</a:t>
            </a:r>
          </a:p>
          <a:p>
            <a:endParaRPr kumimoji="1" lang="en-US" altLang="ja-JP" dirty="0"/>
          </a:p>
          <a:p>
            <a:r>
              <a:rPr kumimoji="1" lang="en-US" altLang="ja-JP" dirty="0"/>
              <a:t>Example 2</a:t>
            </a:r>
          </a:p>
          <a:p>
            <a:r>
              <a:rPr kumimoji="1" lang="en-US" altLang="ja-JP" dirty="0"/>
              <a:t>Input:</a:t>
            </a:r>
          </a:p>
          <a:p>
            <a:r>
              <a:rPr kumimoji="1" lang="en-US" altLang="ja-JP" dirty="0"/>
              <a:t>[4, 7, 3, 3, 6, 4, 4, 6]</a:t>
            </a:r>
          </a:p>
          <a:p>
            <a:r>
              <a:rPr kumimoji="1" lang="en-US" altLang="ja-JP" dirty="0"/>
              <a:t>Output:</a:t>
            </a:r>
          </a:p>
          <a:p>
            <a:r>
              <a:rPr kumimoji="1" lang="en-US" altLang="ja-JP" dirty="0"/>
              <a:t>[7, 5, 5, 7, 4, 4, 8, 5]</a:t>
            </a:r>
          </a:p>
          <a:p>
            <a:endParaRPr kumimoji="1" lang="en-US" altLang="ja-JP" dirty="0"/>
          </a:p>
          <a:p>
            <a:r>
              <a:rPr kumimoji="1" lang="en-US" altLang="ja-JP" dirty="0"/>
              <a:t>Query</a:t>
            </a:r>
          </a:p>
          <a:p>
            <a:r>
              <a:rPr kumimoji="1" lang="en-US" altLang="ja-JP" dirty="0"/>
              <a:t>Input:</a:t>
            </a:r>
          </a:p>
          <a:p>
            <a:r>
              <a:rPr kumimoji="1" lang="en-US" altLang="ja-JP" dirty="0"/>
              <a:t>[9, 6, 0, 8, 8, 4, 0, 1, 9]</a:t>
            </a:r>
          </a:p>
          <a:p>
            <a:r>
              <a:rPr kumimoji="1" lang="en-US" altLang="ja-JP" dirty="0"/>
              <a:t>Output:</a:t>
            </a:r>
          </a:p>
        </p:txBody>
      </p:sp>
      <p:sp>
        <p:nvSpPr>
          <p:cNvPr id="5" name="四角形: 角を丸くする 4">
            <a:extLst>
              <a:ext uri="{FF2B5EF4-FFF2-40B4-BE49-F238E27FC236}">
                <a16:creationId xmlns:a16="http://schemas.microsoft.com/office/drawing/2014/main" id="{F56C9E3A-7088-6F5B-FBB2-648AAB1FCC28}"/>
              </a:ext>
            </a:extLst>
          </p:cNvPr>
          <p:cNvSpPr/>
          <p:nvPr/>
        </p:nvSpPr>
        <p:spPr>
          <a:xfrm>
            <a:off x="6462169" y="724155"/>
            <a:ext cx="5005675" cy="605713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kumimoji="1" lang="en-US" altLang="ja-JP" dirty="0"/>
              <a:t>Example 1:</a:t>
            </a:r>
          </a:p>
          <a:p>
            <a:r>
              <a:rPr kumimoji="1" lang="en-US" altLang="ja-JP" dirty="0"/>
              <a:t>Input: [8, 9, 1, 4, 4]</a:t>
            </a:r>
          </a:p>
          <a:p>
            <a:r>
              <a:rPr kumimoji="1" lang="en-US" altLang="ja-JP" dirty="0"/>
              <a:t>Step 1 (reverse): [4, 4, 1, 9, 8]</a:t>
            </a:r>
          </a:p>
          <a:p>
            <a:r>
              <a:rPr kumimoji="1" lang="en-US" altLang="ja-JP" dirty="0"/>
              <a:t>Step 2 (add_1): [5, 5, 2, 10, 9]</a:t>
            </a:r>
          </a:p>
          <a:p>
            <a:r>
              <a:rPr kumimoji="1" lang="en-US" altLang="ja-JP" dirty="0"/>
              <a:t>Output: [5, 5, 2, 10, 9]</a:t>
            </a:r>
          </a:p>
          <a:p>
            <a:endParaRPr kumimoji="1" lang="en-US" altLang="ja-JP" dirty="0"/>
          </a:p>
          <a:p>
            <a:r>
              <a:rPr kumimoji="1" lang="en-US" altLang="ja-JP" dirty="0"/>
              <a:t>Example 2:</a:t>
            </a:r>
          </a:p>
          <a:p>
            <a:r>
              <a:rPr kumimoji="1" lang="en-US" altLang="ja-JP" dirty="0"/>
              <a:t>Input: [4, 7, 3, 3, 6, 4, 4, 6]</a:t>
            </a:r>
          </a:p>
          <a:p>
            <a:r>
              <a:rPr kumimoji="1" lang="en-US" altLang="ja-JP" dirty="0"/>
              <a:t>Step 1 (reverse): [6, 4, 4, 6, 3, 3, 7, 4]</a:t>
            </a:r>
          </a:p>
          <a:p>
            <a:r>
              <a:rPr kumimoji="1" lang="en-US" altLang="ja-JP" dirty="0"/>
              <a:t>Step 2 (add_1): [7, 5, 5, 7, 4, 4, 8, 5]</a:t>
            </a:r>
          </a:p>
          <a:p>
            <a:r>
              <a:rPr kumimoji="1" lang="en-US" altLang="ja-JP" dirty="0"/>
              <a:t>Output: [7, 5, 5, 7, 4, 4, 8, 5]</a:t>
            </a:r>
          </a:p>
          <a:p>
            <a:endParaRPr kumimoji="1" lang="en-US" altLang="ja-JP" dirty="0"/>
          </a:p>
          <a:p>
            <a:r>
              <a:rPr kumimoji="1" lang="en-US" altLang="ja-JP" dirty="0"/>
              <a:t>Query :</a:t>
            </a:r>
          </a:p>
          <a:p>
            <a:r>
              <a:rPr kumimoji="1" lang="en-US" altLang="ja-JP" dirty="0"/>
              <a:t>Input: [9, 6, 0, 8, 8, 4, 0, 1, 9]</a:t>
            </a:r>
          </a:p>
          <a:p>
            <a:r>
              <a:rPr kumimoji="1" lang="en-US" altLang="ja-JP" dirty="0"/>
              <a:t>Step 1 (reverse): [9, 1, 0, 4, 8, 8, 0, 6, 9]</a:t>
            </a:r>
          </a:p>
          <a:p>
            <a:r>
              <a:rPr kumimoji="1" lang="en-US" altLang="ja-JP" dirty="0"/>
              <a:t>Step 2 (add_1): [10, 2, 1, 5, 9, 9, 1, 7, 10]</a:t>
            </a:r>
          </a:p>
          <a:p>
            <a:r>
              <a:rPr kumimoji="1" lang="en-US" altLang="ja-JP" dirty="0"/>
              <a:t>Final Answer: [10, 2, 1, 5, 9, 9, 1, 7, 10]</a:t>
            </a:r>
            <a:endParaRPr kumimoji="1" lang="ja-JP" altLang="en-US" dirty="0"/>
          </a:p>
        </p:txBody>
      </p:sp>
      <p:sp>
        <p:nvSpPr>
          <p:cNvPr id="6" name="テキスト ボックス 5">
            <a:extLst>
              <a:ext uri="{FF2B5EF4-FFF2-40B4-BE49-F238E27FC236}">
                <a16:creationId xmlns:a16="http://schemas.microsoft.com/office/drawing/2014/main" id="{A8AC5A71-80A7-A81E-9053-6CD5BF01C61F}"/>
              </a:ext>
            </a:extLst>
          </p:cNvPr>
          <p:cNvSpPr txBox="1"/>
          <p:nvPr/>
        </p:nvSpPr>
        <p:spPr>
          <a:xfrm>
            <a:off x="5865168" y="1914717"/>
            <a:ext cx="461665" cy="3590094"/>
          </a:xfrm>
          <a:prstGeom prst="rect">
            <a:avLst/>
          </a:prstGeom>
          <a:noFill/>
        </p:spPr>
        <p:txBody>
          <a:bodyPr vert="eaVert" wrap="square" rtlCol="0">
            <a:spAutoFit/>
          </a:bodyPr>
          <a:lstStyle/>
          <a:p>
            <a:r>
              <a:rPr lang="en-US" altLang="ja-JP" dirty="0"/>
              <a:t>※</a:t>
            </a:r>
            <a:r>
              <a:rPr lang="ja-JP" altLang="en-US" dirty="0"/>
              <a:t>実際は５つの例</a:t>
            </a:r>
          </a:p>
        </p:txBody>
      </p:sp>
      <p:sp>
        <p:nvSpPr>
          <p:cNvPr id="9" name="スライド番号プレースホルダー 8">
            <a:extLst>
              <a:ext uri="{FF2B5EF4-FFF2-40B4-BE49-F238E27FC236}">
                <a16:creationId xmlns:a16="http://schemas.microsoft.com/office/drawing/2014/main" id="{DEBC53A1-4340-00B3-3815-E19B445A14A5}"/>
              </a:ext>
            </a:extLst>
          </p:cNvPr>
          <p:cNvSpPr>
            <a:spLocks noGrp="1"/>
          </p:cNvSpPr>
          <p:nvPr>
            <p:ph type="sldNum" sz="quarter" idx="12"/>
          </p:nvPr>
        </p:nvSpPr>
        <p:spPr/>
        <p:txBody>
          <a:bodyPr/>
          <a:lstStyle/>
          <a:p>
            <a:fld id="{10649E7B-FC1B-418B-9B6A-00859DB1DEE8}" type="slidenum">
              <a:rPr kumimoji="1" lang="ja-JP" altLang="en-US" smtClean="0"/>
              <a:t>18</a:t>
            </a:fld>
            <a:endParaRPr kumimoji="1" lang="ja-JP" altLang="en-US"/>
          </a:p>
        </p:txBody>
      </p:sp>
    </p:spTree>
    <p:extLst>
      <p:ext uri="{BB962C8B-B14F-4D97-AF65-F5344CB8AC3E}">
        <p14:creationId xmlns:p14="http://schemas.microsoft.com/office/powerpoint/2010/main" val="1186273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D295F-C2E3-63D1-257D-C480C24560FE}"/>
              </a:ext>
            </a:extLst>
          </p:cNvPr>
          <p:cNvSpPr>
            <a:spLocks noGrp="1"/>
          </p:cNvSpPr>
          <p:nvPr>
            <p:ph type="title"/>
          </p:nvPr>
        </p:nvSpPr>
        <p:spPr>
          <a:xfrm>
            <a:off x="838200" y="18255"/>
            <a:ext cx="10515600" cy="1325563"/>
          </a:xfrm>
        </p:spPr>
        <p:txBody>
          <a:bodyPr/>
          <a:lstStyle/>
          <a:p>
            <a:r>
              <a:rPr kumimoji="1" lang="ja-JP" altLang="en-US" dirty="0"/>
              <a:t>答え＋処理過程の</a:t>
            </a:r>
            <a:r>
              <a:rPr kumimoji="1" lang="en-US" altLang="ja-JP" dirty="0"/>
              <a:t>SFT</a:t>
            </a:r>
            <a:r>
              <a:rPr kumimoji="1" lang="ja-JP" altLang="en-US" dirty="0"/>
              <a:t>の分析</a:t>
            </a:r>
          </a:p>
        </p:txBody>
      </p:sp>
      <p:sp>
        <p:nvSpPr>
          <p:cNvPr id="4" name="スライド番号プレースホルダー 3">
            <a:extLst>
              <a:ext uri="{FF2B5EF4-FFF2-40B4-BE49-F238E27FC236}">
                <a16:creationId xmlns:a16="http://schemas.microsoft.com/office/drawing/2014/main" id="{471933A0-AA2D-72FD-C0A8-95535660B21A}"/>
              </a:ext>
            </a:extLst>
          </p:cNvPr>
          <p:cNvSpPr>
            <a:spLocks noGrp="1"/>
          </p:cNvSpPr>
          <p:nvPr>
            <p:ph type="sldNum" sz="quarter" idx="12"/>
          </p:nvPr>
        </p:nvSpPr>
        <p:spPr/>
        <p:txBody>
          <a:bodyPr/>
          <a:lstStyle/>
          <a:p>
            <a:fld id="{10649E7B-FC1B-418B-9B6A-00859DB1DEE8}" type="slidenum">
              <a:rPr kumimoji="1" lang="ja-JP" altLang="en-US" smtClean="0"/>
              <a:t>19</a:t>
            </a:fld>
            <a:endParaRPr kumimoji="1" lang="ja-JP" altLang="en-US"/>
          </a:p>
        </p:txBody>
      </p:sp>
      <p:sp>
        <p:nvSpPr>
          <p:cNvPr id="5" name="四角形: 角を丸くする 4">
            <a:extLst>
              <a:ext uri="{FF2B5EF4-FFF2-40B4-BE49-F238E27FC236}">
                <a16:creationId xmlns:a16="http://schemas.microsoft.com/office/drawing/2014/main" id="{9107CE5A-FCD2-4705-7479-C800FE5915B9}"/>
              </a:ext>
            </a:extLst>
          </p:cNvPr>
          <p:cNvSpPr/>
          <p:nvPr/>
        </p:nvSpPr>
        <p:spPr>
          <a:xfrm>
            <a:off x="1000317" y="975769"/>
            <a:ext cx="4394029" cy="581779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kumimoji="1" lang="en-US" altLang="ja-JP" dirty="0"/>
              <a:t>Example 1:</a:t>
            </a:r>
          </a:p>
          <a:p>
            <a:r>
              <a:rPr kumimoji="1" lang="en-US" altLang="ja-JP" dirty="0"/>
              <a:t>Input: [6, 9, 3, 8, 2, 1, 3, 8, 1, 7]</a:t>
            </a:r>
          </a:p>
          <a:p>
            <a:r>
              <a:rPr kumimoji="1" lang="en-US" altLang="ja-JP" dirty="0"/>
              <a:t>Step 1 (reverse): [7, 1, 8, 3, 1, 2, 8, 3, 9, 6]</a:t>
            </a:r>
          </a:p>
          <a:p>
            <a:r>
              <a:rPr kumimoji="1" lang="en-US" altLang="ja-JP" dirty="0"/>
              <a:t>Step 2 (add_1): [8, 2, 9, 4, 2, 3, 9, 4, 10, 7]</a:t>
            </a:r>
          </a:p>
          <a:p>
            <a:r>
              <a:rPr kumimoji="1" lang="en-US" altLang="ja-JP" dirty="0"/>
              <a:t>Output: [8, 2, 9, 4, 2, 3, 9, 4, 10, 7]</a:t>
            </a:r>
          </a:p>
          <a:p>
            <a:endParaRPr kumimoji="1" lang="en-US" altLang="ja-JP" dirty="0"/>
          </a:p>
          <a:p>
            <a:r>
              <a:rPr kumimoji="1" lang="en-US" altLang="ja-JP" dirty="0"/>
              <a:t>Example 2:</a:t>
            </a:r>
          </a:p>
          <a:p>
            <a:r>
              <a:rPr kumimoji="1" lang="en-US" altLang="ja-JP" dirty="0"/>
              <a:t>Input: [0, 7, 8, 0, 8]</a:t>
            </a:r>
          </a:p>
          <a:p>
            <a:r>
              <a:rPr kumimoji="1" lang="en-US" altLang="ja-JP" dirty="0"/>
              <a:t>Step 1 (reverse): [8, 0, 8, 7, 0]</a:t>
            </a:r>
          </a:p>
          <a:p>
            <a:r>
              <a:rPr kumimoji="1" lang="en-US" altLang="ja-JP" dirty="0"/>
              <a:t>Step 2 (add_1): [9, 1, 9, 8, 1]</a:t>
            </a:r>
          </a:p>
          <a:p>
            <a:r>
              <a:rPr kumimoji="1" lang="en-US" altLang="ja-JP" dirty="0"/>
              <a:t>Output: [9, 1, 9, 8, 1]</a:t>
            </a:r>
          </a:p>
          <a:p>
            <a:endParaRPr kumimoji="1" lang="en-US" altLang="ja-JP" dirty="0"/>
          </a:p>
          <a:p>
            <a:r>
              <a:rPr kumimoji="1" lang="en-US" altLang="ja-JP" dirty="0"/>
              <a:t>Query :</a:t>
            </a:r>
          </a:p>
          <a:p>
            <a:r>
              <a:rPr kumimoji="1" lang="en-US" altLang="ja-JP" dirty="0"/>
              <a:t>Input: [7, 3, 8, 4, 2]</a:t>
            </a:r>
          </a:p>
          <a:p>
            <a:r>
              <a:rPr kumimoji="1" lang="en-US" altLang="ja-JP" dirty="0"/>
              <a:t>Step 1 (reverse): [2, 4, 8, 3, 7]</a:t>
            </a:r>
          </a:p>
          <a:p>
            <a:r>
              <a:rPr kumimoji="1" lang="en-US" altLang="ja-JP" dirty="0"/>
              <a:t>Step 2 (add_1): [3, 5, 9, 4, 8]</a:t>
            </a:r>
          </a:p>
          <a:p>
            <a:r>
              <a:rPr kumimoji="1" lang="en-US" altLang="ja-JP" dirty="0"/>
              <a:t>Final Answer: [3, 5, 9, 4, 8]</a:t>
            </a:r>
            <a:endParaRPr kumimoji="1" lang="ja-JP" altLang="en-US" dirty="0"/>
          </a:p>
        </p:txBody>
      </p:sp>
      <p:sp>
        <p:nvSpPr>
          <p:cNvPr id="6" name="四角形: 角を丸くする 5">
            <a:extLst>
              <a:ext uri="{FF2B5EF4-FFF2-40B4-BE49-F238E27FC236}">
                <a16:creationId xmlns:a16="http://schemas.microsoft.com/office/drawing/2014/main" id="{5F306A08-BA8C-AB68-953E-777DAB94A03A}"/>
              </a:ext>
            </a:extLst>
          </p:cNvPr>
          <p:cNvSpPr/>
          <p:nvPr/>
        </p:nvSpPr>
        <p:spPr>
          <a:xfrm>
            <a:off x="6797654" y="975770"/>
            <a:ext cx="4394029" cy="581779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en-US" altLang="ja-JP" dirty="0"/>
              <a:t>Example 1:</a:t>
            </a:r>
          </a:p>
          <a:p>
            <a:r>
              <a:rPr kumimoji="1" lang="en-US" altLang="ja-JP" dirty="0"/>
              <a:t>Input: [6, 9, 3, 8, 2, 1, 3, 8, 1, 7]</a:t>
            </a:r>
          </a:p>
          <a:p>
            <a:r>
              <a:rPr kumimoji="1" lang="en-US" altLang="ja-JP" dirty="0"/>
              <a:t>Step 1 (add_1): [7, 10, 4, 9, 3, 2, 4, 9, 2, 8]</a:t>
            </a:r>
          </a:p>
          <a:p>
            <a:r>
              <a:rPr kumimoji="1" lang="en-US" altLang="ja-JP" dirty="0"/>
              <a:t>Step 2 (reverse): [8, 2, 9, 4, 2, 3, 9, 4, 10, 7]</a:t>
            </a:r>
          </a:p>
          <a:p>
            <a:r>
              <a:rPr kumimoji="1" lang="en-US" altLang="ja-JP" dirty="0"/>
              <a:t>Output: [8, 2, 9, 4, 2, 3, 9, 4, 10, 7]</a:t>
            </a:r>
          </a:p>
          <a:p>
            <a:endParaRPr kumimoji="1" lang="en-US" altLang="ja-JP" dirty="0"/>
          </a:p>
          <a:p>
            <a:r>
              <a:rPr kumimoji="1" lang="en-US" altLang="ja-JP" dirty="0"/>
              <a:t>Example 2:</a:t>
            </a:r>
          </a:p>
          <a:p>
            <a:r>
              <a:rPr kumimoji="1" lang="en-US" altLang="ja-JP" dirty="0"/>
              <a:t>Input: [0, 7, 8, 0, 8]</a:t>
            </a:r>
          </a:p>
          <a:p>
            <a:r>
              <a:rPr kumimoji="1" lang="en-US" altLang="ja-JP" dirty="0"/>
              <a:t>Step 1 (add_1): [1, 8, 9, 1, 9]</a:t>
            </a:r>
          </a:p>
          <a:p>
            <a:r>
              <a:rPr kumimoji="1" lang="en-US" altLang="ja-JP" dirty="0"/>
              <a:t>Step 2 (reverse): [9, 1, 9, 8, 1]</a:t>
            </a:r>
          </a:p>
          <a:p>
            <a:r>
              <a:rPr kumimoji="1" lang="en-US" altLang="ja-JP" dirty="0"/>
              <a:t>Output: [9, 1, 9, 8, 1]</a:t>
            </a:r>
          </a:p>
          <a:p>
            <a:endParaRPr kumimoji="1" lang="en-US" altLang="ja-JP" dirty="0"/>
          </a:p>
          <a:p>
            <a:r>
              <a:rPr kumimoji="1" lang="en-US" altLang="ja-JP" dirty="0"/>
              <a:t>Query :</a:t>
            </a:r>
          </a:p>
          <a:p>
            <a:r>
              <a:rPr kumimoji="1" lang="en-US" altLang="ja-JP" dirty="0"/>
              <a:t>Input: [7, 3, 8, 4, 2]</a:t>
            </a:r>
          </a:p>
          <a:p>
            <a:r>
              <a:rPr kumimoji="1" lang="en-US" altLang="ja-JP" dirty="0"/>
              <a:t>Step 1 (add_1): [8, 4, 9, 5, 3]</a:t>
            </a:r>
          </a:p>
          <a:p>
            <a:r>
              <a:rPr kumimoji="1" lang="en-US" altLang="ja-JP" dirty="0"/>
              <a:t>Step 2 (reverse): [3, 5, 9, 4, 8]</a:t>
            </a:r>
          </a:p>
          <a:p>
            <a:r>
              <a:rPr kumimoji="1" lang="en-US" altLang="ja-JP" dirty="0"/>
              <a:t>Final Answer: [3, 5, 9, 4, 8]</a:t>
            </a:r>
            <a:endParaRPr kumimoji="1" lang="ja-JP" altLang="en-US" dirty="0"/>
          </a:p>
        </p:txBody>
      </p:sp>
      <p:sp>
        <p:nvSpPr>
          <p:cNvPr id="7" name="テキスト ボックス 6">
            <a:extLst>
              <a:ext uri="{FF2B5EF4-FFF2-40B4-BE49-F238E27FC236}">
                <a16:creationId xmlns:a16="http://schemas.microsoft.com/office/drawing/2014/main" id="{36FD67BD-B907-CFFA-72D7-049ABEC38B83}"/>
              </a:ext>
            </a:extLst>
          </p:cNvPr>
          <p:cNvSpPr txBox="1"/>
          <p:nvPr/>
        </p:nvSpPr>
        <p:spPr>
          <a:xfrm>
            <a:off x="5865167" y="1626282"/>
            <a:ext cx="461665" cy="3093154"/>
          </a:xfrm>
          <a:prstGeom prst="rect">
            <a:avLst/>
          </a:prstGeom>
          <a:noFill/>
        </p:spPr>
        <p:txBody>
          <a:bodyPr vert="eaVert" wrap="none" rtlCol="0">
            <a:spAutoFit/>
          </a:bodyPr>
          <a:lstStyle/>
          <a:p>
            <a:r>
              <a:rPr kumimoji="1" lang="ja-JP" altLang="en-US" dirty="0"/>
              <a:t>教師データに使うのは↓</a:t>
            </a:r>
            <a:r>
              <a:rPr lang="ja-JP" altLang="en-US" dirty="0"/>
              <a:t>だけ</a:t>
            </a:r>
            <a:endParaRPr lang="en-US" altLang="ja-JP" dirty="0"/>
          </a:p>
        </p:txBody>
      </p:sp>
      <p:sp>
        <p:nvSpPr>
          <p:cNvPr id="8" name="テキスト ボックス 7">
            <a:extLst>
              <a:ext uri="{FF2B5EF4-FFF2-40B4-BE49-F238E27FC236}">
                <a16:creationId xmlns:a16="http://schemas.microsoft.com/office/drawing/2014/main" id="{DB48FD7E-9717-EAB9-F85C-CF8B27BF6CC9}"/>
              </a:ext>
            </a:extLst>
          </p:cNvPr>
          <p:cNvSpPr txBox="1"/>
          <p:nvPr/>
        </p:nvSpPr>
        <p:spPr>
          <a:xfrm>
            <a:off x="5865167" y="4823613"/>
            <a:ext cx="461665" cy="3590094"/>
          </a:xfrm>
          <a:prstGeom prst="rect">
            <a:avLst/>
          </a:prstGeom>
          <a:noFill/>
        </p:spPr>
        <p:txBody>
          <a:bodyPr vert="eaVert" wrap="square" rtlCol="0">
            <a:spAutoFit/>
          </a:bodyPr>
          <a:lstStyle/>
          <a:p>
            <a:r>
              <a:rPr lang="en-US" altLang="ja-JP" dirty="0"/>
              <a:t>※</a:t>
            </a:r>
            <a:r>
              <a:rPr lang="ja-JP" altLang="en-US" dirty="0"/>
              <a:t>実際は５つの例</a:t>
            </a:r>
          </a:p>
        </p:txBody>
      </p:sp>
    </p:spTree>
    <p:extLst>
      <p:ext uri="{BB962C8B-B14F-4D97-AF65-F5344CB8AC3E}">
        <p14:creationId xmlns:p14="http://schemas.microsoft.com/office/powerpoint/2010/main" val="3031391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3048C-70BD-AB72-5FB4-3A7298ECB6AE}"/>
              </a:ext>
            </a:extLst>
          </p:cNvPr>
          <p:cNvSpPr>
            <a:spLocks noGrp="1"/>
          </p:cNvSpPr>
          <p:nvPr>
            <p:ph type="title"/>
          </p:nvPr>
        </p:nvSpPr>
        <p:spPr/>
        <p:txBody>
          <a:bodyPr/>
          <a:lstStyle/>
          <a:p>
            <a:r>
              <a:rPr kumimoji="1" lang="ja-JP" altLang="en-US" dirty="0"/>
              <a:t>データについて</a:t>
            </a:r>
          </a:p>
        </p:txBody>
      </p:sp>
      <p:sp>
        <p:nvSpPr>
          <p:cNvPr id="3" name="コンテンツ プレースホルダー 2">
            <a:extLst>
              <a:ext uri="{FF2B5EF4-FFF2-40B4-BE49-F238E27FC236}">
                <a16:creationId xmlns:a16="http://schemas.microsoft.com/office/drawing/2014/main" id="{7CB49918-B0B8-12D5-AAC6-AB76E3C6E15B}"/>
              </a:ext>
            </a:extLst>
          </p:cNvPr>
          <p:cNvSpPr>
            <a:spLocks noGrp="1"/>
          </p:cNvSpPr>
          <p:nvPr>
            <p:ph idx="1"/>
          </p:nvPr>
        </p:nvSpPr>
        <p:spPr/>
        <p:txBody>
          <a:bodyPr/>
          <a:lstStyle/>
          <a:p>
            <a:r>
              <a:rPr lang="ja-JP" altLang="en-US" dirty="0"/>
              <a:t>訓練用のデータその</a:t>
            </a:r>
            <a:r>
              <a:rPr lang="en-US" altLang="ja-JP" dirty="0"/>
              <a:t>1</a:t>
            </a:r>
          </a:p>
          <a:p>
            <a:pPr lvl="1"/>
            <a:r>
              <a:rPr lang="ja-JP" altLang="en-US" dirty="0"/>
              <a:t>問題文と答えだけのセット</a:t>
            </a:r>
          </a:p>
          <a:p>
            <a:pPr lvl="1"/>
            <a:r>
              <a:rPr kumimoji="1" lang="ja-JP" altLang="en-US" dirty="0"/>
              <a:t>ルールの種類は全部で</a:t>
            </a:r>
            <a:r>
              <a:rPr kumimoji="1" lang="en-US" altLang="ja-JP" dirty="0"/>
              <a:t>72</a:t>
            </a:r>
            <a:r>
              <a:rPr kumimoji="1" lang="ja-JP" altLang="en-US" dirty="0"/>
              <a:t>種類</a:t>
            </a:r>
            <a:endParaRPr kumimoji="1" lang="en-US" altLang="ja-JP" dirty="0"/>
          </a:p>
          <a:p>
            <a:pPr lvl="1"/>
            <a:r>
              <a:rPr lang="en-US" altLang="ja-JP" dirty="0"/>
              <a:t>1</a:t>
            </a:r>
            <a:r>
              <a:rPr lang="ja-JP" altLang="en-US" dirty="0"/>
              <a:t>つのルールにつき</a:t>
            </a:r>
            <a:r>
              <a:rPr lang="en-US" altLang="ja-JP" dirty="0"/>
              <a:t>50</a:t>
            </a:r>
            <a:r>
              <a:rPr lang="ja-JP" altLang="en-US" dirty="0"/>
              <a:t>問</a:t>
            </a:r>
            <a:endParaRPr lang="en-US" altLang="ja-JP" dirty="0"/>
          </a:p>
          <a:p>
            <a:pPr lvl="1"/>
            <a:r>
              <a:rPr kumimoji="1" lang="ja-JP" altLang="en-US" dirty="0"/>
              <a:t>全部で</a:t>
            </a:r>
            <a:r>
              <a:rPr kumimoji="1" lang="en-US" altLang="ja-JP" dirty="0"/>
              <a:t>3600</a:t>
            </a:r>
            <a:r>
              <a:rPr kumimoji="1" lang="ja-JP" altLang="en-US" dirty="0"/>
              <a:t>問</a:t>
            </a:r>
            <a:endParaRPr kumimoji="1" lang="en-US" altLang="ja-JP" dirty="0"/>
          </a:p>
          <a:p>
            <a:r>
              <a:rPr lang="ja-JP" altLang="en-US" dirty="0"/>
              <a:t>訓練用のデータその</a:t>
            </a:r>
            <a:r>
              <a:rPr lang="en-US" altLang="ja-JP" dirty="0"/>
              <a:t>2</a:t>
            </a:r>
          </a:p>
          <a:p>
            <a:pPr lvl="1"/>
            <a:r>
              <a:rPr lang="ja-JP" altLang="en-US" dirty="0"/>
              <a:t>処理の過程を答えの部分に含めたもの</a:t>
            </a:r>
            <a:endParaRPr lang="en-US" altLang="ja-JP" dirty="0"/>
          </a:p>
          <a:p>
            <a:pPr lvl="1"/>
            <a:r>
              <a:rPr kumimoji="1" lang="ja-JP" altLang="en-US" dirty="0">
                <a:solidFill>
                  <a:srgbClr val="FF0000"/>
                </a:solidFill>
              </a:rPr>
              <a:t>あとは全て同じ</a:t>
            </a:r>
            <a:endParaRPr kumimoji="1" lang="en-US" altLang="ja-JP" dirty="0">
              <a:solidFill>
                <a:srgbClr val="FF0000"/>
              </a:solidFill>
            </a:endParaRPr>
          </a:p>
          <a:p>
            <a:pPr lvl="1"/>
            <a:endParaRPr kumimoji="1" lang="ja-JP" altLang="en-US" dirty="0"/>
          </a:p>
        </p:txBody>
      </p:sp>
      <p:sp>
        <p:nvSpPr>
          <p:cNvPr id="7" name="スライド番号プレースホルダー 6">
            <a:extLst>
              <a:ext uri="{FF2B5EF4-FFF2-40B4-BE49-F238E27FC236}">
                <a16:creationId xmlns:a16="http://schemas.microsoft.com/office/drawing/2014/main" id="{7854548C-5AEC-242E-9B89-31DA1338A7CE}"/>
              </a:ext>
            </a:extLst>
          </p:cNvPr>
          <p:cNvSpPr>
            <a:spLocks noGrp="1"/>
          </p:cNvSpPr>
          <p:nvPr>
            <p:ph type="sldNum" sz="quarter" idx="12"/>
          </p:nvPr>
        </p:nvSpPr>
        <p:spPr/>
        <p:txBody>
          <a:bodyPr/>
          <a:lstStyle/>
          <a:p>
            <a:fld id="{10649E7B-FC1B-418B-9B6A-00859DB1DEE8}" type="slidenum">
              <a:rPr kumimoji="1" lang="ja-JP" altLang="en-US" smtClean="0"/>
              <a:t>20</a:t>
            </a:fld>
            <a:endParaRPr kumimoji="1" lang="ja-JP" altLang="en-US"/>
          </a:p>
        </p:txBody>
      </p:sp>
    </p:spTree>
    <p:extLst>
      <p:ext uri="{BB962C8B-B14F-4D97-AF65-F5344CB8AC3E}">
        <p14:creationId xmlns:p14="http://schemas.microsoft.com/office/powerpoint/2010/main" val="630804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AD7FEA-0EC6-FE23-7CBE-8C7C467BED68}"/>
              </a:ext>
            </a:extLst>
          </p:cNvPr>
          <p:cNvSpPr>
            <a:spLocks noGrp="1"/>
          </p:cNvSpPr>
          <p:nvPr>
            <p:ph type="title"/>
          </p:nvPr>
        </p:nvSpPr>
        <p:spPr/>
        <p:txBody>
          <a:bodyPr/>
          <a:lstStyle/>
          <a:p>
            <a:r>
              <a:rPr kumimoji="1" lang="ja-JP" altLang="en-US" dirty="0"/>
              <a:t>データについて</a:t>
            </a:r>
          </a:p>
        </p:txBody>
      </p:sp>
      <p:sp>
        <p:nvSpPr>
          <p:cNvPr id="3" name="コンテンツ プレースホルダー 2">
            <a:extLst>
              <a:ext uri="{FF2B5EF4-FFF2-40B4-BE49-F238E27FC236}">
                <a16:creationId xmlns:a16="http://schemas.microsoft.com/office/drawing/2014/main" id="{82228218-5065-32B3-ABA3-14BE6C48839D}"/>
              </a:ext>
            </a:extLst>
          </p:cNvPr>
          <p:cNvSpPr>
            <a:spLocks noGrp="1"/>
          </p:cNvSpPr>
          <p:nvPr>
            <p:ph idx="1"/>
          </p:nvPr>
        </p:nvSpPr>
        <p:spPr/>
        <p:txBody>
          <a:bodyPr>
            <a:normAutofit/>
          </a:bodyPr>
          <a:lstStyle/>
          <a:p>
            <a:r>
              <a:rPr lang="ja-JP" altLang="en-US" dirty="0"/>
              <a:t>テストデータその</a:t>
            </a:r>
            <a:r>
              <a:rPr lang="en-US" altLang="ja-JP" dirty="0"/>
              <a:t>1</a:t>
            </a:r>
          </a:p>
          <a:p>
            <a:pPr lvl="1"/>
            <a:r>
              <a:rPr lang="ja-JP" altLang="en-US" dirty="0"/>
              <a:t>訓練用のデータの問題と同じ処理単体と同じ組み合わせで</a:t>
            </a:r>
            <a:r>
              <a:rPr lang="en-US" altLang="ja-JP" dirty="0"/>
              <a:t>10</a:t>
            </a:r>
            <a:r>
              <a:rPr lang="ja-JP" altLang="en-US" dirty="0"/>
              <a:t>問ずつ</a:t>
            </a:r>
            <a:endParaRPr lang="en-US" altLang="ja-JP" dirty="0"/>
          </a:p>
          <a:p>
            <a:pPr lvl="1"/>
            <a:r>
              <a:rPr lang="ja-JP" altLang="en-US" dirty="0"/>
              <a:t>全部で</a:t>
            </a:r>
            <a:r>
              <a:rPr lang="en-US" altLang="ja-JP" dirty="0"/>
              <a:t>720</a:t>
            </a:r>
            <a:r>
              <a:rPr lang="ja-JP" altLang="en-US" dirty="0"/>
              <a:t>問</a:t>
            </a:r>
            <a:endParaRPr lang="en-US" altLang="ja-JP" dirty="0"/>
          </a:p>
          <a:p>
            <a:r>
              <a:rPr lang="ja-JP" altLang="en-US" dirty="0"/>
              <a:t>テストデータその</a:t>
            </a:r>
            <a:r>
              <a:rPr lang="en-US" altLang="ja-JP" dirty="0"/>
              <a:t>2</a:t>
            </a:r>
          </a:p>
          <a:p>
            <a:pPr lvl="1"/>
            <a:r>
              <a:rPr lang="ja-JP" altLang="ja-JP" dirty="0"/>
              <a:t>処理単体としては同じだけど</a:t>
            </a:r>
            <a:r>
              <a:rPr lang="ja-JP" altLang="en-US" dirty="0"/>
              <a:t>訓練用のデータでは出なかった組み合わせを</a:t>
            </a:r>
            <a:r>
              <a:rPr lang="en-US" altLang="ja-JP" dirty="0"/>
              <a:t>10</a:t>
            </a:r>
            <a:r>
              <a:rPr lang="ja-JP" altLang="en-US" dirty="0"/>
              <a:t>問ずつ</a:t>
            </a:r>
            <a:endParaRPr lang="en-US" altLang="ja-JP" dirty="0"/>
          </a:p>
          <a:p>
            <a:pPr lvl="1"/>
            <a:r>
              <a:rPr lang="ja-JP" altLang="en-US" dirty="0"/>
              <a:t>ルールの種類は</a:t>
            </a:r>
            <a:r>
              <a:rPr lang="en-US" altLang="ja-JP" dirty="0"/>
              <a:t>48</a:t>
            </a:r>
            <a:r>
              <a:rPr lang="ja-JP" altLang="en-US" dirty="0"/>
              <a:t>種類</a:t>
            </a:r>
            <a:endParaRPr lang="en-US" altLang="ja-JP" dirty="0"/>
          </a:p>
          <a:p>
            <a:pPr lvl="1"/>
            <a:r>
              <a:rPr lang="ja-JP" altLang="en-US" dirty="0"/>
              <a:t>全部の問題が</a:t>
            </a:r>
            <a:r>
              <a:rPr lang="en-US" altLang="ja-JP" dirty="0"/>
              <a:t>2</a:t>
            </a:r>
            <a:r>
              <a:rPr lang="ja-JP" altLang="en-US" dirty="0"/>
              <a:t>つの処理の組み合わせ</a:t>
            </a:r>
            <a:endParaRPr lang="en-US" altLang="ja-JP" dirty="0"/>
          </a:p>
          <a:p>
            <a:pPr lvl="1"/>
            <a:r>
              <a:rPr lang="ja-JP" altLang="en-US" dirty="0"/>
              <a:t>全部で</a:t>
            </a:r>
            <a:r>
              <a:rPr lang="en-US" altLang="ja-JP" dirty="0"/>
              <a:t>480</a:t>
            </a:r>
            <a:r>
              <a:rPr lang="ja-JP" altLang="en-US" dirty="0"/>
              <a:t>問</a:t>
            </a:r>
            <a:endParaRPr lang="en-US" altLang="ja-JP" dirty="0"/>
          </a:p>
          <a:p>
            <a:endParaRPr kumimoji="1" lang="ja-JP" altLang="en-US" dirty="0"/>
          </a:p>
        </p:txBody>
      </p:sp>
      <p:sp>
        <p:nvSpPr>
          <p:cNvPr id="7" name="スライド番号プレースホルダー 6">
            <a:extLst>
              <a:ext uri="{FF2B5EF4-FFF2-40B4-BE49-F238E27FC236}">
                <a16:creationId xmlns:a16="http://schemas.microsoft.com/office/drawing/2014/main" id="{FAF1A290-0D02-0678-26FA-CBBE52D54C4F}"/>
              </a:ext>
            </a:extLst>
          </p:cNvPr>
          <p:cNvSpPr>
            <a:spLocks noGrp="1"/>
          </p:cNvSpPr>
          <p:nvPr>
            <p:ph type="sldNum" sz="quarter" idx="12"/>
          </p:nvPr>
        </p:nvSpPr>
        <p:spPr/>
        <p:txBody>
          <a:bodyPr/>
          <a:lstStyle/>
          <a:p>
            <a:fld id="{10649E7B-FC1B-418B-9B6A-00859DB1DEE8}" type="slidenum">
              <a:rPr kumimoji="1" lang="ja-JP" altLang="en-US" smtClean="0"/>
              <a:t>21</a:t>
            </a:fld>
            <a:endParaRPr kumimoji="1" lang="ja-JP" altLang="en-US"/>
          </a:p>
        </p:txBody>
      </p:sp>
    </p:spTree>
    <p:extLst>
      <p:ext uri="{BB962C8B-B14F-4D97-AF65-F5344CB8AC3E}">
        <p14:creationId xmlns:p14="http://schemas.microsoft.com/office/powerpoint/2010/main" val="1957265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16D31E-A5EE-23C4-F54C-70F14FF6C2DA}"/>
              </a:ext>
            </a:extLst>
          </p:cNvPr>
          <p:cNvSpPr>
            <a:spLocks noGrp="1"/>
          </p:cNvSpPr>
          <p:nvPr>
            <p:ph type="title"/>
          </p:nvPr>
        </p:nvSpPr>
        <p:spPr/>
        <p:txBody>
          <a:bodyPr/>
          <a:lstStyle/>
          <a:p>
            <a:r>
              <a:rPr kumimoji="1" lang="ja-JP" altLang="en-US" dirty="0"/>
              <a:t>モデルと学習手法</a:t>
            </a:r>
          </a:p>
        </p:txBody>
      </p:sp>
      <p:sp>
        <p:nvSpPr>
          <p:cNvPr id="3" name="コンテンツ プレースホルダー 2">
            <a:extLst>
              <a:ext uri="{FF2B5EF4-FFF2-40B4-BE49-F238E27FC236}">
                <a16:creationId xmlns:a16="http://schemas.microsoft.com/office/drawing/2014/main" id="{00BCF77C-138A-4D71-F231-909965A04834}"/>
              </a:ext>
            </a:extLst>
          </p:cNvPr>
          <p:cNvSpPr>
            <a:spLocks noGrp="1"/>
          </p:cNvSpPr>
          <p:nvPr>
            <p:ph idx="1"/>
          </p:nvPr>
        </p:nvSpPr>
        <p:spPr>
          <a:xfrm>
            <a:off x="838200" y="1825625"/>
            <a:ext cx="10515600" cy="4581312"/>
          </a:xfrm>
        </p:spPr>
        <p:txBody>
          <a:bodyPr>
            <a:normAutofit/>
          </a:bodyPr>
          <a:lstStyle/>
          <a:p>
            <a:r>
              <a:rPr lang="en-US" altLang="ja-JP" dirty="0"/>
              <a:t>Qwen3-4b</a:t>
            </a:r>
            <a:r>
              <a:rPr lang="en-US" altLang="ja-JP" baseline="30000" dirty="0"/>
              <a:t>8</a:t>
            </a:r>
            <a:r>
              <a:rPr lang="en-US" altLang="ja-JP" dirty="0"/>
              <a:t>(</a:t>
            </a:r>
            <a:r>
              <a:rPr lang="ja-JP" altLang="en-US" dirty="0"/>
              <a:t>使用するモデル</a:t>
            </a:r>
            <a:r>
              <a:rPr lang="en-US" altLang="ja-JP" dirty="0"/>
              <a:t>)</a:t>
            </a:r>
          </a:p>
          <a:p>
            <a:pPr lvl="1"/>
            <a:r>
              <a:rPr lang="en-US" altLang="ja-JP" dirty="0"/>
              <a:t>4B</a:t>
            </a:r>
            <a:r>
              <a:rPr lang="ja-JP" altLang="en-US" dirty="0"/>
              <a:t>パラメータの比較的小規模な</a:t>
            </a:r>
            <a:r>
              <a:rPr lang="en-US" altLang="ja-JP" dirty="0"/>
              <a:t>LLM </a:t>
            </a:r>
          </a:p>
          <a:p>
            <a:pPr lvl="1"/>
            <a:r>
              <a:rPr lang="ja-JP" altLang="en-US" dirty="0"/>
              <a:t>推論・問題解決能力を持つモデル </a:t>
            </a:r>
          </a:p>
          <a:p>
            <a:pPr lvl="1"/>
            <a:r>
              <a:rPr lang="ja-JP" altLang="en-US" dirty="0"/>
              <a:t>追加学習を用いた近年の研究でも採用されている </a:t>
            </a:r>
          </a:p>
          <a:p>
            <a:pPr lvl="2"/>
            <a:r>
              <a:rPr lang="en-US" altLang="ja-JP" dirty="0" err="1"/>
              <a:t>Kappagantula</a:t>
            </a:r>
            <a:r>
              <a:rPr lang="en-US" altLang="ja-JP" dirty="0"/>
              <a:t> et al. (2026)</a:t>
            </a:r>
            <a:r>
              <a:rPr lang="en-US" altLang="ja-JP" baseline="30000" dirty="0"/>
              <a:t>9</a:t>
            </a:r>
          </a:p>
          <a:p>
            <a:pPr lvl="2"/>
            <a:r>
              <a:rPr lang="ja-JP" altLang="ja-JP" dirty="0"/>
              <a:t>Shemla et al. (2026)</a:t>
            </a:r>
            <a:r>
              <a:rPr lang="en-US" altLang="ja-JP" baseline="30000" dirty="0"/>
              <a:t>10</a:t>
            </a:r>
          </a:p>
          <a:p>
            <a:r>
              <a:rPr lang="en-US" altLang="ja-JP" dirty="0"/>
              <a:t>LoRA</a:t>
            </a:r>
            <a:r>
              <a:rPr lang="en-US" altLang="ja-JP" baseline="30000" dirty="0"/>
              <a:t>11</a:t>
            </a:r>
            <a:r>
              <a:rPr lang="ja-JP" altLang="en-US" dirty="0"/>
              <a:t>（</a:t>
            </a:r>
            <a:r>
              <a:rPr lang="en-US" altLang="ja-JP" dirty="0"/>
              <a:t>Low-Rank Adaptation</a:t>
            </a:r>
            <a:r>
              <a:rPr lang="ja-JP" altLang="en-US" dirty="0"/>
              <a:t>）</a:t>
            </a:r>
            <a:r>
              <a:rPr lang="en-US" altLang="ja-JP" dirty="0"/>
              <a:t>(</a:t>
            </a:r>
            <a:r>
              <a:rPr lang="ja-JP" altLang="en-US" dirty="0"/>
              <a:t>学習手法</a:t>
            </a:r>
            <a:r>
              <a:rPr lang="en-US" altLang="ja-JP" dirty="0"/>
              <a:t>)</a:t>
            </a:r>
            <a:endParaRPr lang="ja-JP" altLang="en-US" dirty="0"/>
          </a:p>
          <a:p>
            <a:pPr lvl="1"/>
            <a:r>
              <a:rPr lang="ja-JP" altLang="en-US" dirty="0"/>
              <a:t>ベースモデルのパラメータを固定 </a:t>
            </a:r>
          </a:p>
          <a:p>
            <a:pPr lvl="1"/>
            <a:r>
              <a:rPr lang="ja-JP" altLang="en-US" dirty="0"/>
              <a:t>追加した小規模なパラメータのみを学習 </a:t>
            </a:r>
          </a:p>
          <a:p>
            <a:pPr lvl="1"/>
            <a:r>
              <a:rPr lang="ja-JP" altLang="en-US" dirty="0"/>
              <a:t>計算資源を抑えながら追加学習が可能 </a:t>
            </a:r>
          </a:p>
        </p:txBody>
      </p:sp>
      <p:sp>
        <p:nvSpPr>
          <p:cNvPr id="7" name="スライド番号プレースホルダー 6">
            <a:extLst>
              <a:ext uri="{FF2B5EF4-FFF2-40B4-BE49-F238E27FC236}">
                <a16:creationId xmlns:a16="http://schemas.microsoft.com/office/drawing/2014/main" id="{3DEBCE74-92D5-17FD-334F-EECEFCD9655F}"/>
              </a:ext>
            </a:extLst>
          </p:cNvPr>
          <p:cNvSpPr>
            <a:spLocks noGrp="1"/>
          </p:cNvSpPr>
          <p:nvPr>
            <p:ph type="sldNum" sz="quarter" idx="12"/>
          </p:nvPr>
        </p:nvSpPr>
        <p:spPr/>
        <p:txBody>
          <a:bodyPr/>
          <a:lstStyle/>
          <a:p>
            <a:fld id="{10649E7B-FC1B-418B-9B6A-00859DB1DEE8}" type="slidenum">
              <a:rPr kumimoji="1" lang="ja-JP" altLang="en-US" smtClean="0"/>
              <a:t>22</a:t>
            </a:fld>
            <a:endParaRPr kumimoji="1" lang="ja-JP" altLang="en-US"/>
          </a:p>
        </p:txBody>
      </p:sp>
      <p:sp>
        <p:nvSpPr>
          <p:cNvPr id="8" name="フッター プレースホルダー 7">
            <a:extLst>
              <a:ext uri="{FF2B5EF4-FFF2-40B4-BE49-F238E27FC236}">
                <a16:creationId xmlns:a16="http://schemas.microsoft.com/office/drawing/2014/main" id="{BBDD8DBE-9470-9F25-8BED-23FBFA421258}"/>
              </a:ext>
            </a:extLst>
          </p:cNvPr>
          <p:cNvSpPr>
            <a:spLocks noGrp="1"/>
          </p:cNvSpPr>
          <p:nvPr>
            <p:ph type="ftr" sz="quarter" idx="11"/>
          </p:nvPr>
        </p:nvSpPr>
        <p:spPr>
          <a:xfrm>
            <a:off x="0" y="6127750"/>
            <a:ext cx="12192000" cy="365125"/>
          </a:xfrm>
        </p:spPr>
        <p:txBody>
          <a:bodyPr/>
          <a:lstStyle/>
          <a:p>
            <a:r>
              <a:rPr lang="en-US" altLang="ja-JP" dirty="0"/>
              <a:t>8.  </a:t>
            </a:r>
            <a:r>
              <a:rPr lang="ja-JP" altLang="ja-JP" dirty="0"/>
              <a:t>Yang, A., Li, A., Yang, B., Zhang, B., Hui, B., Zheng, B., ... &amp; Qiu, Z. (2025). Qwen3 technical report. </a:t>
            </a:r>
            <a:r>
              <a:rPr lang="ja-JP" altLang="ja-JP" i="1" dirty="0"/>
              <a:t>arXiv preprint arXiv:2505.09388</a:t>
            </a:r>
            <a:r>
              <a:rPr lang="ja-JP" altLang="ja-JP" dirty="0"/>
              <a:t>.</a:t>
            </a:r>
            <a:endParaRPr lang="en-US" altLang="ja-JP" dirty="0"/>
          </a:p>
          <a:p>
            <a:r>
              <a:rPr lang="en-US" altLang="ja-JP" dirty="0"/>
              <a:t>9. </a:t>
            </a:r>
            <a:r>
              <a:rPr lang="ja-JP" altLang="ja-JP" dirty="0"/>
              <a:t>Kappagantula, V. R. N., Hassantabar, S., Simpson, S., &amp; Moallem, G. (2026). Travel-Oriented Reasoning Large Language Model via Domain-Specific Knowledge Graphs. </a:t>
            </a:r>
            <a:r>
              <a:rPr lang="ja-JP" altLang="ja-JP" i="1" dirty="0"/>
              <a:t>arXiv preprint arXiv:2606.29254</a:t>
            </a:r>
            <a:r>
              <a:rPr lang="ja-JP" altLang="ja-JP" dirty="0"/>
              <a:t>.</a:t>
            </a:r>
            <a:endParaRPr lang="en-US" altLang="ja-JP" dirty="0"/>
          </a:p>
          <a:p>
            <a:r>
              <a:rPr lang="en-US" altLang="ja-JP" dirty="0"/>
              <a:t>10. </a:t>
            </a:r>
            <a:r>
              <a:rPr lang="ja-JP" altLang="ja-JP" dirty="0"/>
              <a:t>Shemla, Y., Yakobe, A., Agarwal, T., Patel, D., &amp; Maghraoui, K. E. (2026). Internalizing Tool Knowledge in Small Language Models via QLoRA Fine-Tuning. </a:t>
            </a:r>
            <a:r>
              <a:rPr lang="ja-JP" altLang="ja-JP" i="1" dirty="0"/>
              <a:t>arXiv preprint arXiv:2605.17774</a:t>
            </a:r>
            <a:r>
              <a:rPr lang="ja-JP" altLang="ja-JP" dirty="0"/>
              <a:t>.</a:t>
            </a:r>
            <a:endParaRPr lang="en-US" altLang="ja-JP" dirty="0"/>
          </a:p>
          <a:p>
            <a:r>
              <a:rPr lang="en-US" altLang="ja-JP" dirty="0"/>
              <a:t>11.  </a:t>
            </a:r>
            <a:r>
              <a:rPr lang="ja-JP" altLang="ja-JP" dirty="0"/>
              <a:t>Hu, E. J., Shen, Y., Wallis, P., Allen-Zhu, Z., Li, Y., Wang, S., ... &amp; Chen, W. (2021). Lora: Low-rank adaptation of large language models. </a:t>
            </a:r>
            <a:r>
              <a:rPr lang="ja-JP" altLang="ja-JP" i="1" dirty="0"/>
              <a:t>arXiv preprint arXiv:2106.09685</a:t>
            </a:r>
            <a:r>
              <a:rPr lang="ja-JP" altLang="ja-JP" dirty="0"/>
              <a:t>.</a:t>
            </a:r>
            <a:endParaRPr kumimoji="1" lang="ja-JP" altLang="en-US" dirty="0"/>
          </a:p>
        </p:txBody>
      </p:sp>
    </p:spTree>
    <p:extLst>
      <p:ext uri="{BB962C8B-B14F-4D97-AF65-F5344CB8AC3E}">
        <p14:creationId xmlns:p14="http://schemas.microsoft.com/office/powerpoint/2010/main" val="2706631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9C3507-C858-E7FB-8C2B-B137888B6CBE}"/>
              </a:ext>
            </a:extLst>
          </p:cNvPr>
          <p:cNvSpPr>
            <a:spLocks noGrp="1"/>
          </p:cNvSpPr>
          <p:nvPr>
            <p:ph type="title"/>
          </p:nvPr>
        </p:nvSpPr>
        <p:spPr/>
        <p:txBody>
          <a:bodyPr/>
          <a:lstStyle/>
          <a:p>
            <a:r>
              <a:rPr kumimoji="1" lang="ja-JP" altLang="en-US" dirty="0"/>
              <a:t>研究方法</a:t>
            </a:r>
          </a:p>
        </p:txBody>
      </p:sp>
      <p:sp>
        <p:nvSpPr>
          <p:cNvPr id="3" name="コンテンツ プレースホルダー 2">
            <a:extLst>
              <a:ext uri="{FF2B5EF4-FFF2-40B4-BE49-F238E27FC236}">
                <a16:creationId xmlns:a16="http://schemas.microsoft.com/office/drawing/2014/main" id="{7DCF728F-7A8E-D155-9908-5D10C399EBDA}"/>
              </a:ext>
            </a:extLst>
          </p:cNvPr>
          <p:cNvSpPr>
            <a:spLocks noGrp="1"/>
          </p:cNvSpPr>
          <p:nvPr>
            <p:ph idx="1"/>
          </p:nvPr>
        </p:nvSpPr>
        <p:spPr/>
        <p:txBody>
          <a:bodyPr/>
          <a:lstStyle/>
          <a:p>
            <a:r>
              <a:rPr kumimoji="1" lang="ja-JP" altLang="en-US" dirty="0"/>
              <a:t>テスト用の問題を解くモデル</a:t>
            </a:r>
            <a:endParaRPr kumimoji="1" lang="en-US" altLang="ja-JP" dirty="0"/>
          </a:p>
          <a:p>
            <a:pPr lvl="1"/>
            <a:r>
              <a:rPr kumimoji="1" lang="ja-JP" altLang="en-US" dirty="0"/>
              <a:t>追加の学習を行わず、</a:t>
            </a:r>
            <a:r>
              <a:rPr lang="ja-JP" altLang="en-US" dirty="0"/>
              <a:t>ベースモデルをそのまま使う</a:t>
            </a:r>
            <a:endParaRPr kumimoji="1" lang="en-US" altLang="ja-JP" dirty="0"/>
          </a:p>
          <a:p>
            <a:pPr lvl="1"/>
            <a:r>
              <a:rPr lang="ja-JP" altLang="en-US" dirty="0"/>
              <a:t>問題文と答えのみを用いて調整した</a:t>
            </a:r>
            <a:r>
              <a:rPr lang="en-US" altLang="ja-JP" dirty="0" err="1"/>
              <a:t>LoRA</a:t>
            </a:r>
            <a:r>
              <a:rPr lang="ja-JP" altLang="en-US" dirty="0"/>
              <a:t>を適用したモデル</a:t>
            </a:r>
            <a:endParaRPr lang="en-US" altLang="ja-JP" dirty="0"/>
          </a:p>
          <a:p>
            <a:pPr lvl="1"/>
            <a:r>
              <a:rPr kumimoji="1" lang="ja-JP" altLang="en-US" dirty="0"/>
              <a:t>問題文と処理の過程と答えを用いて調整した</a:t>
            </a:r>
            <a:r>
              <a:rPr kumimoji="1" lang="en-US" altLang="ja-JP" dirty="0" err="1"/>
              <a:t>LoRA</a:t>
            </a:r>
            <a:r>
              <a:rPr kumimoji="1" lang="ja-JP" altLang="en-US" dirty="0"/>
              <a:t>を適用したモデル</a:t>
            </a:r>
          </a:p>
        </p:txBody>
      </p:sp>
      <p:sp>
        <p:nvSpPr>
          <p:cNvPr id="7" name="スライド番号プレースホルダー 6">
            <a:extLst>
              <a:ext uri="{FF2B5EF4-FFF2-40B4-BE49-F238E27FC236}">
                <a16:creationId xmlns:a16="http://schemas.microsoft.com/office/drawing/2014/main" id="{53AF5688-701B-92A6-35E7-48E50D62A7E0}"/>
              </a:ext>
            </a:extLst>
          </p:cNvPr>
          <p:cNvSpPr>
            <a:spLocks noGrp="1"/>
          </p:cNvSpPr>
          <p:nvPr>
            <p:ph type="sldNum" sz="quarter" idx="12"/>
          </p:nvPr>
        </p:nvSpPr>
        <p:spPr/>
        <p:txBody>
          <a:bodyPr/>
          <a:lstStyle/>
          <a:p>
            <a:fld id="{10649E7B-FC1B-418B-9B6A-00859DB1DEE8}" type="slidenum">
              <a:rPr kumimoji="1" lang="ja-JP" altLang="en-US" smtClean="0"/>
              <a:t>23</a:t>
            </a:fld>
            <a:endParaRPr kumimoji="1" lang="ja-JP" altLang="en-US"/>
          </a:p>
        </p:txBody>
      </p:sp>
    </p:spTree>
    <p:extLst>
      <p:ext uri="{BB962C8B-B14F-4D97-AF65-F5344CB8AC3E}">
        <p14:creationId xmlns:p14="http://schemas.microsoft.com/office/powerpoint/2010/main" val="2274011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B61B6-66A2-0A58-BB76-B2A30AD074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5C5D35-FB9C-551A-D458-E59CEE1628CB}"/>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C90A61F5-BD53-6DE3-9CA6-96621426DFA4}"/>
              </a:ext>
            </a:extLst>
          </p:cNvPr>
          <p:cNvSpPr>
            <a:spLocks noGrp="1"/>
          </p:cNvSpPr>
          <p:nvPr>
            <p:ph idx="1"/>
          </p:nvPr>
        </p:nvSpPr>
        <p:spPr/>
        <p:txBody>
          <a:bodyPr/>
          <a:lstStyle/>
          <a:p>
            <a:r>
              <a:rPr kumimoji="1" lang="ja-JP" altLang="en-US" dirty="0"/>
              <a:t>研究背景</a:t>
            </a:r>
            <a:endParaRPr kumimoji="1" lang="en-US" altLang="ja-JP" dirty="0"/>
          </a:p>
          <a:p>
            <a:r>
              <a:rPr lang="ja-JP" altLang="en-US" dirty="0"/>
              <a:t>研究方法</a:t>
            </a:r>
            <a:endParaRPr lang="en-US" altLang="ja-JP" dirty="0"/>
          </a:p>
          <a:p>
            <a:r>
              <a:rPr kumimoji="1" lang="ja-JP" altLang="en-US" dirty="0">
                <a:solidFill>
                  <a:srgbClr val="FF0000"/>
                </a:solidFill>
              </a:rPr>
              <a:t>問題解決</a:t>
            </a:r>
            <a:r>
              <a:rPr lang="ja-JP" altLang="en-US" dirty="0">
                <a:solidFill>
                  <a:srgbClr val="FF0000"/>
                </a:solidFill>
              </a:rPr>
              <a:t>能力の評価実験</a:t>
            </a:r>
            <a:endParaRPr lang="en-US" altLang="ja-JP" dirty="0">
              <a:solidFill>
                <a:srgbClr val="FF0000"/>
              </a:solidFill>
            </a:endParaRPr>
          </a:p>
          <a:p>
            <a:r>
              <a:rPr kumimoji="1" lang="ja-JP" altLang="en-US" dirty="0"/>
              <a:t>分析と考察</a:t>
            </a:r>
          </a:p>
        </p:txBody>
      </p:sp>
      <p:sp>
        <p:nvSpPr>
          <p:cNvPr id="7" name="スライド番号プレースホルダー 6">
            <a:extLst>
              <a:ext uri="{FF2B5EF4-FFF2-40B4-BE49-F238E27FC236}">
                <a16:creationId xmlns:a16="http://schemas.microsoft.com/office/drawing/2014/main" id="{A928F3DB-D95F-4508-8B9A-EB5087C3C212}"/>
              </a:ext>
            </a:extLst>
          </p:cNvPr>
          <p:cNvSpPr>
            <a:spLocks noGrp="1"/>
          </p:cNvSpPr>
          <p:nvPr>
            <p:ph type="sldNum" sz="quarter" idx="12"/>
          </p:nvPr>
        </p:nvSpPr>
        <p:spPr/>
        <p:txBody>
          <a:bodyPr/>
          <a:lstStyle/>
          <a:p>
            <a:fld id="{10649E7B-FC1B-418B-9B6A-00859DB1DEE8}" type="slidenum">
              <a:rPr kumimoji="1" lang="ja-JP" altLang="en-US" smtClean="0"/>
              <a:t>24</a:t>
            </a:fld>
            <a:endParaRPr kumimoji="1" lang="ja-JP" altLang="en-US"/>
          </a:p>
        </p:txBody>
      </p:sp>
    </p:spTree>
    <p:extLst>
      <p:ext uri="{BB962C8B-B14F-4D97-AF65-F5344CB8AC3E}">
        <p14:creationId xmlns:p14="http://schemas.microsoft.com/office/powerpoint/2010/main" val="1391512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F2B9B9-5A20-1DA4-20B2-6EDE1D38AF2B}"/>
              </a:ext>
            </a:extLst>
          </p:cNvPr>
          <p:cNvSpPr>
            <a:spLocks noGrp="1"/>
          </p:cNvSpPr>
          <p:nvPr>
            <p:ph type="title"/>
          </p:nvPr>
        </p:nvSpPr>
        <p:spPr/>
        <p:txBody>
          <a:bodyPr/>
          <a:lstStyle/>
          <a:p>
            <a:r>
              <a:rPr lang="ja-JP" altLang="en-US" dirty="0"/>
              <a:t>問題解決能力の評価実験</a:t>
            </a:r>
            <a:r>
              <a:rPr lang="en-US" altLang="ja-JP" dirty="0">
                <a:solidFill>
                  <a:srgbClr val="FF0000"/>
                </a:solidFill>
              </a:rPr>
              <a:t>(</a:t>
            </a:r>
            <a:r>
              <a:rPr lang="ja-JP" altLang="en-US" dirty="0">
                <a:solidFill>
                  <a:srgbClr val="FF0000"/>
                </a:solidFill>
              </a:rPr>
              <a:t>やり直し中</a:t>
            </a:r>
            <a:r>
              <a:rPr lang="en-US" altLang="ja-JP" dirty="0">
                <a:solidFill>
                  <a:srgbClr val="FF0000"/>
                </a:solidFill>
              </a:rPr>
              <a:t>)</a:t>
            </a:r>
            <a:endParaRPr kumimoji="1" lang="ja-JP" altLang="en-US" dirty="0">
              <a:solidFill>
                <a:srgbClr val="FF0000"/>
              </a:solidFill>
            </a:endParaRPr>
          </a:p>
        </p:txBody>
      </p:sp>
      <p:sp>
        <p:nvSpPr>
          <p:cNvPr id="3" name="コンテンツ プレースホルダー 2">
            <a:extLst>
              <a:ext uri="{FF2B5EF4-FFF2-40B4-BE49-F238E27FC236}">
                <a16:creationId xmlns:a16="http://schemas.microsoft.com/office/drawing/2014/main" id="{1B65EE80-A1F3-CD84-8EC6-F7B443DA312F}"/>
              </a:ext>
            </a:extLst>
          </p:cNvPr>
          <p:cNvSpPr>
            <a:spLocks noGrp="1"/>
          </p:cNvSpPr>
          <p:nvPr>
            <p:ph idx="1"/>
          </p:nvPr>
        </p:nvSpPr>
        <p:spPr>
          <a:xfrm>
            <a:off x="838200" y="1825625"/>
            <a:ext cx="10515600" cy="4108881"/>
          </a:xfrm>
        </p:spPr>
        <p:txBody>
          <a:bodyPr/>
          <a:lstStyle/>
          <a:p>
            <a:pPr marL="0" indent="0">
              <a:buNone/>
            </a:pPr>
            <a:endParaRPr kumimoji="1" lang="ja-JP" altLang="en-US" dirty="0"/>
          </a:p>
        </p:txBody>
      </p:sp>
      <p:sp>
        <p:nvSpPr>
          <p:cNvPr id="7" name="スライド番号プレースホルダー 6">
            <a:extLst>
              <a:ext uri="{FF2B5EF4-FFF2-40B4-BE49-F238E27FC236}">
                <a16:creationId xmlns:a16="http://schemas.microsoft.com/office/drawing/2014/main" id="{4B57D73E-58AB-D751-B9BF-FC3CAB7D00B3}"/>
              </a:ext>
            </a:extLst>
          </p:cNvPr>
          <p:cNvSpPr>
            <a:spLocks noGrp="1"/>
          </p:cNvSpPr>
          <p:nvPr>
            <p:ph type="sldNum" sz="quarter" idx="12"/>
          </p:nvPr>
        </p:nvSpPr>
        <p:spPr/>
        <p:txBody>
          <a:bodyPr/>
          <a:lstStyle/>
          <a:p>
            <a:fld id="{10649E7B-FC1B-418B-9B6A-00859DB1DEE8}" type="slidenum">
              <a:rPr kumimoji="1" lang="ja-JP" altLang="en-US" smtClean="0"/>
              <a:t>25</a:t>
            </a:fld>
            <a:endParaRPr kumimoji="1" lang="ja-JP" altLang="en-US"/>
          </a:p>
        </p:txBody>
      </p:sp>
      <p:graphicFrame>
        <p:nvGraphicFramePr>
          <p:cNvPr id="8" name="表 7">
            <a:extLst>
              <a:ext uri="{FF2B5EF4-FFF2-40B4-BE49-F238E27FC236}">
                <a16:creationId xmlns:a16="http://schemas.microsoft.com/office/drawing/2014/main" id="{C3857E26-20FC-DDF3-7A9A-B61AE700B84D}"/>
              </a:ext>
            </a:extLst>
          </p:cNvPr>
          <p:cNvGraphicFramePr>
            <a:graphicFrameLocks noGrp="1"/>
          </p:cNvGraphicFramePr>
          <p:nvPr>
            <p:extLst>
              <p:ext uri="{D42A27DB-BD31-4B8C-83A1-F6EECF244321}">
                <p14:modId xmlns:p14="http://schemas.microsoft.com/office/powerpoint/2010/main" val="2133641995"/>
              </p:ext>
            </p:extLst>
          </p:nvPr>
        </p:nvGraphicFramePr>
        <p:xfrm>
          <a:off x="838200" y="1583169"/>
          <a:ext cx="10515600" cy="4351337"/>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577893348"/>
                    </a:ext>
                  </a:extLst>
                </a:gridCol>
                <a:gridCol w="2628900">
                  <a:extLst>
                    <a:ext uri="{9D8B030D-6E8A-4147-A177-3AD203B41FA5}">
                      <a16:colId xmlns:a16="http://schemas.microsoft.com/office/drawing/2014/main" val="2053877159"/>
                    </a:ext>
                  </a:extLst>
                </a:gridCol>
                <a:gridCol w="2628900">
                  <a:extLst>
                    <a:ext uri="{9D8B030D-6E8A-4147-A177-3AD203B41FA5}">
                      <a16:colId xmlns:a16="http://schemas.microsoft.com/office/drawing/2014/main" val="2672482506"/>
                    </a:ext>
                  </a:extLst>
                </a:gridCol>
                <a:gridCol w="2628900">
                  <a:extLst>
                    <a:ext uri="{9D8B030D-6E8A-4147-A177-3AD203B41FA5}">
                      <a16:colId xmlns:a16="http://schemas.microsoft.com/office/drawing/2014/main" val="1596151943"/>
                    </a:ext>
                  </a:extLst>
                </a:gridCol>
              </a:tblGrid>
              <a:tr h="1811409">
                <a:tc>
                  <a:txBody>
                    <a:bodyPr/>
                    <a:lstStyle/>
                    <a:p>
                      <a:pPr algn="ctr"/>
                      <a:endParaRPr kumimoji="1" lang="ja-JP" altLang="en-US" sz="2100" dirty="0"/>
                    </a:p>
                  </a:txBody>
                  <a:tcPr anchor="ctr"/>
                </a:tc>
                <a:tc>
                  <a:txBody>
                    <a:bodyPr/>
                    <a:lstStyle/>
                    <a:p>
                      <a:pPr algn="ctr"/>
                      <a:r>
                        <a:rPr kumimoji="1" lang="ja-JP" altLang="en-US" sz="2100" dirty="0"/>
                        <a:t>ベースモデル</a:t>
                      </a:r>
                    </a:p>
                  </a:txBody>
                  <a:tcPr anchor="ctr"/>
                </a:tc>
                <a:tc>
                  <a:txBody>
                    <a:bodyPr/>
                    <a:lstStyle/>
                    <a:p>
                      <a:pPr algn="ctr"/>
                      <a:r>
                        <a:rPr kumimoji="1" lang="ja-JP" altLang="en-US" sz="2100" dirty="0"/>
                        <a:t>答えのみ</a:t>
                      </a:r>
                      <a:r>
                        <a:rPr kumimoji="1" lang="en-US" altLang="ja-JP" sz="2100" dirty="0"/>
                        <a:t>SFT</a:t>
                      </a:r>
                      <a:endParaRPr kumimoji="1" lang="ja-JP" altLang="en-US" sz="2100" dirty="0"/>
                    </a:p>
                  </a:txBody>
                  <a:tcPr anchor="ctr"/>
                </a:tc>
                <a:tc>
                  <a:txBody>
                    <a:bodyPr/>
                    <a:lstStyle/>
                    <a:p>
                      <a:pPr algn="ctr"/>
                      <a:r>
                        <a:rPr lang="ja-JP" altLang="ja-JP" sz="2100" dirty="0"/>
                        <a:t>答え＋処理過程SFT</a:t>
                      </a:r>
                      <a:endParaRPr kumimoji="1" lang="ja-JP" altLang="en-US" sz="2100" dirty="0"/>
                    </a:p>
                  </a:txBody>
                  <a:tcPr anchor="ctr"/>
                </a:tc>
                <a:extLst>
                  <a:ext uri="{0D108BD9-81ED-4DB2-BD59-A6C34878D82A}">
                    <a16:rowId xmlns:a16="http://schemas.microsoft.com/office/drawing/2014/main" val="3196805259"/>
                  </a:ext>
                </a:extLst>
              </a:tr>
              <a:tr h="12699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100" dirty="0"/>
                        <a:t>テストデータその</a:t>
                      </a:r>
                      <a:r>
                        <a:rPr lang="en-US" altLang="ja-JP" sz="2100" dirty="0"/>
                        <a:t>1</a:t>
                      </a:r>
                    </a:p>
                  </a:txBody>
                  <a:tcPr anchor="ctr"/>
                </a:tc>
                <a:tc>
                  <a:txBody>
                    <a:bodyPr/>
                    <a:lstStyle/>
                    <a:p>
                      <a:pPr algn="ctr"/>
                      <a:r>
                        <a:rPr kumimoji="1" lang="en-US" altLang="ja-JP" sz="2100" dirty="0"/>
                        <a:t>267/700</a:t>
                      </a:r>
                    </a:p>
                    <a:p>
                      <a:pPr algn="ctr"/>
                      <a:r>
                        <a:rPr kumimoji="1" lang="en-US" altLang="ja-JP" sz="2100" dirty="0"/>
                        <a:t>38.1</a:t>
                      </a:r>
                      <a:r>
                        <a:rPr kumimoji="1" lang="ja-JP" altLang="en-US" sz="2100" dirty="0"/>
                        <a:t>％</a:t>
                      </a:r>
                    </a:p>
                  </a:txBody>
                  <a:tcPr anchor="ctr"/>
                </a:tc>
                <a:tc>
                  <a:txBody>
                    <a:bodyPr/>
                    <a:lstStyle/>
                    <a:p>
                      <a:pPr algn="ctr"/>
                      <a:r>
                        <a:rPr kumimoji="1" lang="en-US" altLang="ja-JP" sz="2100" dirty="0"/>
                        <a:t>469/700</a:t>
                      </a:r>
                    </a:p>
                    <a:p>
                      <a:pPr algn="ctr"/>
                      <a:r>
                        <a:rPr kumimoji="1" lang="en-US" altLang="ja-JP" sz="2100" dirty="0"/>
                        <a:t>67</a:t>
                      </a:r>
                      <a:r>
                        <a:rPr kumimoji="1" lang="ja-JP" altLang="en-US" sz="2100" dirty="0"/>
                        <a:t>％</a:t>
                      </a:r>
                    </a:p>
                  </a:txBody>
                  <a:tcPr anchor="ctr"/>
                </a:tc>
                <a:tc>
                  <a:txBody>
                    <a:bodyPr/>
                    <a:lstStyle/>
                    <a:p>
                      <a:pPr algn="ctr"/>
                      <a:r>
                        <a:rPr kumimoji="1" lang="en-US" altLang="ja-JP" sz="2100" b="0" i="0" kern="1200" dirty="0">
                          <a:solidFill>
                            <a:schemeClr val="dk1"/>
                          </a:solidFill>
                          <a:effectLst/>
                          <a:latin typeface="+mn-lt"/>
                          <a:ea typeface="+mn-ea"/>
                          <a:cs typeface="+mn-cs"/>
                        </a:rPr>
                        <a:t>563/700</a:t>
                      </a:r>
                    </a:p>
                    <a:p>
                      <a:pPr algn="ctr"/>
                      <a:r>
                        <a:rPr kumimoji="1" lang="en-US" altLang="ja-JP" sz="2100" b="0" i="0" kern="1200" dirty="0">
                          <a:solidFill>
                            <a:schemeClr val="dk1"/>
                          </a:solidFill>
                          <a:effectLst/>
                          <a:latin typeface="+mn-lt"/>
                          <a:ea typeface="+mn-ea"/>
                          <a:cs typeface="+mn-cs"/>
                        </a:rPr>
                        <a:t>80.4</a:t>
                      </a:r>
                      <a:r>
                        <a:rPr kumimoji="1" lang="ja-JP" altLang="en-US" sz="2100" b="0" i="0" kern="1200" dirty="0">
                          <a:solidFill>
                            <a:schemeClr val="dk1"/>
                          </a:solidFill>
                          <a:effectLst/>
                          <a:latin typeface="+mn-lt"/>
                          <a:ea typeface="+mn-ea"/>
                          <a:cs typeface="+mn-cs"/>
                        </a:rPr>
                        <a:t>％</a:t>
                      </a:r>
                      <a:endParaRPr kumimoji="1" lang="ja-JP" altLang="en-US" sz="2100" dirty="0"/>
                    </a:p>
                  </a:txBody>
                  <a:tcPr anchor="ctr"/>
                </a:tc>
                <a:extLst>
                  <a:ext uri="{0D108BD9-81ED-4DB2-BD59-A6C34878D82A}">
                    <a16:rowId xmlns:a16="http://schemas.microsoft.com/office/drawing/2014/main" val="2722267845"/>
                  </a:ext>
                </a:extLst>
              </a:tr>
              <a:tr h="12699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100" dirty="0"/>
                        <a:t>テストデータその</a:t>
                      </a:r>
                      <a:r>
                        <a:rPr lang="en-US" altLang="ja-JP" sz="2100" dirty="0"/>
                        <a:t>2</a:t>
                      </a:r>
                    </a:p>
                  </a:txBody>
                  <a:tcPr anchor="ctr"/>
                </a:tc>
                <a:tc>
                  <a:txBody>
                    <a:bodyPr/>
                    <a:lstStyle/>
                    <a:p>
                      <a:pPr algn="ctr"/>
                      <a:r>
                        <a:rPr kumimoji="1" lang="en-US" altLang="ja-JP" sz="2100" dirty="0"/>
                        <a:t>44/450</a:t>
                      </a:r>
                    </a:p>
                    <a:p>
                      <a:pPr algn="ctr"/>
                      <a:r>
                        <a:rPr kumimoji="1" lang="en-US" altLang="ja-JP" sz="2100" dirty="0"/>
                        <a:t>9.7</a:t>
                      </a:r>
                      <a:r>
                        <a:rPr kumimoji="1" lang="ja-JP" altLang="en-US" sz="2100" dirty="0"/>
                        <a:t>％</a:t>
                      </a:r>
                    </a:p>
                  </a:txBody>
                  <a:tcPr anchor="ctr"/>
                </a:tc>
                <a:tc>
                  <a:txBody>
                    <a:bodyPr/>
                    <a:lstStyle/>
                    <a:p>
                      <a:pPr algn="ctr"/>
                      <a:r>
                        <a:rPr kumimoji="1" lang="en-US" altLang="ja-JP" sz="2100" dirty="0"/>
                        <a:t>179/450</a:t>
                      </a:r>
                    </a:p>
                    <a:p>
                      <a:pPr algn="ctr"/>
                      <a:r>
                        <a:rPr kumimoji="1" lang="en-US" altLang="ja-JP" sz="2100" dirty="0"/>
                        <a:t>39.7</a:t>
                      </a:r>
                      <a:r>
                        <a:rPr kumimoji="1" lang="ja-JP" altLang="en-US" sz="2100" dirty="0"/>
                        <a:t>％</a:t>
                      </a:r>
                    </a:p>
                  </a:txBody>
                  <a:tcPr anchor="ctr"/>
                </a:tc>
                <a:tc>
                  <a:txBody>
                    <a:bodyPr/>
                    <a:lstStyle/>
                    <a:p>
                      <a:pPr algn="ctr"/>
                      <a:r>
                        <a:rPr kumimoji="1" lang="en-US" altLang="ja-JP" sz="2100" b="0" i="0" kern="1200" dirty="0">
                          <a:solidFill>
                            <a:schemeClr val="dk1"/>
                          </a:solidFill>
                          <a:effectLst/>
                          <a:latin typeface="+mn-lt"/>
                          <a:ea typeface="+mn-ea"/>
                          <a:cs typeface="+mn-cs"/>
                        </a:rPr>
                        <a:t>80/450</a:t>
                      </a:r>
                    </a:p>
                    <a:p>
                      <a:pPr algn="ctr"/>
                      <a:r>
                        <a:rPr kumimoji="1" lang="en-US" altLang="ja-JP" sz="2100" b="0" i="0" kern="1200" dirty="0">
                          <a:solidFill>
                            <a:schemeClr val="dk1"/>
                          </a:solidFill>
                          <a:effectLst/>
                          <a:latin typeface="+mn-lt"/>
                          <a:ea typeface="+mn-ea"/>
                          <a:cs typeface="+mn-cs"/>
                        </a:rPr>
                        <a:t>17.7</a:t>
                      </a:r>
                      <a:r>
                        <a:rPr kumimoji="1" lang="ja-JP" altLang="en-US" sz="2100" b="0" i="0" kern="1200" dirty="0">
                          <a:solidFill>
                            <a:schemeClr val="dk1"/>
                          </a:solidFill>
                          <a:effectLst/>
                          <a:latin typeface="+mn-lt"/>
                          <a:ea typeface="+mn-ea"/>
                          <a:cs typeface="+mn-cs"/>
                        </a:rPr>
                        <a:t>％</a:t>
                      </a:r>
                      <a:endParaRPr kumimoji="1" lang="ja-JP" altLang="en-US" sz="2100" dirty="0"/>
                    </a:p>
                  </a:txBody>
                  <a:tcPr anchor="ctr"/>
                </a:tc>
                <a:extLst>
                  <a:ext uri="{0D108BD9-81ED-4DB2-BD59-A6C34878D82A}">
                    <a16:rowId xmlns:a16="http://schemas.microsoft.com/office/drawing/2014/main" val="2618271811"/>
                  </a:ext>
                </a:extLst>
              </a:tr>
            </a:tbl>
          </a:graphicData>
        </a:graphic>
      </p:graphicFrame>
      <p:sp>
        <p:nvSpPr>
          <p:cNvPr id="9" name="テキスト ボックス 8">
            <a:extLst>
              <a:ext uri="{FF2B5EF4-FFF2-40B4-BE49-F238E27FC236}">
                <a16:creationId xmlns:a16="http://schemas.microsoft.com/office/drawing/2014/main" id="{A6C7B1B2-2AA4-0DEF-7433-FF0399B47C9B}"/>
              </a:ext>
            </a:extLst>
          </p:cNvPr>
          <p:cNvSpPr txBox="1"/>
          <p:nvPr/>
        </p:nvSpPr>
        <p:spPr>
          <a:xfrm>
            <a:off x="928255" y="6077247"/>
            <a:ext cx="9985663" cy="646331"/>
          </a:xfrm>
          <a:prstGeom prst="rect">
            <a:avLst/>
          </a:prstGeom>
          <a:noFill/>
        </p:spPr>
        <p:txBody>
          <a:bodyPr wrap="square" rtlCol="0">
            <a:spAutoFit/>
          </a:bodyPr>
          <a:lstStyle/>
          <a:p>
            <a:r>
              <a:rPr kumimoji="1" lang="ja-JP" altLang="en-US" dirty="0"/>
              <a:t>テストデータその</a:t>
            </a:r>
            <a:r>
              <a:rPr kumimoji="1" lang="en-US" altLang="ja-JP" dirty="0"/>
              <a:t>1</a:t>
            </a:r>
            <a:r>
              <a:rPr kumimoji="1" lang="ja-JP" altLang="en-US" dirty="0"/>
              <a:t>：</a:t>
            </a:r>
            <a:r>
              <a:rPr lang="ja-JP" altLang="en-US" dirty="0"/>
              <a:t>訓練用のデータの問題と同じルール</a:t>
            </a:r>
            <a:endParaRPr lang="en-US" altLang="ja-JP" dirty="0"/>
          </a:p>
          <a:p>
            <a:r>
              <a:rPr lang="ja-JP" altLang="en-US" dirty="0"/>
              <a:t>テストデータその</a:t>
            </a:r>
            <a:r>
              <a:rPr lang="en-US" altLang="ja-JP" dirty="0"/>
              <a:t>2</a:t>
            </a:r>
            <a:r>
              <a:rPr lang="ja-JP" altLang="en-US" dirty="0"/>
              <a:t>：</a:t>
            </a:r>
            <a:r>
              <a:rPr lang="ja-JP" altLang="ja-JP" dirty="0"/>
              <a:t>処理単体としては同じだけど</a:t>
            </a:r>
            <a:r>
              <a:rPr lang="ja-JP" altLang="en-US" dirty="0"/>
              <a:t>訓練用のデータでは出なかった組み合わせ</a:t>
            </a:r>
            <a:endParaRPr lang="en-US" altLang="ja-JP" dirty="0"/>
          </a:p>
        </p:txBody>
      </p:sp>
    </p:spTree>
    <p:extLst>
      <p:ext uri="{BB962C8B-B14F-4D97-AF65-F5344CB8AC3E}">
        <p14:creationId xmlns:p14="http://schemas.microsoft.com/office/powerpoint/2010/main" val="21569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6BEB3-1614-EE3B-8BD4-3419FE5DB7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90C79B-3332-C0C1-640A-AA6AA006F6ED}"/>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0190E8DC-BF4A-8564-B8AC-28209A35257F}"/>
              </a:ext>
            </a:extLst>
          </p:cNvPr>
          <p:cNvSpPr>
            <a:spLocks noGrp="1"/>
          </p:cNvSpPr>
          <p:nvPr>
            <p:ph idx="1"/>
          </p:nvPr>
        </p:nvSpPr>
        <p:spPr/>
        <p:txBody>
          <a:bodyPr>
            <a:normAutofit/>
          </a:bodyPr>
          <a:lstStyle/>
          <a:p>
            <a:r>
              <a:rPr kumimoji="1" lang="ja-JP" altLang="en-US" dirty="0"/>
              <a:t>研究背景</a:t>
            </a:r>
            <a:endParaRPr kumimoji="1" lang="en-US" altLang="ja-JP" dirty="0"/>
          </a:p>
          <a:p>
            <a:r>
              <a:rPr lang="ja-JP" altLang="en-US" dirty="0"/>
              <a:t>研究方法</a:t>
            </a:r>
            <a:endParaRPr lang="en-US" altLang="ja-JP" dirty="0"/>
          </a:p>
          <a:p>
            <a:r>
              <a:rPr kumimoji="1" lang="ja-JP" altLang="en-US" dirty="0"/>
              <a:t>問題解決</a:t>
            </a:r>
            <a:r>
              <a:rPr lang="ja-JP" altLang="en-US" dirty="0"/>
              <a:t>能力の評価実験</a:t>
            </a:r>
            <a:endParaRPr lang="en-US" altLang="ja-JP" dirty="0"/>
          </a:p>
          <a:p>
            <a:r>
              <a:rPr kumimoji="1" lang="ja-JP" altLang="en-US" dirty="0">
                <a:solidFill>
                  <a:srgbClr val="FF0000"/>
                </a:solidFill>
              </a:rPr>
              <a:t>分析と考察</a:t>
            </a:r>
            <a:endParaRPr kumimoji="1" lang="en-US" altLang="ja-JP" dirty="0">
              <a:solidFill>
                <a:srgbClr val="FF0000"/>
              </a:solidFill>
            </a:endParaRPr>
          </a:p>
          <a:p>
            <a:pPr lvl="1"/>
            <a:r>
              <a:rPr kumimoji="1" lang="ja-JP" altLang="en-US" dirty="0"/>
              <a:t>単一処理・複数処理の比較</a:t>
            </a:r>
            <a:endParaRPr kumimoji="1" lang="en-US" altLang="ja-JP" dirty="0"/>
          </a:p>
          <a:p>
            <a:pPr lvl="1"/>
            <a:r>
              <a:rPr kumimoji="1" lang="ja-JP" altLang="en-US" dirty="0"/>
              <a:t>ベースモデルの分析</a:t>
            </a:r>
            <a:endParaRPr kumimoji="1" lang="en-US" altLang="ja-JP" dirty="0"/>
          </a:p>
          <a:p>
            <a:pPr lvl="1"/>
            <a:r>
              <a:rPr lang="ja-JP" altLang="en-US" dirty="0"/>
              <a:t>答えのみ</a:t>
            </a:r>
            <a:r>
              <a:rPr lang="en-US" altLang="ja-JP" dirty="0"/>
              <a:t>SFT</a:t>
            </a:r>
            <a:r>
              <a:rPr lang="ja-JP" altLang="en-US" dirty="0"/>
              <a:t>のモデルの分析</a:t>
            </a:r>
            <a:endParaRPr lang="en-US" altLang="ja-JP" dirty="0"/>
          </a:p>
          <a:p>
            <a:pPr lvl="1"/>
            <a:r>
              <a:rPr kumimoji="1" lang="ja-JP" altLang="en-US" dirty="0"/>
              <a:t>答え＋処理過程の</a:t>
            </a:r>
            <a:r>
              <a:rPr kumimoji="1" lang="en-US" altLang="ja-JP" dirty="0"/>
              <a:t>SFT</a:t>
            </a:r>
            <a:r>
              <a:rPr kumimoji="1" lang="ja-JP" altLang="en-US" dirty="0"/>
              <a:t>のモデルの分析</a:t>
            </a:r>
            <a:endParaRPr kumimoji="1" lang="en-US" altLang="ja-JP" dirty="0"/>
          </a:p>
        </p:txBody>
      </p:sp>
      <p:sp>
        <p:nvSpPr>
          <p:cNvPr id="7" name="スライド番号プレースホルダー 6">
            <a:extLst>
              <a:ext uri="{FF2B5EF4-FFF2-40B4-BE49-F238E27FC236}">
                <a16:creationId xmlns:a16="http://schemas.microsoft.com/office/drawing/2014/main" id="{23B21B16-1017-7EDA-FE9B-9EB2C4AAD8C8}"/>
              </a:ext>
            </a:extLst>
          </p:cNvPr>
          <p:cNvSpPr>
            <a:spLocks noGrp="1"/>
          </p:cNvSpPr>
          <p:nvPr>
            <p:ph type="sldNum" sz="quarter" idx="12"/>
          </p:nvPr>
        </p:nvSpPr>
        <p:spPr/>
        <p:txBody>
          <a:bodyPr/>
          <a:lstStyle/>
          <a:p>
            <a:fld id="{10649E7B-FC1B-418B-9B6A-00859DB1DEE8}" type="slidenum">
              <a:rPr kumimoji="1" lang="ja-JP" altLang="en-US" smtClean="0"/>
              <a:t>26</a:t>
            </a:fld>
            <a:endParaRPr kumimoji="1" lang="ja-JP" altLang="en-US"/>
          </a:p>
        </p:txBody>
      </p:sp>
    </p:spTree>
    <p:extLst>
      <p:ext uri="{BB962C8B-B14F-4D97-AF65-F5344CB8AC3E}">
        <p14:creationId xmlns:p14="http://schemas.microsoft.com/office/powerpoint/2010/main" val="3063597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A93E3D-DDF5-5046-0DEF-B829AECE4BDA}"/>
              </a:ext>
            </a:extLst>
          </p:cNvPr>
          <p:cNvSpPr>
            <a:spLocks noGrp="1"/>
          </p:cNvSpPr>
          <p:nvPr>
            <p:ph type="title"/>
          </p:nvPr>
        </p:nvSpPr>
        <p:spPr/>
        <p:txBody>
          <a:bodyPr/>
          <a:lstStyle/>
          <a:p>
            <a:r>
              <a:rPr kumimoji="1" lang="ja-JP" altLang="en-US" dirty="0"/>
              <a:t>単一処理・複数処理の比較</a:t>
            </a:r>
            <a:br>
              <a:rPr kumimoji="1" lang="en-US" altLang="ja-JP" dirty="0"/>
            </a:br>
            <a:r>
              <a:rPr kumimoji="1" lang="en-US" altLang="ja-JP" dirty="0"/>
              <a:t>(</a:t>
            </a:r>
            <a:r>
              <a:rPr kumimoji="1" lang="ja-JP" altLang="en-US" dirty="0"/>
              <a:t>テストデータその</a:t>
            </a:r>
            <a:r>
              <a:rPr kumimoji="1" lang="en-US" altLang="ja-JP" dirty="0"/>
              <a:t>1)</a:t>
            </a:r>
            <a:endParaRPr kumimoji="1" lang="ja-JP" altLang="en-US" dirty="0"/>
          </a:p>
        </p:txBody>
      </p:sp>
      <p:graphicFrame>
        <p:nvGraphicFramePr>
          <p:cNvPr id="6" name="コンテンツ プレースホルダー 5">
            <a:extLst>
              <a:ext uri="{FF2B5EF4-FFF2-40B4-BE49-F238E27FC236}">
                <a16:creationId xmlns:a16="http://schemas.microsoft.com/office/drawing/2014/main" id="{DDBE55B4-951A-F452-19AC-FAB59D76D1A9}"/>
              </a:ext>
            </a:extLst>
          </p:cNvPr>
          <p:cNvGraphicFramePr>
            <a:graphicFrameLocks noGrp="1"/>
          </p:cNvGraphicFramePr>
          <p:nvPr>
            <p:ph idx="1"/>
            <p:extLst>
              <p:ext uri="{D42A27DB-BD31-4B8C-83A1-F6EECF244321}">
                <p14:modId xmlns:p14="http://schemas.microsoft.com/office/powerpoint/2010/main" val="126232716"/>
              </p:ext>
            </p:extLst>
          </p:nvPr>
        </p:nvGraphicFramePr>
        <p:xfrm>
          <a:off x="838200" y="1825624"/>
          <a:ext cx="10515600" cy="3133002"/>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756612490"/>
                    </a:ext>
                  </a:extLst>
                </a:gridCol>
                <a:gridCol w="2628900">
                  <a:extLst>
                    <a:ext uri="{9D8B030D-6E8A-4147-A177-3AD203B41FA5}">
                      <a16:colId xmlns:a16="http://schemas.microsoft.com/office/drawing/2014/main" val="3087168986"/>
                    </a:ext>
                  </a:extLst>
                </a:gridCol>
                <a:gridCol w="2628900">
                  <a:extLst>
                    <a:ext uri="{9D8B030D-6E8A-4147-A177-3AD203B41FA5}">
                      <a16:colId xmlns:a16="http://schemas.microsoft.com/office/drawing/2014/main" val="1142035119"/>
                    </a:ext>
                  </a:extLst>
                </a:gridCol>
                <a:gridCol w="2628900">
                  <a:extLst>
                    <a:ext uri="{9D8B030D-6E8A-4147-A177-3AD203B41FA5}">
                      <a16:colId xmlns:a16="http://schemas.microsoft.com/office/drawing/2014/main" val="2234398844"/>
                    </a:ext>
                  </a:extLst>
                </a:gridCol>
              </a:tblGrid>
              <a:tr h="1169210">
                <a:tc>
                  <a:txBody>
                    <a:bodyPr/>
                    <a:lstStyle/>
                    <a:p>
                      <a:pPr algn="ctr"/>
                      <a:endParaRPr kumimoji="1" lang="ja-JP" altLang="en-US" dirty="0"/>
                    </a:p>
                  </a:txBody>
                  <a:tcPr anchor="ctr"/>
                </a:tc>
                <a:tc>
                  <a:txBody>
                    <a:bodyPr/>
                    <a:lstStyle/>
                    <a:p>
                      <a:pPr algn="ctr"/>
                      <a:r>
                        <a:rPr kumimoji="1" lang="ja-JP" altLang="en-US" dirty="0"/>
                        <a:t>ベースモデル</a:t>
                      </a:r>
                    </a:p>
                  </a:txBody>
                  <a:tcPr anchor="ctr"/>
                </a:tc>
                <a:tc>
                  <a:txBody>
                    <a:bodyPr/>
                    <a:lstStyle/>
                    <a:p>
                      <a:pPr algn="ctr"/>
                      <a:r>
                        <a:rPr kumimoji="1" lang="ja-JP" altLang="en-US" dirty="0"/>
                        <a:t>答えのみ</a:t>
                      </a:r>
                      <a:r>
                        <a:rPr kumimoji="1" lang="en-US" altLang="ja-JP" dirty="0"/>
                        <a:t>SFT</a:t>
                      </a:r>
                      <a:endParaRPr kumimoji="1" lang="ja-JP" altLang="en-US" dirty="0"/>
                    </a:p>
                  </a:txBody>
                  <a:tcPr anchor="ctr"/>
                </a:tc>
                <a:tc>
                  <a:txBody>
                    <a:bodyPr/>
                    <a:lstStyle/>
                    <a:p>
                      <a:pPr algn="ctr"/>
                      <a:r>
                        <a:rPr kumimoji="1" lang="ja-JP" altLang="en-US" dirty="0"/>
                        <a:t>答え＋処理過程</a:t>
                      </a:r>
                    </a:p>
                  </a:txBody>
                  <a:tcPr anchor="ctr"/>
                </a:tc>
                <a:extLst>
                  <a:ext uri="{0D108BD9-81ED-4DB2-BD59-A6C34878D82A}">
                    <a16:rowId xmlns:a16="http://schemas.microsoft.com/office/drawing/2014/main" val="3965733535"/>
                  </a:ext>
                </a:extLst>
              </a:tr>
              <a:tr h="981896">
                <a:tc>
                  <a:txBody>
                    <a:bodyPr/>
                    <a:lstStyle/>
                    <a:p>
                      <a:pPr algn="ctr"/>
                      <a:r>
                        <a:rPr kumimoji="1" lang="ja-JP" altLang="en-US" dirty="0"/>
                        <a:t>処理単体</a:t>
                      </a:r>
                    </a:p>
                  </a:txBody>
                  <a:tcPr anchor="ctr"/>
                </a:tc>
                <a:tc>
                  <a:txBody>
                    <a:bodyPr/>
                    <a:lstStyle/>
                    <a:p>
                      <a:pPr algn="ctr"/>
                      <a:r>
                        <a:rPr kumimoji="1" lang="en-US" altLang="ja-JP" dirty="0"/>
                        <a:t>194/240</a:t>
                      </a:r>
                    </a:p>
                    <a:p>
                      <a:pPr algn="ctr"/>
                      <a:r>
                        <a:rPr kumimoji="1" lang="en-US" altLang="zh-TW" dirty="0"/>
                        <a:t>80.8</a:t>
                      </a:r>
                      <a:r>
                        <a:rPr kumimoji="1" lang="en-US" altLang="ja-JP" dirty="0"/>
                        <a:t>%</a:t>
                      </a:r>
                      <a:endParaRPr kumimoji="1" lang="ja-JP" altLang="en-US" dirty="0"/>
                    </a:p>
                  </a:txBody>
                  <a:tcPr anchor="ctr"/>
                </a:tc>
                <a:tc>
                  <a:txBody>
                    <a:bodyPr/>
                    <a:lstStyle/>
                    <a:p>
                      <a:pPr algn="ctr"/>
                      <a:r>
                        <a:rPr kumimoji="1" lang="en-US" altLang="zh-TW" dirty="0"/>
                        <a:t>207</a:t>
                      </a:r>
                      <a:r>
                        <a:rPr kumimoji="1" lang="en-US" altLang="ja-JP" dirty="0"/>
                        <a:t>/240</a:t>
                      </a:r>
                    </a:p>
                    <a:p>
                      <a:pPr algn="ctr"/>
                      <a:r>
                        <a:rPr kumimoji="1" lang="en-US" altLang="zh-TW" dirty="0"/>
                        <a:t>86.2</a:t>
                      </a:r>
                      <a:r>
                        <a:rPr kumimoji="1" lang="en-US" altLang="ja-JP" dirty="0"/>
                        <a:t>%</a:t>
                      </a:r>
                      <a:endParaRPr kumimoji="1" lang="ja-JP" altLang="en-US" dirty="0"/>
                    </a:p>
                  </a:txBody>
                  <a:tcPr anchor="ctr"/>
                </a:tc>
                <a:tc>
                  <a:txBody>
                    <a:bodyPr/>
                    <a:lstStyle/>
                    <a:p>
                      <a:pPr algn="ctr"/>
                      <a:r>
                        <a:rPr kumimoji="1" lang="ja-JP" altLang="ja-JP" sz="1800" b="0" i="0" kern="1200" dirty="0">
                          <a:solidFill>
                            <a:schemeClr val="dk1"/>
                          </a:solidFill>
                          <a:effectLst/>
                          <a:latin typeface="+mn-lt"/>
                          <a:ea typeface="+mn-ea"/>
                          <a:cs typeface="+mn-cs"/>
                        </a:rPr>
                        <a:t>201</a:t>
                      </a:r>
                      <a:r>
                        <a:rPr kumimoji="1" lang="en-US" altLang="ja-JP" dirty="0"/>
                        <a:t>/240</a:t>
                      </a:r>
                    </a:p>
                    <a:p>
                      <a:pPr algn="ctr"/>
                      <a:r>
                        <a:rPr kumimoji="1" lang="en-US" altLang="zh-TW" dirty="0"/>
                        <a:t>83</a:t>
                      </a:r>
                      <a:r>
                        <a:rPr kumimoji="1" lang="en-US" altLang="ja-JP" dirty="0"/>
                        <a:t>.</a:t>
                      </a:r>
                      <a:r>
                        <a:rPr kumimoji="1" lang="en-US" altLang="zh-TW" dirty="0"/>
                        <a:t>7%</a:t>
                      </a:r>
                      <a:endParaRPr kumimoji="1" lang="ja-JP" altLang="en-US" dirty="0"/>
                    </a:p>
                  </a:txBody>
                  <a:tcPr anchor="ctr"/>
                </a:tc>
                <a:extLst>
                  <a:ext uri="{0D108BD9-81ED-4DB2-BD59-A6C34878D82A}">
                    <a16:rowId xmlns:a16="http://schemas.microsoft.com/office/drawing/2014/main" val="995411637"/>
                  </a:ext>
                </a:extLst>
              </a:tr>
              <a:tr h="981896">
                <a:tc>
                  <a:txBody>
                    <a:bodyPr/>
                    <a:lstStyle/>
                    <a:p>
                      <a:pPr algn="ctr"/>
                      <a:r>
                        <a:rPr kumimoji="1" lang="en-US" altLang="ja-JP" dirty="0"/>
                        <a:t>2</a:t>
                      </a:r>
                      <a:r>
                        <a:rPr kumimoji="1" lang="ja-JP" altLang="en-US" dirty="0"/>
                        <a:t>つの処理の組み合わせ</a:t>
                      </a:r>
                    </a:p>
                  </a:txBody>
                  <a:tcPr anchor="ctr"/>
                </a:tc>
                <a:tc>
                  <a:txBody>
                    <a:bodyPr/>
                    <a:lstStyle/>
                    <a:p>
                      <a:pPr algn="ctr"/>
                      <a:r>
                        <a:rPr kumimoji="1" lang="en-US" altLang="ja-JP" dirty="0"/>
                        <a:t>73/460</a:t>
                      </a:r>
                    </a:p>
                    <a:p>
                      <a:pPr algn="ctr"/>
                      <a:r>
                        <a:rPr kumimoji="1" lang="en-US" altLang="zh-TW" dirty="0"/>
                        <a:t>15.8</a:t>
                      </a:r>
                      <a:r>
                        <a:rPr kumimoji="1" lang="en-US" altLang="ja-JP" dirty="0"/>
                        <a:t>%</a:t>
                      </a:r>
                      <a:endParaRPr kumimoji="1" lang="ja-JP" altLang="en-US" dirty="0"/>
                    </a:p>
                  </a:txBody>
                  <a:tcPr anchor="ctr"/>
                </a:tc>
                <a:tc>
                  <a:txBody>
                    <a:bodyPr/>
                    <a:lstStyle/>
                    <a:p>
                      <a:pPr algn="ctr"/>
                      <a:r>
                        <a:rPr kumimoji="1" lang="en-US" altLang="zh-TW" dirty="0"/>
                        <a:t>262</a:t>
                      </a:r>
                      <a:r>
                        <a:rPr kumimoji="1" lang="en-US" altLang="ja-JP" dirty="0"/>
                        <a:t>/460</a:t>
                      </a:r>
                    </a:p>
                    <a:p>
                      <a:pPr algn="ctr"/>
                      <a:r>
                        <a:rPr kumimoji="1" lang="en-US" altLang="zh-TW" dirty="0"/>
                        <a:t>56.9</a:t>
                      </a:r>
                      <a:r>
                        <a:rPr kumimoji="1" lang="en-US" altLang="ja-JP" dirty="0"/>
                        <a:t>%</a:t>
                      </a:r>
                      <a:endParaRPr kumimoji="1" lang="ja-JP" altLang="en-US" dirty="0"/>
                    </a:p>
                  </a:txBody>
                  <a:tcPr anchor="ctr"/>
                </a:tc>
                <a:tc>
                  <a:txBody>
                    <a:bodyPr/>
                    <a:lstStyle/>
                    <a:p>
                      <a:pPr algn="ctr"/>
                      <a:r>
                        <a:rPr kumimoji="1" lang="ja-JP" altLang="ja-JP" sz="1800" b="0" i="0" kern="1200" dirty="0">
                          <a:solidFill>
                            <a:schemeClr val="dk1"/>
                          </a:solidFill>
                          <a:effectLst/>
                          <a:latin typeface="+mn-lt"/>
                          <a:ea typeface="+mn-ea"/>
                          <a:cs typeface="+mn-cs"/>
                        </a:rPr>
                        <a:t>362</a:t>
                      </a:r>
                      <a:r>
                        <a:rPr kumimoji="1" lang="en-US" altLang="ja-JP" dirty="0"/>
                        <a:t>/460</a:t>
                      </a:r>
                    </a:p>
                    <a:p>
                      <a:pPr algn="ctr"/>
                      <a:r>
                        <a:rPr kumimoji="1" lang="en-US" altLang="zh-TW" dirty="0"/>
                        <a:t>78.6%</a:t>
                      </a:r>
                      <a:endParaRPr kumimoji="1" lang="ja-JP" altLang="en-US" dirty="0"/>
                    </a:p>
                  </a:txBody>
                  <a:tcPr anchor="ctr"/>
                </a:tc>
                <a:extLst>
                  <a:ext uri="{0D108BD9-81ED-4DB2-BD59-A6C34878D82A}">
                    <a16:rowId xmlns:a16="http://schemas.microsoft.com/office/drawing/2014/main" val="658592565"/>
                  </a:ext>
                </a:extLst>
              </a:tr>
            </a:tbl>
          </a:graphicData>
        </a:graphic>
      </p:graphicFrame>
      <p:sp>
        <p:nvSpPr>
          <p:cNvPr id="4" name="スライド番号プレースホルダー 3">
            <a:extLst>
              <a:ext uri="{FF2B5EF4-FFF2-40B4-BE49-F238E27FC236}">
                <a16:creationId xmlns:a16="http://schemas.microsoft.com/office/drawing/2014/main" id="{4BB5E59D-C358-217D-279A-99970DCD597C}"/>
              </a:ext>
            </a:extLst>
          </p:cNvPr>
          <p:cNvSpPr>
            <a:spLocks noGrp="1"/>
          </p:cNvSpPr>
          <p:nvPr>
            <p:ph type="sldNum" sz="quarter" idx="12"/>
          </p:nvPr>
        </p:nvSpPr>
        <p:spPr/>
        <p:txBody>
          <a:bodyPr/>
          <a:lstStyle/>
          <a:p>
            <a:fld id="{10649E7B-FC1B-418B-9B6A-00859DB1DEE8}" type="slidenum">
              <a:rPr kumimoji="1" lang="ja-JP" altLang="en-US" smtClean="0"/>
              <a:t>27</a:t>
            </a:fld>
            <a:endParaRPr kumimoji="1" lang="ja-JP" altLang="en-US"/>
          </a:p>
        </p:txBody>
      </p:sp>
      <p:sp>
        <p:nvSpPr>
          <p:cNvPr id="8" name="テキスト ボックス 7">
            <a:extLst>
              <a:ext uri="{FF2B5EF4-FFF2-40B4-BE49-F238E27FC236}">
                <a16:creationId xmlns:a16="http://schemas.microsoft.com/office/drawing/2014/main" id="{2BBEE7E5-D36E-7BA4-441D-4E0F28144288}"/>
              </a:ext>
            </a:extLst>
          </p:cNvPr>
          <p:cNvSpPr txBox="1"/>
          <p:nvPr/>
        </p:nvSpPr>
        <p:spPr>
          <a:xfrm>
            <a:off x="928255" y="6077247"/>
            <a:ext cx="9985663" cy="369332"/>
          </a:xfrm>
          <a:prstGeom prst="rect">
            <a:avLst/>
          </a:prstGeom>
          <a:noFill/>
        </p:spPr>
        <p:txBody>
          <a:bodyPr wrap="square" rtlCol="0">
            <a:spAutoFit/>
          </a:bodyPr>
          <a:lstStyle/>
          <a:p>
            <a:r>
              <a:rPr kumimoji="1" lang="ja-JP" altLang="en-US" dirty="0"/>
              <a:t>テストデータその</a:t>
            </a:r>
            <a:r>
              <a:rPr kumimoji="1" lang="en-US" altLang="ja-JP" dirty="0"/>
              <a:t>1</a:t>
            </a:r>
            <a:r>
              <a:rPr kumimoji="1" lang="ja-JP" altLang="en-US" dirty="0"/>
              <a:t>：</a:t>
            </a:r>
            <a:r>
              <a:rPr lang="ja-JP" altLang="en-US" dirty="0"/>
              <a:t>訓練用のデータの問題と同じルール</a:t>
            </a:r>
            <a:endParaRPr lang="en-US" altLang="ja-JP" dirty="0"/>
          </a:p>
        </p:txBody>
      </p:sp>
    </p:spTree>
    <p:extLst>
      <p:ext uri="{BB962C8B-B14F-4D97-AF65-F5344CB8AC3E}">
        <p14:creationId xmlns:p14="http://schemas.microsoft.com/office/powerpoint/2010/main" val="2380742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03F6F-BD06-0854-878E-7EBF931FA3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35AC5F-7285-F96A-3794-860EFB46F61D}"/>
              </a:ext>
            </a:extLst>
          </p:cNvPr>
          <p:cNvSpPr>
            <a:spLocks noGrp="1"/>
          </p:cNvSpPr>
          <p:nvPr>
            <p:ph type="title"/>
          </p:nvPr>
        </p:nvSpPr>
        <p:spPr>
          <a:xfrm>
            <a:off x="838200" y="0"/>
            <a:ext cx="10515600" cy="1325563"/>
          </a:xfrm>
        </p:spPr>
        <p:txBody>
          <a:bodyPr/>
          <a:lstStyle/>
          <a:p>
            <a:r>
              <a:rPr lang="ja-JP" altLang="en-US" dirty="0"/>
              <a:t>ベースモデルの正解例の問題</a:t>
            </a:r>
            <a:endParaRPr kumimoji="1" lang="ja-JP" altLang="en-US" dirty="0"/>
          </a:p>
        </p:txBody>
      </p:sp>
      <p:sp>
        <p:nvSpPr>
          <p:cNvPr id="4" name="スライド番号プレースホルダー 3">
            <a:extLst>
              <a:ext uri="{FF2B5EF4-FFF2-40B4-BE49-F238E27FC236}">
                <a16:creationId xmlns:a16="http://schemas.microsoft.com/office/drawing/2014/main" id="{310FC054-B519-73E0-34E0-FC4A8CD20DF0}"/>
              </a:ext>
            </a:extLst>
          </p:cNvPr>
          <p:cNvSpPr>
            <a:spLocks noGrp="1"/>
          </p:cNvSpPr>
          <p:nvPr>
            <p:ph type="sldNum" sz="quarter" idx="12"/>
          </p:nvPr>
        </p:nvSpPr>
        <p:spPr/>
        <p:txBody>
          <a:bodyPr/>
          <a:lstStyle/>
          <a:p>
            <a:fld id="{10649E7B-FC1B-418B-9B6A-00859DB1DEE8}" type="slidenum">
              <a:rPr kumimoji="1" lang="ja-JP" altLang="en-US" smtClean="0"/>
              <a:t>28</a:t>
            </a:fld>
            <a:endParaRPr kumimoji="1" lang="ja-JP" altLang="en-US"/>
          </a:p>
        </p:txBody>
      </p:sp>
      <p:sp>
        <p:nvSpPr>
          <p:cNvPr id="5" name="四角形: 角を丸くする 4">
            <a:extLst>
              <a:ext uri="{FF2B5EF4-FFF2-40B4-BE49-F238E27FC236}">
                <a16:creationId xmlns:a16="http://schemas.microsoft.com/office/drawing/2014/main" id="{EAEE0D67-EC1A-0D3B-7ADE-11B6FE97E0C6}"/>
              </a:ext>
            </a:extLst>
          </p:cNvPr>
          <p:cNvSpPr/>
          <p:nvPr/>
        </p:nvSpPr>
        <p:spPr>
          <a:xfrm>
            <a:off x="1067823" y="914400"/>
            <a:ext cx="4559726" cy="585461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dirty="0"/>
              <a:t>Infer the transformation rule from examples.</a:t>
            </a:r>
          </a:p>
          <a:p>
            <a:r>
              <a:rPr lang="en-US" altLang="ja-JP" dirty="0"/>
              <a:t>Output the final array.</a:t>
            </a:r>
          </a:p>
          <a:p>
            <a:r>
              <a:rPr lang="en-US" altLang="ja-JP" dirty="0"/>
              <a:t>        </a:t>
            </a:r>
          </a:p>
          <a:p>
            <a:r>
              <a:rPr lang="en-US" altLang="ja-JP" dirty="0"/>
              <a:t>Example 1</a:t>
            </a:r>
          </a:p>
          <a:p>
            <a:r>
              <a:rPr lang="en-US" altLang="ja-JP" dirty="0"/>
              <a:t>Input:</a:t>
            </a:r>
          </a:p>
          <a:p>
            <a:r>
              <a:rPr lang="en-US" altLang="ja-JP" dirty="0"/>
              <a:t>[6, 0, 4, 8, 7, 6, 4, 7]</a:t>
            </a:r>
          </a:p>
          <a:p>
            <a:r>
              <a:rPr lang="en-US" altLang="ja-JP" dirty="0"/>
              <a:t>Output:</a:t>
            </a:r>
          </a:p>
          <a:p>
            <a:r>
              <a:rPr lang="en-US" altLang="ja-JP" dirty="0"/>
              <a:t>[7, 4, 6, 7, 8, 4, 0, 6]</a:t>
            </a:r>
          </a:p>
          <a:p>
            <a:endParaRPr lang="en-US" altLang="ja-JP" dirty="0"/>
          </a:p>
          <a:p>
            <a:r>
              <a:rPr lang="en-US" altLang="ja-JP" dirty="0"/>
              <a:t>Example 2</a:t>
            </a:r>
          </a:p>
          <a:p>
            <a:r>
              <a:rPr lang="en-US" altLang="ja-JP" dirty="0"/>
              <a:t>Input:</a:t>
            </a:r>
          </a:p>
          <a:p>
            <a:r>
              <a:rPr lang="en-US" altLang="ja-JP" dirty="0"/>
              <a:t>[9, 3, 8, 2, 4, 2, 1]</a:t>
            </a:r>
          </a:p>
          <a:p>
            <a:r>
              <a:rPr lang="en-US" altLang="ja-JP" dirty="0"/>
              <a:t>Output:</a:t>
            </a:r>
          </a:p>
          <a:p>
            <a:r>
              <a:rPr lang="en-US" altLang="ja-JP" dirty="0"/>
              <a:t>[1, 2, 4, 2, 8, 3, 9]</a:t>
            </a:r>
          </a:p>
          <a:p>
            <a:endParaRPr lang="en-US" altLang="ja-JP" dirty="0"/>
          </a:p>
          <a:p>
            <a:r>
              <a:rPr lang="en-US" altLang="ja-JP" dirty="0"/>
              <a:t>Query</a:t>
            </a:r>
          </a:p>
          <a:p>
            <a:r>
              <a:rPr lang="en-US" altLang="ja-JP" dirty="0"/>
              <a:t>Input:</a:t>
            </a:r>
          </a:p>
          <a:p>
            <a:r>
              <a:rPr lang="en-US" altLang="ja-JP" dirty="0"/>
              <a:t>[3, 5, 1, 3, 9, 3, 3]</a:t>
            </a:r>
          </a:p>
          <a:p>
            <a:r>
              <a:rPr lang="en-US" altLang="ja-JP" dirty="0"/>
              <a:t>Output:</a:t>
            </a:r>
            <a:endParaRPr kumimoji="1" lang="ja-JP" altLang="en-US" dirty="0"/>
          </a:p>
        </p:txBody>
      </p:sp>
      <p:sp>
        <p:nvSpPr>
          <p:cNvPr id="7" name="テキスト ボックス 6">
            <a:extLst>
              <a:ext uri="{FF2B5EF4-FFF2-40B4-BE49-F238E27FC236}">
                <a16:creationId xmlns:a16="http://schemas.microsoft.com/office/drawing/2014/main" id="{87E2B364-4DFD-2C02-51C0-1E418D78BA70}"/>
              </a:ext>
            </a:extLst>
          </p:cNvPr>
          <p:cNvSpPr txBox="1"/>
          <p:nvPr/>
        </p:nvSpPr>
        <p:spPr>
          <a:xfrm>
            <a:off x="284202" y="2164231"/>
            <a:ext cx="553998" cy="2246769"/>
          </a:xfrm>
          <a:prstGeom prst="rect">
            <a:avLst/>
          </a:prstGeom>
          <a:noFill/>
        </p:spPr>
        <p:txBody>
          <a:bodyPr vert="eaVert" wrap="none" rtlCol="0">
            <a:spAutoFit/>
          </a:bodyPr>
          <a:lstStyle/>
          <a:p>
            <a:r>
              <a:rPr lang="ja-JP" altLang="en-US" sz="2400" dirty="0"/>
              <a:t>実際は５つの例</a:t>
            </a:r>
            <a:endParaRPr kumimoji="1" lang="ja-JP" altLang="en-US" sz="2400" dirty="0"/>
          </a:p>
        </p:txBody>
      </p:sp>
      <p:sp>
        <p:nvSpPr>
          <p:cNvPr id="8" name="四角形: 角を丸くする 7">
            <a:extLst>
              <a:ext uri="{FF2B5EF4-FFF2-40B4-BE49-F238E27FC236}">
                <a16:creationId xmlns:a16="http://schemas.microsoft.com/office/drawing/2014/main" id="{4A09E621-D4E2-FEAA-1B4F-E07DA29F594F}"/>
              </a:ext>
            </a:extLst>
          </p:cNvPr>
          <p:cNvSpPr/>
          <p:nvPr/>
        </p:nvSpPr>
        <p:spPr>
          <a:xfrm>
            <a:off x="7597497" y="1919319"/>
            <a:ext cx="3375302" cy="202518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dirty="0"/>
              <a:t>[3, 3, 9, 3, 1, 5, 3]</a:t>
            </a:r>
            <a:endParaRPr kumimoji="1" lang="ja-JP" altLang="en-US" dirty="0"/>
          </a:p>
        </p:txBody>
      </p:sp>
      <p:sp>
        <p:nvSpPr>
          <p:cNvPr id="10" name="矢印: 左カーブ 9">
            <a:extLst>
              <a:ext uri="{FF2B5EF4-FFF2-40B4-BE49-F238E27FC236}">
                <a16:creationId xmlns:a16="http://schemas.microsoft.com/office/drawing/2014/main" id="{35E854B6-9671-388E-9C0E-32CF57FFBDCA}"/>
              </a:ext>
            </a:extLst>
          </p:cNvPr>
          <p:cNvSpPr/>
          <p:nvPr/>
        </p:nvSpPr>
        <p:spPr>
          <a:xfrm>
            <a:off x="3520287" y="2931910"/>
            <a:ext cx="362077" cy="49709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2" name="矢印: 左カーブ 11">
            <a:extLst>
              <a:ext uri="{FF2B5EF4-FFF2-40B4-BE49-F238E27FC236}">
                <a16:creationId xmlns:a16="http://schemas.microsoft.com/office/drawing/2014/main" id="{26BE2935-B56A-3337-9BC9-0C81B5425EC7}"/>
              </a:ext>
            </a:extLst>
          </p:cNvPr>
          <p:cNvSpPr/>
          <p:nvPr/>
        </p:nvSpPr>
        <p:spPr>
          <a:xfrm>
            <a:off x="3209607" y="4579445"/>
            <a:ext cx="362077" cy="49709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テキスト ボックス 12">
            <a:extLst>
              <a:ext uri="{FF2B5EF4-FFF2-40B4-BE49-F238E27FC236}">
                <a16:creationId xmlns:a16="http://schemas.microsoft.com/office/drawing/2014/main" id="{43C261DB-5CEE-5E47-6052-BA34227676ED}"/>
              </a:ext>
            </a:extLst>
          </p:cNvPr>
          <p:cNvSpPr txBox="1"/>
          <p:nvPr/>
        </p:nvSpPr>
        <p:spPr>
          <a:xfrm>
            <a:off x="3940663" y="2825950"/>
            <a:ext cx="1224315" cy="646331"/>
          </a:xfrm>
          <a:prstGeom prst="rect">
            <a:avLst/>
          </a:prstGeom>
          <a:noFill/>
        </p:spPr>
        <p:txBody>
          <a:bodyPr wrap="square" rtlCol="0">
            <a:spAutoFit/>
          </a:bodyPr>
          <a:lstStyle/>
          <a:p>
            <a:r>
              <a:rPr kumimoji="1" lang="ja-JP" altLang="en-US" dirty="0"/>
              <a:t>順番を</a:t>
            </a:r>
            <a:endParaRPr kumimoji="1" lang="en-US" altLang="ja-JP" dirty="0"/>
          </a:p>
          <a:p>
            <a:r>
              <a:rPr kumimoji="1" lang="ja-JP" altLang="en-US" dirty="0"/>
              <a:t>逆にする</a:t>
            </a:r>
          </a:p>
        </p:txBody>
      </p:sp>
      <p:sp>
        <p:nvSpPr>
          <p:cNvPr id="15" name="テキスト ボックス 14">
            <a:extLst>
              <a:ext uri="{FF2B5EF4-FFF2-40B4-BE49-F238E27FC236}">
                <a16:creationId xmlns:a16="http://schemas.microsoft.com/office/drawing/2014/main" id="{7B90F65E-2C75-8AEC-BEEC-3552FB11302C}"/>
              </a:ext>
            </a:extLst>
          </p:cNvPr>
          <p:cNvSpPr txBox="1"/>
          <p:nvPr/>
        </p:nvSpPr>
        <p:spPr>
          <a:xfrm>
            <a:off x="6781097" y="5156315"/>
            <a:ext cx="5008102" cy="461665"/>
          </a:xfrm>
          <a:prstGeom prst="rect">
            <a:avLst/>
          </a:prstGeom>
          <a:noFill/>
        </p:spPr>
        <p:txBody>
          <a:bodyPr wrap="none" rtlCol="0">
            <a:spAutoFit/>
          </a:bodyPr>
          <a:lstStyle/>
          <a:p>
            <a:r>
              <a:rPr kumimoji="1" lang="ja-JP" altLang="en-US" sz="2400" dirty="0"/>
              <a:t>このルールの問題は</a:t>
            </a:r>
            <a:r>
              <a:rPr kumimoji="1" lang="en-US" altLang="ja-JP" sz="2400" dirty="0"/>
              <a:t>10</a:t>
            </a:r>
            <a:r>
              <a:rPr kumimoji="1" lang="ja-JP" altLang="en-US" sz="2400" dirty="0"/>
              <a:t>問中</a:t>
            </a:r>
            <a:r>
              <a:rPr kumimoji="1" lang="en-US" altLang="ja-JP" sz="2400" dirty="0"/>
              <a:t>9</a:t>
            </a:r>
            <a:r>
              <a:rPr kumimoji="1" lang="ja-JP" altLang="en-US" sz="2400" dirty="0"/>
              <a:t>問正解</a:t>
            </a:r>
          </a:p>
        </p:txBody>
      </p:sp>
    </p:spTree>
    <p:extLst>
      <p:ext uri="{BB962C8B-B14F-4D97-AF65-F5344CB8AC3E}">
        <p14:creationId xmlns:p14="http://schemas.microsoft.com/office/powerpoint/2010/main" val="2830446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AEFF3-D4BF-CD8A-84D5-8469CA66E4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EDF5C5-6158-AD4E-AC3C-53FDF2F0BA1C}"/>
              </a:ext>
            </a:extLst>
          </p:cNvPr>
          <p:cNvSpPr>
            <a:spLocks noGrp="1"/>
          </p:cNvSpPr>
          <p:nvPr>
            <p:ph type="title"/>
          </p:nvPr>
        </p:nvSpPr>
        <p:spPr/>
        <p:txBody>
          <a:bodyPr/>
          <a:lstStyle/>
          <a:p>
            <a:r>
              <a:rPr kumimoji="1" lang="ja-JP" altLang="en-US" dirty="0"/>
              <a:t>ベースモデルの正解例の出力</a:t>
            </a:r>
          </a:p>
        </p:txBody>
      </p:sp>
      <p:sp>
        <p:nvSpPr>
          <p:cNvPr id="3" name="コンテンツ プレースホルダー 2">
            <a:extLst>
              <a:ext uri="{FF2B5EF4-FFF2-40B4-BE49-F238E27FC236}">
                <a16:creationId xmlns:a16="http://schemas.microsoft.com/office/drawing/2014/main" id="{A7B34F1D-19A0-4710-8C6B-93EA690D6C6A}"/>
              </a:ext>
            </a:extLst>
          </p:cNvPr>
          <p:cNvSpPr>
            <a:spLocks noGrp="1"/>
          </p:cNvSpPr>
          <p:nvPr>
            <p:ph sz="half" idx="1"/>
          </p:nvPr>
        </p:nvSpPr>
        <p:spPr>
          <a:xfrm>
            <a:off x="513455" y="1825625"/>
            <a:ext cx="5506345" cy="4351338"/>
          </a:xfrm>
        </p:spPr>
        <p:txBody>
          <a:bodyPr/>
          <a:lstStyle/>
          <a:p>
            <a:r>
              <a:rPr kumimoji="1" lang="ja-JP" altLang="en-US" dirty="0"/>
              <a:t>推論の過程を要約したもの</a:t>
            </a:r>
            <a:endParaRPr kumimoji="1" lang="en-US" altLang="ja-JP" dirty="0"/>
          </a:p>
          <a:p>
            <a:pPr lvl="1"/>
            <a:r>
              <a:rPr kumimoji="1" lang="ja-JP" altLang="en-US" dirty="0"/>
              <a:t>入出力例を比較し、数字の列の要素の位置関係を確認</a:t>
            </a:r>
            <a:endParaRPr kumimoji="1" lang="en-US" altLang="ja-JP" dirty="0"/>
          </a:p>
          <a:p>
            <a:pPr lvl="1"/>
            <a:r>
              <a:rPr kumimoji="1" lang="en-US" altLang="ja-JP" dirty="0"/>
              <a:t>Example 1</a:t>
            </a:r>
            <a:r>
              <a:rPr kumimoji="1" lang="ja-JP" altLang="en-US" dirty="0"/>
              <a:t>～</a:t>
            </a:r>
            <a:r>
              <a:rPr kumimoji="1" lang="en-US" altLang="ja-JP" dirty="0"/>
              <a:t>5</a:t>
            </a:r>
            <a:r>
              <a:rPr kumimoji="1" lang="ja-JP" altLang="en-US" dirty="0"/>
              <a:t>について、すべて入力配列の反転で出力されていることを確認</a:t>
            </a:r>
            <a:endParaRPr kumimoji="1" lang="en-US" altLang="ja-JP" dirty="0"/>
          </a:p>
          <a:p>
            <a:pPr lvl="1"/>
            <a:r>
              <a:rPr lang="ja-JP" altLang="ja-JP" dirty="0"/>
              <a:t>変換ルールを判断</a:t>
            </a:r>
            <a:endParaRPr lang="en-US" altLang="ja-JP" dirty="0"/>
          </a:p>
          <a:p>
            <a:pPr lvl="1"/>
            <a:r>
              <a:rPr kumimoji="1" lang="en-US" altLang="ja-JP" dirty="0"/>
              <a:t>Query</a:t>
            </a:r>
            <a:r>
              <a:rPr lang="ja-JP" altLang="en-US" dirty="0"/>
              <a:t>の数字の列にルール</a:t>
            </a:r>
            <a:r>
              <a:rPr kumimoji="1" lang="ja-JP" altLang="en-US" dirty="0"/>
              <a:t>を適用</a:t>
            </a:r>
            <a:endParaRPr kumimoji="1" lang="en-US" altLang="ja-JP" dirty="0"/>
          </a:p>
          <a:p>
            <a:pPr lvl="1"/>
            <a:r>
              <a:rPr lang="ja-JP" altLang="en-US" dirty="0"/>
              <a:t>これは要約したものなので本来はもっと長くて人間っぽい</a:t>
            </a:r>
            <a:endParaRPr kumimoji="1" lang="ja-JP" altLang="en-US" dirty="0"/>
          </a:p>
        </p:txBody>
      </p:sp>
      <p:sp>
        <p:nvSpPr>
          <p:cNvPr id="4" name="コンテンツ プレースホルダー 3">
            <a:extLst>
              <a:ext uri="{FF2B5EF4-FFF2-40B4-BE49-F238E27FC236}">
                <a16:creationId xmlns:a16="http://schemas.microsoft.com/office/drawing/2014/main" id="{54B42313-F24A-AFF4-9140-E82DE17B3048}"/>
              </a:ext>
            </a:extLst>
          </p:cNvPr>
          <p:cNvSpPr>
            <a:spLocks noGrp="1"/>
          </p:cNvSpPr>
          <p:nvPr>
            <p:ph sz="half" idx="2"/>
          </p:nvPr>
        </p:nvSpPr>
        <p:spPr/>
        <p:txBody>
          <a:bodyPr/>
          <a:lstStyle/>
          <a:p>
            <a:r>
              <a:rPr kumimoji="1" lang="ja-JP" altLang="en-US" dirty="0"/>
              <a:t>最終的な回答</a:t>
            </a:r>
          </a:p>
        </p:txBody>
      </p:sp>
      <p:sp>
        <p:nvSpPr>
          <p:cNvPr id="5" name="スライド番号プレースホルダー 4">
            <a:extLst>
              <a:ext uri="{FF2B5EF4-FFF2-40B4-BE49-F238E27FC236}">
                <a16:creationId xmlns:a16="http://schemas.microsoft.com/office/drawing/2014/main" id="{9D455210-B3A3-D915-3739-CC1E3D2C59BE}"/>
              </a:ext>
            </a:extLst>
          </p:cNvPr>
          <p:cNvSpPr>
            <a:spLocks noGrp="1"/>
          </p:cNvSpPr>
          <p:nvPr>
            <p:ph type="sldNum" sz="quarter" idx="12"/>
          </p:nvPr>
        </p:nvSpPr>
        <p:spPr/>
        <p:txBody>
          <a:bodyPr/>
          <a:lstStyle/>
          <a:p>
            <a:fld id="{10649E7B-FC1B-418B-9B6A-00859DB1DEE8}" type="slidenum">
              <a:rPr kumimoji="1" lang="ja-JP" altLang="en-US" smtClean="0"/>
              <a:t>29</a:t>
            </a:fld>
            <a:endParaRPr kumimoji="1" lang="ja-JP" altLang="en-US"/>
          </a:p>
        </p:txBody>
      </p:sp>
      <p:sp>
        <p:nvSpPr>
          <p:cNvPr id="6" name="四角形: 角を丸くする 5">
            <a:extLst>
              <a:ext uri="{FF2B5EF4-FFF2-40B4-BE49-F238E27FC236}">
                <a16:creationId xmlns:a16="http://schemas.microsoft.com/office/drawing/2014/main" id="{8A839E9B-DC5F-B795-BA48-54A00C7687CA}"/>
              </a:ext>
            </a:extLst>
          </p:cNvPr>
          <p:cNvSpPr/>
          <p:nvPr/>
        </p:nvSpPr>
        <p:spPr>
          <a:xfrm>
            <a:off x="6321020" y="2460902"/>
            <a:ext cx="5357525" cy="389544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altLang="ja-JP" dirty="0"/>
              <a:t>The transformation rule appears to be reversing the input array. </a:t>
            </a:r>
          </a:p>
          <a:p>
            <a:endParaRPr lang="en-US" altLang="ja-JP" dirty="0"/>
          </a:p>
          <a:p>
            <a:r>
              <a:rPr lang="en-US" altLang="ja-JP" dirty="0"/>
              <a:t>For the input `[3, 5, 1, 3, 9, 3, 3]`, reversing the elements gives:</a:t>
            </a:r>
          </a:p>
          <a:p>
            <a:endParaRPr lang="en-US" altLang="ja-JP" dirty="0"/>
          </a:p>
          <a:p>
            <a:r>
              <a:rPr lang="en-US" altLang="ja-JP" dirty="0"/>
              <a:t>**Output:**  </a:t>
            </a:r>
          </a:p>
          <a:p>
            <a:r>
              <a:rPr lang="en-US" altLang="ja-JP" dirty="0"/>
              <a:t>[3, 3, 9, 3, 1, 5, 3]  </a:t>
            </a:r>
          </a:p>
          <a:p>
            <a:endParaRPr lang="en-US" altLang="ja-JP" dirty="0"/>
          </a:p>
          <a:p>
            <a:r>
              <a:rPr lang="en-US" altLang="ja-JP" dirty="0"/>
              <a:t>**Final Answer:**  </a:t>
            </a:r>
          </a:p>
          <a:p>
            <a:r>
              <a:rPr lang="en-US" altLang="ja-JP" dirty="0"/>
              <a:t>[3, 3, 9, 3, 1, 5, 3]</a:t>
            </a:r>
            <a:endParaRPr kumimoji="1" lang="ja-JP" altLang="en-US" dirty="0"/>
          </a:p>
        </p:txBody>
      </p:sp>
    </p:spTree>
    <p:extLst>
      <p:ext uri="{BB962C8B-B14F-4D97-AF65-F5344CB8AC3E}">
        <p14:creationId xmlns:p14="http://schemas.microsoft.com/office/powerpoint/2010/main" val="1980460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155AC-23AE-DA91-0704-22182593BE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A11CED-FC49-04F0-7514-474EB3DCBECA}"/>
              </a:ext>
            </a:extLst>
          </p:cNvPr>
          <p:cNvSpPr>
            <a:spLocks noGrp="1"/>
          </p:cNvSpPr>
          <p:nvPr>
            <p:ph type="title"/>
          </p:nvPr>
        </p:nvSpPr>
        <p:spPr>
          <a:xfrm>
            <a:off x="838200" y="0"/>
            <a:ext cx="10515600" cy="1325563"/>
          </a:xfrm>
        </p:spPr>
        <p:txBody>
          <a:bodyPr/>
          <a:lstStyle/>
          <a:p>
            <a:r>
              <a:rPr lang="ja-JP" altLang="en-US" dirty="0"/>
              <a:t>ベースモデルの失敗例の問題</a:t>
            </a:r>
            <a:endParaRPr kumimoji="1" lang="ja-JP" altLang="en-US" dirty="0"/>
          </a:p>
        </p:txBody>
      </p:sp>
      <p:sp>
        <p:nvSpPr>
          <p:cNvPr id="4" name="スライド番号プレースホルダー 3">
            <a:extLst>
              <a:ext uri="{FF2B5EF4-FFF2-40B4-BE49-F238E27FC236}">
                <a16:creationId xmlns:a16="http://schemas.microsoft.com/office/drawing/2014/main" id="{3A2DAA9C-E67E-B699-44B6-38F997EB1AC9}"/>
              </a:ext>
            </a:extLst>
          </p:cNvPr>
          <p:cNvSpPr>
            <a:spLocks noGrp="1"/>
          </p:cNvSpPr>
          <p:nvPr>
            <p:ph type="sldNum" sz="quarter" idx="12"/>
          </p:nvPr>
        </p:nvSpPr>
        <p:spPr/>
        <p:txBody>
          <a:bodyPr/>
          <a:lstStyle/>
          <a:p>
            <a:fld id="{10649E7B-FC1B-418B-9B6A-00859DB1DEE8}" type="slidenum">
              <a:rPr kumimoji="1" lang="ja-JP" altLang="en-US" smtClean="0"/>
              <a:t>30</a:t>
            </a:fld>
            <a:endParaRPr kumimoji="1" lang="ja-JP" altLang="en-US"/>
          </a:p>
        </p:txBody>
      </p:sp>
      <p:sp>
        <p:nvSpPr>
          <p:cNvPr id="5" name="四角形: 角を丸くする 4">
            <a:extLst>
              <a:ext uri="{FF2B5EF4-FFF2-40B4-BE49-F238E27FC236}">
                <a16:creationId xmlns:a16="http://schemas.microsoft.com/office/drawing/2014/main" id="{AB280D72-8DFD-BE79-06E6-A444A4B62ACA}"/>
              </a:ext>
            </a:extLst>
          </p:cNvPr>
          <p:cNvSpPr/>
          <p:nvPr/>
        </p:nvSpPr>
        <p:spPr>
          <a:xfrm>
            <a:off x="1067823" y="914400"/>
            <a:ext cx="4559726" cy="585461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dirty="0"/>
              <a:t>Infer the transformation rule from examples.</a:t>
            </a:r>
          </a:p>
          <a:p>
            <a:r>
              <a:rPr lang="en-US" altLang="ja-JP" dirty="0"/>
              <a:t>Output the final array.</a:t>
            </a:r>
          </a:p>
          <a:p>
            <a:r>
              <a:rPr lang="en-US" altLang="ja-JP" dirty="0"/>
              <a:t>        </a:t>
            </a:r>
          </a:p>
          <a:p>
            <a:r>
              <a:rPr lang="en-US" altLang="ja-JP" dirty="0"/>
              <a:t>Example 1</a:t>
            </a:r>
          </a:p>
          <a:p>
            <a:r>
              <a:rPr lang="en-US" altLang="ja-JP" dirty="0"/>
              <a:t>Input:</a:t>
            </a:r>
          </a:p>
          <a:p>
            <a:r>
              <a:rPr lang="en-US" altLang="ja-JP" dirty="0"/>
              <a:t>[4, 5, 8, 0, 7, 3, 0, 2, 1]</a:t>
            </a:r>
          </a:p>
          <a:p>
            <a:r>
              <a:rPr lang="en-US" altLang="ja-JP" dirty="0"/>
              <a:t>Output:</a:t>
            </a:r>
          </a:p>
          <a:p>
            <a:r>
              <a:rPr lang="en-US" altLang="ja-JP" dirty="0"/>
              <a:t>[1, 2, 0, 3, 7, 0, 8, 5, 4]</a:t>
            </a:r>
          </a:p>
          <a:p>
            <a:endParaRPr lang="en-US" altLang="ja-JP" dirty="0"/>
          </a:p>
          <a:p>
            <a:r>
              <a:rPr lang="en-US" altLang="ja-JP" dirty="0"/>
              <a:t>Example 2</a:t>
            </a:r>
          </a:p>
          <a:p>
            <a:r>
              <a:rPr lang="en-US" altLang="ja-JP" dirty="0"/>
              <a:t>Input:</a:t>
            </a:r>
          </a:p>
          <a:p>
            <a:r>
              <a:rPr lang="en-US" altLang="ja-JP" dirty="0"/>
              <a:t>[7, 3, 6, 8, 1, 9, 3]</a:t>
            </a:r>
          </a:p>
          <a:p>
            <a:r>
              <a:rPr lang="en-US" altLang="ja-JP" dirty="0"/>
              <a:t>Output:</a:t>
            </a:r>
          </a:p>
          <a:p>
            <a:r>
              <a:rPr lang="en-US" altLang="ja-JP" dirty="0"/>
              <a:t>[3, 9, 1, 8, 6, 3, 7]</a:t>
            </a:r>
          </a:p>
          <a:p>
            <a:endParaRPr lang="en-US" altLang="ja-JP" dirty="0"/>
          </a:p>
          <a:p>
            <a:r>
              <a:rPr lang="en-US" altLang="ja-JP" dirty="0"/>
              <a:t>Query</a:t>
            </a:r>
          </a:p>
          <a:p>
            <a:r>
              <a:rPr lang="en-US" altLang="ja-JP" dirty="0"/>
              <a:t>Input:</a:t>
            </a:r>
          </a:p>
          <a:p>
            <a:r>
              <a:rPr lang="en-US" altLang="ja-JP" dirty="0"/>
              <a:t>[5, 3, 8, 3, 2, 3, 6]</a:t>
            </a:r>
          </a:p>
          <a:p>
            <a:r>
              <a:rPr lang="en-US" altLang="ja-JP" dirty="0"/>
              <a:t>Output:</a:t>
            </a:r>
            <a:endParaRPr kumimoji="1" lang="ja-JP" altLang="en-US" dirty="0"/>
          </a:p>
        </p:txBody>
      </p:sp>
      <p:sp>
        <p:nvSpPr>
          <p:cNvPr id="7" name="テキスト ボックス 6">
            <a:extLst>
              <a:ext uri="{FF2B5EF4-FFF2-40B4-BE49-F238E27FC236}">
                <a16:creationId xmlns:a16="http://schemas.microsoft.com/office/drawing/2014/main" id="{0184B53A-112F-ACA2-BBD9-973AFE861792}"/>
              </a:ext>
            </a:extLst>
          </p:cNvPr>
          <p:cNvSpPr txBox="1"/>
          <p:nvPr/>
        </p:nvSpPr>
        <p:spPr>
          <a:xfrm>
            <a:off x="284202" y="2164231"/>
            <a:ext cx="553998" cy="2246769"/>
          </a:xfrm>
          <a:prstGeom prst="rect">
            <a:avLst/>
          </a:prstGeom>
          <a:noFill/>
        </p:spPr>
        <p:txBody>
          <a:bodyPr vert="eaVert" wrap="none" rtlCol="0">
            <a:spAutoFit/>
          </a:bodyPr>
          <a:lstStyle/>
          <a:p>
            <a:r>
              <a:rPr lang="ja-JP" altLang="en-US" sz="2400" dirty="0"/>
              <a:t>実際は５つの例</a:t>
            </a:r>
            <a:endParaRPr kumimoji="1" lang="ja-JP" altLang="en-US" sz="2400" dirty="0"/>
          </a:p>
        </p:txBody>
      </p:sp>
      <p:sp>
        <p:nvSpPr>
          <p:cNvPr id="8" name="四角形: 角を丸くする 7">
            <a:extLst>
              <a:ext uri="{FF2B5EF4-FFF2-40B4-BE49-F238E27FC236}">
                <a16:creationId xmlns:a16="http://schemas.microsoft.com/office/drawing/2014/main" id="{33705CDB-B9BC-D70C-16FE-D8B3E75C950F}"/>
              </a:ext>
            </a:extLst>
          </p:cNvPr>
          <p:cNvSpPr/>
          <p:nvPr/>
        </p:nvSpPr>
        <p:spPr>
          <a:xfrm>
            <a:off x="7572950" y="2902760"/>
            <a:ext cx="3375302" cy="202518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dirty="0"/>
              <a:t>[6, 3, 2, 3, 8, 3, 5]</a:t>
            </a:r>
            <a:endParaRPr kumimoji="1" lang="ja-JP" altLang="en-US" dirty="0"/>
          </a:p>
        </p:txBody>
      </p:sp>
      <p:sp>
        <p:nvSpPr>
          <p:cNvPr id="10" name="矢印: 左カーブ 9">
            <a:extLst>
              <a:ext uri="{FF2B5EF4-FFF2-40B4-BE49-F238E27FC236}">
                <a16:creationId xmlns:a16="http://schemas.microsoft.com/office/drawing/2014/main" id="{E6366FDD-25BD-7074-A4BF-0882E0F64D46}"/>
              </a:ext>
            </a:extLst>
          </p:cNvPr>
          <p:cNvSpPr/>
          <p:nvPr/>
        </p:nvSpPr>
        <p:spPr>
          <a:xfrm>
            <a:off x="3717177" y="2919636"/>
            <a:ext cx="362077" cy="49709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2" name="矢印: 左カーブ 11">
            <a:extLst>
              <a:ext uri="{FF2B5EF4-FFF2-40B4-BE49-F238E27FC236}">
                <a16:creationId xmlns:a16="http://schemas.microsoft.com/office/drawing/2014/main" id="{CCE33A0F-FECC-06A5-E250-C8DC00EE7195}"/>
              </a:ext>
            </a:extLst>
          </p:cNvPr>
          <p:cNvSpPr/>
          <p:nvPr/>
        </p:nvSpPr>
        <p:spPr>
          <a:xfrm>
            <a:off x="3209607" y="4579445"/>
            <a:ext cx="362077" cy="49709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テキスト ボックス 12">
            <a:extLst>
              <a:ext uri="{FF2B5EF4-FFF2-40B4-BE49-F238E27FC236}">
                <a16:creationId xmlns:a16="http://schemas.microsoft.com/office/drawing/2014/main" id="{DB8627A1-79A9-28D7-592B-BEC633D239EF}"/>
              </a:ext>
            </a:extLst>
          </p:cNvPr>
          <p:cNvSpPr txBox="1"/>
          <p:nvPr/>
        </p:nvSpPr>
        <p:spPr>
          <a:xfrm>
            <a:off x="4149318" y="2845015"/>
            <a:ext cx="1224315" cy="646331"/>
          </a:xfrm>
          <a:prstGeom prst="rect">
            <a:avLst/>
          </a:prstGeom>
          <a:noFill/>
        </p:spPr>
        <p:txBody>
          <a:bodyPr wrap="square" rtlCol="0">
            <a:spAutoFit/>
          </a:bodyPr>
          <a:lstStyle/>
          <a:p>
            <a:r>
              <a:rPr kumimoji="1" lang="ja-JP" altLang="en-US" dirty="0"/>
              <a:t>順番を</a:t>
            </a:r>
            <a:endParaRPr kumimoji="1" lang="en-US" altLang="ja-JP" dirty="0"/>
          </a:p>
          <a:p>
            <a:r>
              <a:rPr kumimoji="1" lang="ja-JP" altLang="en-US" dirty="0"/>
              <a:t>逆にする</a:t>
            </a:r>
          </a:p>
        </p:txBody>
      </p:sp>
    </p:spTree>
    <p:extLst>
      <p:ext uri="{BB962C8B-B14F-4D97-AF65-F5344CB8AC3E}">
        <p14:creationId xmlns:p14="http://schemas.microsoft.com/office/powerpoint/2010/main" val="3865841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E127-01DB-D6D0-2B20-3CA05D2AFC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655818-1284-4AC0-BCCE-3218E83617C4}"/>
              </a:ext>
            </a:extLst>
          </p:cNvPr>
          <p:cNvSpPr>
            <a:spLocks noGrp="1"/>
          </p:cNvSpPr>
          <p:nvPr>
            <p:ph type="title"/>
          </p:nvPr>
        </p:nvSpPr>
        <p:spPr/>
        <p:txBody>
          <a:bodyPr/>
          <a:lstStyle/>
          <a:p>
            <a:r>
              <a:rPr kumimoji="1" lang="ja-JP" altLang="en-US" dirty="0"/>
              <a:t>ベースモデルの失敗例の出力</a:t>
            </a:r>
          </a:p>
        </p:txBody>
      </p:sp>
      <p:sp>
        <p:nvSpPr>
          <p:cNvPr id="3" name="コンテンツ プレースホルダー 2">
            <a:extLst>
              <a:ext uri="{FF2B5EF4-FFF2-40B4-BE49-F238E27FC236}">
                <a16:creationId xmlns:a16="http://schemas.microsoft.com/office/drawing/2014/main" id="{B11B1470-198B-16C4-7A26-695FD9C6237B}"/>
              </a:ext>
            </a:extLst>
          </p:cNvPr>
          <p:cNvSpPr>
            <a:spLocks noGrp="1"/>
          </p:cNvSpPr>
          <p:nvPr>
            <p:ph idx="1"/>
          </p:nvPr>
        </p:nvSpPr>
        <p:spPr/>
        <p:txBody>
          <a:bodyPr/>
          <a:lstStyle/>
          <a:p>
            <a:r>
              <a:rPr lang="ja-JP" altLang="en-US" dirty="0"/>
              <a:t>推論の過程を要約したもの</a:t>
            </a:r>
            <a:endParaRPr lang="en-US" altLang="ja-JP" dirty="0"/>
          </a:p>
          <a:p>
            <a:pPr lvl="1"/>
            <a:r>
              <a:rPr lang="ja-JP" altLang="ja-JP" dirty="0"/>
              <a:t>Example 1から出力の要素位置を確認</a:t>
            </a:r>
            <a:endParaRPr lang="en-US" altLang="ja-JP" dirty="0"/>
          </a:p>
          <a:p>
            <a:pPr lvl="1"/>
            <a:r>
              <a:rPr lang="ja-JP" altLang="en-US" dirty="0"/>
              <a:t>「順序を逆にするルール」</a:t>
            </a:r>
            <a:r>
              <a:rPr kumimoji="1" lang="ja-JP" altLang="en-US" dirty="0"/>
              <a:t>の可能性を検討するが、途中で否定 </a:t>
            </a:r>
          </a:p>
          <a:p>
            <a:pPr lvl="1"/>
            <a:r>
              <a:rPr kumimoji="1" lang="en-US" altLang="ja-JP" dirty="0"/>
              <a:t>Example 2</a:t>
            </a:r>
            <a:r>
              <a:rPr kumimoji="1" lang="ja-JP" altLang="en-US" dirty="0"/>
              <a:t>以降について、要素の位置関係を繰り返し検討 </a:t>
            </a:r>
          </a:p>
          <a:p>
            <a:pPr lvl="1"/>
            <a:r>
              <a:rPr kumimoji="1" lang="ja-JP" altLang="en-US" dirty="0"/>
              <a:t>明確なルールを特定できないまま推論が長大化</a:t>
            </a:r>
            <a:endParaRPr kumimoji="1" lang="en-US" altLang="ja-JP" dirty="0"/>
          </a:p>
          <a:p>
            <a:pPr lvl="2"/>
            <a:r>
              <a:rPr lang="ja-JP" altLang="en-US" dirty="0"/>
              <a:t>ただ当てはまりそうなルールを提示するだけで、検証はしなくなってしまった。</a:t>
            </a:r>
            <a:endParaRPr lang="en-US" altLang="ja-JP" dirty="0"/>
          </a:p>
          <a:p>
            <a:pPr lvl="2"/>
            <a:r>
              <a:rPr lang="ja-JP" altLang="en-US" dirty="0"/>
              <a:t>トークンの上限</a:t>
            </a:r>
            <a:r>
              <a:rPr lang="en-US" altLang="ja-JP" dirty="0"/>
              <a:t>(4096</a:t>
            </a:r>
            <a:r>
              <a:rPr lang="ja-JP" altLang="en-US" dirty="0"/>
              <a:t>トークンが上限</a:t>
            </a:r>
            <a:r>
              <a:rPr lang="en-US" altLang="ja-JP" dirty="0"/>
              <a:t>)</a:t>
            </a:r>
            <a:r>
              <a:rPr lang="ja-JP" altLang="en-US" dirty="0"/>
              <a:t>まで</a:t>
            </a:r>
            <a:r>
              <a:rPr kumimoji="1" lang="ja-JP" altLang="en-US" dirty="0"/>
              <a:t>ひたすらルールを提示し続ける</a:t>
            </a:r>
          </a:p>
          <a:p>
            <a:pPr lvl="1"/>
            <a:r>
              <a:rPr kumimoji="1" lang="ja-JP" altLang="en-US" dirty="0"/>
              <a:t>最終的な変換ルール・出力を正しく導出できず</a:t>
            </a:r>
          </a:p>
          <a:p>
            <a:pPr lvl="1"/>
            <a:endParaRPr kumimoji="1" lang="ja-JP" altLang="en-US" dirty="0"/>
          </a:p>
        </p:txBody>
      </p:sp>
      <p:sp>
        <p:nvSpPr>
          <p:cNvPr id="4" name="スライド番号プレースホルダー 3">
            <a:extLst>
              <a:ext uri="{FF2B5EF4-FFF2-40B4-BE49-F238E27FC236}">
                <a16:creationId xmlns:a16="http://schemas.microsoft.com/office/drawing/2014/main" id="{69EB4058-FB60-4537-8733-2D55BD316CAD}"/>
              </a:ext>
            </a:extLst>
          </p:cNvPr>
          <p:cNvSpPr>
            <a:spLocks noGrp="1"/>
          </p:cNvSpPr>
          <p:nvPr>
            <p:ph type="sldNum" sz="quarter" idx="12"/>
          </p:nvPr>
        </p:nvSpPr>
        <p:spPr/>
        <p:txBody>
          <a:bodyPr/>
          <a:lstStyle/>
          <a:p>
            <a:fld id="{10649E7B-FC1B-418B-9B6A-00859DB1DEE8}" type="slidenum">
              <a:rPr kumimoji="1" lang="ja-JP" altLang="en-US" smtClean="0"/>
              <a:t>31</a:t>
            </a:fld>
            <a:endParaRPr kumimoji="1" lang="ja-JP" altLang="en-US"/>
          </a:p>
        </p:txBody>
      </p:sp>
    </p:spTree>
    <p:extLst>
      <p:ext uri="{BB962C8B-B14F-4D97-AF65-F5344CB8AC3E}">
        <p14:creationId xmlns:p14="http://schemas.microsoft.com/office/powerpoint/2010/main" val="2619576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33447-95BD-7EA9-862C-8D7AEEB895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387BC2-EA76-6F82-BA51-31113823025C}"/>
              </a:ext>
            </a:extLst>
          </p:cNvPr>
          <p:cNvSpPr>
            <a:spLocks noGrp="1"/>
          </p:cNvSpPr>
          <p:nvPr>
            <p:ph type="title"/>
          </p:nvPr>
        </p:nvSpPr>
        <p:spPr>
          <a:xfrm>
            <a:off x="692190" y="304427"/>
            <a:ext cx="10807615" cy="1325563"/>
          </a:xfrm>
        </p:spPr>
        <p:txBody>
          <a:bodyPr>
            <a:normAutofit fontScale="90000"/>
          </a:bodyPr>
          <a:lstStyle/>
          <a:p>
            <a:r>
              <a:rPr kumimoji="1" lang="ja-JP" altLang="en-US" dirty="0"/>
              <a:t>ベースモデルの出力の分析</a:t>
            </a:r>
            <a:br>
              <a:rPr kumimoji="1" lang="en-US" altLang="ja-JP" dirty="0"/>
            </a:br>
            <a:r>
              <a:rPr kumimoji="1" lang="en-US" altLang="ja-JP" dirty="0"/>
              <a:t>(</a:t>
            </a:r>
            <a:r>
              <a:rPr kumimoji="1" lang="ja-JP" altLang="en-US" dirty="0"/>
              <a:t>トークン上限で終了した場合と正解率の関係</a:t>
            </a:r>
            <a:r>
              <a:rPr kumimoji="1"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7DC44DD3-DD57-5936-27B2-9CCB5B7B8975}"/>
              </a:ext>
            </a:extLst>
          </p:cNvPr>
          <p:cNvSpPr>
            <a:spLocks noGrp="1"/>
          </p:cNvSpPr>
          <p:nvPr>
            <p:ph type="sldNum" sz="quarter" idx="12"/>
          </p:nvPr>
        </p:nvSpPr>
        <p:spPr/>
        <p:txBody>
          <a:bodyPr/>
          <a:lstStyle/>
          <a:p>
            <a:fld id="{10649E7B-FC1B-418B-9B6A-00859DB1DEE8}" type="slidenum">
              <a:rPr kumimoji="1" lang="ja-JP" altLang="en-US" smtClean="0"/>
              <a:t>32</a:t>
            </a:fld>
            <a:endParaRPr kumimoji="1" lang="ja-JP" altLang="en-US"/>
          </a:p>
        </p:txBody>
      </p:sp>
      <p:sp>
        <p:nvSpPr>
          <p:cNvPr id="6" name="テキスト ボックス 5">
            <a:extLst>
              <a:ext uri="{FF2B5EF4-FFF2-40B4-BE49-F238E27FC236}">
                <a16:creationId xmlns:a16="http://schemas.microsoft.com/office/drawing/2014/main" id="{966904C0-171A-64E3-375B-44B4C83CC13A}"/>
              </a:ext>
            </a:extLst>
          </p:cNvPr>
          <p:cNvSpPr txBox="1"/>
          <p:nvPr/>
        </p:nvSpPr>
        <p:spPr>
          <a:xfrm>
            <a:off x="838200" y="6169709"/>
            <a:ext cx="10017999" cy="646331"/>
          </a:xfrm>
          <a:prstGeom prst="rect">
            <a:avLst/>
          </a:prstGeom>
          <a:noFill/>
        </p:spPr>
        <p:txBody>
          <a:bodyPr wrap="square">
            <a:spAutoFit/>
          </a:bodyPr>
          <a:lstStyle/>
          <a:p>
            <a:r>
              <a:rPr kumimoji="1" lang="ja-JP" altLang="en-US" sz="1800" dirty="0"/>
              <a:t>テストデータその</a:t>
            </a:r>
            <a:r>
              <a:rPr kumimoji="1" lang="en-US" altLang="ja-JP" sz="1800" dirty="0"/>
              <a:t>1</a:t>
            </a:r>
            <a:r>
              <a:rPr kumimoji="1" lang="ja-JP" altLang="en-US" sz="1800" dirty="0"/>
              <a:t>：</a:t>
            </a:r>
            <a:r>
              <a:rPr lang="ja-JP" altLang="en-US" sz="1800" dirty="0"/>
              <a:t>訓練用のデータの問題と同じルール</a:t>
            </a:r>
            <a:endParaRPr lang="en-US" altLang="ja-JP" sz="1800" dirty="0"/>
          </a:p>
          <a:p>
            <a:r>
              <a:rPr lang="ja-JP" altLang="en-US" dirty="0"/>
              <a:t>テストデータその</a:t>
            </a:r>
            <a:r>
              <a:rPr lang="en-US" altLang="ja-JP" dirty="0"/>
              <a:t>2</a:t>
            </a:r>
            <a:r>
              <a:rPr lang="ja-JP" altLang="en-US" dirty="0"/>
              <a:t>：</a:t>
            </a:r>
            <a:r>
              <a:rPr lang="ja-JP" altLang="ja-JP" dirty="0"/>
              <a:t>処理単体としては同じだけど</a:t>
            </a:r>
            <a:r>
              <a:rPr lang="ja-JP" altLang="en-US" dirty="0"/>
              <a:t>訓練用のデータでは出なかった組み合わせ</a:t>
            </a:r>
            <a:endParaRPr lang="en-US" altLang="ja-JP" dirty="0"/>
          </a:p>
        </p:txBody>
      </p:sp>
      <p:graphicFrame>
        <p:nvGraphicFramePr>
          <p:cNvPr id="7" name="コンテンツ プレースホルダー 4">
            <a:extLst>
              <a:ext uri="{FF2B5EF4-FFF2-40B4-BE49-F238E27FC236}">
                <a16:creationId xmlns:a16="http://schemas.microsoft.com/office/drawing/2014/main" id="{C2F8BD4B-B6BA-27AD-EE9C-BB4A5DCC4DA7}"/>
              </a:ext>
            </a:extLst>
          </p:cNvPr>
          <p:cNvGraphicFramePr>
            <a:graphicFrameLocks noGrp="1"/>
          </p:cNvGraphicFramePr>
          <p:nvPr>
            <p:ph idx="1"/>
          </p:nvPr>
        </p:nvGraphicFramePr>
        <p:xfrm>
          <a:off x="838200" y="1825626"/>
          <a:ext cx="10515597" cy="227997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400479776"/>
                    </a:ext>
                  </a:extLst>
                </a:gridCol>
                <a:gridCol w="3505199">
                  <a:extLst>
                    <a:ext uri="{9D8B030D-6E8A-4147-A177-3AD203B41FA5}">
                      <a16:colId xmlns:a16="http://schemas.microsoft.com/office/drawing/2014/main" val="2466992613"/>
                    </a:ext>
                  </a:extLst>
                </a:gridCol>
                <a:gridCol w="3505199">
                  <a:extLst>
                    <a:ext uri="{9D8B030D-6E8A-4147-A177-3AD203B41FA5}">
                      <a16:colId xmlns:a16="http://schemas.microsoft.com/office/drawing/2014/main" val="3550539996"/>
                    </a:ext>
                  </a:extLst>
                </a:gridCol>
              </a:tblGrid>
              <a:tr h="759990">
                <a:tc>
                  <a:txBody>
                    <a:bodyPr/>
                    <a:lstStyle/>
                    <a:p>
                      <a:pPr algn="ctr"/>
                      <a:endParaRPr kumimoji="1" lang="ja-JP" altLang="en-US" dirty="0"/>
                    </a:p>
                  </a:txBody>
                  <a:tcPr anchor="ctr"/>
                </a:tc>
                <a:tc>
                  <a:txBody>
                    <a:bodyPr/>
                    <a:lstStyle/>
                    <a:p>
                      <a:pPr algn="ctr"/>
                      <a:r>
                        <a:rPr kumimoji="1" lang="ja-JP" altLang="en-US" dirty="0"/>
                        <a:t>通常終了</a:t>
                      </a:r>
                    </a:p>
                  </a:txBody>
                  <a:tcPr anchor="ctr"/>
                </a:tc>
                <a:tc>
                  <a:txBody>
                    <a:bodyPr/>
                    <a:lstStyle/>
                    <a:p>
                      <a:pPr algn="ctr"/>
                      <a:r>
                        <a:rPr kumimoji="1" lang="ja-JP" altLang="en-US" dirty="0"/>
                        <a:t>トークン上限到達</a:t>
                      </a:r>
                      <a:r>
                        <a:rPr kumimoji="1" lang="en-US" altLang="ja-JP" dirty="0"/>
                        <a:t>(</a:t>
                      </a:r>
                      <a:r>
                        <a:rPr kumimoji="1" lang="ja-JP" altLang="en-US" dirty="0"/>
                        <a:t>上限は</a:t>
                      </a:r>
                      <a:r>
                        <a:rPr kumimoji="1" lang="en-US" altLang="ja-JP" dirty="0"/>
                        <a:t>8192)</a:t>
                      </a:r>
                      <a:endParaRPr kumimoji="1" lang="ja-JP" altLang="en-US" dirty="0"/>
                    </a:p>
                  </a:txBody>
                  <a:tcPr anchor="ctr"/>
                </a:tc>
                <a:extLst>
                  <a:ext uri="{0D108BD9-81ED-4DB2-BD59-A6C34878D82A}">
                    <a16:rowId xmlns:a16="http://schemas.microsoft.com/office/drawing/2014/main" val="275587262"/>
                  </a:ext>
                </a:extLst>
              </a:tr>
              <a:tr h="759990">
                <a:tc>
                  <a:txBody>
                    <a:bodyPr/>
                    <a:lstStyle/>
                    <a:p>
                      <a:pPr algn="ctr"/>
                      <a:r>
                        <a:rPr kumimoji="1" lang="ja-JP" altLang="en-US" dirty="0"/>
                        <a:t>正解</a:t>
                      </a:r>
                    </a:p>
                  </a:txBody>
                  <a:tcPr anchor="ctr"/>
                </a:tc>
                <a:tc>
                  <a:txBody>
                    <a:bodyPr/>
                    <a:lstStyle/>
                    <a:p>
                      <a:pPr algn="ctr"/>
                      <a:r>
                        <a:rPr kumimoji="1" lang="ja-JP" altLang="ja-JP" sz="1800" b="0" i="0" kern="1200" dirty="0">
                          <a:solidFill>
                            <a:schemeClr val="dk1"/>
                          </a:solidFill>
                          <a:effectLst/>
                          <a:latin typeface="+mn-lt"/>
                          <a:ea typeface="+mn-ea"/>
                          <a:cs typeface="+mn-cs"/>
                        </a:rPr>
                        <a:t>254</a:t>
                      </a:r>
                      <a:endParaRPr kumimoji="1" lang="ja-JP" altLang="en-US" dirty="0"/>
                    </a:p>
                  </a:txBody>
                  <a:tcPr anchor="ctr"/>
                </a:tc>
                <a:tc>
                  <a:txBody>
                    <a:bodyPr/>
                    <a:lstStyle/>
                    <a:p>
                      <a:pPr algn="ctr"/>
                      <a:r>
                        <a:rPr kumimoji="1" lang="ja-JP" altLang="ja-JP" sz="1800" b="0" i="0" kern="1200" dirty="0">
                          <a:solidFill>
                            <a:schemeClr val="dk1"/>
                          </a:solidFill>
                          <a:effectLst/>
                          <a:latin typeface="+mn-lt"/>
                          <a:ea typeface="+mn-ea"/>
                          <a:cs typeface="+mn-cs"/>
                        </a:rPr>
                        <a:t>13</a:t>
                      </a:r>
                      <a:endParaRPr kumimoji="1" lang="ja-JP" altLang="en-US" dirty="0"/>
                    </a:p>
                  </a:txBody>
                  <a:tcPr anchor="ctr"/>
                </a:tc>
                <a:extLst>
                  <a:ext uri="{0D108BD9-81ED-4DB2-BD59-A6C34878D82A}">
                    <a16:rowId xmlns:a16="http://schemas.microsoft.com/office/drawing/2014/main" val="3511778032"/>
                  </a:ext>
                </a:extLst>
              </a:tr>
              <a:tr h="759990">
                <a:tc>
                  <a:txBody>
                    <a:bodyPr/>
                    <a:lstStyle/>
                    <a:p>
                      <a:pPr algn="ctr"/>
                      <a:r>
                        <a:rPr kumimoji="1" lang="ja-JP" altLang="en-US" dirty="0"/>
                        <a:t>不正解</a:t>
                      </a:r>
                    </a:p>
                  </a:txBody>
                  <a:tcPr anchor="ctr"/>
                </a:tc>
                <a:tc>
                  <a:txBody>
                    <a:bodyPr/>
                    <a:lstStyle/>
                    <a:p>
                      <a:pPr algn="ctr"/>
                      <a:r>
                        <a:rPr kumimoji="1" lang="ja-JP" altLang="ja-JP" sz="1800" b="0" i="0" kern="1200" dirty="0">
                          <a:solidFill>
                            <a:schemeClr val="dk1"/>
                          </a:solidFill>
                          <a:effectLst/>
                          <a:latin typeface="+mn-lt"/>
                          <a:ea typeface="+mn-ea"/>
                          <a:cs typeface="+mn-cs"/>
                        </a:rPr>
                        <a:t>3</a:t>
                      </a:r>
                      <a:endParaRPr kumimoji="1" lang="ja-JP" altLang="en-US" dirty="0"/>
                    </a:p>
                  </a:txBody>
                  <a:tcPr anchor="ctr"/>
                </a:tc>
                <a:tc>
                  <a:txBody>
                    <a:bodyPr/>
                    <a:lstStyle/>
                    <a:p>
                      <a:pPr algn="ctr"/>
                      <a:r>
                        <a:rPr kumimoji="1" lang="ja-JP" altLang="ja-JP" sz="1800" b="0" i="0" kern="1200" dirty="0">
                          <a:solidFill>
                            <a:schemeClr val="dk1"/>
                          </a:solidFill>
                          <a:effectLst/>
                          <a:latin typeface="+mn-lt"/>
                          <a:ea typeface="+mn-ea"/>
                          <a:cs typeface="+mn-cs"/>
                        </a:rPr>
                        <a:t>430</a:t>
                      </a:r>
                      <a:endParaRPr kumimoji="1" lang="ja-JP" altLang="en-US" dirty="0"/>
                    </a:p>
                  </a:txBody>
                  <a:tcPr anchor="ctr"/>
                </a:tc>
                <a:extLst>
                  <a:ext uri="{0D108BD9-81ED-4DB2-BD59-A6C34878D82A}">
                    <a16:rowId xmlns:a16="http://schemas.microsoft.com/office/drawing/2014/main" val="2379152149"/>
                  </a:ext>
                </a:extLst>
              </a:tr>
            </a:tbl>
          </a:graphicData>
        </a:graphic>
      </p:graphicFrame>
      <p:graphicFrame>
        <p:nvGraphicFramePr>
          <p:cNvPr id="3" name="コンテンツ プレースホルダー 4">
            <a:extLst>
              <a:ext uri="{FF2B5EF4-FFF2-40B4-BE49-F238E27FC236}">
                <a16:creationId xmlns:a16="http://schemas.microsoft.com/office/drawing/2014/main" id="{BF38268E-4DCA-59BD-3D97-71FB3F3774B9}"/>
              </a:ext>
            </a:extLst>
          </p:cNvPr>
          <p:cNvGraphicFramePr>
            <a:graphicFrameLocks/>
          </p:cNvGraphicFramePr>
          <p:nvPr>
            <p:extLst>
              <p:ext uri="{D42A27DB-BD31-4B8C-83A1-F6EECF244321}">
                <p14:modId xmlns:p14="http://schemas.microsoft.com/office/powerpoint/2010/main" val="3813870932"/>
              </p:ext>
            </p:extLst>
          </p:nvPr>
        </p:nvGraphicFramePr>
        <p:xfrm>
          <a:off x="838200" y="1825625"/>
          <a:ext cx="10515597" cy="4139455"/>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400479776"/>
                    </a:ext>
                  </a:extLst>
                </a:gridCol>
                <a:gridCol w="3505199">
                  <a:extLst>
                    <a:ext uri="{9D8B030D-6E8A-4147-A177-3AD203B41FA5}">
                      <a16:colId xmlns:a16="http://schemas.microsoft.com/office/drawing/2014/main" val="2466992613"/>
                    </a:ext>
                  </a:extLst>
                </a:gridCol>
                <a:gridCol w="3505199">
                  <a:extLst>
                    <a:ext uri="{9D8B030D-6E8A-4147-A177-3AD203B41FA5}">
                      <a16:colId xmlns:a16="http://schemas.microsoft.com/office/drawing/2014/main" val="3550539996"/>
                    </a:ext>
                  </a:extLst>
                </a:gridCol>
              </a:tblGrid>
              <a:tr h="827891">
                <a:tc>
                  <a:txBody>
                    <a:bodyPr/>
                    <a:lstStyle/>
                    <a:p>
                      <a:pPr algn="ctr"/>
                      <a:endParaRPr kumimoji="1" lang="ja-JP" altLang="en-US" dirty="0"/>
                    </a:p>
                  </a:txBody>
                  <a:tcPr anchor="ctr"/>
                </a:tc>
                <a:tc>
                  <a:txBody>
                    <a:bodyPr/>
                    <a:lstStyle/>
                    <a:p>
                      <a:pPr algn="ctr"/>
                      <a:r>
                        <a:rPr kumimoji="1" lang="ja-JP" altLang="en-US" dirty="0"/>
                        <a:t>テストデータその</a:t>
                      </a:r>
                      <a:r>
                        <a:rPr kumimoji="1" lang="en-US" altLang="ja-JP" dirty="0"/>
                        <a:t>1</a:t>
                      </a:r>
                      <a:endParaRPr kumimoji="1" lang="ja-JP" altLang="en-US" dirty="0"/>
                    </a:p>
                  </a:txBody>
                  <a:tcPr anchor="ctr"/>
                </a:tc>
                <a:tc>
                  <a:txBody>
                    <a:bodyPr/>
                    <a:lstStyle/>
                    <a:p>
                      <a:pPr algn="ctr"/>
                      <a:r>
                        <a:rPr kumimoji="1" lang="ja-JP" altLang="en-US" dirty="0"/>
                        <a:t>テストデータその</a:t>
                      </a:r>
                      <a:r>
                        <a:rPr kumimoji="1" lang="en-US" altLang="ja-JP" dirty="0"/>
                        <a:t>2</a:t>
                      </a:r>
                      <a:endParaRPr kumimoji="1" lang="ja-JP" altLang="en-US" dirty="0"/>
                    </a:p>
                  </a:txBody>
                  <a:tcPr anchor="ctr"/>
                </a:tc>
                <a:extLst>
                  <a:ext uri="{0D108BD9-81ED-4DB2-BD59-A6C34878D82A}">
                    <a16:rowId xmlns:a16="http://schemas.microsoft.com/office/drawing/2014/main" val="275587262"/>
                  </a:ext>
                </a:extLst>
              </a:tr>
              <a:tr h="827891">
                <a:tc>
                  <a:txBody>
                    <a:bodyPr/>
                    <a:lstStyle/>
                    <a:p>
                      <a:pPr algn="ctr"/>
                      <a:endParaRPr kumimoji="1" lang="ja-JP" altLang="en-US" dirty="0"/>
                    </a:p>
                  </a:txBody>
                  <a:tcPr anchor="ctr"/>
                </a:tc>
                <a:tc>
                  <a:txBody>
                    <a:bodyPr/>
                    <a:lstStyle/>
                    <a:p>
                      <a:pPr algn="ctr"/>
                      <a:endParaRPr kumimoji="1" lang="ja-JP" altLang="en-US" dirty="0"/>
                    </a:p>
                  </a:txBody>
                  <a:tcPr anchor="ctr"/>
                </a:tc>
                <a:tc>
                  <a:txBody>
                    <a:bodyPr/>
                    <a:lstStyle/>
                    <a:p>
                      <a:pPr algn="ctr"/>
                      <a:endParaRPr kumimoji="1" lang="ja-JP" altLang="en-US" dirty="0"/>
                    </a:p>
                  </a:txBody>
                  <a:tcPr anchor="ctr"/>
                </a:tc>
                <a:extLst>
                  <a:ext uri="{0D108BD9-81ED-4DB2-BD59-A6C34878D82A}">
                    <a16:rowId xmlns:a16="http://schemas.microsoft.com/office/drawing/2014/main" val="1068892279"/>
                  </a:ext>
                </a:extLst>
              </a:tr>
              <a:tr h="827891">
                <a:tc>
                  <a:txBody>
                    <a:bodyPr/>
                    <a:lstStyle/>
                    <a:p>
                      <a:pPr algn="ctr"/>
                      <a:endParaRPr kumimoji="1" lang="ja-JP" altLang="en-US" dirty="0"/>
                    </a:p>
                  </a:txBody>
                  <a:tcPr anchor="ctr"/>
                </a:tc>
                <a:tc>
                  <a:txBody>
                    <a:bodyPr/>
                    <a:lstStyle/>
                    <a:p>
                      <a:pPr algn="ctr"/>
                      <a:endParaRPr kumimoji="1" lang="ja-JP" altLang="en-US" dirty="0"/>
                    </a:p>
                  </a:txBody>
                  <a:tcPr anchor="ctr"/>
                </a:tc>
                <a:tc>
                  <a:txBody>
                    <a:bodyPr/>
                    <a:lstStyle/>
                    <a:p>
                      <a:pPr algn="ctr"/>
                      <a:endParaRPr kumimoji="1" lang="ja-JP" altLang="en-US" dirty="0"/>
                    </a:p>
                  </a:txBody>
                  <a:tcPr anchor="ctr"/>
                </a:tc>
                <a:extLst>
                  <a:ext uri="{0D108BD9-81ED-4DB2-BD59-A6C34878D82A}">
                    <a16:rowId xmlns:a16="http://schemas.microsoft.com/office/drawing/2014/main" val="2064241014"/>
                  </a:ext>
                </a:extLst>
              </a:tr>
              <a:tr h="827891">
                <a:tc>
                  <a:txBody>
                    <a:bodyPr/>
                    <a:lstStyle/>
                    <a:p>
                      <a:pPr algn="ctr"/>
                      <a:r>
                        <a:rPr kumimoji="1" lang="ja-JP" altLang="en-US" dirty="0"/>
                        <a:t>トークン上限に到達正解</a:t>
                      </a:r>
                    </a:p>
                  </a:txBody>
                  <a:tcPr anchor="ctr"/>
                </a:tc>
                <a:tc>
                  <a:txBody>
                    <a:bodyPr/>
                    <a:lstStyle/>
                    <a:p>
                      <a:pPr algn="ctr"/>
                      <a:r>
                        <a:rPr kumimoji="1" lang="en-US" altLang="ja-JP" dirty="0"/>
                        <a:t>38</a:t>
                      </a:r>
                      <a:endParaRPr kumimoji="1" lang="ja-JP" altLang="en-US" dirty="0"/>
                    </a:p>
                  </a:txBody>
                  <a:tcPr anchor="ctr"/>
                </a:tc>
                <a:tc>
                  <a:txBody>
                    <a:bodyPr/>
                    <a:lstStyle/>
                    <a:p>
                      <a:pPr algn="ctr"/>
                      <a:r>
                        <a:rPr kumimoji="1" lang="en-US" altLang="ja-JP" dirty="0"/>
                        <a:t>6</a:t>
                      </a:r>
                      <a:endParaRPr kumimoji="1" lang="ja-JP" altLang="en-US" dirty="0"/>
                    </a:p>
                  </a:txBody>
                  <a:tcPr anchor="ctr"/>
                </a:tc>
                <a:extLst>
                  <a:ext uri="{0D108BD9-81ED-4DB2-BD59-A6C34878D82A}">
                    <a16:rowId xmlns:a16="http://schemas.microsoft.com/office/drawing/2014/main" val="3511778032"/>
                  </a:ext>
                </a:extLst>
              </a:tr>
              <a:tr h="827891">
                <a:tc>
                  <a:txBody>
                    <a:bodyPr/>
                    <a:lstStyle/>
                    <a:p>
                      <a:pPr algn="ctr"/>
                      <a:r>
                        <a:rPr kumimoji="1" lang="ja-JP" altLang="en-US" dirty="0"/>
                        <a:t>不正解</a:t>
                      </a:r>
                    </a:p>
                  </a:txBody>
                  <a:tcPr anchor="ctr"/>
                </a:tc>
                <a:tc>
                  <a:txBody>
                    <a:bodyPr/>
                    <a:lstStyle/>
                    <a:p>
                      <a:pPr algn="ctr"/>
                      <a:r>
                        <a:rPr kumimoji="1" lang="en-US" altLang="ja-JP" sz="1800" b="0" i="0" kern="1200" dirty="0">
                          <a:solidFill>
                            <a:schemeClr val="dk1"/>
                          </a:solidFill>
                          <a:effectLst/>
                          <a:latin typeface="+mn-lt"/>
                          <a:ea typeface="+mn-ea"/>
                          <a:cs typeface="+mn-cs"/>
                        </a:rPr>
                        <a:t>1</a:t>
                      </a:r>
                      <a:endParaRPr kumimoji="1" lang="ja-JP" altLang="en-US" dirty="0"/>
                    </a:p>
                  </a:txBody>
                  <a:tcPr anchor="ctr"/>
                </a:tc>
                <a:tc>
                  <a:txBody>
                    <a:bodyPr/>
                    <a:lstStyle/>
                    <a:p>
                      <a:pPr algn="ctr"/>
                      <a:r>
                        <a:rPr kumimoji="1" lang="en-US" altLang="ja-JP" dirty="0"/>
                        <a:t>405</a:t>
                      </a:r>
                      <a:endParaRPr kumimoji="1" lang="ja-JP" altLang="en-US" dirty="0"/>
                    </a:p>
                  </a:txBody>
                  <a:tcPr anchor="ctr"/>
                </a:tc>
                <a:extLst>
                  <a:ext uri="{0D108BD9-81ED-4DB2-BD59-A6C34878D82A}">
                    <a16:rowId xmlns:a16="http://schemas.microsoft.com/office/drawing/2014/main" val="2379152149"/>
                  </a:ext>
                </a:extLst>
              </a:tr>
            </a:tbl>
          </a:graphicData>
        </a:graphic>
      </p:graphicFrame>
    </p:spTree>
    <p:extLst>
      <p:ext uri="{BB962C8B-B14F-4D97-AF65-F5344CB8AC3E}">
        <p14:creationId xmlns:p14="http://schemas.microsoft.com/office/powerpoint/2010/main" val="2442415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436C12-48D4-2A86-00EB-8D52E6418A26}"/>
              </a:ext>
            </a:extLst>
          </p:cNvPr>
          <p:cNvSpPr>
            <a:spLocks noGrp="1"/>
          </p:cNvSpPr>
          <p:nvPr>
            <p:ph type="title"/>
          </p:nvPr>
        </p:nvSpPr>
        <p:spPr/>
        <p:txBody>
          <a:bodyPr/>
          <a:lstStyle/>
          <a:p>
            <a:r>
              <a:rPr lang="ja-JP" altLang="en-US" dirty="0"/>
              <a:t>分析できること</a:t>
            </a:r>
            <a:endParaRPr kumimoji="1" lang="ja-JP" altLang="en-US" dirty="0"/>
          </a:p>
        </p:txBody>
      </p:sp>
      <p:sp>
        <p:nvSpPr>
          <p:cNvPr id="3" name="コンテンツ プレースホルダー 2">
            <a:extLst>
              <a:ext uri="{FF2B5EF4-FFF2-40B4-BE49-F238E27FC236}">
                <a16:creationId xmlns:a16="http://schemas.microsoft.com/office/drawing/2014/main" id="{BB68F986-9364-4C10-9454-A1FA20958982}"/>
              </a:ext>
            </a:extLst>
          </p:cNvPr>
          <p:cNvSpPr>
            <a:spLocks noGrp="1"/>
          </p:cNvSpPr>
          <p:nvPr>
            <p:ph idx="1"/>
          </p:nvPr>
        </p:nvSpPr>
        <p:spPr/>
        <p:txBody>
          <a:bodyPr/>
          <a:lstStyle/>
          <a:p>
            <a:r>
              <a:rPr kumimoji="1" lang="ja-JP" altLang="en-US" dirty="0"/>
              <a:t>ベースモデルの失敗要因：推論の長大化</a:t>
            </a:r>
            <a:endParaRPr kumimoji="1" lang="en-US" altLang="ja-JP" dirty="0"/>
          </a:p>
          <a:p>
            <a:r>
              <a:rPr kumimoji="1" lang="ja-JP" altLang="en-US" dirty="0"/>
              <a:t>推論過程を確認</a:t>
            </a:r>
            <a:endParaRPr kumimoji="1" lang="en-US" altLang="ja-JP" dirty="0"/>
          </a:p>
          <a:p>
            <a:pPr lvl="1"/>
            <a:r>
              <a:rPr lang="ja-JP" altLang="en-US" dirty="0"/>
              <a:t>トークンの上限に到達した</a:t>
            </a:r>
            <a:r>
              <a:rPr kumimoji="1" lang="ja-JP" altLang="en-US" dirty="0"/>
              <a:t>事例では、複数の仮説を繰り返し検討し、ルールを確定できないまま推論が長大化する傾向が見られた。</a:t>
            </a:r>
            <a:endParaRPr kumimoji="1" lang="en-US" altLang="ja-JP" dirty="0"/>
          </a:p>
          <a:p>
            <a:r>
              <a:rPr kumimoji="1" lang="ja-JP" altLang="en-US" dirty="0"/>
              <a:t>考察</a:t>
            </a:r>
            <a:endParaRPr kumimoji="1" lang="en-US" altLang="ja-JP" dirty="0"/>
          </a:p>
          <a:p>
            <a:pPr lvl="1"/>
            <a:r>
              <a:rPr kumimoji="1" lang="ja-JP" altLang="en-US" dirty="0"/>
              <a:t>ベースモデルでは、仮説を収束させることが困難であり、これが問題解決の失敗につながっている可能性がある。</a:t>
            </a:r>
          </a:p>
        </p:txBody>
      </p:sp>
      <p:sp>
        <p:nvSpPr>
          <p:cNvPr id="4" name="スライド番号プレースホルダー 3">
            <a:extLst>
              <a:ext uri="{FF2B5EF4-FFF2-40B4-BE49-F238E27FC236}">
                <a16:creationId xmlns:a16="http://schemas.microsoft.com/office/drawing/2014/main" id="{FCA3773B-7945-6BF7-F457-326DEE3F0C55}"/>
              </a:ext>
            </a:extLst>
          </p:cNvPr>
          <p:cNvSpPr>
            <a:spLocks noGrp="1"/>
          </p:cNvSpPr>
          <p:nvPr>
            <p:ph type="sldNum" sz="quarter" idx="12"/>
          </p:nvPr>
        </p:nvSpPr>
        <p:spPr/>
        <p:txBody>
          <a:bodyPr/>
          <a:lstStyle/>
          <a:p>
            <a:fld id="{10649E7B-FC1B-418B-9B6A-00859DB1DEE8}" type="slidenum">
              <a:rPr kumimoji="1" lang="ja-JP" altLang="en-US" smtClean="0"/>
              <a:t>33</a:t>
            </a:fld>
            <a:endParaRPr kumimoji="1" lang="ja-JP" altLang="en-US"/>
          </a:p>
        </p:txBody>
      </p:sp>
    </p:spTree>
    <p:extLst>
      <p:ext uri="{BB962C8B-B14F-4D97-AF65-F5344CB8AC3E}">
        <p14:creationId xmlns:p14="http://schemas.microsoft.com/office/powerpoint/2010/main" val="2655585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8FE1EB-3637-0234-65CB-C7797291FA6D}"/>
              </a:ext>
            </a:extLst>
          </p:cNvPr>
          <p:cNvSpPr>
            <a:spLocks noGrp="1"/>
          </p:cNvSpPr>
          <p:nvPr>
            <p:ph type="title"/>
          </p:nvPr>
        </p:nvSpPr>
        <p:spPr/>
        <p:txBody>
          <a:bodyPr/>
          <a:lstStyle/>
          <a:p>
            <a:r>
              <a:rPr kumimoji="1" lang="ja-JP" altLang="en-US" dirty="0"/>
              <a:t>答えのみの</a:t>
            </a:r>
            <a:r>
              <a:rPr kumimoji="1" lang="en-US" altLang="ja-JP" dirty="0"/>
              <a:t>SFT</a:t>
            </a:r>
            <a:r>
              <a:rPr kumimoji="1" lang="ja-JP" altLang="en-US" dirty="0"/>
              <a:t>の分析</a:t>
            </a:r>
          </a:p>
        </p:txBody>
      </p:sp>
      <p:sp>
        <p:nvSpPr>
          <p:cNvPr id="3" name="コンテンツ プレースホルダー 2">
            <a:extLst>
              <a:ext uri="{FF2B5EF4-FFF2-40B4-BE49-F238E27FC236}">
                <a16:creationId xmlns:a16="http://schemas.microsoft.com/office/drawing/2014/main" id="{68D21EFB-AF50-0045-DB21-55C62FD98317}"/>
              </a:ext>
            </a:extLst>
          </p:cNvPr>
          <p:cNvSpPr>
            <a:spLocks noGrp="1"/>
          </p:cNvSpPr>
          <p:nvPr>
            <p:ph idx="1"/>
          </p:nvPr>
        </p:nvSpPr>
        <p:spPr>
          <a:xfrm>
            <a:off x="838200" y="1825625"/>
            <a:ext cx="10515600" cy="4108881"/>
          </a:xfrm>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C6CA538-DED6-8ACF-9DB4-13C855ACD8FD}"/>
              </a:ext>
            </a:extLst>
          </p:cNvPr>
          <p:cNvSpPr>
            <a:spLocks noGrp="1"/>
          </p:cNvSpPr>
          <p:nvPr>
            <p:ph type="sldNum" sz="quarter" idx="12"/>
          </p:nvPr>
        </p:nvSpPr>
        <p:spPr/>
        <p:txBody>
          <a:bodyPr/>
          <a:lstStyle/>
          <a:p>
            <a:fld id="{10649E7B-FC1B-418B-9B6A-00859DB1DEE8}" type="slidenum">
              <a:rPr kumimoji="1" lang="ja-JP" altLang="en-US" smtClean="0"/>
              <a:t>34</a:t>
            </a:fld>
            <a:endParaRPr kumimoji="1" lang="ja-JP" altLang="en-US"/>
          </a:p>
        </p:txBody>
      </p:sp>
      <p:graphicFrame>
        <p:nvGraphicFramePr>
          <p:cNvPr id="6" name="表 5">
            <a:extLst>
              <a:ext uri="{FF2B5EF4-FFF2-40B4-BE49-F238E27FC236}">
                <a16:creationId xmlns:a16="http://schemas.microsoft.com/office/drawing/2014/main" id="{3A78D084-DC3E-2D90-A751-9C56E958BFE0}"/>
              </a:ext>
            </a:extLst>
          </p:cNvPr>
          <p:cNvGraphicFramePr>
            <a:graphicFrameLocks noGrp="1"/>
          </p:cNvGraphicFramePr>
          <p:nvPr>
            <p:extLst>
              <p:ext uri="{D42A27DB-BD31-4B8C-83A1-F6EECF244321}">
                <p14:modId xmlns:p14="http://schemas.microsoft.com/office/powerpoint/2010/main" val="2982130330"/>
              </p:ext>
            </p:extLst>
          </p:nvPr>
        </p:nvGraphicFramePr>
        <p:xfrm>
          <a:off x="838200" y="1583169"/>
          <a:ext cx="10515600" cy="4351338"/>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577893348"/>
                    </a:ext>
                  </a:extLst>
                </a:gridCol>
                <a:gridCol w="2628900">
                  <a:extLst>
                    <a:ext uri="{9D8B030D-6E8A-4147-A177-3AD203B41FA5}">
                      <a16:colId xmlns:a16="http://schemas.microsoft.com/office/drawing/2014/main" val="2053877159"/>
                    </a:ext>
                  </a:extLst>
                </a:gridCol>
                <a:gridCol w="2628900">
                  <a:extLst>
                    <a:ext uri="{9D8B030D-6E8A-4147-A177-3AD203B41FA5}">
                      <a16:colId xmlns:a16="http://schemas.microsoft.com/office/drawing/2014/main" val="2672482506"/>
                    </a:ext>
                  </a:extLst>
                </a:gridCol>
                <a:gridCol w="2628900">
                  <a:extLst>
                    <a:ext uri="{9D8B030D-6E8A-4147-A177-3AD203B41FA5}">
                      <a16:colId xmlns:a16="http://schemas.microsoft.com/office/drawing/2014/main" val="1596151943"/>
                    </a:ext>
                  </a:extLst>
                </a:gridCol>
              </a:tblGrid>
              <a:tr h="1450446">
                <a:tc>
                  <a:txBody>
                    <a:bodyPr/>
                    <a:lstStyle/>
                    <a:p>
                      <a:pPr algn="ctr"/>
                      <a:endParaRPr kumimoji="1" lang="ja-JP" altLang="en-US" sz="2100" dirty="0"/>
                    </a:p>
                  </a:txBody>
                  <a:tcPr anchor="ctr"/>
                </a:tc>
                <a:tc>
                  <a:txBody>
                    <a:bodyPr/>
                    <a:lstStyle/>
                    <a:p>
                      <a:pPr algn="ctr"/>
                      <a:r>
                        <a:rPr kumimoji="1" lang="ja-JP" altLang="en-US" sz="2100" dirty="0"/>
                        <a:t>ベースモデル</a:t>
                      </a:r>
                    </a:p>
                  </a:txBody>
                  <a:tcPr anchor="ctr"/>
                </a:tc>
                <a:tc>
                  <a:txBody>
                    <a:bodyPr/>
                    <a:lstStyle/>
                    <a:p>
                      <a:pPr algn="ctr"/>
                      <a:r>
                        <a:rPr kumimoji="1" lang="ja-JP" altLang="en-US" sz="2100" dirty="0"/>
                        <a:t>答えのみ</a:t>
                      </a:r>
                      <a:r>
                        <a:rPr kumimoji="1" lang="en-US" altLang="ja-JP" sz="2100" dirty="0"/>
                        <a:t>SFT</a:t>
                      </a:r>
                      <a:endParaRPr kumimoji="1" lang="ja-JP" altLang="en-US" sz="2100" dirty="0"/>
                    </a:p>
                  </a:txBody>
                  <a:tcPr anchor="ctr"/>
                </a:tc>
                <a:tc>
                  <a:txBody>
                    <a:bodyPr/>
                    <a:lstStyle/>
                    <a:p>
                      <a:pPr algn="ctr"/>
                      <a:r>
                        <a:rPr lang="ja-JP" altLang="ja-JP" sz="2100" dirty="0"/>
                        <a:t>答え＋処理過程SFT</a:t>
                      </a:r>
                      <a:endParaRPr kumimoji="1" lang="ja-JP" altLang="en-US" sz="2100" dirty="0"/>
                    </a:p>
                  </a:txBody>
                  <a:tcPr anchor="ctr"/>
                </a:tc>
                <a:extLst>
                  <a:ext uri="{0D108BD9-81ED-4DB2-BD59-A6C34878D82A}">
                    <a16:rowId xmlns:a16="http://schemas.microsoft.com/office/drawing/2014/main" val="3196805259"/>
                  </a:ext>
                </a:extLst>
              </a:tr>
              <a:tr h="14504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100" dirty="0"/>
                        <a:t>テストデータその</a:t>
                      </a:r>
                      <a:r>
                        <a:rPr lang="en-US" altLang="ja-JP" sz="2100" dirty="0"/>
                        <a:t>1</a:t>
                      </a:r>
                    </a:p>
                  </a:txBody>
                  <a:tcPr anchor="ctr"/>
                </a:tc>
                <a:tc>
                  <a:txBody>
                    <a:bodyPr/>
                    <a:lstStyle/>
                    <a:p>
                      <a:pPr algn="ctr"/>
                      <a:r>
                        <a:rPr kumimoji="1" lang="en-US" altLang="ja-JP" sz="2100" dirty="0"/>
                        <a:t>277/680</a:t>
                      </a:r>
                    </a:p>
                    <a:p>
                      <a:pPr algn="ctr"/>
                      <a:r>
                        <a:rPr kumimoji="1" lang="ja-JP" altLang="en-US" sz="2100" dirty="0"/>
                        <a:t>約</a:t>
                      </a:r>
                      <a:r>
                        <a:rPr kumimoji="1" lang="en-US" altLang="ja-JP" sz="2100" dirty="0"/>
                        <a:t>40</a:t>
                      </a:r>
                      <a:r>
                        <a:rPr kumimoji="1" lang="ja-JP" altLang="en-US" sz="2100" dirty="0"/>
                        <a:t>％</a:t>
                      </a:r>
                    </a:p>
                  </a:txBody>
                  <a:tcPr anchor="ctr"/>
                </a:tc>
                <a:tc>
                  <a:txBody>
                    <a:bodyPr/>
                    <a:lstStyle/>
                    <a:p>
                      <a:pPr algn="ctr"/>
                      <a:r>
                        <a:rPr kumimoji="1" lang="en-US" altLang="ja-JP" sz="2100" dirty="0"/>
                        <a:t>484/680</a:t>
                      </a:r>
                    </a:p>
                    <a:p>
                      <a:pPr algn="ctr"/>
                      <a:r>
                        <a:rPr kumimoji="1" lang="ja-JP" altLang="en-US" sz="2100" dirty="0"/>
                        <a:t>約</a:t>
                      </a:r>
                      <a:r>
                        <a:rPr kumimoji="1" lang="en-US" altLang="ja-JP" sz="2100" dirty="0"/>
                        <a:t>71</a:t>
                      </a:r>
                      <a:r>
                        <a:rPr kumimoji="1" lang="ja-JP" altLang="en-US" sz="2100" dirty="0"/>
                        <a:t>％</a:t>
                      </a:r>
                    </a:p>
                  </a:txBody>
                  <a:tcPr anchor="ctr"/>
                </a:tc>
                <a:tc>
                  <a:txBody>
                    <a:bodyPr/>
                    <a:lstStyle/>
                    <a:p>
                      <a:pPr algn="ctr"/>
                      <a:r>
                        <a:rPr kumimoji="1" lang="ja-JP" altLang="ja-JP" sz="2100" b="0" i="0" kern="1200" dirty="0">
                          <a:solidFill>
                            <a:schemeClr val="dk1"/>
                          </a:solidFill>
                          <a:effectLst/>
                          <a:latin typeface="+mn-lt"/>
                          <a:ea typeface="+mn-ea"/>
                          <a:cs typeface="+mn-cs"/>
                        </a:rPr>
                        <a:t>548</a:t>
                      </a:r>
                      <a:r>
                        <a:rPr kumimoji="1" lang="en-US" altLang="ja-JP" sz="2100" b="0" i="0" kern="1200" dirty="0">
                          <a:solidFill>
                            <a:schemeClr val="dk1"/>
                          </a:solidFill>
                          <a:effectLst/>
                          <a:latin typeface="+mn-lt"/>
                          <a:ea typeface="+mn-ea"/>
                          <a:cs typeface="+mn-cs"/>
                        </a:rPr>
                        <a:t>/680</a:t>
                      </a:r>
                    </a:p>
                    <a:p>
                      <a:pPr algn="ctr"/>
                      <a:r>
                        <a:rPr kumimoji="1" lang="ja-JP" altLang="en-US" sz="2100" b="0" i="0" kern="1200" dirty="0">
                          <a:solidFill>
                            <a:schemeClr val="dk1"/>
                          </a:solidFill>
                          <a:effectLst/>
                          <a:latin typeface="+mn-lt"/>
                          <a:ea typeface="+mn-ea"/>
                          <a:cs typeface="+mn-cs"/>
                        </a:rPr>
                        <a:t>約</a:t>
                      </a:r>
                      <a:r>
                        <a:rPr kumimoji="1" lang="en-US" altLang="ja-JP" sz="2100" b="0" i="0" kern="1200" dirty="0">
                          <a:solidFill>
                            <a:schemeClr val="dk1"/>
                          </a:solidFill>
                          <a:effectLst/>
                          <a:latin typeface="+mn-lt"/>
                          <a:ea typeface="+mn-ea"/>
                          <a:cs typeface="+mn-cs"/>
                        </a:rPr>
                        <a:t>80</a:t>
                      </a:r>
                      <a:r>
                        <a:rPr kumimoji="1" lang="ja-JP" altLang="en-US" sz="2100" b="0" i="0" kern="1200" dirty="0">
                          <a:solidFill>
                            <a:schemeClr val="dk1"/>
                          </a:solidFill>
                          <a:effectLst/>
                          <a:latin typeface="+mn-lt"/>
                          <a:ea typeface="+mn-ea"/>
                          <a:cs typeface="+mn-cs"/>
                        </a:rPr>
                        <a:t>％</a:t>
                      </a:r>
                      <a:endParaRPr kumimoji="1" lang="ja-JP" altLang="en-US" sz="2100" dirty="0"/>
                    </a:p>
                  </a:txBody>
                  <a:tcPr anchor="ctr"/>
                </a:tc>
                <a:extLst>
                  <a:ext uri="{0D108BD9-81ED-4DB2-BD59-A6C34878D82A}">
                    <a16:rowId xmlns:a16="http://schemas.microsoft.com/office/drawing/2014/main" val="2722267845"/>
                  </a:ext>
                </a:extLst>
              </a:tr>
              <a:tr h="14504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100" dirty="0"/>
                        <a:t>テストデータその</a:t>
                      </a:r>
                      <a:r>
                        <a:rPr lang="en-US" altLang="ja-JP" sz="2100" dirty="0"/>
                        <a:t>2</a:t>
                      </a:r>
                    </a:p>
                  </a:txBody>
                  <a:tcPr anchor="ctr"/>
                </a:tc>
                <a:tc>
                  <a:txBody>
                    <a:bodyPr/>
                    <a:lstStyle/>
                    <a:p>
                      <a:pPr algn="ctr"/>
                      <a:r>
                        <a:rPr kumimoji="1" lang="ja-JP" altLang="ja-JP" sz="2100" b="0" i="0" kern="1200" dirty="0">
                          <a:solidFill>
                            <a:schemeClr val="dk1"/>
                          </a:solidFill>
                          <a:effectLst/>
                          <a:latin typeface="+mn-lt"/>
                          <a:ea typeface="+mn-ea"/>
                          <a:cs typeface="+mn-cs"/>
                        </a:rPr>
                        <a:t>67</a:t>
                      </a:r>
                      <a:r>
                        <a:rPr kumimoji="1" lang="en-US" altLang="ja-JP" sz="2100" dirty="0"/>
                        <a:t>/480</a:t>
                      </a:r>
                    </a:p>
                    <a:p>
                      <a:pPr algn="ctr"/>
                      <a:r>
                        <a:rPr kumimoji="1" lang="ja-JP" altLang="en-US" sz="2100" dirty="0"/>
                        <a:t>約</a:t>
                      </a:r>
                      <a:r>
                        <a:rPr kumimoji="1" lang="en-US" altLang="ja-JP" sz="2100" dirty="0"/>
                        <a:t>13</a:t>
                      </a:r>
                      <a:r>
                        <a:rPr kumimoji="1" lang="ja-JP" altLang="en-US" sz="2100" dirty="0"/>
                        <a:t>％</a:t>
                      </a:r>
                    </a:p>
                  </a:txBody>
                  <a:tcPr anchor="ctr"/>
                </a:tc>
                <a:tc>
                  <a:txBody>
                    <a:bodyPr/>
                    <a:lstStyle/>
                    <a:p>
                      <a:pPr algn="ctr"/>
                      <a:r>
                        <a:rPr kumimoji="1" lang="en-US" altLang="ja-JP" sz="2100" dirty="0"/>
                        <a:t>201/480</a:t>
                      </a:r>
                    </a:p>
                    <a:p>
                      <a:pPr algn="ctr"/>
                      <a:r>
                        <a:rPr kumimoji="1" lang="ja-JP" altLang="en-US" sz="2100" dirty="0"/>
                        <a:t>約</a:t>
                      </a:r>
                      <a:r>
                        <a:rPr kumimoji="1" lang="en-US" altLang="ja-JP" sz="2100" dirty="0"/>
                        <a:t>41</a:t>
                      </a:r>
                      <a:r>
                        <a:rPr kumimoji="1" lang="ja-JP" altLang="en-US" sz="2100" dirty="0"/>
                        <a:t>％</a:t>
                      </a:r>
                    </a:p>
                  </a:txBody>
                  <a:tcPr anchor="ctr"/>
                </a:tc>
                <a:tc>
                  <a:txBody>
                    <a:bodyPr/>
                    <a:lstStyle/>
                    <a:p>
                      <a:pPr algn="ctr"/>
                      <a:r>
                        <a:rPr kumimoji="1" lang="ja-JP" altLang="ja-JP" sz="2100" b="0" i="0" kern="1200" dirty="0">
                          <a:solidFill>
                            <a:schemeClr val="dk1"/>
                          </a:solidFill>
                          <a:effectLst/>
                          <a:latin typeface="+mn-lt"/>
                          <a:ea typeface="+mn-ea"/>
                          <a:cs typeface="+mn-cs"/>
                        </a:rPr>
                        <a:t>98</a:t>
                      </a:r>
                      <a:r>
                        <a:rPr kumimoji="1" lang="en-US" altLang="ja-JP" sz="2100" b="0" i="0" kern="1200" dirty="0">
                          <a:solidFill>
                            <a:schemeClr val="dk1"/>
                          </a:solidFill>
                          <a:effectLst/>
                          <a:latin typeface="+mn-lt"/>
                          <a:ea typeface="+mn-ea"/>
                          <a:cs typeface="+mn-cs"/>
                        </a:rPr>
                        <a:t>/480</a:t>
                      </a:r>
                    </a:p>
                    <a:p>
                      <a:pPr algn="ctr"/>
                      <a:r>
                        <a:rPr kumimoji="1" lang="ja-JP" altLang="en-US" sz="2100" b="0" i="0" kern="1200" dirty="0">
                          <a:solidFill>
                            <a:schemeClr val="dk1"/>
                          </a:solidFill>
                          <a:effectLst/>
                          <a:latin typeface="+mn-lt"/>
                          <a:ea typeface="+mn-ea"/>
                          <a:cs typeface="+mn-cs"/>
                        </a:rPr>
                        <a:t>約</a:t>
                      </a:r>
                      <a:r>
                        <a:rPr kumimoji="1" lang="en-US" altLang="ja-JP" sz="2100" b="0" i="0" kern="1200" dirty="0">
                          <a:solidFill>
                            <a:schemeClr val="dk1"/>
                          </a:solidFill>
                          <a:effectLst/>
                          <a:latin typeface="+mn-lt"/>
                          <a:ea typeface="+mn-ea"/>
                          <a:cs typeface="+mn-cs"/>
                        </a:rPr>
                        <a:t>20</a:t>
                      </a:r>
                      <a:r>
                        <a:rPr kumimoji="1" lang="ja-JP" altLang="en-US" sz="2100" b="0" i="0" kern="1200" dirty="0">
                          <a:solidFill>
                            <a:schemeClr val="dk1"/>
                          </a:solidFill>
                          <a:effectLst/>
                          <a:latin typeface="+mn-lt"/>
                          <a:ea typeface="+mn-ea"/>
                          <a:cs typeface="+mn-cs"/>
                        </a:rPr>
                        <a:t>％</a:t>
                      </a:r>
                      <a:endParaRPr kumimoji="1" lang="ja-JP" altLang="en-US" sz="2100" dirty="0"/>
                    </a:p>
                  </a:txBody>
                  <a:tcPr anchor="ctr"/>
                </a:tc>
                <a:extLst>
                  <a:ext uri="{0D108BD9-81ED-4DB2-BD59-A6C34878D82A}">
                    <a16:rowId xmlns:a16="http://schemas.microsoft.com/office/drawing/2014/main" val="2618271811"/>
                  </a:ext>
                </a:extLst>
              </a:tr>
            </a:tbl>
          </a:graphicData>
        </a:graphic>
      </p:graphicFrame>
      <p:sp>
        <p:nvSpPr>
          <p:cNvPr id="7" name="テキスト ボックス 6">
            <a:extLst>
              <a:ext uri="{FF2B5EF4-FFF2-40B4-BE49-F238E27FC236}">
                <a16:creationId xmlns:a16="http://schemas.microsoft.com/office/drawing/2014/main" id="{B16EF27F-99F3-788A-BE6D-AC717960A93F}"/>
              </a:ext>
            </a:extLst>
          </p:cNvPr>
          <p:cNvSpPr txBox="1"/>
          <p:nvPr/>
        </p:nvSpPr>
        <p:spPr>
          <a:xfrm>
            <a:off x="838200" y="6169709"/>
            <a:ext cx="10017999" cy="646331"/>
          </a:xfrm>
          <a:prstGeom prst="rect">
            <a:avLst/>
          </a:prstGeom>
          <a:noFill/>
        </p:spPr>
        <p:txBody>
          <a:bodyPr wrap="square">
            <a:spAutoFit/>
          </a:bodyPr>
          <a:lstStyle/>
          <a:p>
            <a:r>
              <a:rPr kumimoji="1" lang="ja-JP" altLang="en-US" sz="1800" dirty="0"/>
              <a:t>テストデータその</a:t>
            </a:r>
            <a:r>
              <a:rPr kumimoji="1" lang="en-US" altLang="ja-JP" sz="1800" dirty="0"/>
              <a:t>1</a:t>
            </a:r>
            <a:r>
              <a:rPr kumimoji="1" lang="ja-JP" altLang="en-US" sz="1800" dirty="0"/>
              <a:t>：</a:t>
            </a:r>
            <a:r>
              <a:rPr lang="ja-JP" altLang="en-US" sz="1800" dirty="0"/>
              <a:t>訓練用のデータの問題と同じルール</a:t>
            </a:r>
            <a:endParaRPr lang="en-US" altLang="ja-JP" sz="1800" dirty="0"/>
          </a:p>
          <a:p>
            <a:r>
              <a:rPr lang="ja-JP" altLang="en-US" dirty="0"/>
              <a:t>テストデータその</a:t>
            </a:r>
            <a:r>
              <a:rPr lang="en-US" altLang="ja-JP" dirty="0"/>
              <a:t>2</a:t>
            </a:r>
            <a:r>
              <a:rPr lang="ja-JP" altLang="en-US" dirty="0"/>
              <a:t>：</a:t>
            </a:r>
            <a:r>
              <a:rPr lang="ja-JP" altLang="ja-JP" dirty="0"/>
              <a:t>処理単体としては同じだけど</a:t>
            </a:r>
            <a:r>
              <a:rPr lang="ja-JP" altLang="en-US" dirty="0"/>
              <a:t>訓練用のデータでは出なかった組み合わせ</a:t>
            </a:r>
            <a:endParaRPr lang="en-US" altLang="ja-JP" dirty="0"/>
          </a:p>
        </p:txBody>
      </p:sp>
    </p:spTree>
    <p:extLst>
      <p:ext uri="{BB962C8B-B14F-4D97-AF65-F5344CB8AC3E}">
        <p14:creationId xmlns:p14="http://schemas.microsoft.com/office/powerpoint/2010/main" val="557172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563CB8-538E-9EF2-043E-56B0C385C19E}"/>
              </a:ext>
            </a:extLst>
          </p:cNvPr>
          <p:cNvSpPr>
            <a:spLocks noGrp="1"/>
          </p:cNvSpPr>
          <p:nvPr>
            <p:ph type="title"/>
          </p:nvPr>
        </p:nvSpPr>
        <p:spPr/>
        <p:txBody>
          <a:bodyPr/>
          <a:lstStyle/>
          <a:p>
            <a:r>
              <a:rPr kumimoji="1" lang="ja-JP" altLang="en-US" dirty="0"/>
              <a:t>分析できること</a:t>
            </a:r>
          </a:p>
        </p:txBody>
      </p:sp>
      <p:sp>
        <p:nvSpPr>
          <p:cNvPr id="3" name="コンテンツ プレースホルダー 2">
            <a:extLst>
              <a:ext uri="{FF2B5EF4-FFF2-40B4-BE49-F238E27FC236}">
                <a16:creationId xmlns:a16="http://schemas.microsoft.com/office/drawing/2014/main" id="{C5A069E9-49F2-A50A-C2B1-0932A202A91D}"/>
              </a:ext>
            </a:extLst>
          </p:cNvPr>
          <p:cNvSpPr>
            <a:spLocks noGrp="1"/>
          </p:cNvSpPr>
          <p:nvPr>
            <p:ph idx="1"/>
          </p:nvPr>
        </p:nvSpPr>
        <p:spPr/>
        <p:txBody>
          <a:bodyPr/>
          <a:lstStyle/>
          <a:p>
            <a:r>
              <a:rPr kumimoji="1" lang="ja-JP" altLang="en-US" dirty="0"/>
              <a:t>答えのみを学習させることで、</a:t>
            </a:r>
            <a:r>
              <a:rPr lang="ja-JP" altLang="en-US" dirty="0"/>
              <a:t>テストデータその</a:t>
            </a:r>
            <a:r>
              <a:rPr lang="en-US" altLang="ja-JP" dirty="0"/>
              <a:t>1</a:t>
            </a:r>
            <a:r>
              <a:rPr kumimoji="1" lang="ja-JP" altLang="en-US" dirty="0"/>
              <a:t>だけでなく</a:t>
            </a:r>
            <a:r>
              <a:rPr lang="ja-JP" altLang="en-US" dirty="0"/>
              <a:t>テストデータその</a:t>
            </a:r>
            <a:r>
              <a:rPr lang="en-US" altLang="ja-JP" dirty="0"/>
              <a:t>2</a:t>
            </a:r>
            <a:r>
              <a:rPr kumimoji="1" lang="ja-JP" altLang="en-US" dirty="0"/>
              <a:t>の正解率も大きく向上した</a:t>
            </a:r>
          </a:p>
        </p:txBody>
      </p:sp>
      <p:sp>
        <p:nvSpPr>
          <p:cNvPr id="4" name="スライド番号プレースホルダー 3">
            <a:extLst>
              <a:ext uri="{FF2B5EF4-FFF2-40B4-BE49-F238E27FC236}">
                <a16:creationId xmlns:a16="http://schemas.microsoft.com/office/drawing/2014/main" id="{0CF76C9C-540E-E99B-E311-B25D00ED33DB}"/>
              </a:ext>
            </a:extLst>
          </p:cNvPr>
          <p:cNvSpPr>
            <a:spLocks noGrp="1"/>
          </p:cNvSpPr>
          <p:nvPr>
            <p:ph type="sldNum" sz="quarter" idx="12"/>
          </p:nvPr>
        </p:nvSpPr>
        <p:spPr/>
        <p:txBody>
          <a:bodyPr/>
          <a:lstStyle/>
          <a:p>
            <a:fld id="{10649E7B-FC1B-418B-9B6A-00859DB1DEE8}" type="slidenum">
              <a:rPr kumimoji="1" lang="ja-JP" altLang="en-US" smtClean="0"/>
              <a:t>35</a:t>
            </a:fld>
            <a:endParaRPr kumimoji="1" lang="ja-JP" altLang="en-US"/>
          </a:p>
        </p:txBody>
      </p:sp>
    </p:spTree>
    <p:extLst>
      <p:ext uri="{BB962C8B-B14F-4D97-AF65-F5344CB8AC3E}">
        <p14:creationId xmlns:p14="http://schemas.microsoft.com/office/powerpoint/2010/main" val="3865649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A8955F-0692-9D88-021C-3573EB69FC6C}"/>
              </a:ext>
            </a:extLst>
          </p:cNvPr>
          <p:cNvSpPr>
            <a:spLocks noGrp="1"/>
          </p:cNvSpPr>
          <p:nvPr>
            <p:ph type="title"/>
          </p:nvPr>
        </p:nvSpPr>
        <p:spPr/>
        <p:txBody>
          <a:bodyPr>
            <a:normAutofit/>
          </a:bodyPr>
          <a:lstStyle/>
          <a:p>
            <a:r>
              <a:rPr lang="ja-JP" altLang="en-US" dirty="0"/>
              <a:t>答え＋処理過程の</a:t>
            </a:r>
            <a:r>
              <a:rPr lang="en-US" altLang="ja-JP" dirty="0"/>
              <a:t>SFT</a:t>
            </a:r>
            <a:r>
              <a:rPr lang="ja-JP" altLang="en-US" dirty="0"/>
              <a:t>の分析</a:t>
            </a:r>
            <a:br>
              <a:rPr lang="en-US" altLang="ja-JP" dirty="0"/>
            </a:br>
            <a:r>
              <a:rPr lang="ja-JP" altLang="ja-JP" dirty="0"/>
              <a:t>学習時に提示していない処理順序の適用</a:t>
            </a:r>
            <a:endParaRPr kumimoji="1" lang="ja-JP" altLang="en-US" dirty="0"/>
          </a:p>
        </p:txBody>
      </p:sp>
      <p:sp>
        <p:nvSpPr>
          <p:cNvPr id="3" name="コンテンツ プレースホルダー 2">
            <a:extLst>
              <a:ext uri="{FF2B5EF4-FFF2-40B4-BE49-F238E27FC236}">
                <a16:creationId xmlns:a16="http://schemas.microsoft.com/office/drawing/2014/main" id="{48F8B874-D2E5-BBC3-D5EB-7E35884B07FD}"/>
              </a:ext>
            </a:extLst>
          </p:cNvPr>
          <p:cNvSpPr>
            <a:spLocks noGrp="1"/>
          </p:cNvSpPr>
          <p:nvPr>
            <p:ph idx="1"/>
          </p:nvPr>
        </p:nvSpPr>
        <p:spPr/>
        <p:txBody>
          <a:bodyPr/>
          <a:lstStyle/>
          <a:p>
            <a:r>
              <a:rPr lang="ja-JP" altLang="en-US" dirty="0"/>
              <a:t>処理の順序が関係ない問題の内、</a:t>
            </a:r>
            <a:r>
              <a:rPr lang="en-US" altLang="ja-JP" dirty="0"/>
              <a:t>7</a:t>
            </a:r>
            <a:r>
              <a:rPr lang="ja-JP" altLang="en-US" dirty="0"/>
              <a:t>例だけ学習時に教えていない順序を適用</a:t>
            </a:r>
            <a:endParaRPr kumimoji="1" lang="en-US" altLang="ja-JP" dirty="0"/>
          </a:p>
          <a:p>
            <a:pPr lvl="1"/>
            <a:r>
              <a:rPr lang="en-US" altLang="ja-JP" dirty="0"/>
              <a:t>7</a:t>
            </a:r>
            <a:r>
              <a:rPr lang="ja-JP" altLang="en-US" dirty="0"/>
              <a:t>例中</a:t>
            </a:r>
            <a:r>
              <a:rPr lang="en-US" altLang="ja-JP" dirty="0"/>
              <a:t>6</a:t>
            </a:r>
            <a:r>
              <a:rPr lang="ja-JP" altLang="en-US" dirty="0"/>
              <a:t>例が最終的な回答まで合っていた。</a:t>
            </a:r>
            <a:endParaRPr lang="en-US" altLang="ja-JP" dirty="0"/>
          </a:p>
          <a:p>
            <a:endParaRPr lang="en-US" altLang="ja-JP" dirty="0"/>
          </a:p>
          <a:p>
            <a:r>
              <a:rPr lang="ja-JP" altLang="ja-JP" dirty="0"/>
              <a:t>学習時に与えられた処理順序の単純な再現だけでは説明できない出力が確認された</a:t>
            </a:r>
            <a:endParaRPr lang="en-US" altLang="ja-JP" dirty="0"/>
          </a:p>
        </p:txBody>
      </p:sp>
      <p:sp>
        <p:nvSpPr>
          <p:cNvPr id="4" name="スライド番号プレースホルダー 3">
            <a:extLst>
              <a:ext uri="{FF2B5EF4-FFF2-40B4-BE49-F238E27FC236}">
                <a16:creationId xmlns:a16="http://schemas.microsoft.com/office/drawing/2014/main" id="{76BB1565-D6C7-D64C-7FA1-C47E6995DED9}"/>
              </a:ext>
            </a:extLst>
          </p:cNvPr>
          <p:cNvSpPr>
            <a:spLocks noGrp="1"/>
          </p:cNvSpPr>
          <p:nvPr>
            <p:ph type="sldNum" sz="quarter" idx="12"/>
          </p:nvPr>
        </p:nvSpPr>
        <p:spPr/>
        <p:txBody>
          <a:bodyPr/>
          <a:lstStyle/>
          <a:p>
            <a:fld id="{10649E7B-FC1B-418B-9B6A-00859DB1DEE8}" type="slidenum">
              <a:rPr kumimoji="1" lang="ja-JP" altLang="en-US" smtClean="0"/>
              <a:t>36</a:t>
            </a:fld>
            <a:endParaRPr kumimoji="1" lang="ja-JP" altLang="en-US"/>
          </a:p>
        </p:txBody>
      </p:sp>
    </p:spTree>
    <p:extLst>
      <p:ext uri="{BB962C8B-B14F-4D97-AF65-F5344CB8AC3E}">
        <p14:creationId xmlns:p14="http://schemas.microsoft.com/office/powerpoint/2010/main" val="2474344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CDF5E8-C1FA-5CA7-FC1E-00606DD71FAD}"/>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br>
              <a:rPr lang="en-US" altLang="ja-JP" dirty="0"/>
            </a:br>
            <a:r>
              <a:rPr lang="ja-JP" altLang="en-US" dirty="0"/>
              <a:t>珍しい事例</a:t>
            </a:r>
            <a:endParaRPr kumimoji="1" lang="ja-JP" altLang="en-US" dirty="0"/>
          </a:p>
        </p:txBody>
      </p:sp>
      <p:sp>
        <p:nvSpPr>
          <p:cNvPr id="3" name="コンテンツ プレースホルダー 2">
            <a:extLst>
              <a:ext uri="{FF2B5EF4-FFF2-40B4-BE49-F238E27FC236}">
                <a16:creationId xmlns:a16="http://schemas.microsoft.com/office/drawing/2014/main" id="{E2EC9FD6-FE96-F5EF-0F7F-7DCFB2009033}"/>
              </a:ext>
            </a:extLst>
          </p:cNvPr>
          <p:cNvSpPr>
            <a:spLocks noGrp="1"/>
          </p:cNvSpPr>
          <p:nvPr>
            <p:ph idx="1"/>
          </p:nvPr>
        </p:nvSpPr>
        <p:spPr/>
        <p:txBody>
          <a:bodyPr/>
          <a:lstStyle/>
          <a:p>
            <a:r>
              <a:rPr lang="ja-JP" altLang="ja-JP" dirty="0"/>
              <a:t>問題を解くために、モデルが学習データに存在しない処理を自発的に生成してしまう</a:t>
            </a:r>
            <a:endParaRPr lang="en-US" altLang="ja-JP" dirty="0"/>
          </a:p>
          <a:p>
            <a:endParaRPr kumimoji="1" lang="en-US" altLang="ja-JP" dirty="0"/>
          </a:p>
          <a:p>
            <a:r>
              <a:rPr lang="ja-JP" altLang="en-US" dirty="0"/>
              <a:t>処理単体として学習データではそもそも教えてない処理を生成してるものが</a:t>
            </a:r>
            <a:r>
              <a:rPr lang="en-US" altLang="ja-JP" dirty="0"/>
              <a:t>2</a:t>
            </a:r>
            <a:r>
              <a:rPr lang="ja-JP" altLang="en-US" dirty="0"/>
              <a:t>例存在した</a:t>
            </a:r>
            <a:endParaRPr lang="en-US" altLang="ja-JP" dirty="0"/>
          </a:p>
          <a:p>
            <a:endParaRPr lang="en-US" altLang="ja-JP" dirty="0"/>
          </a:p>
          <a:p>
            <a:r>
              <a:rPr lang="ja-JP" altLang="en-US" dirty="0"/>
              <a:t>実際に、どんな処理をしているか確認したが、どのような処理なのかわからなかった</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D46D4B86-F39C-20B1-C581-7B5E07F236BE}"/>
              </a:ext>
            </a:extLst>
          </p:cNvPr>
          <p:cNvSpPr>
            <a:spLocks noGrp="1"/>
          </p:cNvSpPr>
          <p:nvPr>
            <p:ph type="sldNum" sz="quarter" idx="12"/>
          </p:nvPr>
        </p:nvSpPr>
        <p:spPr/>
        <p:txBody>
          <a:bodyPr/>
          <a:lstStyle/>
          <a:p>
            <a:fld id="{10649E7B-FC1B-418B-9B6A-00859DB1DEE8}" type="slidenum">
              <a:rPr kumimoji="1" lang="ja-JP" altLang="en-US" smtClean="0"/>
              <a:t>37</a:t>
            </a:fld>
            <a:endParaRPr kumimoji="1" lang="ja-JP" altLang="en-US"/>
          </a:p>
        </p:txBody>
      </p:sp>
    </p:spTree>
    <p:extLst>
      <p:ext uri="{BB962C8B-B14F-4D97-AF65-F5344CB8AC3E}">
        <p14:creationId xmlns:p14="http://schemas.microsoft.com/office/powerpoint/2010/main" val="7943492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C0C567-A8E0-180C-C545-A8E6827D0017}"/>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endParaRPr kumimoji="1" lang="ja-JP" altLang="en-US" dirty="0"/>
          </a:p>
        </p:txBody>
      </p:sp>
      <p:sp>
        <p:nvSpPr>
          <p:cNvPr id="3" name="コンテンツ プレースホルダー 2">
            <a:extLst>
              <a:ext uri="{FF2B5EF4-FFF2-40B4-BE49-F238E27FC236}">
                <a16:creationId xmlns:a16="http://schemas.microsoft.com/office/drawing/2014/main" id="{5D9A55D6-7BDC-E221-9586-98AE5C2A732B}"/>
              </a:ext>
            </a:extLst>
          </p:cNvPr>
          <p:cNvSpPr>
            <a:spLocks noGrp="1"/>
          </p:cNvSpPr>
          <p:nvPr>
            <p:ph idx="1"/>
          </p:nvPr>
        </p:nvSpPr>
        <p:spPr/>
        <p:txBody>
          <a:bodyPr/>
          <a:lstStyle/>
          <a:p>
            <a:r>
              <a:rPr kumimoji="1" lang="ja-JP" altLang="en-US" dirty="0"/>
              <a:t>正しいルールを選べていたか</a:t>
            </a:r>
          </a:p>
        </p:txBody>
      </p:sp>
      <p:sp>
        <p:nvSpPr>
          <p:cNvPr id="4" name="スライド番号プレースホルダー 3">
            <a:extLst>
              <a:ext uri="{FF2B5EF4-FFF2-40B4-BE49-F238E27FC236}">
                <a16:creationId xmlns:a16="http://schemas.microsoft.com/office/drawing/2014/main" id="{9560F741-8262-D35A-6020-176468344617}"/>
              </a:ext>
            </a:extLst>
          </p:cNvPr>
          <p:cNvSpPr>
            <a:spLocks noGrp="1"/>
          </p:cNvSpPr>
          <p:nvPr>
            <p:ph type="sldNum" sz="quarter" idx="12"/>
          </p:nvPr>
        </p:nvSpPr>
        <p:spPr/>
        <p:txBody>
          <a:bodyPr/>
          <a:lstStyle/>
          <a:p>
            <a:fld id="{10649E7B-FC1B-418B-9B6A-00859DB1DEE8}" type="slidenum">
              <a:rPr kumimoji="1" lang="ja-JP" altLang="en-US" smtClean="0"/>
              <a:t>38</a:t>
            </a:fld>
            <a:endParaRPr kumimoji="1" lang="ja-JP" altLang="en-US"/>
          </a:p>
        </p:txBody>
      </p:sp>
      <p:graphicFrame>
        <p:nvGraphicFramePr>
          <p:cNvPr id="6" name="表 5">
            <a:extLst>
              <a:ext uri="{FF2B5EF4-FFF2-40B4-BE49-F238E27FC236}">
                <a16:creationId xmlns:a16="http://schemas.microsoft.com/office/drawing/2014/main" id="{94AB6FED-56B8-7B5D-0A07-360B2B6F02DF}"/>
              </a:ext>
            </a:extLst>
          </p:cNvPr>
          <p:cNvGraphicFramePr>
            <a:graphicFrameLocks noGrp="1"/>
          </p:cNvGraphicFramePr>
          <p:nvPr>
            <p:extLst>
              <p:ext uri="{D42A27DB-BD31-4B8C-83A1-F6EECF244321}">
                <p14:modId xmlns:p14="http://schemas.microsoft.com/office/powerpoint/2010/main" val="3948162798"/>
              </p:ext>
            </p:extLst>
          </p:nvPr>
        </p:nvGraphicFramePr>
        <p:xfrm>
          <a:off x="1769818" y="2528408"/>
          <a:ext cx="8652364" cy="3387576"/>
        </p:xfrm>
        <a:graphic>
          <a:graphicData uri="http://schemas.openxmlformats.org/drawingml/2006/table">
            <a:tbl>
              <a:tblPr firstRow="1" bandRow="1">
                <a:tableStyleId>{5C22544A-7EE6-4342-B048-85BDC9FD1C3A}</a:tableStyleId>
              </a:tblPr>
              <a:tblGrid>
                <a:gridCol w="2163091">
                  <a:extLst>
                    <a:ext uri="{9D8B030D-6E8A-4147-A177-3AD203B41FA5}">
                      <a16:colId xmlns:a16="http://schemas.microsoft.com/office/drawing/2014/main" val="3255851566"/>
                    </a:ext>
                  </a:extLst>
                </a:gridCol>
                <a:gridCol w="2163091">
                  <a:extLst>
                    <a:ext uri="{9D8B030D-6E8A-4147-A177-3AD203B41FA5}">
                      <a16:colId xmlns:a16="http://schemas.microsoft.com/office/drawing/2014/main" val="3985248991"/>
                    </a:ext>
                  </a:extLst>
                </a:gridCol>
                <a:gridCol w="2163091">
                  <a:extLst>
                    <a:ext uri="{9D8B030D-6E8A-4147-A177-3AD203B41FA5}">
                      <a16:colId xmlns:a16="http://schemas.microsoft.com/office/drawing/2014/main" val="498038683"/>
                    </a:ext>
                  </a:extLst>
                </a:gridCol>
                <a:gridCol w="2163091">
                  <a:extLst>
                    <a:ext uri="{9D8B030D-6E8A-4147-A177-3AD203B41FA5}">
                      <a16:colId xmlns:a16="http://schemas.microsoft.com/office/drawing/2014/main" val="2664031934"/>
                    </a:ext>
                  </a:extLst>
                </a:gridCol>
              </a:tblGrid>
              <a:tr h="846894">
                <a:tc>
                  <a:txBody>
                    <a:bodyPr/>
                    <a:lstStyle/>
                    <a:p>
                      <a:pPr algn="ctr"/>
                      <a:endParaRPr kumimoji="1" lang="ja-JP" altLang="en-US" dirty="0"/>
                    </a:p>
                  </a:txBody>
                  <a:tcPr anchor="ctr"/>
                </a:tc>
                <a:tc>
                  <a:txBody>
                    <a:bodyPr/>
                    <a:lstStyle/>
                    <a:p>
                      <a:pPr algn="ctr"/>
                      <a:r>
                        <a:rPr lang="ja-JP" altLang="ja-JP" dirty="0"/>
                        <a:t>正解</a:t>
                      </a:r>
                      <a:endParaRPr kumimoji="1" lang="ja-JP" altLang="en-US" dirty="0"/>
                    </a:p>
                  </a:txBody>
                  <a:tcPr anchor="ctr"/>
                </a:tc>
                <a:tc>
                  <a:txBody>
                    <a:bodyPr/>
                    <a:lstStyle/>
                    <a:p>
                      <a:pPr algn="ctr"/>
                      <a:r>
                        <a:rPr lang="ja-JP" altLang="ja-JP" dirty="0"/>
                        <a:t>不正解</a:t>
                      </a:r>
                      <a:endParaRPr kumimoji="1" lang="ja-JP" altLang="en-US" dirty="0"/>
                    </a:p>
                  </a:txBody>
                  <a:tcPr anchor="ctr"/>
                </a:tc>
                <a:tc>
                  <a:txBody>
                    <a:bodyPr/>
                    <a:lstStyle/>
                    <a:p>
                      <a:pPr algn="ctr"/>
                      <a:r>
                        <a:rPr kumimoji="1" lang="ja-JP" altLang="en-US" dirty="0"/>
                        <a:t>計</a:t>
                      </a:r>
                    </a:p>
                  </a:txBody>
                  <a:tcPr anchor="ctr"/>
                </a:tc>
                <a:extLst>
                  <a:ext uri="{0D108BD9-81ED-4DB2-BD59-A6C34878D82A}">
                    <a16:rowId xmlns:a16="http://schemas.microsoft.com/office/drawing/2014/main" val="1172174070"/>
                  </a:ext>
                </a:extLst>
              </a:tr>
              <a:tr h="846894">
                <a:tc>
                  <a:txBody>
                    <a:bodyPr/>
                    <a:lstStyle/>
                    <a:p>
                      <a:pPr algn="ctr"/>
                      <a:r>
                        <a:rPr lang="ja-JP" altLang="ja-JP" dirty="0"/>
                        <a:t>正しいルール選択</a:t>
                      </a:r>
                      <a:endParaRPr kumimoji="1" lang="ja-JP" altLang="en-US" dirty="0"/>
                    </a:p>
                  </a:txBody>
                  <a:tcPr anchor="ctr"/>
                </a:tc>
                <a:tc>
                  <a:txBody>
                    <a:bodyPr/>
                    <a:lstStyle/>
                    <a:p>
                      <a:pPr algn="ctr"/>
                      <a:r>
                        <a:rPr kumimoji="1" lang="ja-JP" altLang="ja-JP" sz="1800" b="0" i="0" kern="1200" dirty="0">
                          <a:solidFill>
                            <a:schemeClr val="dk1"/>
                          </a:solidFill>
                          <a:effectLst/>
                          <a:latin typeface="+mn-lt"/>
                          <a:ea typeface="+mn-ea"/>
                          <a:cs typeface="+mn-cs"/>
                        </a:rPr>
                        <a:t>527</a:t>
                      </a:r>
                      <a:r>
                        <a:rPr lang="ja-JP" altLang="ja-JP" dirty="0"/>
                        <a:t>(75.3%)</a:t>
                      </a:r>
                      <a:endParaRPr kumimoji="1" lang="ja-JP" altLang="en-US" dirty="0"/>
                    </a:p>
                  </a:txBody>
                  <a:tcPr anchor="ctr"/>
                </a:tc>
                <a:tc>
                  <a:txBody>
                    <a:bodyPr/>
                    <a:lstStyle/>
                    <a:p>
                      <a:pPr algn="ctr"/>
                      <a:r>
                        <a:rPr kumimoji="1" lang="ja-JP" altLang="ja-JP" sz="1800" b="0" i="0" kern="1200" dirty="0">
                          <a:solidFill>
                            <a:schemeClr val="dk1"/>
                          </a:solidFill>
                          <a:effectLst/>
                          <a:latin typeface="+mn-lt"/>
                          <a:ea typeface="+mn-ea"/>
                          <a:cs typeface="+mn-cs"/>
                        </a:rPr>
                        <a:t>27</a:t>
                      </a:r>
                      <a:r>
                        <a:rPr kumimoji="1" lang="en-US" altLang="ja-JP" sz="1800" b="0" i="0" kern="1200" dirty="0">
                          <a:solidFill>
                            <a:schemeClr val="dk1"/>
                          </a:solidFill>
                          <a:effectLst/>
                          <a:latin typeface="+mn-lt"/>
                          <a:ea typeface="+mn-ea"/>
                          <a:cs typeface="+mn-cs"/>
                        </a:rPr>
                        <a:t>(3.9%)</a:t>
                      </a:r>
                      <a:endParaRPr kumimoji="1" lang="ja-JP" altLang="en-US" dirty="0"/>
                    </a:p>
                  </a:txBody>
                  <a:tcPr anchor="ctr"/>
                </a:tc>
                <a:tc>
                  <a:txBody>
                    <a:bodyPr/>
                    <a:lstStyle/>
                    <a:p>
                      <a:pPr algn="ctr"/>
                      <a:r>
                        <a:rPr kumimoji="1" lang="en-US" altLang="ja-JP" dirty="0"/>
                        <a:t>554 (79.1%)</a:t>
                      </a:r>
                      <a:endParaRPr kumimoji="1" lang="ja-JP" altLang="en-US" dirty="0"/>
                    </a:p>
                  </a:txBody>
                  <a:tcPr anchor="ctr"/>
                </a:tc>
                <a:extLst>
                  <a:ext uri="{0D108BD9-81ED-4DB2-BD59-A6C34878D82A}">
                    <a16:rowId xmlns:a16="http://schemas.microsoft.com/office/drawing/2014/main" val="6058657"/>
                  </a:ext>
                </a:extLst>
              </a:tr>
              <a:tr h="846894">
                <a:tc>
                  <a:txBody>
                    <a:bodyPr/>
                    <a:lstStyle/>
                    <a:p>
                      <a:pPr algn="ctr"/>
                      <a:r>
                        <a:rPr lang="ja-JP" altLang="ja-JP" dirty="0"/>
                        <a:t>誤ったルール選択</a:t>
                      </a:r>
                      <a:endParaRPr kumimoji="1" lang="ja-JP" altLang="en-US" dirty="0"/>
                    </a:p>
                  </a:txBody>
                  <a:tcPr anchor="ctr"/>
                </a:tc>
                <a:tc>
                  <a:txBody>
                    <a:bodyPr/>
                    <a:lstStyle/>
                    <a:p>
                      <a:pPr algn="ctr"/>
                      <a:r>
                        <a:rPr kumimoji="1" lang="ja-JP" altLang="ja-JP" sz="1800" b="0" i="0" kern="1200">
                          <a:solidFill>
                            <a:schemeClr val="dk1"/>
                          </a:solidFill>
                          <a:effectLst/>
                          <a:latin typeface="+mn-lt"/>
                          <a:ea typeface="+mn-ea"/>
                          <a:cs typeface="+mn-cs"/>
                        </a:rPr>
                        <a:t>36</a:t>
                      </a:r>
                      <a:r>
                        <a:rPr kumimoji="1" lang="en-US" altLang="ja-JP" sz="1800" b="0" i="0" kern="1200">
                          <a:solidFill>
                            <a:schemeClr val="dk1"/>
                          </a:solidFill>
                          <a:effectLst/>
                          <a:latin typeface="+mn-lt"/>
                          <a:ea typeface="+mn-ea"/>
                          <a:cs typeface="+mn-cs"/>
                        </a:rPr>
                        <a:t>(5.1%)</a:t>
                      </a:r>
                      <a:endParaRPr kumimoji="1" lang="ja-JP" altLang="en-US" dirty="0"/>
                    </a:p>
                  </a:txBody>
                  <a:tcPr anchor="ctr"/>
                </a:tc>
                <a:tc>
                  <a:txBody>
                    <a:bodyPr/>
                    <a:lstStyle/>
                    <a:p>
                      <a:pPr algn="ctr"/>
                      <a:r>
                        <a:rPr kumimoji="1" lang="ja-JP" altLang="ja-JP" sz="1800" b="0" i="0" kern="1200" dirty="0">
                          <a:solidFill>
                            <a:schemeClr val="dk1"/>
                          </a:solidFill>
                          <a:effectLst/>
                          <a:latin typeface="+mn-lt"/>
                          <a:ea typeface="+mn-ea"/>
                          <a:cs typeface="+mn-cs"/>
                        </a:rPr>
                        <a:t>110</a:t>
                      </a:r>
                      <a:r>
                        <a:rPr kumimoji="1" lang="en-US" altLang="ja-JP" sz="1800" b="0" i="0" kern="1200" dirty="0">
                          <a:solidFill>
                            <a:schemeClr val="dk1"/>
                          </a:solidFill>
                          <a:effectLst/>
                          <a:latin typeface="+mn-lt"/>
                          <a:ea typeface="+mn-ea"/>
                          <a:cs typeface="+mn-cs"/>
                        </a:rPr>
                        <a:t>(15.7%)</a:t>
                      </a:r>
                      <a:endParaRPr kumimoji="1" lang="ja-JP" altLang="en-US" dirty="0"/>
                    </a:p>
                  </a:txBody>
                  <a:tcPr anchor="ctr"/>
                </a:tc>
                <a:tc>
                  <a:txBody>
                    <a:bodyPr/>
                    <a:lstStyle/>
                    <a:p>
                      <a:pPr algn="ctr"/>
                      <a:r>
                        <a:rPr kumimoji="1" lang="en-US" altLang="ja-JP" dirty="0"/>
                        <a:t>146 (20.9%)</a:t>
                      </a:r>
                      <a:endParaRPr kumimoji="1" lang="ja-JP" altLang="en-US" dirty="0"/>
                    </a:p>
                  </a:txBody>
                  <a:tcPr anchor="ctr"/>
                </a:tc>
                <a:extLst>
                  <a:ext uri="{0D108BD9-81ED-4DB2-BD59-A6C34878D82A}">
                    <a16:rowId xmlns:a16="http://schemas.microsoft.com/office/drawing/2014/main" val="3555240128"/>
                  </a:ext>
                </a:extLst>
              </a:tr>
              <a:tr h="846894">
                <a:tc>
                  <a:txBody>
                    <a:bodyPr/>
                    <a:lstStyle/>
                    <a:p>
                      <a:pPr algn="ctr"/>
                      <a:r>
                        <a:rPr lang="ja-JP" altLang="ja-JP" dirty="0"/>
                        <a:t>計</a:t>
                      </a:r>
                      <a:endParaRPr kumimoji="1" lang="ja-JP" altLang="en-US" dirty="0"/>
                    </a:p>
                  </a:txBody>
                  <a:tcPr anchor="ctr"/>
                </a:tc>
                <a:tc>
                  <a:txBody>
                    <a:bodyPr/>
                    <a:lstStyle/>
                    <a:p>
                      <a:pPr algn="ctr"/>
                      <a:r>
                        <a:rPr lang="ja-JP" altLang="ja-JP" dirty="0"/>
                        <a:t>563</a:t>
                      </a:r>
                      <a:r>
                        <a:rPr kumimoji="1" lang="en-US" altLang="ja-JP" dirty="0"/>
                        <a:t>(80.4%)</a:t>
                      </a:r>
                      <a:endParaRPr kumimoji="1" lang="ja-JP" altLang="en-US" dirty="0"/>
                    </a:p>
                  </a:txBody>
                  <a:tcPr anchor="ctr"/>
                </a:tc>
                <a:tc>
                  <a:txBody>
                    <a:bodyPr/>
                    <a:lstStyle/>
                    <a:p>
                      <a:pPr algn="ctr"/>
                      <a:r>
                        <a:rPr kumimoji="1" lang="en-US" altLang="ja-JP" dirty="0"/>
                        <a:t>137(19.6%)</a:t>
                      </a:r>
                      <a:endParaRPr kumimoji="1" lang="ja-JP" altLang="en-US" dirty="0"/>
                    </a:p>
                  </a:txBody>
                  <a:tcPr anchor="ctr"/>
                </a:tc>
                <a:tc>
                  <a:txBody>
                    <a:bodyPr/>
                    <a:lstStyle/>
                    <a:p>
                      <a:pPr algn="ctr"/>
                      <a:r>
                        <a:rPr kumimoji="1" lang="en-US" altLang="ja-JP" dirty="0"/>
                        <a:t>700</a:t>
                      </a:r>
                      <a:endParaRPr kumimoji="1" lang="ja-JP" altLang="en-US" dirty="0"/>
                    </a:p>
                  </a:txBody>
                  <a:tcPr anchor="ctr"/>
                </a:tc>
                <a:extLst>
                  <a:ext uri="{0D108BD9-81ED-4DB2-BD59-A6C34878D82A}">
                    <a16:rowId xmlns:a16="http://schemas.microsoft.com/office/drawing/2014/main" val="1975189124"/>
                  </a:ext>
                </a:extLst>
              </a:tr>
            </a:tbl>
          </a:graphicData>
        </a:graphic>
      </p:graphicFrame>
    </p:spTree>
    <p:extLst>
      <p:ext uri="{BB962C8B-B14F-4D97-AF65-F5344CB8AC3E}">
        <p14:creationId xmlns:p14="http://schemas.microsoft.com/office/powerpoint/2010/main" val="3193772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89F8C4-790E-DA25-F18F-0151736C88F0}"/>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endParaRPr kumimoji="1" lang="ja-JP" altLang="en-US" dirty="0"/>
          </a:p>
        </p:txBody>
      </p:sp>
      <p:sp>
        <p:nvSpPr>
          <p:cNvPr id="3" name="コンテンツ プレースホルダー 2">
            <a:extLst>
              <a:ext uri="{FF2B5EF4-FFF2-40B4-BE49-F238E27FC236}">
                <a16:creationId xmlns:a16="http://schemas.microsoft.com/office/drawing/2014/main" id="{8A999B23-2CC5-1E9C-C725-1D21BF5C2283}"/>
              </a:ext>
            </a:extLst>
          </p:cNvPr>
          <p:cNvSpPr>
            <a:spLocks noGrp="1"/>
          </p:cNvSpPr>
          <p:nvPr>
            <p:ph idx="1"/>
          </p:nvPr>
        </p:nvSpPr>
        <p:spPr/>
        <p:txBody>
          <a:bodyPr/>
          <a:lstStyle/>
          <a:p>
            <a:r>
              <a:rPr kumimoji="1" lang="ja-JP" altLang="en-US" dirty="0"/>
              <a:t>正しいルール選択 → 正解：</a:t>
            </a:r>
            <a:r>
              <a:rPr kumimoji="1" lang="en-US" altLang="ja-JP" dirty="0"/>
              <a:t>527 / 554 = 95.1%</a:t>
            </a:r>
          </a:p>
          <a:p>
            <a:r>
              <a:rPr kumimoji="1" lang="ja-JP" altLang="en-US" dirty="0"/>
              <a:t>誤ったルール選択 → 正解：</a:t>
            </a:r>
            <a:r>
              <a:rPr kumimoji="1" lang="en-US" altLang="ja-JP" dirty="0"/>
              <a:t>36 / 146 = 24.7% </a:t>
            </a:r>
          </a:p>
          <a:p>
            <a:r>
              <a:rPr kumimoji="1" lang="ja-JP" altLang="en-US" dirty="0"/>
              <a:t>ルール選択が正しい場合、その後の処理も高い確率で正しく行えている</a:t>
            </a:r>
            <a:endParaRPr kumimoji="1" lang="en-US" altLang="ja-JP" dirty="0"/>
          </a:p>
          <a:p>
            <a:r>
              <a:rPr kumimoji="1" lang="ja-JP" altLang="en-US" dirty="0"/>
              <a:t>不正解の主な要因は、ルール選択の段階での誤りである</a:t>
            </a:r>
          </a:p>
        </p:txBody>
      </p:sp>
      <p:sp>
        <p:nvSpPr>
          <p:cNvPr id="4" name="スライド番号プレースホルダー 3">
            <a:extLst>
              <a:ext uri="{FF2B5EF4-FFF2-40B4-BE49-F238E27FC236}">
                <a16:creationId xmlns:a16="http://schemas.microsoft.com/office/drawing/2014/main" id="{9F24E83E-3BA5-7139-9BB3-C802C509A05A}"/>
              </a:ext>
            </a:extLst>
          </p:cNvPr>
          <p:cNvSpPr>
            <a:spLocks noGrp="1"/>
          </p:cNvSpPr>
          <p:nvPr>
            <p:ph type="sldNum" sz="quarter" idx="12"/>
          </p:nvPr>
        </p:nvSpPr>
        <p:spPr/>
        <p:txBody>
          <a:bodyPr/>
          <a:lstStyle/>
          <a:p>
            <a:fld id="{10649E7B-FC1B-418B-9B6A-00859DB1DEE8}" type="slidenum">
              <a:rPr kumimoji="1" lang="ja-JP" altLang="en-US" smtClean="0"/>
              <a:t>39</a:t>
            </a:fld>
            <a:endParaRPr kumimoji="1" lang="ja-JP" altLang="en-US"/>
          </a:p>
        </p:txBody>
      </p:sp>
    </p:spTree>
    <p:extLst>
      <p:ext uri="{BB962C8B-B14F-4D97-AF65-F5344CB8AC3E}">
        <p14:creationId xmlns:p14="http://schemas.microsoft.com/office/powerpoint/2010/main" val="3143494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0CA0B9-152F-4E7F-9FE6-6C8870A3FD33}"/>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endParaRPr kumimoji="1" lang="ja-JP" altLang="en-US" dirty="0"/>
          </a:p>
        </p:txBody>
      </p:sp>
      <p:sp>
        <p:nvSpPr>
          <p:cNvPr id="3" name="コンテンツ プレースホルダー 2">
            <a:extLst>
              <a:ext uri="{FF2B5EF4-FFF2-40B4-BE49-F238E27FC236}">
                <a16:creationId xmlns:a16="http://schemas.microsoft.com/office/drawing/2014/main" id="{E0A0084C-C382-0FE8-1752-F213B021860F}"/>
              </a:ext>
            </a:extLst>
          </p:cNvPr>
          <p:cNvSpPr>
            <a:spLocks noGrp="1"/>
          </p:cNvSpPr>
          <p:nvPr>
            <p:ph idx="1"/>
          </p:nvPr>
        </p:nvSpPr>
        <p:spPr/>
        <p:txBody>
          <a:bodyPr/>
          <a:lstStyle/>
          <a:p>
            <a:r>
              <a:rPr kumimoji="1" lang="ja-JP" altLang="en-US" dirty="0"/>
              <a:t>ルールを正しく適用できていたか</a:t>
            </a:r>
          </a:p>
        </p:txBody>
      </p:sp>
      <p:sp>
        <p:nvSpPr>
          <p:cNvPr id="4" name="スライド番号プレースホルダー 3">
            <a:extLst>
              <a:ext uri="{FF2B5EF4-FFF2-40B4-BE49-F238E27FC236}">
                <a16:creationId xmlns:a16="http://schemas.microsoft.com/office/drawing/2014/main" id="{AD6EA617-1E79-3605-BA3E-B9EBD3885963}"/>
              </a:ext>
            </a:extLst>
          </p:cNvPr>
          <p:cNvSpPr>
            <a:spLocks noGrp="1"/>
          </p:cNvSpPr>
          <p:nvPr>
            <p:ph type="sldNum" sz="quarter" idx="12"/>
          </p:nvPr>
        </p:nvSpPr>
        <p:spPr/>
        <p:txBody>
          <a:bodyPr/>
          <a:lstStyle/>
          <a:p>
            <a:fld id="{10649E7B-FC1B-418B-9B6A-00859DB1DEE8}" type="slidenum">
              <a:rPr kumimoji="1" lang="ja-JP" altLang="en-US" smtClean="0"/>
              <a:t>40</a:t>
            </a:fld>
            <a:endParaRPr kumimoji="1" lang="ja-JP" altLang="en-US"/>
          </a:p>
        </p:txBody>
      </p:sp>
      <p:graphicFrame>
        <p:nvGraphicFramePr>
          <p:cNvPr id="6" name="表 5">
            <a:extLst>
              <a:ext uri="{FF2B5EF4-FFF2-40B4-BE49-F238E27FC236}">
                <a16:creationId xmlns:a16="http://schemas.microsoft.com/office/drawing/2014/main" id="{598E29AC-141A-4391-6245-5D4ECDE4F8C7}"/>
              </a:ext>
            </a:extLst>
          </p:cNvPr>
          <p:cNvGraphicFramePr>
            <a:graphicFrameLocks noGrp="1"/>
          </p:cNvGraphicFramePr>
          <p:nvPr>
            <p:extLst>
              <p:ext uri="{D42A27DB-BD31-4B8C-83A1-F6EECF244321}">
                <p14:modId xmlns:p14="http://schemas.microsoft.com/office/powerpoint/2010/main" val="1198021242"/>
              </p:ext>
            </p:extLst>
          </p:nvPr>
        </p:nvGraphicFramePr>
        <p:xfrm>
          <a:off x="2032000" y="2597562"/>
          <a:ext cx="8128000" cy="3214096"/>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04582596"/>
                    </a:ext>
                  </a:extLst>
                </a:gridCol>
                <a:gridCol w="2032000">
                  <a:extLst>
                    <a:ext uri="{9D8B030D-6E8A-4147-A177-3AD203B41FA5}">
                      <a16:colId xmlns:a16="http://schemas.microsoft.com/office/drawing/2014/main" val="4279670729"/>
                    </a:ext>
                  </a:extLst>
                </a:gridCol>
                <a:gridCol w="2032000">
                  <a:extLst>
                    <a:ext uri="{9D8B030D-6E8A-4147-A177-3AD203B41FA5}">
                      <a16:colId xmlns:a16="http://schemas.microsoft.com/office/drawing/2014/main" val="3912188202"/>
                    </a:ext>
                  </a:extLst>
                </a:gridCol>
                <a:gridCol w="2032000">
                  <a:extLst>
                    <a:ext uri="{9D8B030D-6E8A-4147-A177-3AD203B41FA5}">
                      <a16:colId xmlns:a16="http://schemas.microsoft.com/office/drawing/2014/main" val="3434184460"/>
                    </a:ext>
                  </a:extLst>
                </a:gridCol>
              </a:tblGrid>
              <a:tr h="803524">
                <a:tc>
                  <a:txBody>
                    <a:bodyPr/>
                    <a:lstStyle/>
                    <a:p>
                      <a:pPr algn="ctr"/>
                      <a:endParaRPr kumimoji="1" lang="ja-JP" altLang="en-US"/>
                    </a:p>
                  </a:txBody>
                  <a:tcPr anchor="ctr"/>
                </a:tc>
                <a:tc>
                  <a:txBody>
                    <a:bodyPr/>
                    <a:lstStyle/>
                    <a:p>
                      <a:pPr algn="ctr"/>
                      <a:r>
                        <a:rPr kumimoji="1" lang="ja-JP" altLang="en-US" dirty="0"/>
                        <a:t>正解</a:t>
                      </a:r>
                    </a:p>
                  </a:txBody>
                  <a:tcPr anchor="ctr"/>
                </a:tc>
                <a:tc>
                  <a:txBody>
                    <a:bodyPr/>
                    <a:lstStyle/>
                    <a:p>
                      <a:pPr algn="ctr"/>
                      <a:r>
                        <a:rPr kumimoji="1" lang="ja-JP" altLang="en-US" dirty="0"/>
                        <a:t>不正解</a:t>
                      </a:r>
                    </a:p>
                  </a:txBody>
                  <a:tcPr anchor="ctr"/>
                </a:tc>
                <a:tc>
                  <a:txBody>
                    <a:bodyPr/>
                    <a:lstStyle/>
                    <a:p>
                      <a:pPr algn="ctr"/>
                      <a:r>
                        <a:rPr kumimoji="1" lang="ja-JP" altLang="en-US" dirty="0"/>
                        <a:t>計</a:t>
                      </a:r>
                    </a:p>
                  </a:txBody>
                  <a:tcPr anchor="ctr"/>
                </a:tc>
                <a:extLst>
                  <a:ext uri="{0D108BD9-81ED-4DB2-BD59-A6C34878D82A}">
                    <a16:rowId xmlns:a16="http://schemas.microsoft.com/office/drawing/2014/main" val="2787018612"/>
                  </a:ext>
                </a:extLst>
              </a:tr>
              <a:tr h="803524">
                <a:tc>
                  <a:txBody>
                    <a:bodyPr/>
                    <a:lstStyle/>
                    <a:p>
                      <a:pPr algn="ctr"/>
                      <a:r>
                        <a:rPr kumimoji="1" lang="ja-JP" altLang="en-US" dirty="0"/>
                        <a:t>正しいルール適用</a:t>
                      </a:r>
                    </a:p>
                  </a:txBody>
                  <a:tcPr anchor="ctr"/>
                </a:tc>
                <a:tc>
                  <a:txBody>
                    <a:bodyPr/>
                    <a:lstStyle/>
                    <a:p>
                      <a:pPr algn="ctr"/>
                      <a:endParaRPr kumimoji="1" lang="ja-JP" altLang="en-US"/>
                    </a:p>
                  </a:txBody>
                  <a:tcPr anchor="ctr"/>
                </a:tc>
                <a:tc>
                  <a:txBody>
                    <a:bodyPr/>
                    <a:lstStyle/>
                    <a:p>
                      <a:pPr algn="ctr"/>
                      <a:endParaRPr kumimoji="1" lang="ja-JP" altLang="en-US"/>
                    </a:p>
                  </a:txBody>
                  <a:tcPr anchor="ctr"/>
                </a:tc>
                <a:tc>
                  <a:txBody>
                    <a:bodyPr/>
                    <a:lstStyle/>
                    <a:p>
                      <a:pPr algn="ctr"/>
                      <a:endParaRPr kumimoji="1" lang="ja-JP" altLang="en-US"/>
                    </a:p>
                  </a:txBody>
                  <a:tcPr anchor="ctr"/>
                </a:tc>
                <a:extLst>
                  <a:ext uri="{0D108BD9-81ED-4DB2-BD59-A6C34878D82A}">
                    <a16:rowId xmlns:a16="http://schemas.microsoft.com/office/drawing/2014/main" val="3825885354"/>
                  </a:ext>
                </a:extLst>
              </a:tr>
              <a:tr h="803524">
                <a:tc>
                  <a:txBody>
                    <a:bodyPr/>
                    <a:lstStyle/>
                    <a:p>
                      <a:pPr algn="ctr"/>
                      <a:r>
                        <a:rPr kumimoji="1" lang="ja-JP" altLang="en-US" dirty="0"/>
                        <a:t>正しいルール適用</a:t>
                      </a:r>
                    </a:p>
                  </a:txBody>
                  <a:tcPr anchor="ctr"/>
                </a:tc>
                <a:tc>
                  <a:txBody>
                    <a:bodyPr/>
                    <a:lstStyle/>
                    <a:p>
                      <a:pPr algn="ctr"/>
                      <a:endParaRPr kumimoji="1" lang="ja-JP" altLang="en-US"/>
                    </a:p>
                  </a:txBody>
                  <a:tcPr anchor="ctr"/>
                </a:tc>
                <a:tc>
                  <a:txBody>
                    <a:bodyPr/>
                    <a:lstStyle/>
                    <a:p>
                      <a:pPr algn="ctr"/>
                      <a:endParaRPr kumimoji="1" lang="ja-JP" altLang="en-US"/>
                    </a:p>
                  </a:txBody>
                  <a:tcPr anchor="ctr"/>
                </a:tc>
                <a:tc>
                  <a:txBody>
                    <a:bodyPr/>
                    <a:lstStyle/>
                    <a:p>
                      <a:pPr algn="ctr"/>
                      <a:endParaRPr kumimoji="1" lang="ja-JP" altLang="en-US"/>
                    </a:p>
                  </a:txBody>
                  <a:tcPr anchor="ctr"/>
                </a:tc>
                <a:extLst>
                  <a:ext uri="{0D108BD9-81ED-4DB2-BD59-A6C34878D82A}">
                    <a16:rowId xmlns:a16="http://schemas.microsoft.com/office/drawing/2014/main" val="2562858176"/>
                  </a:ext>
                </a:extLst>
              </a:tr>
              <a:tr h="803524">
                <a:tc>
                  <a:txBody>
                    <a:bodyPr/>
                    <a:lstStyle/>
                    <a:p>
                      <a:pPr algn="ctr"/>
                      <a:r>
                        <a:rPr kumimoji="1" lang="ja-JP" altLang="en-US" dirty="0"/>
                        <a:t>計</a:t>
                      </a:r>
                    </a:p>
                  </a:txBody>
                  <a:tcPr anchor="ctr"/>
                </a:tc>
                <a:tc>
                  <a:txBody>
                    <a:bodyPr/>
                    <a:lstStyle/>
                    <a:p>
                      <a:pPr algn="ctr"/>
                      <a:endParaRPr kumimoji="1" lang="ja-JP" altLang="en-US"/>
                    </a:p>
                  </a:txBody>
                  <a:tcPr anchor="ctr"/>
                </a:tc>
                <a:tc>
                  <a:txBody>
                    <a:bodyPr/>
                    <a:lstStyle/>
                    <a:p>
                      <a:pPr algn="ctr"/>
                      <a:endParaRPr kumimoji="1" lang="ja-JP" altLang="en-US"/>
                    </a:p>
                  </a:txBody>
                  <a:tcPr anchor="ctr"/>
                </a:tc>
                <a:tc>
                  <a:txBody>
                    <a:bodyPr/>
                    <a:lstStyle/>
                    <a:p>
                      <a:pPr algn="ctr"/>
                      <a:r>
                        <a:rPr kumimoji="1" lang="en-US" altLang="ja-JP" dirty="0"/>
                        <a:t>698</a:t>
                      </a:r>
                      <a:endParaRPr kumimoji="1" lang="ja-JP" altLang="en-US" dirty="0"/>
                    </a:p>
                  </a:txBody>
                  <a:tcPr anchor="ctr"/>
                </a:tc>
                <a:extLst>
                  <a:ext uri="{0D108BD9-81ED-4DB2-BD59-A6C34878D82A}">
                    <a16:rowId xmlns:a16="http://schemas.microsoft.com/office/drawing/2014/main" val="2457602188"/>
                  </a:ext>
                </a:extLst>
              </a:tr>
            </a:tbl>
          </a:graphicData>
        </a:graphic>
      </p:graphicFrame>
    </p:spTree>
    <p:extLst>
      <p:ext uri="{BB962C8B-B14F-4D97-AF65-F5344CB8AC3E}">
        <p14:creationId xmlns:p14="http://schemas.microsoft.com/office/powerpoint/2010/main" val="5603206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852493-A577-DAB4-8D69-AD7A54C2F267}"/>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br>
              <a:rPr lang="en-US" altLang="ja-JP" dirty="0"/>
            </a:br>
            <a:r>
              <a:rPr lang="ja-JP" altLang="en-US" dirty="0"/>
              <a:t>テストデータその</a:t>
            </a:r>
            <a:r>
              <a:rPr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11F871ED-3394-B5A8-5136-1C5546A4CD3E}"/>
              </a:ext>
            </a:extLst>
          </p:cNvPr>
          <p:cNvSpPr>
            <a:spLocks noGrp="1"/>
          </p:cNvSpPr>
          <p:nvPr>
            <p:ph idx="1"/>
          </p:nvPr>
        </p:nvSpPr>
        <p:spPr/>
        <p:txBody>
          <a:bodyPr/>
          <a:lstStyle/>
          <a:p>
            <a:r>
              <a:rPr kumimoji="1" lang="ja-JP" altLang="en-US" dirty="0"/>
              <a:t>ルールを正しく選べた場合の分析</a:t>
            </a:r>
          </a:p>
        </p:txBody>
      </p:sp>
      <p:sp>
        <p:nvSpPr>
          <p:cNvPr id="4" name="スライド番号プレースホルダー 3">
            <a:extLst>
              <a:ext uri="{FF2B5EF4-FFF2-40B4-BE49-F238E27FC236}">
                <a16:creationId xmlns:a16="http://schemas.microsoft.com/office/drawing/2014/main" id="{BBF44169-3AA1-82EB-504B-C8577F766333}"/>
              </a:ext>
            </a:extLst>
          </p:cNvPr>
          <p:cNvSpPr>
            <a:spLocks noGrp="1"/>
          </p:cNvSpPr>
          <p:nvPr>
            <p:ph type="sldNum" sz="quarter" idx="12"/>
          </p:nvPr>
        </p:nvSpPr>
        <p:spPr/>
        <p:txBody>
          <a:bodyPr/>
          <a:lstStyle/>
          <a:p>
            <a:fld id="{10649E7B-FC1B-418B-9B6A-00859DB1DEE8}" type="slidenum">
              <a:rPr kumimoji="1" lang="ja-JP" altLang="en-US" smtClean="0"/>
              <a:t>41</a:t>
            </a:fld>
            <a:endParaRPr kumimoji="1" lang="ja-JP" altLang="en-US"/>
          </a:p>
        </p:txBody>
      </p:sp>
      <p:graphicFrame>
        <p:nvGraphicFramePr>
          <p:cNvPr id="6" name="表 5">
            <a:extLst>
              <a:ext uri="{FF2B5EF4-FFF2-40B4-BE49-F238E27FC236}">
                <a16:creationId xmlns:a16="http://schemas.microsoft.com/office/drawing/2014/main" id="{FDF3E11F-9EA8-3D36-8C53-CE8AABC089AC}"/>
              </a:ext>
            </a:extLst>
          </p:cNvPr>
          <p:cNvGraphicFramePr>
            <a:graphicFrameLocks noGrp="1"/>
          </p:cNvGraphicFramePr>
          <p:nvPr>
            <p:extLst>
              <p:ext uri="{D42A27DB-BD31-4B8C-83A1-F6EECF244321}">
                <p14:modId xmlns:p14="http://schemas.microsoft.com/office/powerpoint/2010/main" val="1016511918"/>
              </p:ext>
            </p:extLst>
          </p:nvPr>
        </p:nvGraphicFramePr>
        <p:xfrm>
          <a:off x="2032000" y="2274576"/>
          <a:ext cx="8128000" cy="341075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92408562"/>
                    </a:ext>
                  </a:extLst>
                </a:gridCol>
                <a:gridCol w="2032000">
                  <a:extLst>
                    <a:ext uri="{9D8B030D-6E8A-4147-A177-3AD203B41FA5}">
                      <a16:colId xmlns:a16="http://schemas.microsoft.com/office/drawing/2014/main" val="3700087380"/>
                    </a:ext>
                  </a:extLst>
                </a:gridCol>
                <a:gridCol w="2032000">
                  <a:extLst>
                    <a:ext uri="{9D8B030D-6E8A-4147-A177-3AD203B41FA5}">
                      <a16:colId xmlns:a16="http://schemas.microsoft.com/office/drawing/2014/main" val="3243275007"/>
                    </a:ext>
                  </a:extLst>
                </a:gridCol>
                <a:gridCol w="2032000">
                  <a:extLst>
                    <a:ext uri="{9D8B030D-6E8A-4147-A177-3AD203B41FA5}">
                      <a16:colId xmlns:a16="http://schemas.microsoft.com/office/drawing/2014/main" val="183860539"/>
                    </a:ext>
                  </a:extLst>
                </a:gridCol>
              </a:tblGrid>
              <a:tr h="682150">
                <a:tc>
                  <a:txBody>
                    <a:bodyPr/>
                    <a:lstStyle/>
                    <a:p>
                      <a:pPr algn="ctr"/>
                      <a:r>
                        <a:rPr kumimoji="1" lang="ja-JP" altLang="en-US" dirty="0"/>
                        <a:t>ルール選択</a:t>
                      </a:r>
                    </a:p>
                  </a:txBody>
                  <a:tcPr anchor="ctr"/>
                </a:tc>
                <a:tc>
                  <a:txBody>
                    <a:bodyPr/>
                    <a:lstStyle/>
                    <a:p>
                      <a:pPr algn="ctr"/>
                      <a:r>
                        <a:rPr kumimoji="1" lang="ja-JP" altLang="en-US" dirty="0"/>
                        <a:t>ルール適用</a:t>
                      </a:r>
                    </a:p>
                  </a:txBody>
                  <a:tcPr anchor="ctr"/>
                </a:tc>
                <a:tc>
                  <a:txBody>
                    <a:bodyPr/>
                    <a:lstStyle/>
                    <a:p>
                      <a:pPr algn="ctr"/>
                      <a:r>
                        <a:rPr kumimoji="1" lang="ja-JP" altLang="en-US" dirty="0"/>
                        <a:t>最終回答</a:t>
                      </a:r>
                    </a:p>
                  </a:txBody>
                  <a:tcPr anchor="ctr"/>
                </a:tc>
                <a:tc>
                  <a:txBody>
                    <a:bodyPr/>
                    <a:lstStyle/>
                    <a:p>
                      <a:pPr algn="ctr"/>
                      <a:r>
                        <a:rPr kumimoji="1" lang="ja-JP" altLang="en-US" dirty="0"/>
                        <a:t>件数</a:t>
                      </a:r>
                    </a:p>
                  </a:txBody>
                  <a:tcPr anchor="ctr"/>
                </a:tc>
                <a:extLst>
                  <a:ext uri="{0D108BD9-81ED-4DB2-BD59-A6C34878D82A}">
                    <a16:rowId xmlns:a16="http://schemas.microsoft.com/office/drawing/2014/main" val="16928691"/>
                  </a:ext>
                </a:extLst>
              </a:tr>
              <a:tr h="682150">
                <a:tc>
                  <a:txBody>
                    <a:bodyPr/>
                    <a:lstStyle/>
                    <a:p>
                      <a:pPr algn="ctr"/>
                      <a:r>
                        <a:rPr kumimoji="1" lang="ja-JP" altLang="en-US" dirty="0"/>
                        <a:t>〇</a:t>
                      </a:r>
                    </a:p>
                  </a:txBody>
                  <a:tcPr anchor="ctr"/>
                </a:tc>
                <a:tc>
                  <a:txBody>
                    <a:bodyPr/>
                    <a:lstStyle/>
                    <a:p>
                      <a:pPr algn="ctr"/>
                      <a:r>
                        <a:rPr kumimoji="1" lang="ja-JP" altLang="en-US" dirty="0"/>
                        <a:t>〇</a:t>
                      </a:r>
                    </a:p>
                  </a:txBody>
                  <a:tcPr anchor="ctr"/>
                </a:tc>
                <a:tc>
                  <a:txBody>
                    <a:bodyPr/>
                    <a:lstStyle/>
                    <a:p>
                      <a:pPr algn="ctr"/>
                      <a:r>
                        <a:rPr kumimoji="1" lang="ja-JP" altLang="en-US" dirty="0"/>
                        <a:t>〇</a:t>
                      </a:r>
                    </a:p>
                  </a:txBody>
                  <a:tcPr anchor="ctr"/>
                </a:tc>
                <a:tc>
                  <a:txBody>
                    <a:bodyPr/>
                    <a:lstStyle/>
                    <a:p>
                      <a:pPr algn="ctr"/>
                      <a:r>
                        <a:rPr kumimoji="1" lang="en-US" altLang="ja-JP" dirty="0"/>
                        <a:t>525</a:t>
                      </a:r>
                      <a:endParaRPr kumimoji="1" lang="ja-JP" altLang="en-US" dirty="0"/>
                    </a:p>
                  </a:txBody>
                  <a:tcPr anchor="ctr"/>
                </a:tc>
                <a:extLst>
                  <a:ext uri="{0D108BD9-81ED-4DB2-BD59-A6C34878D82A}">
                    <a16:rowId xmlns:a16="http://schemas.microsoft.com/office/drawing/2014/main" val="380766584"/>
                  </a:ext>
                </a:extLst>
              </a:tr>
              <a:tr h="682150">
                <a:tc>
                  <a:txBody>
                    <a:bodyPr/>
                    <a:lstStyle/>
                    <a:p>
                      <a:pPr algn="ctr"/>
                      <a:r>
                        <a:rPr kumimoji="1" lang="ja-JP" altLang="en-US" dirty="0"/>
                        <a:t>〇</a:t>
                      </a:r>
                    </a:p>
                  </a:txBody>
                  <a:tcPr anchor="ctr"/>
                </a:tc>
                <a:tc>
                  <a:txBody>
                    <a:bodyPr/>
                    <a:lstStyle/>
                    <a:p>
                      <a:pPr algn="ctr"/>
                      <a:r>
                        <a:rPr kumimoji="1" lang="ja-JP" altLang="en-US" dirty="0"/>
                        <a:t>〇</a:t>
                      </a:r>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en-US" altLang="ja-JP" dirty="0"/>
                        <a:t>0</a:t>
                      </a:r>
                      <a:endParaRPr kumimoji="1" lang="ja-JP" altLang="en-US" dirty="0"/>
                    </a:p>
                  </a:txBody>
                  <a:tcPr anchor="ctr"/>
                </a:tc>
                <a:extLst>
                  <a:ext uri="{0D108BD9-81ED-4DB2-BD59-A6C34878D82A}">
                    <a16:rowId xmlns:a16="http://schemas.microsoft.com/office/drawing/2014/main" val="3754421160"/>
                  </a:ext>
                </a:extLst>
              </a:tr>
              <a:tr h="682150">
                <a:tc>
                  <a:txBody>
                    <a:bodyPr/>
                    <a:lstStyle/>
                    <a:p>
                      <a:pPr algn="ctr"/>
                      <a:r>
                        <a:rPr kumimoji="1" lang="ja-JP" altLang="en-US" dirty="0"/>
                        <a:t>〇</a:t>
                      </a:r>
                    </a:p>
                  </a:txBody>
                  <a:tcPr anchor="ctr"/>
                </a:tc>
                <a:tc>
                  <a:txBody>
                    <a:bodyPr/>
                    <a:lstStyle/>
                    <a:p>
                      <a:pPr algn="ctr"/>
                      <a:r>
                        <a:rPr kumimoji="1" lang="en-US" altLang="ja-JP" dirty="0"/>
                        <a:t>×</a:t>
                      </a:r>
                      <a:endParaRPr kumimoji="1" lang="ja-JP"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〇</a:t>
                      </a:r>
                    </a:p>
                  </a:txBody>
                  <a:tcPr anchor="ctr"/>
                </a:tc>
                <a:tc>
                  <a:txBody>
                    <a:bodyPr/>
                    <a:lstStyle/>
                    <a:p>
                      <a:pPr algn="ctr"/>
                      <a:r>
                        <a:rPr kumimoji="1" lang="en-US" altLang="ja-JP" dirty="0"/>
                        <a:t>1</a:t>
                      </a:r>
                      <a:endParaRPr kumimoji="1" lang="ja-JP" altLang="en-US" dirty="0"/>
                    </a:p>
                  </a:txBody>
                  <a:tcPr anchor="ctr"/>
                </a:tc>
                <a:extLst>
                  <a:ext uri="{0D108BD9-81ED-4DB2-BD59-A6C34878D82A}">
                    <a16:rowId xmlns:a16="http://schemas.microsoft.com/office/drawing/2014/main" val="2420634431"/>
                  </a:ext>
                </a:extLst>
              </a:tr>
              <a:tr h="682150">
                <a:tc>
                  <a:txBody>
                    <a:bodyPr/>
                    <a:lstStyle/>
                    <a:p>
                      <a:pPr algn="ctr"/>
                      <a:r>
                        <a:rPr kumimoji="1" lang="ja-JP" altLang="en-US" dirty="0"/>
                        <a:t>〇</a:t>
                      </a:r>
                    </a:p>
                  </a:txBody>
                  <a:tcPr anchor="ctr"/>
                </a:tc>
                <a:tc>
                  <a:txBody>
                    <a:bodyPr/>
                    <a:lstStyle/>
                    <a:p>
                      <a:pPr algn="ctr"/>
                      <a:r>
                        <a:rPr kumimoji="1" lang="en-US" altLang="ja-JP" dirty="0"/>
                        <a:t>×</a:t>
                      </a:r>
                      <a:endParaRPr kumimoji="1" lang="ja-JP"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t>×</a:t>
                      </a:r>
                      <a:endParaRPr kumimoji="1" lang="ja-JP" altLang="en-US" dirty="0"/>
                    </a:p>
                  </a:txBody>
                  <a:tcPr anchor="ctr"/>
                </a:tc>
                <a:tc>
                  <a:txBody>
                    <a:bodyPr/>
                    <a:lstStyle/>
                    <a:p>
                      <a:pPr algn="ctr"/>
                      <a:r>
                        <a:rPr kumimoji="1" lang="en-US" altLang="ja-JP" dirty="0"/>
                        <a:t>27</a:t>
                      </a:r>
                      <a:endParaRPr kumimoji="1" lang="ja-JP" altLang="en-US" dirty="0"/>
                    </a:p>
                  </a:txBody>
                  <a:tcPr anchor="ctr"/>
                </a:tc>
                <a:extLst>
                  <a:ext uri="{0D108BD9-81ED-4DB2-BD59-A6C34878D82A}">
                    <a16:rowId xmlns:a16="http://schemas.microsoft.com/office/drawing/2014/main" val="4098692677"/>
                  </a:ext>
                </a:extLst>
              </a:tr>
            </a:tbl>
          </a:graphicData>
        </a:graphic>
      </p:graphicFrame>
    </p:spTree>
    <p:extLst>
      <p:ext uri="{BB962C8B-B14F-4D97-AF65-F5344CB8AC3E}">
        <p14:creationId xmlns:p14="http://schemas.microsoft.com/office/powerpoint/2010/main" val="3234739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A301CD-D356-098F-B6D8-7DD2406C001B}"/>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br>
              <a:rPr lang="en-US" altLang="ja-JP" dirty="0"/>
            </a:br>
            <a:r>
              <a:rPr lang="ja-JP" altLang="en-US" dirty="0"/>
              <a:t>テストデータその</a:t>
            </a:r>
            <a:r>
              <a:rPr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6097F1E4-8F69-A684-7368-E8FA66DBB62F}"/>
              </a:ext>
            </a:extLst>
          </p:cNvPr>
          <p:cNvSpPr>
            <a:spLocks noGrp="1"/>
          </p:cNvSpPr>
          <p:nvPr>
            <p:ph idx="1"/>
          </p:nvPr>
        </p:nvSpPr>
        <p:spPr/>
        <p:txBody>
          <a:bodyPr/>
          <a:lstStyle/>
          <a:p>
            <a:r>
              <a:rPr lang="ja-JP" altLang="en-US" dirty="0"/>
              <a:t>ルールを正しく選べなかった場合の分析</a:t>
            </a:r>
          </a:p>
          <a:p>
            <a:endParaRPr kumimoji="1" lang="ja-JP" altLang="en-US" dirty="0"/>
          </a:p>
        </p:txBody>
      </p:sp>
      <p:sp>
        <p:nvSpPr>
          <p:cNvPr id="4" name="スライド番号プレースホルダー 3">
            <a:extLst>
              <a:ext uri="{FF2B5EF4-FFF2-40B4-BE49-F238E27FC236}">
                <a16:creationId xmlns:a16="http://schemas.microsoft.com/office/drawing/2014/main" id="{62D584B1-3EA7-275F-749B-550CB5F3F311}"/>
              </a:ext>
            </a:extLst>
          </p:cNvPr>
          <p:cNvSpPr>
            <a:spLocks noGrp="1"/>
          </p:cNvSpPr>
          <p:nvPr>
            <p:ph type="sldNum" sz="quarter" idx="12"/>
          </p:nvPr>
        </p:nvSpPr>
        <p:spPr/>
        <p:txBody>
          <a:bodyPr/>
          <a:lstStyle/>
          <a:p>
            <a:fld id="{10649E7B-FC1B-418B-9B6A-00859DB1DEE8}" type="slidenum">
              <a:rPr kumimoji="1" lang="ja-JP" altLang="en-US" smtClean="0"/>
              <a:t>42</a:t>
            </a:fld>
            <a:endParaRPr kumimoji="1" lang="ja-JP" altLang="en-US"/>
          </a:p>
        </p:txBody>
      </p:sp>
      <p:graphicFrame>
        <p:nvGraphicFramePr>
          <p:cNvPr id="5" name="表 4">
            <a:extLst>
              <a:ext uri="{FF2B5EF4-FFF2-40B4-BE49-F238E27FC236}">
                <a16:creationId xmlns:a16="http://schemas.microsoft.com/office/drawing/2014/main" id="{1C0175EA-AE6C-5B6A-AC9B-73F732329AC4}"/>
              </a:ext>
            </a:extLst>
          </p:cNvPr>
          <p:cNvGraphicFramePr>
            <a:graphicFrameLocks noGrp="1"/>
          </p:cNvGraphicFramePr>
          <p:nvPr>
            <p:extLst>
              <p:ext uri="{D42A27DB-BD31-4B8C-83A1-F6EECF244321}">
                <p14:modId xmlns:p14="http://schemas.microsoft.com/office/powerpoint/2010/main" val="2320985437"/>
              </p:ext>
            </p:extLst>
          </p:nvPr>
        </p:nvGraphicFramePr>
        <p:xfrm>
          <a:off x="2032000" y="2442492"/>
          <a:ext cx="8128000" cy="324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80171117"/>
                    </a:ext>
                  </a:extLst>
                </a:gridCol>
                <a:gridCol w="2032000">
                  <a:extLst>
                    <a:ext uri="{9D8B030D-6E8A-4147-A177-3AD203B41FA5}">
                      <a16:colId xmlns:a16="http://schemas.microsoft.com/office/drawing/2014/main" val="1426255165"/>
                    </a:ext>
                  </a:extLst>
                </a:gridCol>
                <a:gridCol w="2032000">
                  <a:extLst>
                    <a:ext uri="{9D8B030D-6E8A-4147-A177-3AD203B41FA5}">
                      <a16:colId xmlns:a16="http://schemas.microsoft.com/office/drawing/2014/main" val="2309493775"/>
                    </a:ext>
                  </a:extLst>
                </a:gridCol>
                <a:gridCol w="2032000">
                  <a:extLst>
                    <a:ext uri="{9D8B030D-6E8A-4147-A177-3AD203B41FA5}">
                      <a16:colId xmlns:a16="http://schemas.microsoft.com/office/drawing/2014/main" val="817386420"/>
                    </a:ext>
                  </a:extLst>
                </a:gridCol>
              </a:tblGrid>
              <a:tr h="648672">
                <a:tc>
                  <a:txBody>
                    <a:bodyPr/>
                    <a:lstStyle/>
                    <a:p>
                      <a:pPr algn="ctr"/>
                      <a:r>
                        <a:rPr kumimoji="1" lang="ja-JP" altLang="en-US" dirty="0"/>
                        <a:t>ルール選択</a:t>
                      </a:r>
                    </a:p>
                  </a:txBody>
                  <a:tcPr anchor="ctr"/>
                </a:tc>
                <a:tc>
                  <a:txBody>
                    <a:bodyPr/>
                    <a:lstStyle/>
                    <a:p>
                      <a:pPr algn="ctr"/>
                      <a:r>
                        <a:rPr kumimoji="1" lang="ja-JP" altLang="en-US" dirty="0"/>
                        <a:t>ルール適用</a:t>
                      </a:r>
                    </a:p>
                  </a:txBody>
                  <a:tcPr anchor="ctr"/>
                </a:tc>
                <a:tc>
                  <a:txBody>
                    <a:bodyPr/>
                    <a:lstStyle/>
                    <a:p>
                      <a:pPr algn="ctr"/>
                      <a:r>
                        <a:rPr kumimoji="1" lang="ja-JP" altLang="en-US" dirty="0"/>
                        <a:t>最終回答</a:t>
                      </a:r>
                    </a:p>
                  </a:txBody>
                  <a:tcPr anchor="ctr"/>
                </a:tc>
                <a:tc>
                  <a:txBody>
                    <a:bodyPr/>
                    <a:lstStyle/>
                    <a:p>
                      <a:pPr algn="ctr"/>
                      <a:r>
                        <a:rPr kumimoji="1" lang="ja-JP" altLang="en-US" dirty="0"/>
                        <a:t>件数</a:t>
                      </a:r>
                    </a:p>
                  </a:txBody>
                  <a:tcPr anchor="ctr"/>
                </a:tc>
                <a:extLst>
                  <a:ext uri="{0D108BD9-81ED-4DB2-BD59-A6C34878D82A}">
                    <a16:rowId xmlns:a16="http://schemas.microsoft.com/office/drawing/2014/main" val="1517169335"/>
                  </a:ext>
                </a:extLst>
              </a:tr>
              <a:tr h="648672">
                <a:tc>
                  <a:txBody>
                    <a:bodyPr/>
                    <a:lstStyle/>
                    <a:p>
                      <a:pPr algn="ctr"/>
                      <a:r>
                        <a:rPr kumimoji="1" lang="en-US" altLang="ja-JP" dirty="0"/>
                        <a:t>×</a:t>
                      </a:r>
                      <a:endParaRPr kumimoji="1" lang="ja-JP" altLang="en-US" dirty="0"/>
                    </a:p>
                  </a:txBody>
                  <a:tcPr anchor="ctr"/>
                </a:tc>
                <a:tc>
                  <a:txBody>
                    <a:bodyPr/>
                    <a:lstStyle/>
                    <a:p>
                      <a:pPr algn="ctr"/>
                      <a:r>
                        <a:rPr kumimoji="1" lang="ja-JP" altLang="en-US" dirty="0"/>
                        <a:t>〇</a:t>
                      </a:r>
                    </a:p>
                  </a:txBody>
                  <a:tcPr anchor="ctr"/>
                </a:tc>
                <a:tc>
                  <a:txBody>
                    <a:bodyPr/>
                    <a:lstStyle/>
                    <a:p>
                      <a:pPr algn="ctr"/>
                      <a:r>
                        <a:rPr kumimoji="1" lang="ja-JP" altLang="en-US" dirty="0"/>
                        <a:t>〇</a:t>
                      </a:r>
                    </a:p>
                  </a:txBody>
                  <a:tcPr anchor="ctr"/>
                </a:tc>
                <a:tc>
                  <a:txBody>
                    <a:bodyPr/>
                    <a:lstStyle/>
                    <a:p>
                      <a:pPr algn="ctr"/>
                      <a:r>
                        <a:rPr kumimoji="1" lang="en-US" altLang="ja-JP" dirty="0"/>
                        <a:t>10</a:t>
                      </a:r>
                      <a:endParaRPr kumimoji="1" lang="ja-JP" altLang="en-US" dirty="0"/>
                    </a:p>
                  </a:txBody>
                  <a:tcPr anchor="ctr"/>
                </a:tc>
                <a:extLst>
                  <a:ext uri="{0D108BD9-81ED-4DB2-BD59-A6C34878D82A}">
                    <a16:rowId xmlns:a16="http://schemas.microsoft.com/office/drawing/2014/main" val="1564320072"/>
                  </a:ext>
                </a:extLst>
              </a:tr>
              <a:tr h="648672">
                <a:tc>
                  <a:txBody>
                    <a:bodyPr/>
                    <a:lstStyle/>
                    <a:p>
                      <a:pPr algn="ctr"/>
                      <a:r>
                        <a:rPr kumimoji="1" lang="en-US" altLang="ja-JP" dirty="0"/>
                        <a:t>×</a:t>
                      </a:r>
                      <a:endParaRPr kumimoji="1" lang="ja-JP" altLang="en-US" dirty="0"/>
                    </a:p>
                  </a:txBody>
                  <a:tcPr anchor="ctr"/>
                </a:tc>
                <a:tc>
                  <a:txBody>
                    <a:bodyPr/>
                    <a:lstStyle/>
                    <a:p>
                      <a:pPr algn="ctr"/>
                      <a:r>
                        <a:rPr kumimoji="1" lang="ja-JP" altLang="en-US" dirty="0"/>
                        <a:t>〇</a:t>
                      </a:r>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en-US" altLang="ja-JP" dirty="0"/>
                        <a:t>68</a:t>
                      </a:r>
                      <a:endParaRPr kumimoji="1" lang="ja-JP" altLang="en-US" dirty="0"/>
                    </a:p>
                  </a:txBody>
                  <a:tcPr anchor="ctr"/>
                </a:tc>
                <a:extLst>
                  <a:ext uri="{0D108BD9-81ED-4DB2-BD59-A6C34878D82A}">
                    <a16:rowId xmlns:a16="http://schemas.microsoft.com/office/drawing/2014/main" val="932963751"/>
                  </a:ext>
                </a:extLst>
              </a:tr>
              <a:tr h="648672">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ja-JP" altLang="en-US" dirty="0"/>
                        <a:t>〇</a:t>
                      </a:r>
                    </a:p>
                  </a:txBody>
                  <a:tcPr anchor="ctr"/>
                </a:tc>
                <a:tc>
                  <a:txBody>
                    <a:bodyPr/>
                    <a:lstStyle/>
                    <a:p>
                      <a:pPr algn="ctr"/>
                      <a:r>
                        <a:rPr kumimoji="1" lang="en-US" altLang="ja-JP" dirty="0"/>
                        <a:t>25</a:t>
                      </a:r>
                      <a:endParaRPr kumimoji="1" lang="ja-JP" altLang="en-US" dirty="0"/>
                    </a:p>
                  </a:txBody>
                  <a:tcPr anchor="ctr"/>
                </a:tc>
                <a:extLst>
                  <a:ext uri="{0D108BD9-81ED-4DB2-BD59-A6C34878D82A}">
                    <a16:rowId xmlns:a16="http://schemas.microsoft.com/office/drawing/2014/main" val="25094660"/>
                  </a:ext>
                </a:extLst>
              </a:tr>
              <a:tr h="648672">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en-US" altLang="ja-JP" dirty="0"/>
                        <a:t>41</a:t>
                      </a:r>
                      <a:endParaRPr kumimoji="1" lang="ja-JP" altLang="en-US" dirty="0"/>
                    </a:p>
                  </a:txBody>
                  <a:tcPr anchor="ctr"/>
                </a:tc>
                <a:extLst>
                  <a:ext uri="{0D108BD9-81ED-4DB2-BD59-A6C34878D82A}">
                    <a16:rowId xmlns:a16="http://schemas.microsoft.com/office/drawing/2014/main" val="246520760"/>
                  </a:ext>
                </a:extLst>
              </a:tr>
            </a:tbl>
          </a:graphicData>
        </a:graphic>
      </p:graphicFrame>
    </p:spTree>
    <p:extLst>
      <p:ext uri="{BB962C8B-B14F-4D97-AF65-F5344CB8AC3E}">
        <p14:creationId xmlns:p14="http://schemas.microsoft.com/office/powerpoint/2010/main" val="2403712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8DB990-9728-1947-5450-3C3EC0AF82A0}"/>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endParaRPr kumimoji="1" lang="ja-JP" altLang="en-US" dirty="0"/>
          </a:p>
        </p:txBody>
      </p:sp>
      <p:sp>
        <p:nvSpPr>
          <p:cNvPr id="3" name="コンテンツ プレースホルダー 2">
            <a:extLst>
              <a:ext uri="{FF2B5EF4-FFF2-40B4-BE49-F238E27FC236}">
                <a16:creationId xmlns:a16="http://schemas.microsoft.com/office/drawing/2014/main" id="{6309AA82-5126-550F-5CF0-9593BDE42A34}"/>
              </a:ext>
            </a:extLst>
          </p:cNvPr>
          <p:cNvSpPr>
            <a:spLocks noGrp="1"/>
          </p:cNvSpPr>
          <p:nvPr>
            <p:ph idx="1"/>
          </p:nvPr>
        </p:nvSpPr>
        <p:spPr/>
        <p:txBody>
          <a:bodyPr/>
          <a:lstStyle/>
          <a:p>
            <a:r>
              <a:rPr kumimoji="1" lang="ja-JP" altLang="en-US" dirty="0"/>
              <a:t>正しいルールを選べた場合、ほぼ「適用できるか」で決まる</a:t>
            </a:r>
            <a:endParaRPr kumimoji="1" lang="en-US" altLang="ja-JP" dirty="0"/>
          </a:p>
          <a:p>
            <a:r>
              <a:rPr kumimoji="1" lang="ja-JP" altLang="en-US" dirty="0"/>
              <a:t>正しいルールを選択し、正しく適用できた場合、最終回答はすべて正解した。</a:t>
            </a:r>
            <a:endParaRPr lang="en-US" altLang="ja-JP" dirty="0"/>
          </a:p>
          <a:p>
            <a:r>
              <a:rPr kumimoji="1" lang="ja-JP" altLang="en-US" dirty="0"/>
              <a:t>「正しいルールを選んだのに適用で失敗」が</a:t>
            </a:r>
            <a:r>
              <a:rPr kumimoji="1" lang="en-US" altLang="ja-JP" dirty="0"/>
              <a:t>27</a:t>
            </a:r>
            <a:r>
              <a:rPr kumimoji="1" lang="ja-JP" altLang="en-US" dirty="0"/>
              <a:t>問</a:t>
            </a:r>
            <a:endParaRPr kumimoji="1" lang="en-US" altLang="ja-JP" dirty="0"/>
          </a:p>
          <a:p>
            <a:r>
              <a:rPr kumimoji="1" lang="ja-JP" altLang="en-US" dirty="0"/>
              <a:t>誤ったルールを選んだ場合は、かなり不安定</a:t>
            </a:r>
            <a:endParaRPr kumimoji="1" lang="en-US" altLang="ja-JP" dirty="0"/>
          </a:p>
          <a:p>
            <a:r>
              <a:rPr kumimoji="1" lang="ja-JP" altLang="en-US" dirty="0"/>
              <a:t>ルール選択を誤った場合、選択したルールを正しく適用できる場合もあるが、それでも最終的な正解にはつながりにくい。</a:t>
            </a:r>
            <a:endParaRPr kumimoji="1" lang="en-US" altLang="ja-JP" dirty="0"/>
          </a:p>
          <a:p>
            <a:r>
              <a:rPr kumimoji="1" lang="ja-JP" altLang="en-US" dirty="0"/>
              <a:t>「選択</a:t>
            </a:r>
            <a:r>
              <a:rPr kumimoji="1" lang="en-US" altLang="ja-JP" dirty="0"/>
              <a:t>×</a:t>
            </a:r>
            <a:r>
              <a:rPr kumimoji="1" lang="ja-JP" altLang="en-US" dirty="0"/>
              <a:t>・適用</a:t>
            </a:r>
            <a:r>
              <a:rPr kumimoji="1" lang="en-US" altLang="ja-JP" dirty="0"/>
              <a:t>×</a:t>
            </a:r>
            <a:r>
              <a:rPr kumimoji="1" lang="ja-JP" altLang="en-US" dirty="0"/>
              <a:t>・回答○」が</a:t>
            </a:r>
            <a:r>
              <a:rPr kumimoji="1" lang="en-US" altLang="ja-JP" dirty="0"/>
              <a:t>25</a:t>
            </a:r>
            <a:r>
              <a:rPr kumimoji="1" lang="ja-JP" altLang="en-US" dirty="0"/>
              <a:t>件ある</a:t>
            </a:r>
          </a:p>
        </p:txBody>
      </p:sp>
      <p:sp>
        <p:nvSpPr>
          <p:cNvPr id="4" name="スライド番号プレースホルダー 3">
            <a:extLst>
              <a:ext uri="{FF2B5EF4-FFF2-40B4-BE49-F238E27FC236}">
                <a16:creationId xmlns:a16="http://schemas.microsoft.com/office/drawing/2014/main" id="{CEBC135F-248B-1120-40AD-1F10FDE7CAD1}"/>
              </a:ext>
            </a:extLst>
          </p:cNvPr>
          <p:cNvSpPr>
            <a:spLocks noGrp="1"/>
          </p:cNvSpPr>
          <p:nvPr>
            <p:ph type="sldNum" sz="quarter" idx="12"/>
          </p:nvPr>
        </p:nvSpPr>
        <p:spPr/>
        <p:txBody>
          <a:bodyPr/>
          <a:lstStyle/>
          <a:p>
            <a:fld id="{10649E7B-FC1B-418B-9B6A-00859DB1DEE8}" type="slidenum">
              <a:rPr kumimoji="1" lang="ja-JP" altLang="en-US" smtClean="0"/>
              <a:t>43</a:t>
            </a:fld>
            <a:endParaRPr kumimoji="1" lang="ja-JP" altLang="en-US"/>
          </a:p>
        </p:txBody>
      </p:sp>
    </p:spTree>
    <p:extLst>
      <p:ext uri="{BB962C8B-B14F-4D97-AF65-F5344CB8AC3E}">
        <p14:creationId xmlns:p14="http://schemas.microsoft.com/office/powerpoint/2010/main" val="2192080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CB6A5B-C2E8-3604-02CB-54123A0F7B53}"/>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endParaRPr kumimoji="1" lang="ja-JP" altLang="en-US" dirty="0"/>
          </a:p>
        </p:txBody>
      </p:sp>
      <p:sp>
        <p:nvSpPr>
          <p:cNvPr id="3" name="コンテンツ プレースホルダー 2">
            <a:extLst>
              <a:ext uri="{FF2B5EF4-FFF2-40B4-BE49-F238E27FC236}">
                <a16:creationId xmlns:a16="http://schemas.microsoft.com/office/drawing/2014/main" id="{52A53606-3C4C-1C71-A04D-AF818D527974}"/>
              </a:ext>
            </a:extLst>
          </p:cNvPr>
          <p:cNvSpPr>
            <a:spLocks noGrp="1"/>
          </p:cNvSpPr>
          <p:nvPr>
            <p:ph idx="1"/>
          </p:nvPr>
        </p:nvSpPr>
        <p:spPr/>
        <p:txBody>
          <a:bodyPr/>
          <a:lstStyle/>
          <a:p>
            <a:r>
              <a:rPr kumimoji="1" lang="en-US" altLang="ja-JP" dirty="0"/>
              <a:t>25</a:t>
            </a:r>
            <a:r>
              <a:rPr kumimoji="1" lang="ja-JP" altLang="en-US" dirty="0"/>
              <a:t>件の</a:t>
            </a:r>
            <a:r>
              <a:rPr lang="ja-JP" altLang="en-US" dirty="0"/>
              <a:t>「選択</a:t>
            </a:r>
            <a:r>
              <a:rPr lang="en-US" altLang="ja-JP" dirty="0"/>
              <a:t>×</a:t>
            </a:r>
            <a:r>
              <a:rPr lang="ja-JP" altLang="en-US" dirty="0"/>
              <a:t>・適用</a:t>
            </a:r>
            <a:r>
              <a:rPr lang="en-US" altLang="ja-JP" dirty="0"/>
              <a:t>×</a:t>
            </a:r>
            <a:r>
              <a:rPr lang="ja-JP" altLang="en-US" dirty="0"/>
              <a:t>・回答○」について</a:t>
            </a:r>
            <a:endParaRPr lang="en-US" altLang="ja-JP" dirty="0"/>
          </a:p>
          <a:p>
            <a:r>
              <a:rPr kumimoji="1" lang="ja-JP" altLang="en-US" dirty="0"/>
              <a:t>パターン①：ルール名の不一致</a:t>
            </a:r>
            <a:endParaRPr kumimoji="1" lang="en-US" altLang="ja-JP" dirty="0"/>
          </a:p>
          <a:p>
            <a:pPr lvl="1"/>
            <a:r>
              <a:rPr lang="ja-JP" altLang="en-US" dirty="0"/>
              <a:t>実際の処理は正しい</a:t>
            </a:r>
            <a:endParaRPr lang="en-US" altLang="ja-JP" dirty="0"/>
          </a:p>
          <a:p>
            <a:pPr lvl="1"/>
            <a:r>
              <a:rPr lang="ja-JP" altLang="en-US" dirty="0"/>
              <a:t>評価上は選択</a:t>
            </a:r>
            <a:r>
              <a:rPr lang="en-US" altLang="ja-JP" dirty="0"/>
              <a:t>×</a:t>
            </a:r>
            <a:r>
              <a:rPr lang="ja-JP" altLang="en-US" dirty="0"/>
              <a:t>・適用</a:t>
            </a:r>
            <a:r>
              <a:rPr lang="en-US" altLang="ja-JP" dirty="0"/>
              <a:t>×</a:t>
            </a:r>
            <a:r>
              <a:rPr lang="ja-JP" altLang="en-US" dirty="0"/>
              <a:t>になっている</a:t>
            </a:r>
            <a:endParaRPr lang="en-US" altLang="ja-JP" dirty="0"/>
          </a:p>
          <a:p>
            <a:r>
              <a:rPr kumimoji="1" lang="ja-JP" altLang="en-US" dirty="0"/>
              <a:t>パターン②：冗長な処理の追加</a:t>
            </a:r>
            <a:endParaRPr kumimoji="1" lang="en-US" altLang="ja-JP" dirty="0"/>
          </a:p>
          <a:p>
            <a:pPr lvl="1"/>
            <a:r>
              <a:rPr kumimoji="1" lang="ja-JP" altLang="en-US" dirty="0"/>
              <a:t>正解に必要な処理はできている</a:t>
            </a:r>
            <a:endParaRPr kumimoji="1" lang="en-US" altLang="ja-JP" dirty="0"/>
          </a:p>
          <a:p>
            <a:pPr lvl="1"/>
            <a:r>
              <a:rPr kumimoji="1" lang="ja-JP" altLang="en-US" dirty="0"/>
              <a:t>結果に影響しない処理を追加している</a:t>
            </a:r>
            <a:endParaRPr kumimoji="1" lang="en-US" altLang="ja-JP" dirty="0"/>
          </a:p>
        </p:txBody>
      </p:sp>
      <p:sp>
        <p:nvSpPr>
          <p:cNvPr id="4" name="スライド番号プレースホルダー 3">
            <a:extLst>
              <a:ext uri="{FF2B5EF4-FFF2-40B4-BE49-F238E27FC236}">
                <a16:creationId xmlns:a16="http://schemas.microsoft.com/office/drawing/2014/main" id="{7CEBF255-A292-5CCA-EB9C-42930239C1A4}"/>
              </a:ext>
            </a:extLst>
          </p:cNvPr>
          <p:cNvSpPr>
            <a:spLocks noGrp="1"/>
          </p:cNvSpPr>
          <p:nvPr>
            <p:ph type="sldNum" sz="quarter" idx="12"/>
          </p:nvPr>
        </p:nvSpPr>
        <p:spPr/>
        <p:txBody>
          <a:bodyPr/>
          <a:lstStyle/>
          <a:p>
            <a:fld id="{10649E7B-FC1B-418B-9B6A-00859DB1DEE8}" type="slidenum">
              <a:rPr kumimoji="1" lang="ja-JP" altLang="en-US" smtClean="0"/>
              <a:t>44</a:t>
            </a:fld>
            <a:endParaRPr kumimoji="1" lang="ja-JP" altLang="en-US"/>
          </a:p>
        </p:txBody>
      </p:sp>
    </p:spTree>
    <p:extLst>
      <p:ext uri="{BB962C8B-B14F-4D97-AF65-F5344CB8AC3E}">
        <p14:creationId xmlns:p14="http://schemas.microsoft.com/office/powerpoint/2010/main" val="36567696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FAEB6-6A91-82D7-4493-70C0A94742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4C893E-90C3-233F-F1B5-227963F79B5D}"/>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br>
              <a:rPr lang="en-US" altLang="ja-JP" dirty="0"/>
            </a:br>
            <a:r>
              <a:rPr lang="ja-JP" altLang="en-US" dirty="0"/>
              <a:t>テストデータその</a:t>
            </a:r>
            <a:r>
              <a:rPr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FF6EC6BB-7F1E-E2DF-DC95-7B2E6A72F44F}"/>
              </a:ext>
            </a:extLst>
          </p:cNvPr>
          <p:cNvSpPr>
            <a:spLocks noGrp="1"/>
          </p:cNvSpPr>
          <p:nvPr>
            <p:ph idx="1"/>
          </p:nvPr>
        </p:nvSpPr>
        <p:spPr/>
        <p:txBody>
          <a:bodyPr/>
          <a:lstStyle/>
          <a:p>
            <a:r>
              <a:rPr kumimoji="1" lang="ja-JP" altLang="en-US" dirty="0"/>
              <a:t>ルールを正しく選べなかった場合の分析</a:t>
            </a:r>
          </a:p>
          <a:p>
            <a:endParaRPr kumimoji="1" lang="ja-JP" altLang="en-US" dirty="0"/>
          </a:p>
        </p:txBody>
      </p:sp>
      <p:sp>
        <p:nvSpPr>
          <p:cNvPr id="4" name="スライド番号プレースホルダー 3">
            <a:extLst>
              <a:ext uri="{FF2B5EF4-FFF2-40B4-BE49-F238E27FC236}">
                <a16:creationId xmlns:a16="http://schemas.microsoft.com/office/drawing/2014/main" id="{BA05187A-DB30-15E4-D809-77BF0D78BCA6}"/>
              </a:ext>
            </a:extLst>
          </p:cNvPr>
          <p:cNvSpPr>
            <a:spLocks noGrp="1"/>
          </p:cNvSpPr>
          <p:nvPr>
            <p:ph type="sldNum" sz="quarter" idx="12"/>
          </p:nvPr>
        </p:nvSpPr>
        <p:spPr/>
        <p:txBody>
          <a:bodyPr/>
          <a:lstStyle/>
          <a:p>
            <a:fld id="{10649E7B-FC1B-418B-9B6A-00859DB1DEE8}" type="slidenum">
              <a:rPr kumimoji="1" lang="ja-JP" altLang="en-US" smtClean="0"/>
              <a:t>45</a:t>
            </a:fld>
            <a:endParaRPr kumimoji="1" lang="ja-JP" altLang="en-US"/>
          </a:p>
        </p:txBody>
      </p:sp>
      <p:graphicFrame>
        <p:nvGraphicFramePr>
          <p:cNvPr id="6" name="表 5">
            <a:extLst>
              <a:ext uri="{FF2B5EF4-FFF2-40B4-BE49-F238E27FC236}">
                <a16:creationId xmlns:a16="http://schemas.microsoft.com/office/drawing/2014/main" id="{D42B3A5A-8230-67EA-0EBB-7A5FD65CD706}"/>
              </a:ext>
            </a:extLst>
          </p:cNvPr>
          <p:cNvGraphicFramePr>
            <a:graphicFrameLocks noGrp="1"/>
          </p:cNvGraphicFramePr>
          <p:nvPr>
            <p:extLst>
              <p:ext uri="{D42A27DB-BD31-4B8C-83A1-F6EECF244321}">
                <p14:modId xmlns:p14="http://schemas.microsoft.com/office/powerpoint/2010/main" val="3126471448"/>
              </p:ext>
            </p:extLst>
          </p:nvPr>
        </p:nvGraphicFramePr>
        <p:xfrm>
          <a:off x="2032000" y="2434135"/>
          <a:ext cx="8128000" cy="3453435"/>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92408562"/>
                    </a:ext>
                  </a:extLst>
                </a:gridCol>
                <a:gridCol w="2032000">
                  <a:extLst>
                    <a:ext uri="{9D8B030D-6E8A-4147-A177-3AD203B41FA5}">
                      <a16:colId xmlns:a16="http://schemas.microsoft.com/office/drawing/2014/main" val="3700087380"/>
                    </a:ext>
                  </a:extLst>
                </a:gridCol>
                <a:gridCol w="2032000">
                  <a:extLst>
                    <a:ext uri="{9D8B030D-6E8A-4147-A177-3AD203B41FA5}">
                      <a16:colId xmlns:a16="http://schemas.microsoft.com/office/drawing/2014/main" val="3243275007"/>
                    </a:ext>
                  </a:extLst>
                </a:gridCol>
                <a:gridCol w="2032000">
                  <a:extLst>
                    <a:ext uri="{9D8B030D-6E8A-4147-A177-3AD203B41FA5}">
                      <a16:colId xmlns:a16="http://schemas.microsoft.com/office/drawing/2014/main" val="183860539"/>
                    </a:ext>
                  </a:extLst>
                </a:gridCol>
              </a:tblGrid>
              <a:tr h="690687">
                <a:tc>
                  <a:txBody>
                    <a:bodyPr/>
                    <a:lstStyle/>
                    <a:p>
                      <a:pPr algn="ctr"/>
                      <a:r>
                        <a:rPr kumimoji="1" lang="ja-JP" altLang="en-US" dirty="0"/>
                        <a:t>ルール選択</a:t>
                      </a:r>
                    </a:p>
                  </a:txBody>
                  <a:tcPr anchor="ctr"/>
                </a:tc>
                <a:tc>
                  <a:txBody>
                    <a:bodyPr/>
                    <a:lstStyle/>
                    <a:p>
                      <a:pPr algn="ctr"/>
                      <a:r>
                        <a:rPr kumimoji="1" lang="ja-JP" altLang="en-US" dirty="0"/>
                        <a:t>ルール適用</a:t>
                      </a:r>
                    </a:p>
                  </a:txBody>
                  <a:tcPr anchor="ctr"/>
                </a:tc>
                <a:tc>
                  <a:txBody>
                    <a:bodyPr/>
                    <a:lstStyle/>
                    <a:p>
                      <a:pPr algn="ctr"/>
                      <a:r>
                        <a:rPr kumimoji="1" lang="ja-JP" altLang="en-US" dirty="0"/>
                        <a:t>最終回答</a:t>
                      </a:r>
                    </a:p>
                  </a:txBody>
                  <a:tcPr anchor="ctr"/>
                </a:tc>
                <a:tc>
                  <a:txBody>
                    <a:bodyPr/>
                    <a:lstStyle/>
                    <a:p>
                      <a:pPr algn="ctr"/>
                      <a:r>
                        <a:rPr kumimoji="1" lang="ja-JP" altLang="en-US" dirty="0"/>
                        <a:t>件数</a:t>
                      </a:r>
                    </a:p>
                  </a:txBody>
                  <a:tcPr anchor="ctr"/>
                </a:tc>
                <a:extLst>
                  <a:ext uri="{0D108BD9-81ED-4DB2-BD59-A6C34878D82A}">
                    <a16:rowId xmlns:a16="http://schemas.microsoft.com/office/drawing/2014/main" val="16928691"/>
                  </a:ext>
                </a:extLst>
              </a:tr>
              <a:tr h="690687">
                <a:tc>
                  <a:txBody>
                    <a:bodyPr/>
                    <a:lstStyle/>
                    <a:p>
                      <a:pPr algn="ctr"/>
                      <a:r>
                        <a:rPr kumimoji="1" lang="en-US" altLang="ja-JP" dirty="0"/>
                        <a:t>×</a:t>
                      </a:r>
                      <a:endParaRPr kumimoji="1" lang="ja-JP" altLang="en-US" dirty="0"/>
                    </a:p>
                  </a:txBody>
                  <a:tcPr anchor="ctr"/>
                </a:tc>
                <a:tc>
                  <a:txBody>
                    <a:bodyPr/>
                    <a:lstStyle/>
                    <a:p>
                      <a:pPr algn="ctr"/>
                      <a:r>
                        <a:rPr kumimoji="1" lang="ja-JP" altLang="en-US" dirty="0"/>
                        <a:t>〇</a:t>
                      </a:r>
                    </a:p>
                  </a:txBody>
                  <a:tcPr anchor="ctr"/>
                </a:tc>
                <a:tc>
                  <a:txBody>
                    <a:bodyPr/>
                    <a:lstStyle/>
                    <a:p>
                      <a:pPr algn="ctr"/>
                      <a:r>
                        <a:rPr kumimoji="1" lang="ja-JP" altLang="en-US" dirty="0"/>
                        <a:t>〇</a:t>
                      </a:r>
                    </a:p>
                  </a:txBody>
                  <a:tcPr anchor="ctr"/>
                </a:tc>
                <a:tc>
                  <a:txBody>
                    <a:bodyPr/>
                    <a:lstStyle/>
                    <a:p>
                      <a:pPr algn="ctr"/>
                      <a:r>
                        <a:rPr lang="ja-JP" altLang="ja-JP" dirty="0"/>
                        <a:t>32</a:t>
                      </a:r>
                      <a:endParaRPr kumimoji="1" lang="ja-JP" altLang="en-US" dirty="0"/>
                    </a:p>
                  </a:txBody>
                  <a:tcPr anchor="ctr"/>
                </a:tc>
                <a:extLst>
                  <a:ext uri="{0D108BD9-81ED-4DB2-BD59-A6C34878D82A}">
                    <a16:rowId xmlns:a16="http://schemas.microsoft.com/office/drawing/2014/main" val="380766584"/>
                  </a:ext>
                </a:extLst>
              </a:tr>
              <a:tr h="690687">
                <a:tc>
                  <a:txBody>
                    <a:bodyPr/>
                    <a:lstStyle/>
                    <a:p>
                      <a:pPr algn="ctr"/>
                      <a:r>
                        <a:rPr kumimoji="1" lang="en-US" altLang="ja-JP" dirty="0"/>
                        <a:t>×</a:t>
                      </a:r>
                      <a:endParaRPr kumimoji="1" lang="ja-JP" altLang="en-US" dirty="0"/>
                    </a:p>
                  </a:txBody>
                  <a:tcPr anchor="ctr"/>
                </a:tc>
                <a:tc>
                  <a:txBody>
                    <a:bodyPr/>
                    <a:lstStyle/>
                    <a:p>
                      <a:pPr algn="ctr"/>
                      <a:r>
                        <a:rPr kumimoji="1" lang="ja-JP" altLang="en-US" dirty="0"/>
                        <a:t>〇</a:t>
                      </a:r>
                    </a:p>
                  </a:txBody>
                  <a:tcPr anchor="ctr"/>
                </a:tc>
                <a:tc>
                  <a:txBody>
                    <a:bodyPr/>
                    <a:lstStyle/>
                    <a:p>
                      <a:pPr algn="ctr"/>
                      <a:r>
                        <a:rPr kumimoji="1" lang="en-US" altLang="ja-JP" dirty="0"/>
                        <a:t>×</a:t>
                      </a:r>
                      <a:endParaRPr kumimoji="1" lang="ja-JP" altLang="en-US" dirty="0"/>
                    </a:p>
                  </a:txBody>
                  <a:tcPr anchor="ctr"/>
                </a:tc>
                <a:tc>
                  <a:txBody>
                    <a:bodyPr/>
                    <a:lstStyle/>
                    <a:p>
                      <a:pPr algn="ctr"/>
                      <a:r>
                        <a:rPr lang="ja-JP" altLang="ja-JP" dirty="0"/>
                        <a:t>271</a:t>
                      </a:r>
                      <a:endParaRPr kumimoji="1" lang="ja-JP" altLang="en-US" dirty="0"/>
                    </a:p>
                  </a:txBody>
                  <a:tcPr anchor="ctr"/>
                </a:tc>
                <a:extLst>
                  <a:ext uri="{0D108BD9-81ED-4DB2-BD59-A6C34878D82A}">
                    <a16:rowId xmlns:a16="http://schemas.microsoft.com/office/drawing/2014/main" val="3754421160"/>
                  </a:ext>
                </a:extLst>
              </a:tr>
              <a:tr h="690687">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〇</a:t>
                      </a:r>
                    </a:p>
                  </a:txBody>
                  <a:tcPr anchor="ctr"/>
                </a:tc>
                <a:tc>
                  <a:txBody>
                    <a:bodyPr/>
                    <a:lstStyle/>
                    <a:p>
                      <a:pPr algn="ctr">
                        <a:buNone/>
                      </a:pPr>
                      <a:r>
                        <a:rPr lang="en-US" altLang="ja-JP" dirty="0"/>
                        <a:t>40</a:t>
                      </a:r>
                      <a:endParaRPr lang="ja-JP" dirty="0"/>
                    </a:p>
                  </a:txBody>
                  <a:tcPr anchor="ctr"/>
                </a:tc>
                <a:extLst>
                  <a:ext uri="{0D108BD9-81ED-4DB2-BD59-A6C34878D82A}">
                    <a16:rowId xmlns:a16="http://schemas.microsoft.com/office/drawing/2014/main" val="2420634431"/>
                  </a:ext>
                </a:extLst>
              </a:tr>
              <a:tr h="690687">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ja-JP" dirty="0"/>
                        <a:t>88</a:t>
                      </a:r>
                    </a:p>
                  </a:txBody>
                  <a:tcPr anchor="ctr"/>
                </a:tc>
                <a:extLst>
                  <a:ext uri="{0D108BD9-81ED-4DB2-BD59-A6C34878D82A}">
                    <a16:rowId xmlns:a16="http://schemas.microsoft.com/office/drawing/2014/main" val="4098692677"/>
                  </a:ext>
                </a:extLst>
              </a:tr>
            </a:tbl>
          </a:graphicData>
        </a:graphic>
      </p:graphicFrame>
    </p:spTree>
    <p:extLst>
      <p:ext uri="{BB962C8B-B14F-4D97-AF65-F5344CB8AC3E}">
        <p14:creationId xmlns:p14="http://schemas.microsoft.com/office/powerpoint/2010/main" val="29286604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2B34D3-C78A-A01B-5225-57CB6F9B3590}"/>
              </a:ext>
            </a:extLst>
          </p:cNvPr>
          <p:cNvSpPr>
            <a:spLocks noGrp="1"/>
          </p:cNvSpPr>
          <p:nvPr>
            <p:ph type="title"/>
          </p:nvPr>
        </p:nvSpPr>
        <p:spPr/>
        <p:txBody>
          <a:bodyPr/>
          <a:lstStyle/>
          <a:p>
            <a:r>
              <a:rPr lang="ja-JP" altLang="en-US" dirty="0"/>
              <a:t>答え＋処理過程の</a:t>
            </a:r>
            <a:r>
              <a:rPr lang="en-US" altLang="ja-JP" dirty="0"/>
              <a:t>SFT</a:t>
            </a:r>
            <a:r>
              <a:rPr lang="ja-JP" altLang="en-US" dirty="0"/>
              <a:t>の分析</a:t>
            </a:r>
            <a:br>
              <a:rPr lang="en-US" altLang="ja-JP" dirty="0"/>
            </a:br>
            <a:r>
              <a:rPr lang="ja-JP" altLang="en-US" dirty="0"/>
              <a:t>テストデータその</a:t>
            </a:r>
            <a:r>
              <a:rPr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0FA241EC-1CB1-BC98-378A-39ACCE0C958B}"/>
              </a:ext>
            </a:extLst>
          </p:cNvPr>
          <p:cNvSpPr>
            <a:spLocks noGrp="1"/>
          </p:cNvSpPr>
          <p:nvPr>
            <p:ph idx="1"/>
          </p:nvPr>
        </p:nvSpPr>
        <p:spPr/>
        <p:txBody>
          <a:bodyPr/>
          <a:lstStyle/>
          <a:p>
            <a:r>
              <a:rPr kumimoji="1" lang="ja-JP" altLang="en-US" dirty="0"/>
              <a:t>正しいルール選択はほとんどできていない</a:t>
            </a:r>
            <a:endParaRPr kumimoji="1" lang="en-US" altLang="ja-JP" dirty="0"/>
          </a:p>
          <a:p>
            <a:pPr lvl="1"/>
            <a:r>
              <a:rPr kumimoji="1" lang="en-US" altLang="ja-JP" dirty="0"/>
              <a:t>1 / 432</a:t>
            </a:r>
            <a:r>
              <a:rPr kumimoji="1" lang="ja-JP" altLang="en-US" dirty="0"/>
              <a:t>件 </a:t>
            </a:r>
            <a:r>
              <a:rPr kumimoji="1" lang="en-US" altLang="ja-JP" dirty="0"/>
              <a:t>= 0.2%</a:t>
            </a:r>
            <a:endParaRPr lang="en-US" altLang="ja-JP" dirty="0"/>
          </a:p>
          <a:p>
            <a:r>
              <a:rPr kumimoji="1" lang="ja-JP" altLang="en-US" dirty="0"/>
              <a:t>最も多かったのは「選択</a:t>
            </a:r>
            <a:r>
              <a:rPr kumimoji="1" lang="en-US" altLang="ja-JP" dirty="0"/>
              <a:t>×</a:t>
            </a:r>
            <a:r>
              <a:rPr kumimoji="1" lang="ja-JP" altLang="en-US" dirty="0"/>
              <a:t>・適用○・回答</a:t>
            </a:r>
            <a:r>
              <a:rPr kumimoji="1" lang="en-US" altLang="ja-JP" dirty="0"/>
              <a:t>×</a:t>
            </a:r>
            <a:r>
              <a:rPr kumimoji="1" lang="ja-JP" altLang="en-US" dirty="0"/>
              <a:t>」</a:t>
            </a:r>
            <a:endParaRPr kumimoji="1" lang="en-US" altLang="ja-JP" dirty="0"/>
          </a:p>
          <a:p>
            <a:pPr lvl="1"/>
            <a:r>
              <a:rPr kumimoji="1" lang="en-US" altLang="ja-JP" dirty="0"/>
              <a:t>271 / 432</a:t>
            </a:r>
            <a:r>
              <a:rPr kumimoji="1" lang="ja-JP" altLang="en-US" dirty="0"/>
              <a:t>件 </a:t>
            </a:r>
            <a:r>
              <a:rPr kumimoji="1" lang="en-US" altLang="ja-JP" dirty="0"/>
              <a:t>= 62.7%</a:t>
            </a:r>
          </a:p>
          <a:p>
            <a:pPr lvl="1"/>
            <a:r>
              <a:rPr kumimoji="1" lang="ja-JP" altLang="en-US" dirty="0"/>
              <a:t>選択したルール自体は正しく適用できているが、ルールの組み合わせを正しく選択できず、最終的に不正解となった</a:t>
            </a:r>
            <a:endParaRPr kumimoji="1" lang="en-US" altLang="ja-JP" dirty="0"/>
          </a:p>
          <a:p>
            <a:pPr lvl="1"/>
            <a:r>
              <a:rPr kumimoji="1" lang="ja-JP" altLang="en-US" dirty="0"/>
              <a:t>既知の処理を適切に組み合わせることに難しさがある可能性</a:t>
            </a:r>
            <a:endParaRPr kumimoji="1" lang="en-US" altLang="ja-JP" dirty="0"/>
          </a:p>
          <a:p>
            <a:r>
              <a:rPr kumimoji="1" lang="ja-JP" altLang="en-US" dirty="0"/>
              <a:t>選択を間違えても正解するケースもある</a:t>
            </a:r>
            <a:endParaRPr kumimoji="1" lang="en-US" altLang="ja-JP" dirty="0"/>
          </a:p>
          <a:p>
            <a:pPr lvl="1"/>
            <a:r>
              <a:rPr kumimoji="1" lang="ja-JP" altLang="en-US" dirty="0"/>
              <a:t>選択</a:t>
            </a:r>
            <a:r>
              <a:rPr kumimoji="1" lang="en-US" altLang="ja-JP" dirty="0"/>
              <a:t>×</a:t>
            </a:r>
            <a:r>
              <a:rPr kumimoji="1" lang="ja-JP" altLang="en-US" dirty="0"/>
              <a:t>・適用○・回答○：</a:t>
            </a:r>
            <a:r>
              <a:rPr kumimoji="1" lang="en-US" altLang="ja-JP" dirty="0"/>
              <a:t>32</a:t>
            </a:r>
            <a:r>
              <a:rPr kumimoji="1" lang="ja-JP" altLang="en-US" dirty="0"/>
              <a:t>件</a:t>
            </a:r>
            <a:endParaRPr kumimoji="1" lang="en-US" altLang="ja-JP" dirty="0"/>
          </a:p>
          <a:p>
            <a:pPr lvl="1"/>
            <a:r>
              <a:rPr kumimoji="1" lang="ja-JP" altLang="en-US" dirty="0"/>
              <a:t>選択</a:t>
            </a:r>
            <a:r>
              <a:rPr kumimoji="1" lang="en-US" altLang="ja-JP" dirty="0"/>
              <a:t>×</a:t>
            </a:r>
            <a:r>
              <a:rPr kumimoji="1" lang="ja-JP" altLang="en-US" dirty="0"/>
              <a:t>・適用</a:t>
            </a:r>
            <a:r>
              <a:rPr kumimoji="1" lang="en-US" altLang="ja-JP" dirty="0"/>
              <a:t>×</a:t>
            </a:r>
            <a:r>
              <a:rPr kumimoji="1" lang="ja-JP" altLang="en-US" dirty="0"/>
              <a:t>・回答○：</a:t>
            </a:r>
            <a:r>
              <a:rPr kumimoji="1" lang="en-US" altLang="ja-JP" dirty="0"/>
              <a:t>40</a:t>
            </a:r>
            <a:r>
              <a:rPr kumimoji="1" lang="ja-JP" altLang="en-US" dirty="0"/>
              <a:t>件</a:t>
            </a:r>
            <a:endParaRPr kumimoji="1" lang="en-US" altLang="ja-JP" dirty="0"/>
          </a:p>
          <a:p>
            <a:endParaRPr kumimoji="1"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5754B12B-3969-51BD-5E9E-F5F0CF438854}"/>
              </a:ext>
            </a:extLst>
          </p:cNvPr>
          <p:cNvSpPr>
            <a:spLocks noGrp="1"/>
          </p:cNvSpPr>
          <p:nvPr>
            <p:ph type="sldNum" sz="quarter" idx="12"/>
          </p:nvPr>
        </p:nvSpPr>
        <p:spPr/>
        <p:txBody>
          <a:bodyPr/>
          <a:lstStyle/>
          <a:p>
            <a:fld id="{10649E7B-FC1B-418B-9B6A-00859DB1DEE8}" type="slidenum">
              <a:rPr kumimoji="1" lang="ja-JP" altLang="en-US" smtClean="0"/>
              <a:t>46</a:t>
            </a:fld>
            <a:endParaRPr kumimoji="1" lang="ja-JP" altLang="en-US"/>
          </a:p>
        </p:txBody>
      </p:sp>
    </p:spTree>
    <p:extLst>
      <p:ext uri="{BB962C8B-B14F-4D97-AF65-F5344CB8AC3E}">
        <p14:creationId xmlns:p14="http://schemas.microsoft.com/office/powerpoint/2010/main" val="11028510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10F40D-782D-B5FE-7282-5AABBF0929DD}"/>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C3BE5359-DB32-BD86-4138-E1160900C98C}"/>
              </a:ext>
            </a:extLst>
          </p:cNvPr>
          <p:cNvSpPr>
            <a:spLocks noGrp="1"/>
          </p:cNvSpPr>
          <p:nvPr>
            <p:ph idx="1"/>
          </p:nvPr>
        </p:nvSpPr>
        <p:spPr/>
        <p:txBody>
          <a:bodyPr/>
          <a:lstStyle/>
          <a:p>
            <a:r>
              <a:rPr lang="en-US" altLang="ja-JP" dirty="0"/>
              <a:t>RQ1</a:t>
            </a:r>
            <a:r>
              <a:rPr lang="ja-JP" altLang="en-US" dirty="0"/>
              <a:t>：</a:t>
            </a:r>
            <a:r>
              <a:rPr lang="en-US" altLang="ja-JP" dirty="0"/>
              <a:t>SFT</a:t>
            </a:r>
            <a:r>
              <a:rPr lang="ja-JP" altLang="en-US" dirty="0"/>
              <a:t>によって、既知の処理を新しい組み合わせで利用する問題解決能力は獲得されるのか？</a:t>
            </a:r>
            <a:endParaRPr lang="en-US" altLang="ja-JP" dirty="0"/>
          </a:p>
          <a:p>
            <a:pPr lvl="1"/>
            <a:r>
              <a:rPr lang="ja-JP" altLang="en-US" dirty="0"/>
              <a:t>どちらの</a:t>
            </a:r>
            <a:r>
              <a:rPr lang="en-US" altLang="ja-JP" dirty="0"/>
              <a:t>SFT</a:t>
            </a:r>
            <a:r>
              <a:rPr lang="ja-JP" altLang="en-US" dirty="0"/>
              <a:t>でもテストデータその</a:t>
            </a:r>
            <a:r>
              <a:rPr lang="en-US" altLang="ja-JP" dirty="0"/>
              <a:t>2</a:t>
            </a:r>
            <a:r>
              <a:rPr lang="ja-JP" altLang="en-US" dirty="0"/>
              <a:t>での性能はベースモデルより向上しているため、</a:t>
            </a:r>
            <a:r>
              <a:rPr lang="en-US" altLang="ja-JP" dirty="0"/>
              <a:t>SFT</a:t>
            </a:r>
            <a:r>
              <a:rPr lang="ja-JP" altLang="en-US" dirty="0"/>
              <a:t>によって既知の処理を新しい組み合わせで利用する能力が一定程度獲得されたと考えられる。</a:t>
            </a:r>
            <a:endParaRPr lang="en-US" altLang="ja-JP" dirty="0"/>
          </a:p>
          <a:p>
            <a:pPr lvl="1"/>
            <a:r>
              <a:rPr lang="ja-JP" altLang="en-US" dirty="0"/>
              <a:t>テストデータその２での性能はテストデータその</a:t>
            </a:r>
            <a:r>
              <a:rPr lang="en-US" altLang="ja-JP" dirty="0"/>
              <a:t>1</a:t>
            </a:r>
            <a:r>
              <a:rPr lang="ja-JP" altLang="en-US" dirty="0"/>
              <a:t>での性能と比較して低く、獲得された能力は限定的である。</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2CB9FA0E-5A0C-E28C-5963-CF6818C9B04B}"/>
              </a:ext>
            </a:extLst>
          </p:cNvPr>
          <p:cNvSpPr>
            <a:spLocks noGrp="1"/>
          </p:cNvSpPr>
          <p:nvPr>
            <p:ph type="sldNum" sz="quarter" idx="12"/>
          </p:nvPr>
        </p:nvSpPr>
        <p:spPr/>
        <p:txBody>
          <a:bodyPr/>
          <a:lstStyle/>
          <a:p>
            <a:fld id="{10649E7B-FC1B-418B-9B6A-00859DB1DEE8}" type="slidenum">
              <a:rPr kumimoji="1" lang="ja-JP" altLang="en-US" smtClean="0"/>
              <a:t>47</a:t>
            </a:fld>
            <a:endParaRPr kumimoji="1" lang="ja-JP" altLang="en-US"/>
          </a:p>
        </p:txBody>
      </p:sp>
    </p:spTree>
    <p:extLst>
      <p:ext uri="{BB962C8B-B14F-4D97-AF65-F5344CB8AC3E}">
        <p14:creationId xmlns:p14="http://schemas.microsoft.com/office/powerpoint/2010/main" val="1408599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1513D-8BAE-B030-0BDB-54B176C4FF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FB300F-A209-EDA8-63E9-B98B3517E85C}"/>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11F7692A-B488-F637-91E6-7217E03B8E27}"/>
              </a:ext>
            </a:extLst>
          </p:cNvPr>
          <p:cNvSpPr>
            <a:spLocks noGrp="1"/>
          </p:cNvSpPr>
          <p:nvPr>
            <p:ph idx="1"/>
          </p:nvPr>
        </p:nvSpPr>
        <p:spPr/>
        <p:txBody>
          <a:bodyPr/>
          <a:lstStyle/>
          <a:p>
            <a:r>
              <a:rPr lang="en-US" altLang="ja-JP" dirty="0"/>
              <a:t>RQ2</a:t>
            </a:r>
            <a:r>
              <a:rPr lang="ja-JP" altLang="en-US" dirty="0"/>
              <a:t>：</a:t>
            </a:r>
            <a:r>
              <a:rPr lang="en-US" altLang="ja-JP" dirty="0"/>
              <a:t>SFT</a:t>
            </a:r>
            <a:r>
              <a:rPr lang="ja-JP" altLang="en-US" dirty="0"/>
              <a:t>における教師データの違いは、この問題解決能力の獲得にどのような影響を与えるのか？</a:t>
            </a:r>
            <a:endParaRPr lang="en-US" altLang="ja-JP" dirty="0"/>
          </a:p>
          <a:p>
            <a:pPr lvl="1"/>
            <a:r>
              <a:rPr lang="ja-JP" altLang="en-US" dirty="0"/>
              <a:t>答え＋処理過程</a:t>
            </a:r>
            <a:r>
              <a:rPr lang="en-US" altLang="ja-JP" dirty="0"/>
              <a:t>SFT</a:t>
            </a:r>
            <a:r>
              <a:rPr lang="ja-JP" altLang="en-US" dirty="0"/>
              <a:t>は</a:t>
            </a:r>
            <a:r>
              <a:rPr lang="en-US" altLang="ja-JP" dirty="0"/>
              <a:t>IID</a:t>
            </a:r>
            <a:r>
              <a:rPr lang="ja-JP" altLang="en-US" dirty="0"/>
              <a:t>では</a:t>
            </a:r>
            <a:r>
              <a:rPr lang="en-US" altLang="ja-JP" dirty="0"/>
              <a:t>80%</a:t>
            </a:r>
            <a:r>
              <a:rPr lang="ja-JP" altLang="en-US" dirty="0"/>
              <a:t>と最も高いが、</a:t>
            </a:r>
            <a:r>
              <a:rPr lang="en-US" altLang="ja-JP" dirty="0"/>
              <a:t>OOD</a:t>
            </a:r>
            <a:r>
              <a:rPr lang="ja-JP" altLang="en-US" dirty="0"/>
              <a:t>では</a:t>
            </a:r>
            <a:r>
              <a:rPr lang="en-US" altLang="ja-JP" dirty="0"/>
              <a:t>20%</a:t>
            </a:r>
            <a:r>
              <a:rPr lang="ja-JP" altLang="en-US" dirty="0"/>
              <a:t>となり、答えのみ</a:t>
            </a:r>
            <a:r>
              <a:rPr lang="en-US" altLang="ja-JP" dirty="0"/>
              <a:t>SFT</a:t>
            </a:r>
            <a:r>
              <a:rPr lang="ja-JP" altLang="en-US" dirty="0"/>
              <a:t>の</a:t>
            </a:r>
            <a:r>
              <a:rPr lang="en-US" altLang="ja-JP" dirty="0"/>
              <a:t>41%</a:t>
            </a:r>
            <a:r>
              <a:rPr lang="ja-JP" altLang="en-US" dirty="0"/>
              <a:t>を下回った。</a:t>
            </a:r>
            <a:endParaRPr lang="en-US" altLang="ja-JP" dirty="0"/>
          </a:p>
          <a:p>
            <a:pPr lvl="1"/>
            <a:r>
              <a:rPr lang="ja-JP" altLang="en-US" dirty="0"/>
              <a:t>処理過程を教師として与えることは、学習した問題への適応には有効だが、新しい組み合わせへの汎化を必ずしも促進しない可能性がある。</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FD467DEE-4DE6-E08A-0E33-8B4CEDD1A9D1}"/>
              </a:ext>
            </a:extLst>
          </p:cNvPr>
          <p:cNvSpPr>
            <a:spLocks noGrp="1"/>
          </p:cNvSpPr>
          <p:nvPr>
            <p:ph type="sldNum" sz="quarter" idx="12"/>
          </p:nvPr>
        </p:nvSpPr>
        <p:spPr/>
        <p:txBody>
          <a:bodyPr/>
          <a:lstStyle/>
          <a:p>
            <a:fld id="{10649E7B-FC1B-418B-9B6A-00859DB1DEE8}" type="slidenum">
              <a:rPr kumimoji="1" lang="ja-JP" altLang="en-US" smtClean="0"/>
              <a:t>48</a:t>
            </a:fld>
            <a:endParaRPr kumimoji="1" lang="ja-JP" altLang="en-US"/>
          </a:p>
        </p:txBody>
      </p:sp>
    </p:spTree>
    <p:extLst>
      <p:ext uri="{BB962C8B-B14F-4D97-AF65-F5344CB8AC3E}">
        <p14:creationId xmlns:p14="http://schemas.microsoft.com/office/powerpoint/2010/main" val="2945795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E69329-AF1E-667F-1EA5-4ED2C221D285}"/>
              </a:ext>
            </a:extLst>
          </p:cNvPr>
          <p:cNvSpPr>
            <a:spLocks noGrp="1"/>
          </p:cNvSpPr>
          <p:nvPr>
            <p:ph type="title"/>
          </p:nvPr>
        </p:nvSpPr>
        <p:spPr/>
        <p:txBody>
          <a:bodyPr/>
          <a:lstStyle/>
          <a:p>
            <a:r>
              <a:rPr kumimoji="1" lang="ja-JP" altLang="en-US" dirty="0"/>
              <a:t>今後の課題</a:t>
            </a:r>
          </a:p>
        </p:txBody>
      </p:sp>
      <p:sp>
        <p:nvSpPr>
          <p:cNvPr id="3" name="コンテンツ プレースホルダー 2">
            <a:extLst>
              <a:ext uri="{FF2B5EF4-FFF2-40B4-BE49-F238E27FC236}">
                <a16:creationId xmlns:a16="http://schemas.microsoft.com/office/drawing/2014/main" id="{36FA4F64-8AB9-3F80-0D97-3E540A81AE53}"/>
              </a:ext>
            </a:extLst>
          </p:cNvPr>
          <p:cNvSpPr>
            <a:spLocks noGrp="1"/>
          </p:cNvSpPr>
          <p:nvPr>
            <p:ph idx="1"/>
          </p:nvPr>
        </p:nvSpPr>
        <p:spPr/>
        <p:txBody>
          <a:bodyPr/>
          <a:lstStyle/>
          <a:p>
            <a:r>
              <a:rPr lang="ja-JP" altLang="en-US" dirty="0"/>
              <a:t>テストデータその</a:t>
            </a:r>
            <a:r>
              <a:rPr lang="en-US" altLang="ja-JP" dirty="0"/>
              <a:t>2</a:t>
            </a:r>
            <a:r>
              <a:rPr lang="ja-JP" altLang="en-US" dirty="0"/>
              <a:t>でのルールの選択を間違えても正解するケースを分析</a:t>
            </a:r>
            <a:endParaRPr kumimoji="1" lang="en-US" altLang="ja-JP" dirty="0"/>
          </a:p>
          <a:p>
            <a:endParaRPr kumimoji="1" lang="ja-JP" altLang="en-US" dirty="0"/>
          </a:p>
          <a:p>
            <a:r>
              <a:rPr kumimoji="1" lang="ja-JP" altLang="en-US" dirty="0"/>
              <a:t>推論過程の最初の誤りが発生する位置・原因を分析 </a:t>
            </a:r>
            <a:endParaRPr kumimoji="1" lang="en-US" altLang="ja-JP" dirty="0"/>
          </a:p>
          <a:p>
            <a:endParaRPr kumimoji="1" lang="ja-JP" altLang="en-US" dirty="0"/>
          </a:p>
          <a:p>
            <a:r>
              <a:rPr kumimoji="1" lang="ja-JP" altLang="en-US" dirty="0"/>
              <a:t>学習時に頻出した処理への選択の偏りや未学習処理の生成について分析</a:t>
            </a:r>
          </a:p>
        </p:txBody>
      </p:sp>
      <p:sp>
        <p:nvSpPr>
          <p:cNvPr id="4" name="スライド番号プレースホルダー 3">
            <a:extLst>
              <a:ext uri="{FF2B5EF4-FFF2-40B4-BE49-F238E27FC236}">
                <a16:creationId xmlns:a16="http://schemas.microsoft.com/office/drawing/2014/main" id="{92CC3E0A-FCC4-6102-0CD1-6E203FE7993E}"/>
              </a:ext>
            </a:extLst>
          </p:cNvPr>
          <p:cNvSpPr>
            <a:spLocks noGrp="1"/>
          </p:cNvSpPr>
          <p:nvPr>
            <p:ph type="sldNum" sz="quarter" idx="12"/>
          </p:nvPr>
        </p:nvSpPr>
        <p:spPr/>
        <p:txBody>
          <a:bodyPr/>
          <a:lstStyle/>
          <a:p>
            <a:fld id="{10649E7B-FC1B-418B-9B6A-00859DB1DEE8}" type="slidenum">
              <a:rPr kumimoji="1" lang="ja-JP" altLang="en-US" smtClean="0"/>
              <a:t>49</a:t>
            </a:fld>
            <a:endParaRPr kumimoji="1" lang="ja-JP" altLang="en-US"/>
          </a:p>
        </p:txBody>
      </p:sp>
    </p:spTree>
    <p:extLst>
      <p:ext uri="{BB962C8B-B14F-4D97-AF65-F5344CB8AC3E}">
        <p14:creationId xmlns:p14="http://schemas.microsoft.com/office/powerpoint/2010/main" val="20554813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720CD7-B6E9-2737-5BF2-761BCC0B12C2}"/>
              </a:ext>
            </a:extLst>
          </p:cNvPr>
          <p:cNvSpPr>
            <a:spLocks noGrp="1"/>
          </p:cNvSpPr>
          <p:nvPr>
            <p:ph type="title"/>
          </p:nvPr>
        </p:nvSpPr>
        <p:spPr/>
        <p:txBody>
          <a:bodyPr/>
          <a:lstStyle/>
          <a:p>
            <a:r>
              <a:rPr kumimoji="1" lang="ja-JP" altLang="en-US">
                <a:solidFill>
                  <a:srgbClr val="FF0000"/>
                </a:solidFill>
              </a:rPr>
              <a:t>改善点</a:t>
            </a:r>
          </a:p>
        </p:txBody>
      </p:sp>
      <p:sp>
        <p:nvSpPr>
          <p:cNvPr id="3" name="コンテンツ プレースホルダー 2">
            <a:extLst>
              <a:ext uri="{FF2B5EF4-FFF2-40B4-BE49-F238E27FC236}">
                <a16:creationId xmlns:a16="http://schemas.microsoft.com/office/drawing/2014/main" id="{017B691A-46C7-600E-7022-890D1BEC509F}"/>
              </a:ext>
            </a:extLst>
          </p:cNvPr>
          <p:cNvSpPr>
            <a:spLocks noGrp="1"/>
          </p:cNvSpPr>
          <p:nvPr>
            <p:ph idx="1"/>
          </p:nvPr>
        </p:nvSpPr>
        <p:spPr/>
        <p:txBody>
          <a:bodyPr/>
          <a:lstStyle/>
          <a:p>
            <a:r>
              <a:rPr kumimoji="1" lang="ja-JP" altLang="en-US" dirty="0"/>
              <a:t>口語を改善</a:t>
            </a:r>
            <a:endParaRPr kumimoji="1" lang="en-US" altLang="ja-JP" dirty="0"/>
          </a:p>
          <a:p>
            <a:r>
              <a:rPr lang="ja-JP" altLang="en-US" dirty="0"/>
              <a:t>全部→全体</a:t>
            </a:r>
            <a:endParaRPr lang="en-US" altLang="ja-JP" dirty="0"/>
          </a:p>
          <a:p>
            <a:r>
              <a:rPr kumimoji="1" lang="ja-JP" altLang="en-US" dirty="0"/>
              <a:t>参考文献の引用の仕方を長くてもいいから、正式な形で</a:t>
            </a:r>
            <a:endParaRPr kumimoji="1" lang="en-US" altLang="ja-JP" dirty="0"/>
          </a:p>
          <a:p>
            <a:r>
              <a:rPr kumimoji="1" lang="ja-JP" altLang="en-US" dirty="0">
                <a:solidFill>
                  <a:srgbClr val="FF0000"/>
                </a:solidFill>
              </a:rPr>
              <a:t>今のところばらばらの実験でやってるから最後はちゃんと同じ結果を入れる</a:t>
            </a:r>
            <a:endParaRPr kumimoji="1" lang="en-US" altLang="ja-JP" dirty="0">
              <a:solidFill>
                <a:srgbClr val="FF0000"/>
              </a:solidFill>
            </a:endParaRPr>
          </a:p>
          <a:p>
            <a:endParaRPr kumimoji="1" lang="ja-JP" altLang="en-US" dirty="0"/>
          </a:p>
        </p:txBody>
      </p:sp>
      <p:sp>
        <p:nvSpPr>
          <p:cNvPr id="4" name="スライド番号プレースホルダー 3">
            <a:extLst>
              <a:ext uri="{FF2B5EF4-FFF2-40B4-BE49-F238E27FC236}">
                <a16:creationId xmlns:a16="http://schemas.microsoft.com/office/drawing/2014/main" id="{93BC64FA-8AD0-6880-8F88-5A3BAAA07F95}"/>
              </a:ext>
            </a:extLst>
          </p:cNvPr>
          <p:cNvSpPr>
            <a:spLocks noGrp="1"/>
          </p:cNvSpPr>
          <p:nvPr>
            <p:ph type="sldNum" sz="quarter" idx="12"/>
          </p:nvPr>
        </p:nvSpPr>
        <p:spPr/>
        <p:txBody>
          <a:bodyPr/>
          <a:lstStyle/>
          <a:p>
            <a:fld id="{10649E7B-FC1B-418B-9B6A-00859DB1DEE8}" type="slidenum">
              <a:rPr kumimoji="1" lang="ja-JP" altLang="en-US" smtClean="0"/>
              <a:t>50</a:t>
            </a:fld>
            <a:endParaRPr kumimoji="1" lang="ja-JP" altLang="en-US"/>
          </a:p>
        </p:txBody>
      </p:sp>
    </p:spTree>
    <p:extLst>
      <p:ext uri="{BB962C8B-B14F-4D97-AF65-F5344CB8AC3E}">
        <p14:creationId xmlns:p14="http://schemas.microsoft.com/office/powerpoint/2010/main" val="309140325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9468</TotalTime>
  <Words>6498</Words>
  <Application>Microsoft Office PowerPoint</Application>
  <PresentationFormat>ワイド画面</PresentationFormat>
  <Paragraphs>736</Paragraphs>
  <Slides>50</Slides>
  <Notes>11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50</vt:i4>
      </vt:variant>
    </vt:vector>
  </HeadingPairs>
  <TitlesOfParts>
    <vt:vector size="54" baseType="lpstr">
      <vt:lpstr>游ゴシック</vt:lpstr>
      <vt:lpstr>游ゴシック Light</vt:lpstr>
      <vt:lpstr>Arial</vt:lpstr>
      <vt:lpstr>Office テーマ</vt:lpstr>
      <vt:lpstr>生成AIの追加学習による問題解決能力の変化</vt:lpstr>
      <vt:lpstr>目次</vt:lpstr>
      <vt:lpstr>目次</vt:lpstr>
      <vt:lpstr>用語の解説</vt:lpstr>
      <vt:lpstr>用語の解説</vt:lpstr>
      <vt:lpstr>SFTによる追加学習</vt:lpstr>
      <vt:lpstr>先行研究</vt:lpstr>
      <vt:lpstr>先行研究からわかること</vt:lpstr>
      <vt:lpstr>問題関心</vt:lpstr>
      <vt:lpstr>Compositional Generalizationの先行研究</vt:lpstr>
      <vt:lpstr>研究目的</vt:lpstr>
      <vt:lpstr>目次</vt:lpstr>
      <vt:lpstr>研究方法</vt:lpstr>
      <vt:lpstr>問題</vt:lpstr>
      <vt:lpstr>仕組み</vt:lpstr>
      <vt:lpstr>研究方法</vt:lpstr>
      <vt:lpstr>訓練用データについて</vt:lpstr>
      <vt:lpstr>処理の過程を答えの部分に含めたもの</vt:lpstr>
      <vt:lpstr>答え＋処理過程のSFTの分析</vt:lpstr>
      <vt:lpstr>データについて</vt:lpstr>
      <vt:lpstr>データについて</vt:lpstr>
      <vt:lpstr>モデルと学習手法</vt:lpstr>
      <vt:lpstr>研究方法</vt:lpstr>
      <vt:lpstr>目次</vt:lpstr>
      <vt:lpstr>問題解決能力の評価実験(やり直し中)</vt:lpstr>
      <vt:lpstr>目次</vt:lpstr>
      <vt:lpstr>単一処理・複数処理の比較 (テストデータその1)</vt:lpstr>
      <vt:lpstr>ベースモデルの正解例の問題</vt:lpstr>
      <vt:lpstr>ベースモデルの正解例の出力</vt:lpstr>
      <vt:lpstr>ベースモデルの失敗例の問題</vt:lpstr>
      <vt:lpstr>ベースモデルの失敗例の出力</vt:lpstr>
      <vt:lpstr>ベースモデルの出力の分析 (トークン上限で終了した場合と正解率の関係)</vt:lpstr>
      <vt:lpstr>分析できること</vt:lpstr>
      <vt:lpstr>答えのみのSFTの分析</vt:lpstr>
      <vt:lpstr>分析できること</vt:lpstr>
      <vt:lpstr>答え＋処理過程のSFTの分析 学習時に提示していない処理順序の適用</vt:lpstr>
      <vt:lpstr>答え＋処理過程のSFTの分析 珍しい事例</vt:lpstr>
      <vt:lpstr>答え＋処理過程のSFTの分析</vt:lpstr>
      <vt:lpstr>答え＋処理過程のSFTの分析</vt:lpstr>
      <vt:lpstr>答え＋処理過程のSFTの分析</vt:lpstr>
      <vt:lpstr>答え＋処理過程のSFTの分析 テストデータその1</vt:lpstr>
      <vt:lpstr>答え＋処理過程のSFTの分析 テストデータその1</vt:lpstr>
      <vt:lpstr>答え＋処理過程のSFTの分析</vt:lpstr>
      <vt:lpstr>答え＋処理過程のSFTの分析</vt:lpstr>
      <vt:lpstr>答え＋処理過程のSFTの分析 テストデータその2</vt:lpstr>
      <vt:lpstr>答え＋処理過程のSFTの分析 テストデータその2</vt:lpstr>
      <vt:lpstr>考察</vt:lpstr>
      <vt:lpstr>考察</vt:lpstr>
      <vt:lpstr>今後の課題</vt:lpstr>
      <vt:lpstr>改善点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koyama.ryuji@keio.jp</dc:creator>
  <cp:lastModifiedBy>koyama.ryuji@keio.jp</cp:lastModifiedBy>
  <cp:revision>10</cp:revision>
  <dcterms:created xsi:type="dcterms:W3CDTF">2026-09-01T15:23:02Z</dcterms:created>
  <dcterms:modified xsi:type="dcterms:W3CDTF">2026-09-15T07:12:02Z</dcterms:modified>
</cp:coreProperties>
</file>