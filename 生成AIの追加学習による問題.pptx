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5" r:id="rId4"/>
    <p:sldId id="258" r:id="rId5"/>
    <p:sldId id="259" r:id="rId6"/>
    <p:sldId id="260" r:id="rId7"/>
    <p:sldId id="261" r:id="rId8"/>
    <p:sldId id="263" r:id="rId9"/>
    <p:sldId id="262" r:id="rId10"/>
    <p:sldId id="264" r:id="rId11"/>
    <p:sldId id="267" r:id="rId12"/>
    <p:sldId id="269" r:id="rId13"/>
    <p:sldId id="271" r:id="rId14"/>
    <p:sldId id="272" r:id="rId15"/>
    <p:sldId id="273" r:id="rId16"/>
    <p:sldId id="274" r:id="rId17"/>
    <p:sldId id="275" r:id="rId18"/>
    <p:sldId id="276" r:id="rId19"/>
    <p:sldId id="277"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156" d="100"/>
          <a:sy n="156" d="100"/>
        </p:scale>
        <p:origin x="348"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B617AA2-9AE0-4EF4-8CB8-4A4F9870E7AC}" type="datetimeFigureOut">
              <a:rPr kumimoji="1" lang="ja-JP" altLang="en-US" smtClean="0"/>
              <a:t>2026/9/8</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a:t>研究背景</a:t>
            </a:r>
            <a:endParaRPr kumimoji="1" lang="ja-JP" altLang="en-US"/>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lstStyle/>
          <a:p>
            <a:r>
              <a:rPr kumimoji="1" lang="ja-JP" altLang="en-US" dirty="0"/>
              <a:t>用語の解説</a:t>
            </a:r>
            <a:endParaRPr kumimoji="1" lang="en-US" altLang="ja-JP" dirty="0"/>
          </a:p>
          <a:p>
            <a:pPr lvl="1"/>
            <a:r>
              <a:rPr lang="ja-JP" altLang="en-US" dirty="0"/>
              <a:t>生成</a:t>
            </a:r>
            <a:r>
              <a:rPr lang="en-US" altLang="ja-JP" dirty="0"/>
              <a:t>AI</a:t>
            </a:r>
          </a:p>
          <a:p>
            <a:pPr lvl="2"/>
            <a:r>
              <a:rPr lang="ja-JP" altLang="en-US" dirty="0"/>
              <a:t>ユーザの指示に基づき、文章・画像・プログラムコードなどの新しいコンテンツを生成する</a:t>
            </a:r>
            <a:r>
              <a:rPr lang="en-US" altLang="ja-JP" dirty="0"/>
              <a:t>AI</a:t>
            </a:r>
          </a:p>
          <a:p>
            <a:pPr lvl="1"/>
            <a:r>
              <a:rPr lang="en-US" altLang="ja-JP" dirty="0"/>
              <a:t>LLM</a:t>
            </a:r>
          </a:p>
          <a:p>
            <a:pPr lvl="2"/>
            <a:r>
              <a:rPr lang="ja-JP" altLang="en-US" dirty="0"/>
              <a:t>大量のデータで事前学習された、大規模な言語モデル</a:t>
            </a:r>
            <a:endParaRPr lang="en-US" altLang="ja-JP" dirty="0"/>
          </a:p>
          <a:p>
            <a:pPr lvl="1"/>
            <a:r>
              <a:rPr lang="en-US" altLang="ja-JP" dirty="0"/>
              <a:t>Post-training(</a:t>
            </a:r>
            <a:r>
              <a:rPr lang="ja-JP" altLang="en-US" dirty="0"/>
              <a:t>追加学習</a:t>
            </a:r>
            <a:r>
              <a:rPr lang="en-US" altLang="ja-JP" dirty="0"/>
              <a:t>)</a:t>
            </a:r>
          </a:p>
          <a:p>
            <a:pPr lvl="2"/>
            <a:r>
              <a:rPr lang="ja-JP" altLang="en-US" dirty="0"/>
              <a:t>事前学習後に、</a:t>
            </a:r>
            <a:r>
              <a:rPr lang="en-US" altLang="ja-JP" dirty="0"/>
              <a:t>LLM</a:t>
            </a:r>
            <a:r>
              <a:rPr lang="ja-JP" altLang="en-US" dirty="0"/>
              <a:t>を特定の目的に適応させるための学習</a:t>
            </a:r>
            <a:endParaRPr lang="en-US" altLang="ja-JP" dirty="0"/>
          </a:p>
          <a:p>
            <a:pPr lvl="1"/>
            <a:r>
              <a:rPr kumimoji="1" lang="en-US" altLang="ja-JP" dirty="0"/>
              <a:t>Supervised Fine-tuning(SFT)</a:t>
            </a:r>
          </a:p>
          <a:p>
            <a:pPr lvl="2"/>
            <a:r>
              <a:rPr kumimoji="1" lang="ja-JP" altLang="en-US" dirty="0"/>
              <a:t>教師ありファインチューニング</a:t>
            </a:r>
            <a:endParaRPr kumimoji="1" lang="en-US" altLang="ja-JP" dirty="0"/>
          </a:p>
          <a:p>
            <a:pPr lvl="2"/>
            <a:r>
              <a:rPr kumimoji="1" lang="en-US" altLang="ja-JP" dirty="0"/>
              <a:t>LLM</a:t>
            </a:r>
            <a:r>
              <a:rPr kumimoji="1" lang="ja-JP" altLang="en-US" dirty="0"/>
              <a:t>に入力された指示と、それに対応する出力の関係を学習させる手法</a:t>
            </a:r>
            <a:endParaRPr kumimoji="1" lang="en-US" altLang="ja-JP" dirty="0"/>
          </a:p>
          <a:p>
            <a:pPr lvl="1"/>
            <a:endParaRPr kumimoji="1" lang="ja-JP" altLang="en-US"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(2025)：SFTとRL</a:t>
            </a:r>
            <a:r>
              <a:rPr lang="en-US" altLang="ja-JP" dirty="0"/>
              <a:t>(</a:t>
            </a:r>
            <a:r>
              <a:rPr lang="ja-JP" altLang="en-US" dirty="0"/>
              <a:t>教師ありファインチューニングではない別の学習手法</a:t>
            </a:r>
            <a:r>
              <a:rPr lang="en-US" altLang="ja-JP" dirty="0"/>
              <a:t>)</a:t>
            </a:r>
            <a:r>
              <a:rPr lang="ja-JP" altLang="ja-JP" dirty="0"/>
              <a:t>の汎化能力を比較し、SFTが学習データを記憶する傾向を示した研究</a:t>
            </a:r>
            <a:endParaRPr lang="en-US" altLang="ja-JP" dirty="0"/>
          </a:p>
          <a:p>
            <a:pPr lvl="1"/>
            <a:r>
              <a:rPr lang="ja-JP" altLang="ja-JP" dirty="0"/>
              <a:t>SFT</a:t>
            </a:r>
            <a:r>
              <a:rPr lang="ja-JP" altLang="en-US" dirty="0"/>
              <a:t>による学習</a:t>
            </a:r>
            <a:r>
              <a:rPr lang="ja-JP" altLang="ja-JP" dirty="0"/>
              <a:t>は</a:t>
            </a:r>
            <a:r>
              <a:rPr lang="ja-JP" altLang="en-US" dirty="0"/>
              <a:t>未知の問題に対しては効果は限定的</a:t>
            </a:r>
            <a:endParaRPr lang="en-US" altLang="ja-JP" dirty="0"/>
          </a:p>
          <a:p>
            <a:pPr lvl="1"/>
            <a:endParaRPr lang="en-US" altLang="ja-JP" dirty="0"/>
          </a:p>
          <a:p>
            <a:r>
              <a:rPr lang="en-US" altLang="ja-JP" dirty="0"/>
              <a:t>Ren et al. (2026)</a:t>
            </a:r>
            <a:r>
              <a:rPr lang="ja-JP" altLang="en-US" dirty="0"/>
              <a:t>：推論</a:t>
            </a:r>
            <a:r>
              <a:rPr lang="en-US" altLang="ja-JP" dirty="0"/>
              <a:t>SFT</a:t>
            </a:r>
            <a:r>
              <a:rPr lang="ja-JP" altLang="en-US" dirty="0"/>
              <a:t>の汎化能力を分析し、最適化・学習データ・モデル能力などの条件によって汎化性能が変化することを示した研究</a:t>
            </a:r>
            <a:endParaRPr lang="en-US" altLang="ja-JP"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による未知の問題への汎化は限定的であることや、その成否が学習条件に依存することが示されている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では「何を未知とするか」によって評価される汎化能力が異なる</a:t>
            </a:r>
            <a:endParaRPr kumimoji="1" lang="en-US" altLang="ja-JP" dirty="0"/>
          </a:p>
        </p:txBody>
      </p:sp>
    </p:spTree>
    <p:extLst>
      <p:ext uri="{BB962C8B-B14F-4D97-AF65-F5344CB8AC3E}">
        <p14:creationId xmlns:p14="http://schemas.microsoft.com/office/powerpoint/2010/main" val="681277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dirty="0"/>
              <a:t>自分の調べたいこと</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自分の研究では、 「何を未知とするか」を明確に設定した問題を用いて、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既知の要素を新たに組み合わせた未知の問題への汎化が、研究されている</a:t>
            </a:r>
            <a:endParaRPr lang="en-US" altLang="ja-JP" dirty="0"/>
          </a:p>
          <a:p>
            <a:pPr lvl="1"/>
            <a:r>
              <a:rPr lang="ja-JP" altLang="ja-JP" dirty="0"/>
              <a:t>既知の単純な処理から、それらを組み合わせた複雑な処理への汎化は、LLMのOOD汎化の重要な側面である</a:t>
            </a:r>
            <a:r>
              <a:rPr lang="ja-JP" altLang="en-US" dirty="0"/>
              <a:t>（ここ引用）</a:t>
            </a:r>
            <a:endParaRPr lang="en-US" altLang="ja-JP" dirty="0"/>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ja-JP" altLang="en-US" dirty="0"/>
              <a:t>：複数の単純な指示からなる「複雑な指示」に、</a:t>
            </a:r>
            <a:r>
              <a:rPr kumimoji="1" lang="en-US" altLang="ja-JP" dirty="0"/>
              <a:t>LLM</a:t>
            </a:r>
            <a:r>
              <a:rPr kumimoji="1" lang="ja-JP" altLang="en-US" dirty="0"/>
              <a:t>がどの程度汎化できるかを</a:t>
            </a:r>
            <a:r>
              <a:rPr kumimoji="1" lang="en-US" altLang="ja-JP" dirty="0"/>
              <a:t>SFT</a:t>
            </a:r>
            <a:r>
              <a:rPr kumimoji="1" lang="ja-JP" altLang="en-US" dirty="0"/>
              <a:t>によって検証した研究。</a:t>
            </a:r>
            <a:endParaRPr kumimoji="1" lang="en-US" altLang="ja-JP" dirty="0"/>
          </a:p>
          <a:p>
            <a:endParaRPr kumimoji="1" lang="en-US" altLang="ja-JP" dirty="0"/>
          </a:p>
          <a:p>
            <a:r>
              <a:rPr kumimoji="1" lang="en-US" altLang="ja-JP" dirty="0"/>
              <a:t>Hayati et al. (2025)</a:t>
            </a:r>
            <a:r>
              <a:rPr kumimoji="1" lang="ja-JP" altLang="en-US" dirty="0"/>
              <a:t>：複数の処理を連鎖させた問題を</a:t>
            </a:r>
            <a:r>
              <a:rPr kumimoji="1" lang="en-US" altLang="ja-JP" dirty="0"/>
              <a:t>SFT</a:t>
            </a:r>
            <a:r>
              <a:rPr kumimoji="1" lang="ja-JP" altLang="en-US" dirty="0"/>
              <a:t>し、学習時よりも長い未知の処理への汎化を検証</a:t>
            </a:r>
          </a:p>
        </p:txBody>
      </p:sp>
    </p:spTree>
    <p:extLst>
      <p:ext uri="{BB962C8B-B14F-4D97-AF65-F5344CB8AC3E}">
        <p14:creationId xmlns:p14="http://schemas.microsoft.com/office/powerpoint/2010/main" val="2481484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SFT</a:t>
            </a:r>
            <a:r>
              <a:rPr kumimoji="1" lang="ja-JP" altLang="en-US" dirty="0"/>
              <a:t>によって、既知の処理を新しい組み合わせで利用する問題解決能力は獲得されるのか？</a:t>
            </a:r>
            <a:endParaRPr kumimoji="1" lang="en-US" altLang="ja-JP" dirty="0"/>
          </a:p>
          <a:p>
            <a:endParaRPr kumimoji="1" lang="en-US" altLang="ja-JP" dirty="0"/>
          </a:p>
          <a:p>
            <a:r>
              <a:rPr kumimoji="1" lang="en-US" altLang="ja-JP" dirty="0"/>
              <a:t>SFT</a:t>
            </a:r>
            <a:r>
              <a:rPr kumimoji="1" lang="ja-JP" altLang="en-US" dirty="0"/>
              <a:t>における教師信号の違いは、この問題解決能力の獲得にどのような影響を与えるのか？</a:t>
            </a:r>
            <a:endParaRPr kumimoji="1" lang="en-US" altLang="ja-JP" dirty="0"/>
          </a:p>
          <a:p>
            <a:endParaRPr kumimoji="1" lang="en-US" altLang="ja-JP" dirty="0"/>
          </a:p>
          <a:p>
            <a:r>
              <a:rPr kumimoji="1" lang="en-US" altLang="ja-JP" dirty="0"/>
              <a:t>SFT</a:t>
            </a:r>
            <a:r>
              <a:rPr kumimoji="1" lang="ja-JP" altLang="en-US" dirty="0"/>
              <a:t>によって、問題解決過程のどの部分が変化するのか？</a:t>
            </a:r>
          </a:p>
        </p:txBody>
      </p:sp>
    </p:spTree>
    <p:extLst>
      <p:ext uri="{BB962C8B-B14F-4D97-AF65-F5344CB8AC3E}">
        <p14:creationId xmlns:p14="http://schemas.microsoft.com/office/powerpoint/2010/main" val="187985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Tree>
    <p:extLst>
      <p:ext uri="{BB962C8B-B14F-4D97-AF65-F5344CB8AC3E}">
        <p14:creationId xmlns:p14="http://schemas.microsoft.com/office/powerpoint/2010/main" val="2969684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Tree>
    <p:extLst>
      <p:ext uri="{BB962C8B-B14F-4D97-AF65-F5344CB8AC3E}">
        <p14:creationId xmlns:p14="http://schemas.microsoft.com/office/powerpoint/2010/main" val="356283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lstStyle/>
          <a:p>
            <a:r>
              <a:rPr kumimoji="1" lang="ja-JP" altLang="en-US" dirty="0"/>
              <a:t>さっきのような簡単な処理を２０種類用意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種類と、組み合わせた処理を４２種類用意しました。</a:t>
            </a:r>
          </a:p>
        </p:txBody>
      </p:sp>
    </p:spTree>
    <p:extLst>
      <p:ext uri="{BB962C8B-B14F-4D97-AF65-F5344CB8AC3E}">
        <p14:creationId xmlns:p14="http://schemas.microsoft.com/office/powerpoint/2010/main" val="279596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kumimoji="1" lang="ja-JP" altLang="en-US" dirty="0"/>
              <a:t>訓練用のデータ</a:t>
            </a:r>
            <a:endParaRPr kumimoji="1" lang="en-US" altLang="ja-JP" dirty="0"/>
          </a:p>
          <a:p>
            <a:pPr lvl="1"/>
            <a:r>
              <a:rPr lang="ja-JP" altLang="en-US" dirty="0"/>
              <a:t>問題文と答えだけのセット</a:t>
            </a:r>
            <a:endParaRPr lang="en-US" altLang="ja-JP" dirty="0"/>
          </a:p>
          <a:p>
            <a:pPr lvl="1"/>
            <a:r>
              <a:rPr kumimoji="1" lang="ja-JP" altLang="en-US" dirty="0"/>
              <a:t>処理の過程を答えの部分に含めたもの</a:t>
            </a:r>
          </a:p>
        </p:txBody>
      </p:sp>
    </p:spTree>
    <p:extLst>
      <p:ext uri="{BB962C8B-B14F-4D97-AF65-F5344CB8AC3E}">
        <p14:creationId xmlns:p14="http://schemas.microsoft.com/office/powerpoint/2010/main" val="479739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588169" y="1914717"/>
            <a:ext cx="738664" cy="3590094"/>
          </a:xfrm>
          <a:prstGeom prst="rect">
            <a:avLst/>
          </a:prstGeom>
          <a:noFill/>
        </p:spPr>
        <p:txBody>
          <a:bodyPr vert="eaVert" wrap="square" rtlCol="0">
            <a:spAutoFit/>
          </a:bodyPr>
          <a:lstStyle/>
          <a:p>
            <a:r>
              <a:rPr lang="en-US" altLang="ja-JP" dirty="0"/>
              <a:t>※</a:t>
            </a:r>
            <a:r>
              <a:rPr lang="ja-JP" altLang="en-US" dirty="0"/>
              <a:t>実際は５つの例を使います</a:t>
            </a:r>
          </a:p>
          <a:p>
            <a:endParaRPr kumimoji="1" lang="ja-JP" altLang="en-US" dirty="0"/>
          </a:p>
        </p:txBody>
      </p:sp>
    </p:spTree>
    <p:extLst>
      <p:ext uri="{BB962C8B-B14F-4D97-AF65-F5344CB8AC3E}">
        <p14:creationId xmlns:p14="http://schemas.microsoft.com/office/powerpoint/2010/main" val="1186273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a:t>
            </a:r>
            <a:endParaRPr lang="en-US" altLang="ja-JP" dirty="0"/>
          </a:p>
          <a:p>
            <a:pPr lvl="1"/>
            <a:r>
              <a:rPr lang="ja-JP" altLang="en-US" dirty="0"/>
              <a:t>問題文と答えだけのセット</a:t>
            </a:r>
            <a:endParaRPr lang="en-US" altLang="ja-JP" dirty="0"/>
          </a:p>
          <a:p>
            <a:pPr lvl="1"/>
            <a:r>
              <a:rPr lang="ja-JP" altLang="en-US" dirty="0"/>
              <a:t>処理の過程を答えの部分に含めたもの</a:t>
            </a:r>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pPr lvl="1"/>
            <a:endParaRPr kumimoji="1" lang="ja-JP" altLang="en-US" dirty="0"/>
          </a:p>
        </p:txBody>
      </p:sp>
    </p:spTree>
    <p:extLst>
      <p:ext uri="{BB962C8B-B14F-4D97-AF65-F5344CB8AC3E}">
        <p14:creationId xmlns:p14="http://schemas.microsoft.com/office/powerpoint/2010/main" val="630804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lstStyle/>
          <a:p>
            <a:r>
              <a:rPr lang="ja-JP" altLang="en-US" dirty="0"/>
              <a:t>テスト用のデータその１</a:t>
            </a:r>
            <a:endParaRPr lang="en-US" altLang="ja-JP" dirty="0"/>
          </a:p>
          <a:p>
            <a:pPr lvl="1"/>
            <a:r>
              <a:rPr lang="ja-JP" altLang="en-US" dirty="0"/>
              <a:t>訓練用のデータの問題と同じルールで</a:t>
            </a:r>
            <a:r>
              <a:rPr lang="en-US" altLang="ja-JP" dirty="0"/>
              <a:t>10</a:t>
            </a:r>
            <a:r>
              <a:rPr lang="ja-JP" altLang="en-US" dirty="0"/>
              <a:t>問ずつ</a:t>
            </a:r>
            <a:endParaRPr lang="en-US" altLang="ja-JP" dirty="0"/>
          </a:p>
          <a:p>
            <a:pPr lvl="1"/>
            <a:r>
              <a:rPr lang="ja-JP" altLang="en-US" dirty="0"/>
              <a:t>全部で</a:t>
            </a:r>
            <a:r>
              <a:rPr lang="en-US" altLang="ja-JP" dirty="0"/>
              <a:t>720</a:t>
            </a:r>
            <a:r>
              <a:rPr lang="ja-JP" altLang="en-US" dirty="0"/>
              <a:t>問</a:t>
            </a:r>
            <a:endParaRPr lang="en-US" altLang="ja-JP" dirty="0"/>
          </a:p>
          <a:p>
            <a:r>
              <a:rPr lang="ja-JP" altLang="en-US" dirty="0"/>
              <a:t>テスト用のデータその２</a:t>
            </a:r>
            <a:endParaRPr lang="en-US" altLang="ja-JP" dirty="0"/>
          </a:p>
          <a:p>
            <a:pPr lvl="1"/>
            <a:r>
              <a:rPr lang="ja-JP" altLang="en-US" dirty="0"/>
              <a:t>訓練用のデータでは出なかったルールを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全部で</a:t>
            </a:r>
            <a:r>
              <a:rPr lang="en-US" altLang="ja-JP" dirty="0"/>
              <a:t>480</a:t>
            </a:r>
            <a:r>
              <a:rPr lang="ja-JP" altLang="en-US" dirty="0"/>
              <a:t>問</a:t>
            </a:r>
            <a:endParaRPr lang="en-US" altLang="ja-JP" dirty="0"/>
          </a:p>
          <a:p>
            <a:endParaRPr kumimoji="1" lang="ja-JP" altLang="en-US" dirty="0"/>
          </a:p>
        </p:txBody>
      </p:sp>
    </p:spTree>
    <p:extLst>
      <p:ext uri="{BB962C8B-B14F-4D97-AF65-F5344CB8AC3E}">
        <p14:creationId xmlns:p14="http://schemas.microsoft.com/office/powerpoint/2010/main" val="195726512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1302</TotalTime>
  <Words>1526</Words>
  <Application>Microsoft Office PowerPoint</Application>
  <PresentationFormat>ワイド画面</PresentationFormat>
  <Paragraphs>200</Paragraphs>
  <Slides>19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19</vt:i4>
      </vt:variant>
    </vt:vector>
  </HeadingPairs>
  <TitlesOfParts>
    <vt:vector size="23" baseType="lpstr">
      <vt:lpstr>游ゴシック</vt:lpstr>
      <vt:lpstr>游ゴシック Light</vt:lpstr>
      <vt:lpstr>Arial</vt:lpstr>
      <vt:lpstr>Office テーマ</vt:lpstr>
      <vt:lpstr>生成AIの追加学習による問題解決能力の変化</vt:lpstr>
      <vt:lpstr>目次</vt:lpstr>
      <vt:lpstr>目次</vt:lpstr>
      <vt:lpstr>研究背景</vt:lpstr>
      <vt:lpstr>SFTによる追加学習</vt:lpstr>
      <vt:lpstr>先行研究</vt:lpstr>
      <vt:lpstr>先行研究からわかること</vt:lpstr>
      <vt:lpstr>自分の調べたいこと</vt:lpstr>
      <vt:lpstr>Compositional Generalizationの先行研究</vt:lpstr>
      <vt:lpstr>研究目的</vt:lpstr>
      <vt:lpstr>目次</vt:lpstr>
      <vt:lpstr>研究方法</vt:lpstr>
      <vt:lpstr>問題</vt:lpstr>
      <vt:lpstr>仕組み</vt:lpstr>
      <vt:lpstr>研究方法</vt:lpstr>
      <vt:lpstr>データについて</vt:lpstr>
      <vt:lpstr>処理の過程を答えの部分に含めたもの</vt:lpstr>
      <vt:lpstr>データについて</vt:lpstr>
      <vt:lpstr>データについて</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3</cp:revision>
  <dcterms:created xsi:type="dcterms:W3CDTF">2026-09-01T15:23:02Z</dcterms:created>
  <dcterms:modified xsi:type="dcterms:W3CDTF">2026-09-08T13:05:13Z</dcterms:modified>
</cp:coreProperties>
</file>