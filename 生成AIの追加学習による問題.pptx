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handoutMasterIdLst>
    <p:handoutMasterId r:id="rId55"/>
  </p:handoutMasterIdLst>
  <p:sldIdLst>
    <p:sldId id="256" r:id="rId2"/>
    <p:sldId id="257" r:id="rId3"/>
    <p:sldId id="265" r:id="rId4"/>
    <p:sldId id="258" r:id="rId5"/>
    <p:sldId id="324" r:id="rId6"/>
    <p:sldId id="259" r:id="rId7"/>
    <p:sldId id="260" r:id="rId8"/>
    <p:sldId id="261" r:id="rId9"/>
    <p:sldId id="263" r:id="rId10"/>
    <p:sldId id="262" r:id="rId11"/>
    <p:sldId id="264" r:id="rId12"/>
    <p:sldId id="267" r:id="rId13"/>
    <p:sldId id="269" r:id="rId14"/>
    <p:sldId id="271" r:id="rId15"/>
    <p:sldId id="272" r:id="rId16"/>
    <p:sldId id="273" r:id="rId17"/>
    <p:sldId id="274" r:id="rId18"/>
    <p:sldId id="275" r:id="rId19"/>
    <p:sldId id="306" r:id="rId20"/>
    <p:sldId id="276" r:id="rId21"/>
    <p:sldId id="277" r:id="rId22"/>
    <p:sldId id="278" r:id="rId23"/>
    <p:sldId id="279" r:id="rId24"/>
    <p:sldId id="281" r:id="rId25"/>
    <p:sldId id="282" r:id="rId26"/>
    <p:sldId id="296" r:id="rId27"/>
    <p:sldId id="325" r:id="rId28"/>
    <p:sldId id="327" r:id="rId29"/>
    <p:sldId id="328" r:id="rId30"/>
    <p:sldId id="329" r:id="rId31"/>
    <p:sldId id="330" r:id="rId32"/>
    <p:sldId id="326" r:id="rId33"/>
    <p:sldId id="299" r:id="rId34"/>
    <p:sldId id="302" r:id="rId35"/>
    <p:sldId id="308" r:id="rId36"/>
    <p:sldId id="309" r:id="rId37"/>
    <p:sldId id="311" r:id="rId38"/>
    <p:sldId id="312" r:id="rId39"/>
    <p:sldId id="313" r:id="rId40"/>
    <p:sldId id="314" r:id="rId41"/>
    <p:sldId id="315" r:id="rId42"/>
    <p:sldId id="316" r:id="rId43"/>
    <p:sldId id="317" r:id="rId44"/>
    <p:sldId id="334" r:id="rId45"/>
    <p:sldId id="319" r:id="rId46"/>
    <p:sldId id="320" r:id="rId47"/>
    <p:sldId id="321" r:id="rId48"/>
    <p:sldId id="322" r:id="rId49"/>
    <p:sldId id="323" r:id="rId50"/>
    <p:sldId id="331" r:id="rId51"/>
    <p:sldId id="332" r:id="rId52"/>
    <p:sldId id="333" r:id="rId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72"/>
  </p:normalViewPr>
  <p:slideViewPr>
    <p:cSldViewPr snapToGrid="0">
      <p:cViewPr varScale="1">
        <p:scale>
          <a:sx n="156" d="100"/>
          <a:sy n="156" d="100"/>
        </p:scale>
        <p:origin x="348" y="144"/>
      </p:cViewPr>
      <p:guideLst/>
    </p:cSldViewPr>
  </p:slideViewPr>
  <p:notesTextViewPr>
    <p:cViewPr>
      <p:scale>
        <a:sx n="3" d="2"/>
        <a:sy n="3" d="2"/>
      </p:scale>
      <p:origin x="0" y="-186"/>
    </p:cViewPr>
  </p:notesTextViewPr>
  <p:notesViewPr>
    <p:cSldViewPr snapToGrid="0">
      <p:cViewPr varScale="1">
        <p:scale>
          <a:sx n="125" d="100"/>
          <a:sy n="125" d="100"/>
        </p:scale>
        <p:origin x="493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「生成AIの追加学習による問題解決能力の変化」というテーマで研究を行っています。</a:t>
            </a:r>
          </a:p>
          <a:p>
            <a:r>
              <a:rPr lang="ja-JP" altLang="ja-JP" dirty="0"/>
              <a:t>よろしくお願いします。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a:t>
            </a:fld>
            <a:endParaRPr kumimoji="1" lang="ja-JP" altLang="en-US"/>
          </a:p>
        </p:txBody>
      </p:sp>
    </p:spTree>
    <p:extLst>
      <p:ext uri="{BB962C8B-B14F-4D97-AF65-F5344CB8AC3E}">
        <p14:creationId xmlns:p14="http://schemas.microsoft.com/office/powerpoint/2010/main" val="11493682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発表では、まず研究背景について説明します。</a:t>
            </a:r>
          </a:p>
          <a:p>
            <a:r>
              <a:rPr lang="ja-JP" altLang="ja-JP" dirty="0"/>
              <a:t>その後、研究方法、問題解決能力の評価実験、分析と考察について説明します。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a:t>
            </a:fld>
            <a:endParaRPr kumimoji="1" lang="ja-JP" altLang="en-US"/>
          </a:p>
        </p:txBody>
      </p:sp>
    </p:spTree>
    <p:extLst>
      <p:ext uri="{BB962C8B-B14F-4D97-AF65-F5344CB8AC3E}">
        <p14:creationId xmlns:p14="http://schemas.microsoft.com/office/powerpoint/2010/main" val="29750870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まず、研究背景について説明します。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a:t>
            </a:fld>
            <a:endParaRPr kumimoji="1" lang="ja-JP" altLang="en-US"/>
          </a:p>
        </p:txBody>
      </p:sp>
    </p:spTree>
    <p:extLst>
      <p:ext uri="{BB962C8B-B14F-4D97-AF65-F5344CB8AC3E}">
        <p14:creationId xmlns:p14="http://schemas.microsoft.com/office/powerpoint/2010/main" val="1576041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まず、本研究で扱う「生成AI」と「LLM」について説明します。</a:t>
            </a:r>
          </a:p>
          <a:p>
            <a:r>
              <a:rPr lang="ja-JP" altLang="ja-JP" dirty="0"/>
              <a:t>生成AIとは、ユーザーの指示に基づいて、文章や画像、プログラムコードなどの新しいコンテンツを生成するAIのことです。</a:t>
            </a:r>
          </a:p>
          <a:p>
            <a:r>
              <a:rPr lang="ja-JP" altLang="ja-JP" dirty="0"/>
              <a:t>その中でも本研究では、主に言語を扱うLLM、大規模言語モデルを対象とします。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a:t>
            </a:fld>
            <a:endParaRPr kumimoji="1" lang="ja-JP" altLang="en-US"/>
          </a:p>
        </p:txBody>
      </p:sp>
    </p:spTree>
    <p:extLst>
      <p:ext uri="{BB962C8B-B14F-4D97-AF65-F5344CB8AC3E}">
        <p14:creationId xmlns:p14="http://schemas.microsoft.com/office/powerpoint/2010/main" val="220390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次に、LLMに対して行う「追加学習」について説明します。</a:t>
            </a:r>
          </a:p>
          <a:p>
            <a:r>
              <a:rPr lang="ja-JP" altLang="ja-JP" dirty="0"/>
              <a:t>LLMは大量のデータを使って事前学習された後、特定の目的に適応させるために追加学習を行うことがあります。</a:t>
            </a:r>
          </a:p>
          <a:p>
            <a:r>
              <a:rPr lang="ja-JP" altLang="ja-JP" dirty="0"/>
              <a:t>本研究では、その中でもSFT、教師ありファインチューニングを扱います。</a:t>
            </a:r>
          </a:p>
          <a:p>
            <a:r>
              <a:rPr lang="ja-JP" altLang="ja-JP" dirty="0"/>
              <a:t>SFTでは、入力された指示と、それに対応する望ましい出力の組み合わせを学習させます。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a:t>
            </a:fld>
            <a:endParaRPr kumimoji="1" lang="ja-JP" altLang="en-US"/>
          </a:p>
        </p:txBody>
      </p:sp>
    </p:spTree>
    <p:extLst>
      <p:ext uri="{BB962C8B-B14F-4D97-AF65-F5344CB8AC3E}">
        <p14:creationId xmlns:p14="http://schemas.microsoft.com/office/powerpoint/2010/main" val="35116225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例えば、計算問題とその答えを学習データとして与えることで、学習後のモデルが別の計算問題にも答えられるようになります。</a:t>
            </a:r>
          </a:p>
          <a:p>
            <a:r>
              <a:rPr lang="ja-JP" altLang="ja-JP" dirty="0"/>
              <a:t>このように、SFTによってモデルが特定の問題に対応できるようになります。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6</a:t>
            </a:fld>
            <a:endParaRPr kumimoji="1" lang="ja-JP" altLang="en-US"/>
          </a:p>
        </p:txBody>
      </p:sp>
    </p:spTree>
    <p:extLst>
      <p:ext uri="{BB962C8B-B14F-4D97-AF65-F5344CB8AC3E}">
        <p14:creationId xmlns:p14="http://schemas.microsoft.com/office/powerpoint/2010/main" val="3568174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この点について、いくつかの先行研究があります。</a:t>
            </a:r>
          </a:p>
          <a:p>
            <a:r>
              <a:rPr lang="ja-JP" altLang="ja-JP" dirty="0"/>
              <a:t>Chu et al.の研究では、SFTは学習データを記憶する傾向があり、未知の問題への汎化が限定的であることが示されています。</a:t>
            </a:r>
          </a:p>
          <a:p>
            <a:r>
              <a:rPr lang="ja-JP" altLang="ja-JP" dirty="0"/>
              <a:t>一方、Ren et al.の研究では、学習方法やデータ、モデルの能力などの条件によって、SFTの汎化性能が変化することが示されています。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7</a:t>
            </a:fld>
            <a:endParaRPr kumimoji="1" lang="ja-JP" altLang="en-US"/>
          </a:p>
        </p:txBody>
      </p:sp>
    </p:spTree>
    <p:extLst>
      <p:ext uri="{BB962C8B-B14F-4D97-AF65-F5344CB8AC3E}">
        <p14:creationId xmlns:p14="http://schemas.microsoft.com/office/powerpoint/2010/main" val="22624782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ここまでの先行研究から、SFTによる未知の問題への汎化は必ずしも十分ではなく、学習条件によっても性能が変化することが分かります。</a:t>
            </a:r>
          </a:p>
          <a:p>
            <a:r>
              <a:rPr lang="ja-JP" altLang="ja-JP" dirty="0"/>
              <a:t>しかし、正解率だけを比較しても、モデルが問題を解く過程のどこで失敗したのかまでは分かりません。</a:t>
            </a:r>
          </a:p>
          <a:p>
            <a:r>
              <a:rPr lang="ja-JP" altLang="ja-JP" dirty="0"/>
              <a:t>また、「未知の問題」といっても、何を未知とするかによって、評価している能力が変わってしまいます。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8</a:t>
            </a:fld>
            <a:endParaRPr kumimoji="1" lang="ja-JP" altLang="en-US"/>
          </a:p>
        </p:txBody>
      </p:sp>
    </p:spTree>
    <p:extLst>
      <p:ext uri="{BB962C8B-B14F-4D97-AF65-F5344CB8AC3E}">
        <p14:creationId xmlns:p14="http://schemas.microsoft.com/office/powerpoint/2010/main" val="310411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そこで本研究では、「何を未知とするのか」を明確に設定します。</a:t>
            </a:r>
          </a:p>
          <a:p>
            <a:r>
              <a:rPr lang="ja-JP" altLang="ja-JP" dirty="0"/>
              <a:t>特に、既知の処理を新しい組み合わせで利用する能力に着目します。</a:t>
            </a:r>
          </a:p>
          <a:p>
            <a:r>
              <a:rPr lang="ja-JP" altLang="ja-JP" dirty="0"/>
              <a:t>つまり、個々の処理については学習している一方で、それらの組み合わせは学習していない問題を用います。</a:t>
            </a:r>
          </a:p>
          <a:p>
            <a:r>
              <a:rPr lang="ja-JP" altLang="ja-JP" dirty="0"/>
              <a:t>このように、既知の構成要素を未知の組み合わせで利用する能力を、Compositional Generalizationと呼びます。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9</a:t>
            </a:fld>
            <a:endParaRPr kumimoji="1" lang="ja-JP" altLang="en-US"/>
          </a:p>
        </p:txBody>
      </p:sp>
    </p:spTree>
    <p:extLst>
      <p:ext uri="{BB962C8B-B14F-4D97-AF65-F5344CB8AC3E}">
        <p14:creationId xmlns:p14="http://schemas.microsoft.com/office/powerpoint/2010/main" val="3377148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Compositional Generalizationについても、先行研究があります。</a:t>
            </a:r>
          </a:p>
          <a:p>
            <a:r>
              <a:rPr lang="ja-JP" altLang="ja-JP" dirty="0"/>
              <a:t>Yang et al.の研究では、複数の処理を組み合わせた複雑な指示への対応を調べています。</a:t>
            </a:r>
          </a:p>
          <a:p>
            <a:r>
              <a:rPr lang="ja-JP" altLang="ja-JP" dirty="0"/>
              <a:t>また、Hayati et al.の研究では、処理の順序を含むデータを用いて追加学習を行い、より複雑な問題への対応を調べています。</a:t>
            </a:r>
          </a:p>
          <a:p>
            <a:r>
              <a:rPr lang="ja-JP" altLang="ja-JP" dirty="0"/>
              <a:t>これらの研究から、SFTによって既知の処理を組み合わせ、学習時には存在しなかった問題へ対応できる可能性が示されています。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10</a:t>
            </a:fld>
            <a:endParaRPr kumimoji="1" lang="ja-JP" altLang="en-US"/>
          </a:p>
        </p:txBody>
      </p:sp>
    </p:spTree>
    <p:extLst>
      <p:ext uri="{BB962C8B-B14F-4D97-AF65-F5344CB8AC3E}">
        <p14:creationId xmlns:p14="http://schemas.microsoft.com/office/powerpoint/2010/main" val="1456156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そこで本研究では、2つの研究課題を設定します。</a:t>
            </a:r>
          </a:p>
          <a:p>
            <a:r>
              <a:rPr lang="ja-JP" altLang="ja-JP" dirty="0"/>
              <a:t>RQ1は、SFTによって、既知の処理を新しい組み合わせで適用する問題解決能力が獲得されるのか、という問いです。</a:t>
            </a:r>
          </a:p>
          <a:p>
            <a:r>
              <a:rPr lang="ja-JP" altLang="ja-JP" dirty="0"/>
              <a:t>RQ2は、SFTにおける教師データの違いが、この能力の獲得にどのような影響を与えるのか、という問いです。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11</a:t>
            </a:fld>
            <a:endParaRPr kumimoji="1" lang="ja-JP" altLang="en-US"/>
          </a:p>
        </p:txBody>
      </p:sp>
    </p:spTree>
    <p:extLst>
      <p:ext uri="{BB962C8B-B14F-4D97-AF65-F5344CB8AC3E}">
        <p14:creationId xmlns:p14="http://schemas.microsoft.com/office/powerpoint/2010/main" val="3777327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ここから研究方法について説明します。</a:t>
            </a:r>
          </a:p>
          <a:p>
            <a:r>
              <a:rPr lang="ja-JP" altLang="ja-JP" dirty="0"/>
              <a:t>本研究では、数字の配列に対する変換問題を作成し、LLMにその変換ルールを推測させます。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12</a:t>
            </a:fld>
            <a:endParaRPr kumimoji="1" lang="ja-JP" altLang="en-US"/>
          </a:p>
        </p:txBody>
      </p:sp>
    </p:spTree>
    <p:extLst>
      <p:ext uri="{BB962C8B-B14F-4D97-AF65-F5344CB8AC3E}">
        <p14:creationId xmlns:p14="http://schemas.microsoft.com/office/powerpoint/2010/main" val="1925511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13</a:t>
            </a:fld>
            <a:endParaRPr kumimoji="1" lang="ja-JP" altLang="en-US"/>
          </a:p>
        </p:txBody>
      </p:sp>
    </p:spTree>
    <p:extLst>
      <p:ext uri="{BB962C8B-B14F-4D97-AF65-F5344CB8AC3E}">
        <p14:creationId xmlns:p14="http://schemas.microsoft.com/office/powerpoint/2010/main" val="6525684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例えば、このように複数の入力と出力の例をモデルに与えます。</a:t>
            </a:r>
          </a:p>
          <a:p>
            <a:r>
              <a:rPr lang="ja-JP" altLang="ja-JP" dirty="0"/>
              <a:t>この例を見ると、入力された数字の並びを逆にすることで、出力が得られていることが分かります。</a:t>
            </a:r>
          </a:p>
          <a:p>
            <a:r>
              <a:rPr lang="ja-JP" altLang="ja-JP" dirty="0"/>
              <a:t>そしてQueryとして新しい入力を与え、モデルに最終的な配列を出力させます。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14</a:t>
            </a:fld>
            <a:endParaRPr kumimoji="1" lang="ja-JP" altLang="en-US"/>
          </a:p>
        </p:txBody>
      </p:sp>
    </p:spTree>
    <p:extLst>
      <p:ext uri="{BB962C8B-B14F-4D97-AF65-F5344CB8AC3E}">
        <p14:creationId xmlns:p14="http://schemas.microsoft.com/office/powerpoint/2010/main" val="1518812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この問題では、モデルは単に答えを出すだけではなく、与えられた例から変換ルールを推測する必要があります。</a:t>
            </a:r>
          </a:p>
          <a:p>
            <a:r>
              <a:rPr lang="ja-JP" altLang="ja-JP" dirty="0"/>
              <a:t>例えば、ここでは「配列の順番を逆にする」というルールを推測します。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15</a:t>
            </a:fld>
            <a:endParaRPr kumimoji="1" lang="ja-JP" altLang="en-US"/>
          </a:p>
        </p:txBody>
      </p:sp>
    </p:spTree>
    <p:extLst>
      <p:ext uri="{BB962C8B-B14F-4D97-AF65-F5344CB8AC3E}">
        <p14:creationId xmlns:p14="http://schemas.microsoft.com/office/powerpoint/2010/main" val="3384975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具体的には、配列に対して行う簡単な処理を20種類用意しました。</a:t>
            </a:r>
          </a:p>
          <a:p>
            <a:r>
              <a:rPr lang="ja-JP" altLang="ja-JP" dirty="0"/>
              <a:t>そして、それらの処理を1つだけ適用する問題と、2つの処理を組み合わせて適用する問題を作成しました。</a:t>
            </a:r>
          </a:p>
          <a:p>
            <a:r>
              <a:rPr lang="ja-JP" altLang="ja-JP" dirty="0"/>
              <a:t>全体では、処理単体と処理の組み合わせを合わせて7</a:t>
            </a:r>
            <a:r>
              <a:rPr lang="en-US" altLang="ja-JP" dirty="0"/>
              <a:t>0</a:t>
            </a:r>
            <a:r>
              <a:rPr lang="ja-JP" altLang="ja-JP" dirty="0"/>
              <a:t>種類のルールを使用しています。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16</a:t>
            </a:fld>
            <a:endParaRPr kumimoji="1" lang="ja-JP" altLang="en-US"/>
          </a:p>
        </p:txBody>
      </p:sp>
    </p:spTree>
    <p:extLst>
      <p:ext uri="{BB962C8B-B14F-4D97-AF65-F5344CB8AC3E}">
        <p14:creationId xmlns:p14="http://schemas.microsoft.com/office/powerpoint/2010/main" val="18133275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訓練データは2種類用意しました。</a:t>
            </a:r>
          </a:p>
          <a:p>
            <a:r>
              <a:rPr lang="ja-JP" altLang="ja-JP" dirty="0"/>
              <a:t>1つ目は、問題文と答えだけを与えるデータです。</a:t>
            </a:r>
          </a:p>
          <a:p>
            <a:r>
              <a:rPr lang="ja-JP" altLang="ja-JP" dirty="0"/>
              <a:t>2つ目は、答えに加えて、問題を解くための処理過程も与えるデータです。</a:t>
            </a:r>
          </a:p>
          <a:p>
            <a:r>
              <a:rPr lang="ja-JP" altLang="ja-JP" dirty="0"/>
              <a:t>また、処理の順番が関係ない場合には、学習データではそのうち1つの順番だけを与えています。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17</a:t>
            </a:fld>
            <a:endParaRPr kumimoji="1" lang="ja-JP" altLang="en-US"/>
          </a:p>
        </p:txBody>
      </p:sp>
    </p:spTree>
    <p:extLst>
      <p:ext uri="{BB962C8B-B14F-4D97-AF65-F5344CB8AC3E}">
        <p14:creationId xmlns:p14="http://schemas.microsoft.com/office/powerpoint/2010/main" val="3221675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こちらが、処理過程を含む教師データの例です。</a:t>
            </a:r>
          </a:p>
          <a:p>
            <a:r>
              <a:rPr lang="ja-JP" altLang="ja-JP" dirty="0"/>
              <a:t>例えば、この問題では、まず配列を逆にして、その後、各要素に1を加えるという2つの処理を行っています。</a:t>
            </a:r>
          </a:p>
          <a:p>
            <a:r>
              <a:rPr lang="ja-JP" altLang="ja-JP" dirty="0"/>
              <a:t>このように、最終的な答えだけでなく、途中の処理も教師データとして与えます。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18</a:t>
            </a:fld>
            <a:endParaRPr kumimoji="1" lang="ja-JP" altLang="en-US"/>
          </a:p>
        </p:txBody>
      </p:sp>
    </p:spTree>
    <p:extLst>
      <p:ext uri="{BB962C8B-B14F-4D97-AF65-F5344CB8AC3E}">
        <p14:creationId xmlns:p14="http://schemas.microsoft.com/office/powerpoint/2010/main" val="13394652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また、処理の順番が関係ない場合には、別の順番で処理しても同じ答えになることがあります。</a:t>
            </a:r>
          </a:p>
          <a:p>
            <a:r>
              <a:rPr lang="ja-JP" altLang="ja-JP" dirty="0"/>
              <a:t>例えば、ここでは「reverse」と「add_1」の順番を入れ替えても、最終的な答えは同じになります。</a:t>
            </a:r>
          </a:p>
          <a:p>
            <a:r>
              <a:rPr lang="ja-JP" altLang="ja-JP" dirty="0"/>
              <a:t>ただし、訓練データでは、そのうち1つの順番だけを教えています。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19</a:t>
            </a:fld>
            <a:endParaRPr kumimoji="1" lang="ja-JP" altLang="en-US"/>
          </a:p>
        </p:txBody>
      </p:sp>
    </p:spTree>
    <p:extLst>
      <p:ext uri="{BB962C8B-B14F-4D97-AF65-F5344CB8AC3E}">
        <p14:creationId xmlns:p14="http://schemas.microsoft.com/office/powerpoint/2010/main" val="23184458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訓練データでは、処理単体と、2つの処理を組み合わせた問題を用意しています。</a:t>
            </a:r>
          </a:p>
          <a:p>
            <a:r>
              <a:rPr lang="ja-JP" altLang="ja-JP" dirty="0"/>
              <a:t>そして、答えのみを含むデータと、処理過程を含むデータの2種類を作成し、それぞれでSFTを行います。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20</a:t>
            </a:fld>
            <a:endParaRPr kumimoji="1" lang="ja-JP" altLang="en-US"/>
          </a:p>
        </p:txBody>
      </p:sp>
    </p:spTree>
    <p:extLst>
      <p:ext uri="{BB962C8B-B14F-4D97-AF65-F5344CB8AC3E}">
        <p14:creationId xmlns:p14="http://schemas.microsoft.com/office/powerpoint/2010/main" val="3565803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テストデータも2種類用意しました。</a:t>
            </a:r>
          </a:p>
          <a:p>
            <a:r>
              <a:rPr lang="ja-JP" altLang="ja-JP" dirty="0"/>
              <a:t>テストデータ1では、訓練時と同じ処理単体や同じ組み合わせを使います。</a:t>
            </a:r>
          </a:p>
          <a:p>
            <a:r>
              <a:rPr lang="ja-JP" altLang="ja-JP" dirty="0"/>
              <a:t>一方、テストデータ2では、個々の処理自体は訓練時に学習していますが、その組み合わせは訓練時には出ていないものを使います。</a:t>
            </a:r>
          </a:p>
          <a:p>
            <a:r>
              <a:rPr lang="ja-JP" altLang="ja-JP" dirty="0"/>
              <a:t>これによって、既知の処理を未知の組み合わせで利用する能力を評価します。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21</a:t>
            </a:fld>
            <a:endParaRPr kumimoji="1" lang="ja-JP" altLang="en-US"/>
          </a:p>
        </p:txBody>
      </p:sp>
    </p:spTree>
    <p:extLst>
      <p:ext uri="{BB962C8B-B14F-4D97-AF65-F5344CB8AC3E}">
        <p14:creationId xmlns:p14="http://schemas.microsoft.com/office/powerpoint/2010/main" val="29192317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使用するモデルにはQwen3-4Bを用います。</a:t>
            </a:r>
          </a:p>
          <a:p>
            <a:r>
              <a:rPr lang="ja-JP" altLang="ja-JP" dirty="0"/>
              <a:t>比較的小規模な4Bパラメータのモデルで、近年の追加学習を用いた研究でも利用されています。</a:t>
            </a:r>
          </a:p>
          <a:p>
            <a:r>
              <a:rPr lang="ja-JP" altLang="ja-JP" dirty="0"/>
              <a:t>追加学習にはLoRAを用います。</a:t>
            </a:r>
          </a:p>
          <a:p>
            <a:r>
              <a:rPr lang="ja-JP" altLang="ja-JP" dirty="0"/>
              <a:t>ベースモデルのパラメータを固定し、追加した一部のパラメータのみを学習することで、計算資源を抑えながら追加学習を行います。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22</a:t>
            </a:fld>
            <a:endParaRPr kumimoji="1" lang="ja-JP" altLang="en-US"/>
          </a:p>
        </p:txBody>
      </p:sp>
    </p:spTree>
    <p:extLst>
      <p:ext uri="{BB962C8B-B14F-4D97-AF65-F5344CB8AC3E}">
        <p14:creationId xmlns:p14="http://schemas.microsoft.com/office/powerpoint/2010/main" val="23612705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評価では、3種類のモデルを比較します。</a:t>
            </a:r>
          </a:p>
          <a:p>
            <a:r>
              <a:rPr lang="ja-JP" altLang="ja-JP" dirty="0"/>
              <a:t>1つ目が、追加学習を行わないベースモデルです。</a:t>
            </a:r>
          </a:p>
          <a:p>
            <a:r>
              <a:rPr lang="ja-JP" altLang="ja-JP" dirty="0"/>
              <a:t>2つ目が、問題文と答えのみでSFTしたモデルです。</a:t>
            </a:r>
          </a:p>
          <a:p>
            <a:r>
              <a:rPr lang="ja-JP" altLang="ja-JP" dirty="0"/>
              <a:t>3つ目が、問題文、処理過程、答えを用いてSFTしたモデルです。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23</a:t>
            </a:fld>
            <a:endParaRPr kumimoji="1" lang="ja-JP" altLang="en-US"/>
          </a:p>
        </p:txBody>
      </p:sp>
    </p:spTree>
    <p:extLst>
      <p:ext uri="{BB962C8B-B14F-4D97-AF65-F5344CB8AC3E}">
        <p14:creationId xmlns:p14="http://schemas.microsoft.com/office/powerpoint/2010/main" val="4653428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ここから問題解決能力の評価実験について説明します。</a:t>
            </a:r>
          </a:p>
          <a:p>
            <a:r>
              <a:rPr lang="ja-JP" altLang="ja-JP" dirty="0"/>
              <a:t>3種類のモデルについて、2種類のテストデータに対する正解率を比較しました。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24</a:t>
            </a:fld>
            <a:endParaRPr kumimoji="1" lang="ja-JP" altLang="en-US"/>
          </a:p>
        </p:txBody>
      </p:sp>
    </p:spTree>
    <p:extLst>
      <p:ext uri="{BB962C8B-B14F-4D97-AF65-F5344CB8AC3E}">
        <p14:creationId xmlns:p14="http://schemas.microsoft.com/office/powerpoint/2010/main" val="14422027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結果はこちらです。</a:t>
            </a:r>
          </a:p>
          <a:p>
            <a:r>
              <a:rPr lang="ja-JP" altLang="ja-JP" dirty="0"/>
              <a:t>テストデータ1では、ベースモデルよりも2種類のSFTモデルの正解率が高くなりました。</a:t>
            </a:r>
          </a:p>
          <a:p>
            <a:r>
              <a:rPr lang="ja-JP" altLang="ja-JP" dirty="0"/>
              <a:t>一方、テストデータ2では、答えのみSFTが最も高い正解率となりました。</a:t>
            </a:r>
          </a:p>
          <a:p>
            <a:r>
              <a:rPr lang="ja-JP" altLang="ja-JP" dirty="0"/>
              <a:t>特に、答え＋処理過程SFTでは、テストデータ1では高い正解率でしたが、テストデータ2では大きく低下しました。</a:t>
            </a:r>
          </a:p>
          <a:p>
            <a:r>
              <a:rPr lang="ja-JP" altLang="ja-JP" dirty="0"/>
              <a:t>このことから、教師データの違いによって、学習した問題への対応と、新しい組み合わせへの対応に異なる傾向が見られました。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25</a:t>
            </a:fld>
            <a:endParaRPr kumimoji="1" lang="ja-JP" altLang="en-US"/>
          </a:p>
        </p:txBody>
      </p:sp>
    </p:spTree>
    <p:extLst>
      <p:ext uri="{BB962C8B-B14F-4D97-AF65-F5344CB8AC3E}">
        <p14:creationId xmlns:p14="http://schemas.microsoft.com/office/powerpoint/2010/main" val="23364956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ここから、モデルの問題解決</a:t>
            </a:r>
            <a:r>
              <a:rPr lang="ja-JP" altLang="en-US" dirty="0"/>
              <a:t>の</a:t>
            </a:r>
            <a:r>
              <a:rPr lang="ja-JP" altLang="ja-JP" dirty="0"/>
              <a:t>過程について分析します。</a:t>
            </a:r>
          </a:p>
          <a:p>
            <a:r>
              <a:rPr lang="ja-JP" altLang="ja-JP" dirty="0"/>
              <a:t>まず、単一</a:t>
            </a:r>
            <a:r>
              <a:rPr lang="ja-JP" altLang="en-US" dirty="0"/>
              <a:t>の</a:t>
            </a:r>
            <a:r>
              <a:rPr lang="ja-JP" altLang="ja-JP" dirty="0"/>
              <a:t>処理の問題と複数処理の問題を比較しました。</a:t>
            </a:r>
          </a:p>
          <a:p>
            <a:endParaRPr kumimoji="1" lang="en-US" altLang="ja-JP" dirty="0"/>
          </a:p>
          <a:p>
            <a:endParaRPr kumimoji="1" lang="en-US" altLang="ja-JP" dirty="0"/>
          </a:p>
          <a:p>
            <a:r>
              <a:rPr lang="en-US" altLang="ja-JP" dirty="0"/>
              <a:t>###</a:t>
            </a:r>
            <a:r>
              <a:rPr lang="ja-JP" altLang="en-US" dirty="0"/>
              <a:t>メモ</a:t>
            </a:r>
            <a:r>
              <a:rPr lang="en-US" altLang="ja-JP" dirty="0"/>
              <a:t>###</a:t>
            </a:r>
          </a:p>
          <a:p>
            <a:r>
              <a:rPr kumimoji="1" lang="ja-JP" altLang="en-US" dirty="0"/>
              <a:t>① </a:t>
            </a:r>
            <a:r>
              <a:rPr kumimoji="1" lang="en-US" altLang="ja-JP" dirty="0"/>
              <a:t>Base</a:t>
            </a:r>
            <a:r>
              <a:rPr kumimoji="1" lang="ja-JP" altLang="en-US" dirty="0"/>
              <a:t>モデルの分析</a:t>
            </a:r>
          </a:p>
          <a:p>
            <a:r>
              <a:rPr kumimoji="1" lang="ja-JP" altLang="en-US" dirty="0"/>
              <a:t>単一処理 </a:t>
            </a:r>
            <a:r>
              <a:rPr kumimoji="1" lang="en-US" altLang="ja-JP" dirty="0"/>
              <a:t>vs </a:t>
            </a:r>
            <a:r>
              <a:rPr kumimoji="1" lang="ja-JP" altLang="en-US" dirty="0"/>
              <a:t>複数処理 </a:t>
            </a:r>
          </a:p>
          <a:p>
            <a:r>
              <a:rPr kumimoji="1" lang="ja-JP" altLang="en-US" dirty="0"/>
              <a:t>正解・不正解とトークン上限到達の関係 </a:t>
            </a:r>
          </a:p>
          <a:p>
            <a:r>
              <a:rPr kumimoji="1" lang="ja-JP" altLang="en-US" dirty="0"/>
              <a:t>仮説を立てて検証するような推論 </a:t>
            </a:r>
          </a:p>
          <a:p>
            <a:r>
              <a:rPr kumimoji="1" lang="ja-JP" altLang="en-US" dirty="0"/>
              <a:t>成功例・失敗例 </a:t>
            </a:r>
          </a:p>
          <a:p>
            <a:r>
              <a:rPr kumimoji="1" lang="ja-JP" altLang="en-US" dirty="0"/>
              <a:t>② </a:t>
            </a:r>
            <a:r>
              <a:rPr kumimoji="1" lang="en-US" altLang="ja-JP" dirty="0"/>
              <a:t>SFT</a:t>
            </a:r>
            <a:r>
              <a:rPr kumimoji="1" lang="ja-JP" altLang="en-US" dirty="0"/>
              <a:t>モデルのルール選択・適用分析</a:t>
            </a:r>
          </a:p>
          <a:p>
            <a:r>
              <a:rPr kumimoji="1" lang="ja-JP" altLang="en-US" dirty="0"/>
              <a:t>正しいルールを選べているか </a:t>
            </a:r>
          </a:p>
          <a:p>
            <a:r>
              <a:rPr kumimoji="1" lang="ja-JP" altLang="en-US" dirty="0"/>
              <a:t>選択したルールを正しく適用できているか </a:t>
            </a:r>
          </a:p>
          <a:p>
            <a:r>
              <a:rPr kumimoji="1" lang="ja-JP" altLang="en-US" dirty="0"/>
              <a:t>「ルール選択は間違っているのに最終回答は正しい」ケース </a:t>
            </a:r>
          </a:p>
          <a:p>
            <a:r>
              <a:rPr kumimoji="1" lang="ja-JP" altLang="en-US" dirty="0"/>
              <a:t>「ルール選択も適用も間違っているのに最終回答は正しい」ケース </a:t>
            </a:r>
          </a:p>
          <a:p>
            <a:r>
              <a:rPr kumimoji="1" lang="ja-JP" altLang="en-US" dirty="0"/>
              <a:t>③ 答えのみ</a:t>
            </a:r>
            <a:r>
              <a:rPr kumimoji="1" lang="en-US" altLang="ja-JP" dirty="0"/>
              <a:t>SFT vs </a:t>
            </a:r>
            <a:r>
              <a:rPr kumimoji="1" lang="ja-JP" altLang="en-US" dirty="0"/>
              <a:t>答え＋処理過程</a:t>
            </a:r>
            <a:r>
              <a:rPr kumimoji="1" lang="en-US" altLang="ja-JP" dirty="0"/>
              <a:t>SFT</a:t>
            </a:r>
          </a:p>
          <a:p>
            <a:r>
              <a:rPr kumimoji="1" lang="en-US" altLang="ja-JP" dirty="0"/>
              <a:t>IID</a:t>
            </a:r>
            <a:r>
              <a:rPr kumimoji="1" lang="ja-JP" altLang="en-US" dirty="0"/>
              <a:t>では答え＋処理過程が高い </a:t>
            </a:r>
          </a:p>
          <a:p>
            <a:r>
              <a:rPr kumimoji="1" lang="en-US" altLang="ja-JP" dirty="0"/>
              <a:t>OOD</a:t>
            </a:r>
            <a:r>
              <a:rPr kumimoji="1" lang="ja-JP" altLang="en-US" dirty="0"/>
              <a:t>では答えのみが高い </a:t>
            </a:r>
          </a:p>
          <a:p>
            <a:r>
              <a:rPr kumimoji="1" lang="ja-JP" altLang="en-US" dirty="0"/>
              <a:t>処理過程を学習したことで何が変わったのか </a:t>
            </a:r>
          </a:p>
          <a:p>
            <a:r>
              <a:rPr kumimoji="1" lang="ja-JP" altLang="en-US" dirty="0"/>
              <a:t>④ 構成的汎化の分析</a:t>
            </a:r>
          </a:p>
          <a:p>
            <a:r>
              <a:rPr kumimoji="1" lang="ja-JP" altLang="en-US" dirty="0"/>
              <a:t>未知の組み合わせへの対応 </a:t>
            </a:r>
          </a:p>
          <a:p>
            <a:r>
              <a:rPr kumimoji="1" lang="ja-JP" altLang="en-US" dirty="0"/>
              <a:t>処理順序が異なる場合 </a:t>
            </a:r>
          </a:p>
          <a:p>
            <a:r>
              <a:rPr kumimoji="1" lang="ja-JP" altLang="en-US" dirty="0"/>
              <a:t>順序に依存しない処理の組み合わせ </a:t>
            </a:r>
          </a:p>
          <a:p>
            <a:r>
              <a:rPr kumimoji="1" lang="ja-JP" altLang="en-US" dirty="0"/>
              <a:t>学習していないルールを出力するケース</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26</a:t>
            </a:fld>
            <a:endParaRPr kumimoji="1" lang="ja-JP" altLang="en-US"/>
          </a:p>
        </p:txBody>
      </p:sp>
    </p:spTree>
    <p:extLst>
      <p:ext uri="{BB962C8B-B14F-4D97-AF65-F5344CB8AC3E}">
        <p14:creationId xmlns:p14="http://schemas.microsoft.com/office/powerpoint/2010/main" val="3164292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結果を見ると、ベースモデルでは、単一処理の問題と比べて、2つの処理を組み合わせた問題の正解率が大きく低下しています。</a:t>
            </a:r>
          </a:p>
          <a:p>
            <a:r>
              <a:rPr lang="ja-JP" altLang="ja-JP" dirty="0"/>
              <a:t>一方、SFTを行ったモデルでは、複数処理の問題に対する正解率が大きく向上しています。</a:t>
            </a:r>
          </a:p>
          <a:p>
            <a:r>
              <a:rPr lang="ja-JP" altLang="ja-JP" dirty="0"/>
              <a:t>特に、答え＋処理過程SFTでは、この差が小さくなっています。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27</a:t>
            </a:fld>
            <a:endParaRPr kumimoji="1" lang="ja-JP" altLang="en-US"/>
          </a:p>
        </p:txBody>
      </p:sp>
    </p:spTree>
    <p:extLst>
      <p:ext uri="{BB962C8B-B14F-4D97-AF65-F5344CB8AC3E}">
        <p14:creationId xmlns:p14="http://schemas.microsoft.com/office/powerpoint/2010/main" val="4212940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次に、ベースモデルの正解例を見ていきます。</a:t>
            </a:r>
          </a:p>
          <a:p>
            <a:r>
              <a:rPr lang="ja-JP" altLang="ja-JP" dirty="0"/>
              <a:t>この例では、モデルは入力と出力の例を比較し、数字の位置関係を確認しています。</a:t>
            </a:r>
          </a:p>
          <a:p>
            <a:r>
              <a:rPr lang="ja-JP" altLang="ja-JP" dirty="0"/>
              <a:t>そして、すべての例が配列を反転することで説明できることを確認し、ルールを判断しています。</a:t>
            </a:r>
          </a:p>
          <a:p>
            <a:r>
              <a:rPr lang="ja-JP" altLang="ja-JP" dirty="0"/>
              <a:t>その後、そのルールをQueryに適用して正解を導いています。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28</a:t>
            </a:fld>
            <a:endParaRPr kumimoji="1" lang="ja-JP" altLang="en-US"/>
          </a:p>
        </p:txBody>
      </p:sp>
    </p:spTree>
    <p:extLst>
      <p:ext uri="{BB962C8B-B14F-4D97-AF65-F5344CB8AC3E}">
        <p14:creationId xmlns:p14="http://schemas.microsoft.com/office/powerpoint/2010/main" val="23720896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実際の出力を見ると、モデルは最初に変換ルールを推測し、そのルールをQueryに適用して最終的な答えを出しています。</a:t>
            </a:r>
          </a:p>
          <a:p>
            <a:r>
              <a:rPr lang="ja-JP" altLang="ja-JP" dirty="0"/>
              <a:t>このように、ベースモデルでも、例を比較しながら仮説を立て、検証するような推論が見られました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29</a:t>
            </a:fld>
            <a:endParaRPr kumimoji="1" lang="ja-JP" altLang="en-US"/>
          </a:p>
        </p:txBody>
      </p:sp>
    </p:spTree>
    <p:extLst>
      <p:ext uri="{BB962C8B-B14F-4D97-AF65-F5344CB8AC3E}">
        <p14:creationId xmlns:p14="http://schemas.microsoft.com/office/powerpoint/2010/main" val="4286845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30</a:t>
            </a:fld>
            <a:endParaRPr kumimoji="1" lang="ja-JP" altLang="en-US"/>
          </a:p>
        </p:txBody>
      </p:sp>
    </p:spTree>
    <p:extLst>
      <p:ext uri="{BB962C8B-B14F-4D97-AF65-F5344CB8AC3E}">
        <p14:creationId xmlns:p14="http://schemas.microsoft.com/office/powerpoint/2010/main" val="3586901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一方、失敗例では異なる傾向が見られました。</a:t>
            </a:r>
          </a:p>
          <a:p>
            <a:r>
              <a:rPr lang="ja-JP" altLang="ja-JP" dirty="0"/>
              <a:t>モデルは最初に「配列を逆にする」という仮説を考えますが、その後、別の可能性を検討し続けます。</a:t>
            </a:r>
          </a:p>
          <a:p>
            <a:r>
              <a:rPr lang="ja-JP" altLang="ja-JP" dirty="0"/>
              <a:t>しかし、仮説を絞り込むことができず、推論が長大化していきます。</a:t>
            </a:r>
          </a:p>
          <a:p>
            <a:r>
              <a:rPr lang="ja-JP" altLang="ja-JP" dirty="0"/>
              <a:t>最終的には、明確なルールを導出できないままトークン上限に達し、正解できませんでした。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31</a:t>
            </a:fld>
            <a:endParaRPr kumimoji="1" lang="ja-JP" altLang="en-US"/>
          </a:p>
        </p:txBody>
      </p:sp>
    </p:spTree>
    <p:extLst>
      <p:ext uri="{BB962C8B-B14F-4D97-AF65-F5344CB8AC3E}">
        <p14:creationId xmlns:p14="http://schemas.microsoft.com/office/powerpoint/2010/main" val="42853802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そこで、トークン上限への到達と正解率の関係を調べました。</a:t>
            </a:r>
          </a:p>
          <a:p>
            <a:r>
              <a:rPr lang="ja-JP" altLang="ja-JP" dirty="0"/>
              <a:t>結果として、通常終了した場合には正解が多い一方、トークン上限に到達した場合には不正解が非常に多くなりました。</a:t>
            </a:r>
          </a:p>
          <a:p>
            <a:r>
              <a:rPr lang="ja-JP" altLang="ja-JP" dirty="0"/>
              <a:t>このことから、ベースモデルでは推論が長大化することが、問題解決の失敗につながっている可能性があります。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32</a:t>
            </a:fld>
            <a:endParaRPr kumimoji="1" lang="ja-JP" altLang="en-US"/>
          </a:p>
        </p:txBody>
      </p:sp>
    </p:spTree>
    <p:extLst>
      <p:ext uri="{BB962C8B-B14F-4D97-AF65-F5344CB8AC3E}">
        <p14:creationId xmlns:p14="http://schemas.microsoft.com/office/powerpoint/2010/main" val="42606093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以上から、ベースモデルでは、仮説を立てて検証するような推論が見られる一方で、仮説を収束させることが難しく、推論が長大化してしまう場合があることが分かりました。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33</a:t>
            </a:fld>
            <a:endParaRPr kumimoji="1" lang="ja-JP" altLang="en-US"/>
          </a:p>
        </p:txBody>
      </p:sp>
    </p:spTree>
    <p:extLst>
      <p:ext uri="{BB962C8B-B14F-4D97-AF65-F5344CB8AC3E}">
        <p14:creationId xmlns:p14="http://schemas.microsoft.com/office/powerpoint/2010/main" val="17440439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ここから、SFTを行ったモデルの分析です。</a:t>
            </a:r>
          </a:p>
          <a:p>
            <a:r>
              <a:rPr lang="ja-JP" altLang="ja-JP" dirty="0"/>
              <a:t>まず、答えのみSFTでは、テストデータ1だけでなく、テストデータ2でもベースモデルより正解率が大きく向上しました。</a:t>
            </a:r>
          </a:p>
          <a:p>
            <a:r>
              <a:rPr lang="ja-JP" altLang="ja-JP" dirty="0"/>
              <a:t>つまり、答えだけを学習した場合でも、学習時とは異なる処理の組み合わせに対して、ある程度対応できるようになっています。</a:t>
            </a:r>
            <a:endParaRPr lang="en-US" altLang="ja-JP" dirty="0"/>
          </a:p>
          <a:p>
            <a:endParaRPr lang="en-US" altLang="ja-JP" dirty="0"/>
          </a:p>
          <a:p>
            <a:r>
              <a:rPr lang="ja-JP" altLang="ja-JP" dirty="0"/>
              <a:t>一方、答え＋処理過程SFTでは、テストデータ1では最も高い正解率となりました。</a:t>
            </a:r>
          </a:p>
          <a:p>
            <a:r>
              <a:rPr lang="ja-JP" altLang="ja-JP" dirty="0"/>
              <a:t>しかし、テストデータ2では正解率が大きく低下しています。</a:t>
            </a:r>
          </a:p>
          <a:p>
            <a:r>
              <a:rPr lang="ja-JP" altLang="ja-JP" dirty="0"/>
              <a:t>そこで、処理過程を学習させることで、モデルの問題解決過程がどのように変化したのかを分析しました。</a:t>
            </a:r>
          </a:p>
          <a:p>
            <a:endParaRPr lang="ja-JP" altLang="ja-JP"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34</a:t>
            </a:fld>
            <a:endParaRPr kumimoji="1" lang="ja-JP" altLang="en-US"/>
          </a:p>
        </p:txBody>
      </p:sp>
    </p:spTree>
    <p:extLst>
      <p:ext uri="{BB962C8B-B14F-4D97-AF65-F5344CB8AC3E}">
        <p14:creationId xmlns:p14="http://schemas.microsoft.com/office/powerpoint/2010/main" val="7530889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まず、処理の順番が関係ない問題に注目しました。</a:t>
            </a:r>
          </a:p>
          <a:p>
            <a:r>
              <a:rPr lang="ja-JP" altLang="ja-JP" dirty="0"/>
              <a:t>訓練時には教えていない処理の順番を、7例でモデルが自発的に使用していました。</a:t>
            </a:r>
          </a:p>
          <a:p>
            <a:r>
              <a:rPr lang="ja-JP" altLang="ja-JP" dirty="0"/>
              <a:t>そのうち6例では、最終的な回答まで正解していました。</a:t>
            </a:r>
          </a:p>
          <a:p>
            <a:r>
              <a:rPr lang="ja-JP" altLang="ja-JP" dirty="0"/>
              <a:t>これは、モデルが単純に訓練時の処理順序を再現しているだけではない可能性を示しています。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35</a:t>
            </a:fld>
            <a:endParaRPr kumimoji="1" lang="ja-JP" altLang="en-US"/>
          </a:p>
        </p:txBody>
      </p:sp>
    </p:spTree>
    <p:extLst>
      <p:ext uri="{BB962C8B-B14F-4D97-AF65-F5344CB8AC3E}">
        <p14:creationId xmlns:p14="http://schemas.microsoft.com/office/powerpoint/2010/main" val="6035968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また、モデルが学習データには存在しない処理を自発的に生成する例も確認されました。</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該当する例は2例と少数で</a:t>
            </a:r>
            <a:r>
              <a:rPr lang="ja-JP" altLang="en-US" dirty="0"/>
              <a:t>、</a:t>
            </a:r>
            <a:r>
              <a:rPr lang="ja-JP" altLang="ja-JP" sz="1200" dirty="0"/>
              <a:t>単なる誤ったルール</a:t>
            </a:r>
            <a:r>
              <a:rPr lang="ja-JP" altLang="en-US" sz="1200" dirty="0"/>
              <a:t>でした。</a:t>
            </a:r>
            <a:endParaRPr lang="en-US" altLang="ja-JP" sz="1200" dirty="0"/>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36</a:t>
            </a:fld>
            <a:endParaRPr kumimoji="1" lang="ja-JP" altLang="en-US"/>
          </a:p>
        </p:txBody>
      </p:sp>
    </p:spTree>
    <p:extLst>
      <p:ext uri="{BB962C8B-B14F-4D97-AF65-F5344CB8AC3E}">
        <p14:creationId xmlns:p14="http://schemas.microsoft.com/office/powerpoint/2010/main" val="27718583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次に、モデルが正しいルールを選択できていたかを分析しました。</a:t>
            </a:r>
          </a:p>
          <a:p>
            <a:r>
              <a:rPr lang="ja-JP" altLang="ja-JP" dirty="0"/>
              <a:t>ここでは、モデルが出力した処理と、正解となる処理を比較しています。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37</a:t>
            </a:fld>
            <a:endParaRPr kumimoji="1" lang="ja-JP" altLang="en-US"/>
          </a:p>
        </p:txBody>
      </p:sp>
    </p:spTree>
    <p:extLst>
      <p:ext uri="{BB962C8B-B14F-4D97-AF65-F5344CB8AC3E}">
        <p14:creationId xmlns:p14="http://schemas.microsoft.com/office/powerpoint/2010/main" val="34544290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結果として、正しいルールを選択できていた問題が多く、正しいルールを選べた場合には最終回答も高い割合で正解していました。</a:t>
            </a:r>
          </a:p>
          <a:p>
            <a:endParaRPr lang="en-US" altLang="ja-JP" dirty="0"/>
          </a:p>
          <a:p>
            <a:r>
              <a:rPr lang="ja-JP" altLang="ja-JP" dirty="0"/>
              <a:t>一方、ルール選択を間違えた場合には、正解率が大きく低下しました。</a:t>
            </a:r>
          </a:p>
          <a:p>
            <a:r>
              <a:rPr lang="ja-JP" altLang="ja-JP" dirty="0"/>
              <a:t>このことから、答え＋処理過程SFTでは、問題を解く際にどの処理を選択するかが、最終的な正解を左右する重要な段階であると考えられます。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38</a:t>
            </a:fld>
            <a:endParaRPr kumimoji="1" lang="ja-JP" altLang="en-US"/>
          </a:p>
        </p:txBody>
      </p:sp>
    </p:spTree>
    <p:extLst>
      <p:ext uri="{BB962C8B-B14F-4D97-AF65-F5344CB8AC3E}">
        <p14:creationId xmlns:p14="http://schemas.microsoft.com/office/powerpoint/2010/main" val="22193894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次に、選択したルールを実際に正しく適用できていたかを分析しました。</a:t>
            </a:r>
          </a:p>
          <a:p>
            <a:r>
              <a:rPr lang="ja-JP" altLang="ja-JP" dirty="0"/>
              <a:t>こちらでも、正しいルールを正しく適用できている場合には、最終回答まで正解するケースが多くなっています。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39</a:t>
            </a:fld>
            <a:endParaRPr kumimoji="1" lang="ja-JP" altLang="en-US"/>
          </a:p>
        </p:txBody>
      </p:sp>
    </p:spTree>
    <p:extLst>
      <p:ext uri="{BB962C8B-B14F-4D97-AF65-F5344CB8AC3E}">
        <p14:creationId xmlns:p14="http://schemas.microsoft.com/office/powerpoint/2010/main" val="28648746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さらに、ルール選択とルール適用、そして最終回答の3つの関係を調べました。</a:t>
            </a:r>
          </a:p>
          <a:p>
            <a:r>
              <a:rPr lang="en-US" altLang="ja-JP" dirty="0"/>
              <a:t>###</a:t>
            </a:r>
            <a:r>
              <a:rPr lang="ja-JP" altLang="ja-JP" dirty="0"/>
              <a:t>正しいルールを選択し、正しく適用できた場合には、すべて最終回答も正解しています。</a:t>
            </a:r>
          </a:p>
          <a:p>
            <a:r>
              <a:rPr lang="ja-JP" altLang="ja-JP" dirty="0"/>
              <a:t>正しいルールを選べても、適用の段階で失敗するケースもありました。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40</a:t>
            </a:fld>
            <a:endParaRPr kumimoji="1" lang="ja-JP" altLang="en-US"/>
          </a:p>
        </p:txBody>
      </p:sp>
    </p:spTree>
    <p:extLst>
      <p:ext uri="{BB962C8B-B14F-4D97-AF65-F5344CB8AC3E}">
        <p14:creationId xmlns:p14="http://schemas.microsoft.com/office/powerpoint/2010/main" val="1149894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逆に、ルール選択を間違えた場合には、結果がかなり不安定になります。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41</a:t>
            </a:fld>
            <a:endParaRPr kumimoji="1" lang="ja-JP" altLang="en-US"/>
          </a:p>
        </p:txBody>
      </p:sp>
    </p:spTree>
    <p:extLst>
      <p:ext uri="{BB962C8B-B14F-4D97-AF65-F5344CB8AC3E}">
        <p14:creationId xmlns:p14="http://schemas.microsoft.com/office/powerpoint/2010/main" val="5363615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特に、ルール選択もルール適用も間違っているにもかかわらず、最終回答だけが正しいケースが25件ありました。</a:t>
            </a:r>
          </a:p>
          <a:p>
            <a:r>
              <a:rPr lang="ja-JP" altLang="ja-JP" dirty="0"/>
              <a:t>このケースについて、さらに詳しく分析しました。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42</a:t>
            </a:fld>
            <a:endParaRPr kumimoji="1" lang="ja-JP" altLang="en-US"/>
          </a:p>
        </p:txBody>
      </p:sp>
    </p:spTree>
    <p:extLst>
      <p:ext uri="{BB962C8B-B14F-4D97-AF65-F5344CB8AC3E}">
        <p14:creationId xmlns:p14="http://schemas.microsoft.com/office/powerpoint/2010/main" val="41007065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この25件には、大きく2つのパターンが見られました。</a:t>
            </a:r>
          </a:p>
          <a:p>
            <a:r>
              <a:rPr lang="ja-JP" altLang="ja-JP" dirty="0"/>
              <a:t>1つ目は、実際に行っている処理は正しいものの、ルール名が正解と一致していないケースです。</a:t>
            </a:r>
          </a:p>
          <a:p>
            <a:r>
              <a:rPr lang="ja-JP" altLang="ja-JP" dirty="0"/>
              <a:t>2つ目は、正解に必要な処理に加えて、最終結果に影響しない冗長な処理を追加しているケースです。</a:t>
            </a:r>
          </a:p>
          <a:p>
            <a:r>
              <a:rPr lang="ja-JP" altLang="ja-JP" dirty="0"/>
              <a:t>このようなケースでは、単純にルール名の一致だけで評価すると、モデルの問題解決能力を低く評価してしまう可能性があります。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43</a:t>
            </a:fld>
            <a:endParaRPr kumimoji="1" lang="ja-JP" altLang="en-US"/>
          </a:p>
        </p:txBody>
      </p:sp>
    </p:spTree>
    <p:extLst>
      <p:ext uri="{BB962C8B-B14F-4D97-AF65-F5344CB8AC3E}">
        <p14:creationId xmlns:p14="http://schemas.microsoft.com/office/powerpoint/2010/main" val="315941782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975C3-B394-9CEE-D697-434B2DE0D7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FDC914B-6C52-B401-4D07-3F002D6DBE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98B7399-5C43-9240-5F05-7C43E9ADDC9B}"/>
              </a:ext>
            </a:extLst>
          </p:cNvPr>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a:extLst>
              <a:ext uri="{FF2B5EF4-FFF2-40B4-BE49-F238E27FC236}">
                <a16:creationId xmlns:a16="http://schemas.microsoft.com/office/drawing/2014/main" id="{F49A9CB2-2E0F-013E-75D2-406632F7CBC9}"/>
              </a:ext>
            </a:extLst>
          </p:cNvPr>
          <p:cNvSpPr>
            <a:spLocks noGrp="1"/>
          </p:cNvSpPr>
          <p:nvPr>
            <p:ph type="sldNum" sz="quarter" idx="5"/>
          </p:nvPr>
        </p:nvSpPr>
        <p:spPr/>
        <p:txBody>
          <a:bodyPr/>
          <a:lstStyle/>
          <a:p>
            <a:fld id="{68DA8E0A-CFBF-4245-917B-805B87964056}" type="slidenum">
              <a:rPr kumimoji="1" lang="ja-JP" altLang="en-US" smtClean="0"/>
              <a:t>44</a:t>
            </a:fld>
            <a:endParaRPr kumimoji="1" lang="ja-JP" altLang="en-US"/>
          </a:p>
        </p:txBody>
      </p:sp>
    </p:spTree>
    <p:extLst>
      <p:ext uri="{BB962C8B-B14F-4D97-AF65-F5344CB8AC3E}">
        <p14:creationId xmlns:p14="http://schemas.microsoft.com/office/powerpoint/2010/main" val="40155928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45</a:t>
            </a:fld>
            <a:endParaRPr kumimoji="1" lang="ja-JP" altLang="en-US"/>
          </a:p>
        </p:txBody>
      </p:sp>
    </p:spTree>
    <p:extLst>
      <p:ext uri="{BB962C8B-B14F-4D97-AF65-F5344CB8AC3E}">
        <p14:creationId xmlns:p14="http://schemas.microsoft.com/office/powerpoint/2010/main" val="24120271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個々の処理を正しく適用できても、未知の組み合わせへの対応では、適切な処理の組み合わせを選択できないケースが多く見られ</a:t>
            </a:r>
            <a:r>
              <a:rPr lang="ja-JP" altLang="en-US" dirty="0"/>
              <a:t>ました。</a:t>
            </a:r>
            <a:endParaRPr lang="en-US" altLang="ja-JP" dirty="0"/>
          </a:p>
          <a:p>
            <a:r>
              <a:rPr lang="ja-JP" altLang="ja-JP" dirty="0"/>
              <a:t>このことから、既知の処理を適切に組み合わせることが課題となっている可能性があ</a:t>
            </a:r>
            <a:r>
              <a:rPr lang="ja-JP" altLang="en-US" dirty="0"/>
              <a:t>ります。</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46</a:t>
            </a:fld>
            <a:endParaRPr kumimoji="1" lang="ja-JP" altLang="en-US"/>
          </a:p>
        </p:txBody>
      </p:sp>
    </p:spTree>
    <p:extLst>
      <p:ext uri="{BB962C8B-B14F-4D97-AF65-F5344CB8AC3E}">
        <p14:creationId xmlns:p14="http://schemas.microsoft.com/office/powerpoint/2010/main" val="442976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ここまでの結果を踏まえて、まずRQ1について考察します。</a:t>
            </a:r>
          </a:p>
          <a:p>
            <a:r>
              <a:rPr lang="ja-JP" altLang="ja-JP" dirty="0"/>
              <a:t>どちらのSFTモデルでも、未知の組み合わせを含むテストデータ2の正解率は、ベースモデルより向上しました。</a:t>
            </a:r>
          </a:p>
          <a:p>
            <a:r>
              <a:rPr lang="ja-JP" altLang="ja-JP" dirty="0"/>
              <a:t>そのため、SFTによって、既知の処理を新しい組み合わせで利用する能力が、一定程度向上した可能性が示されました。</a:t>
            </a:r>
          </a:p>
          <a:p>
            <a:r>
              <a:rPr lang="ja-JP" altLang="ja-JP" dirty="0"/>
              <a:t>ただし、テストデータ2の正解率は、テストデータ1と比べると低くなっています。</a:t>
            </a:r>
          </a:p>
          <a:p>
            <a:r>
              <a:rPr lang="ja-JP" altLang="ja-JP" dirty="0"/>
              <a:t>そのため、獲得された能力は限定的であると考えられます。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47</a:t>
            </a:fld>
            <a:endParaRPr kumimoji="1" lang="ja-JP" altLang="en-US"/>
          </a:p>
        </p:txBody>
      </p:sp>
    </p:spTree>
    <p:extLst>
      <p:ext uri="{BB962C8B-B14F-4D97-AF65-F5344CB8AC3E}">
        <p14:creationId xmlns:p14="http://schemas.microsoft.com/office/powerpoint/2010/main" val="30156393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次にRQ2です。</a:t>
            </a:r>
          </a:p>
          <a:p>
            <a:r>
              <a:rPr lang="ja-JP" altLang="ja-JP" dirty="0"/>
              <a:t>答え＋処理過程SFTは、訓練時と同じルールを使うテストデータ1では最も高い正解率となりました。</a:t>
            </a:r>
          </a:p>
          <a:p>
            <a:r>
              <a:rPr lang="ja-JP" altLang="ja-JP" dirty="0"/>
              <a:t>一方、未知の組み合わせを使うテストデータ2では、答えのみSFTを下回りました。</a:t>
            </a:r>
          </a:p>
          <a:p>
            <a:r>
              <a:rPr lang="ja-JP" altLang="ja-JP" dirty="0"/>
              <a:t>このことから、処理過程を教師として与えることは、学習した問題への適応には有効である一方、新しい組み合わせへの汎化を必ずしも促進しない可能性が示されました。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48</a:t>
            </a:fld>
            <a:endParaRPr kumimoji="1" lang="ja-JP" altLang="en-US"/>
          </a:p>
        </p:txBody>
      </p:sp>
    </p:spTree>
    <p:extLst>
      <p:ext uri="{BB962C8B-B14F-4D97-AF65-F5344CB8AC3E}">
        <p14:creationId xmlns:p14="http://schemas.microsoft.com/office/powerpoint/2010/main" val="4228980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今後は、テストデータ2において、分析したいと考えています。</a:t>
            </a:r>
          </a:p>
          <a:p>
            <a:r>
              <a:rPr lang="ja-JP" altLang="ja-JP" dirty="0"/>
              <a:t>また、推論過程のどの時点で最初の誤りが発生しているのか、その原因についても分析したいと考えています。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49</a:t>
            </a:fld>
            <a:endParaRPr kumimoji="1" lang="ja-JP" altLang="en-US"/>
          </a:p>
        </p:txBody>
      </p:sp>
    </p:spTree>
    <p:extLst>
      <p:ext uri="{BB962C8B-B14F-4D97-AF65-F5344CB8AC3E}">
        <p14:creationId xmlns:p14="http://schemas.microsoft.com/office/powerpoint/2010/main" val="38836267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また、実験方法についても改善が必要です。</a:t>
            </a:r>
          </a:p>
          <a:p>
            <a:r>
              <a:rPr lang="ja-JP" altLang="ja-JP" dirty="0"/>
              <a:t>例えば、現在は問題文の部分も学習時の</a:t>
            </a:r>
            <a:r>
              <a:rPr lang="ja-JP" altLang="en-US" dirty="0"/>
              <a:t>モデルの調整</a:t>
            </a:r>
            <a:r>
              <a:rPr lang="ja-JP" altLang="ja-JP" dirty="0"/>
              <a:t>に含まれているため、今後は問題文を</a:t>
            </a:r>
            <a:r>
              <a:rPr lang="ja-JP" altLang="en-US" dirty="0"/>
              <a:t>モデルの調整</a:t>
            </a:r>
            <a:r>
              <a:rPr lang="ja-JP" altLang="ja-JP" dirty="0"/>
              <a:t>の対象から除外することを検討しています。</a:t>
            </a:r>
          </a:p>
          <a:p>
            <a:r>
              <a:rPr lang="ja-JP" altLang="ja-JP" dirty="0"/>
              <a:t>さらに、教師データの偏りについても検討する必要があります。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50</a:t>
            </a:fld>
            <a:endParaRPr kumimoji="1" lang="ja-JP" altLang="en-US"/>
          </a:p>
        </p:txBody>
      </p:sp>
    </p:spTree>
    <p:extLst>
      <p:ext uri="{BB962C8B-B14F-4D97-AF65-F5344CB8AC3E}">
        <p14:creationId xmlns:p14="http://schemas.microsoft.com/office/powerpoint/2010/main" val="5496896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51</a:t>
            </a:fld>
            <a:endParaRPr kumimoji="1" lang="ja-JP" altLang="en-US"/>
          </a:p>
        </p:txBody>
      </p:sp>
    </p:spTree>
    <p:extLst>
      <p:ext uri="{BB962C8B-B14F-4D97-AF65-F5344CB8AC3E}">
        <p14:creationId xmlns:p14="http://schemas.microsoft.com/office/powerpoint/2010/main" val="3974230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2026/9/16</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2026/9/16</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a:xfrm>
            <a:off x="1524000" y="1122363"/>
            <a:ext cx="9571538" cy="2387600"/>
          </a:xfrm>
        </p:spPr>
        <p:txBody>
          <a:bodyPr>
            <a:normAutofit/>
          </a:bodyPr>
          <a:lstStyle/>
          <a:p>
            <a:r>
              <a:rPr lang="ja-JP" altLang="en-US" sz="6600" dirty="0"/>
              <a:t>生成</a:t>
            </a:r>
            <a:r>
              <a:rPr lang="en-US" altLang="ja-JP" sz="6600" dirty="0"/>
              <a:t>AI</a:t>
            </a:r>
            <a:r>
              <a:rPr lang="ja-JP" altLang="en-US" sz="6600" dirty="0"/>
              <a:t>の追加学習による問題解決能力の変化</a:t>
            </a:r>
            <a:endParaRPr kumimoji="1" lang="ja-JP" altLang="en-US" sz="6600"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normAutofit/>
          </a:bodyPr>
          <a:lstStyle/>
          <a:p>
            <a:r>
              <a:rPr kumimoji="1" lang="ja-JP" altLang="en-US" sz="3600" dirty="0"/>
              <a:t>慶應義塾大学　文学部　人文社会学科</a:t>
            </a:r>
            <a:endParaRPr kumimoji="1" lang="en-US" altLang="ja-JP" sz="3600" dirty="0"/>
          </a:p>
          <a:p>
            <a:r>
              <a:rPr lang="ja-JP" altLang="en-US" sz="3600" dirty="0"/>
              <a:t>図書館情報学　</a:t>
            </a:r>
            <a:r>
              <a:rPr lang="en-US" altLang="ja-JP" sz="3600" dirty="0"/>
              <a:t>4</a:t>
            </a:r>
            <a:r>
              <a:rPr lang="ja-JP" altLang="en-US" sz="3600" dirty="0"/>
              <a:t>年　小山竜史</a:t>
            </a:r>
            <a:endParaRPr kumimoji="1" lang="ja-JP" altLang="en-US" sz="3600"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normAutofit/>
          </a:bodyPr>
          <a:lstStyle/>
          <a:p>
            <a:r>
              <a:rPr kumimoji="1" lang="ja-JP" altLang="en-US" sz="4400" dirty="0">
                <a:solidFill>
                  <a:srgbClr val="FF0000"/>
                </a:solidFill>
              </a:rPr>
              <a:t>研究背景</a:t>
            </a:r>
            <a:endParaRPr kumimoji="1" lang="en-US" altLang="ja-JP" sz="4400" dirty="0">
              <a:solidFill>
                <a:srgbClr val="FF0000"/>
              </a:solidFill>
            </a:endParaRPr>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lang="ja-JP" altLang="en-US" sz="3200" dirty="0"/>
              <a:t>生成</a:t>
            </a:r>
            <a:r>
              <a:rPr lang="en-US" altLang="ja-JP" sz="3200" dirty="0"/>
              <a:t>AI</a:t>
            </a:r>
          </a:p>
          <a:p>
            <a:pPr lvl="1"/>
            <a:r>
              <a:rPr lang="ja-JP" altLang="en-US" sz="3200" dirty="0"/>
              <a:t>ユーザーの指示に基づき、文章・画像・プログラムコードなどの新しいコンテンツを生成する</a:t>
            </a:r>
            <a:r>
              <a:rPr lang="en-US" altLang="ja-JP" sz="3200" dirty="0"/>
              <a:t>AI</a:t>
            </a:r>
            <a:r>
              <a:rPr lang="en-US" altLang="ja-JP" sz="3200" baseline="30000" dirty="0"/>
              <a:t>1</a:t>
            </a:r>
          </a:p>
          <a:p>
            <a:endParaRPr lang="en-US" altLang="ja-JP" sz="3200" baseline="30000" dirty="0"/>
          </a:p>
          <a:p>
            <a:r>
              <a:rPr lang="en-US" altLang="ja-JP" sz="3200" dirty="0"/>
              <a:t>LLM(</a:t>
            </a:r>
            <a:r>
              <a:rPr lang="ja-JP" altLang="en-US" sz="3200" dirty="0"/>
              <a:t>大規模言語モデル</a:t>
            </a:r>
            <a:r>
              <a:rPr lang="en-US" altLang="ja-JP" sz="3200" dirty="0"/>
              <a:t>)</a:t>
            </a:r>
          </a:p>
          <a:p>
            <a:pPr lvl="1"/>
            <a:r>
              <a:rPr lang="ja-JP" altLang="en-US" sz="3200" dirty="0"/>
              <a:t>生成</a:t>
            </a:r>
            <a:r>
              <a:rPr lang="en-US" altLang="ja-JP" sz="3200" dirty="0"/>
              <a:t>AI</a:t>
            </a:r>
            <a:r>
              <a:rPr lang="ja-JP" altLang="en-US" sz="3200" dirty="0"/>
              <a:t>の中でも、主に「言語」を扱うモデル</a:t>
            </a:r>
            <a:endParaRPr lang="en-US" altLang="ja-JP" sz="3200" dirty="0"/>
          </a:p>
          <a:p>
            <a:pPr lvl="1"/>
            <a:r>
              <a:rPr lang="ja-JP" altLang="en-US" sz="3200" dirty="0"/>
              <a:t>大量のデータで事前学習された、大規模な言語モデル</a:t>
            </a:r>
            <a:r>
              <a:rPr lang="en-US" altLang="ja-JP" sz="3200" baseline="30000" dirty="0"/>
              <a:t>2</a:t>
            </a:r>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endParaRPr kumimoji="1" lang="en-US" altLang="ja-JP" dirty="0"/>
          </a:p>
          <a:p>
            <a:pPr marL="228600" indent="-228600">
              <a:buAutoNum type="arabicPeriod"/>
            </a:pPr>
            <a:endParaRPr kumimoji="1" lang="en-US" altLang="ja-JP" dirty="0"/>
          </a:p>
          <a:p>
            <a:pPr marL="228600" indent="-228600">
              <a:buAutoNum type="arabicPeriod"/>
            </a:pPr>
            <a:r>
              <a:rPr lang="ja-JP" altLang="ja-JP" dirty="0"/>
              <a:t>Banh, L., &amp; Strobel, G. (2023). Generative artificial intelligence. </a:t>
            </a:r>
            <a:r>
              <a:rPr lang="ja-JP" altLang="ja-JP" i="1" dirty="0"/>
              <a:t>Electronic markets</a:t>
            </a:r>
            <a:r>
              <a:rPr lang="ja-JP" altLang="ja-JP" dirty="0"/>
              <a:t>, </a:t>
            </a:r>
            <a:r>
              <a:rPr lang="ja-JP" altLang="ja-JP" i="1" dirty="0"/>
              <a:t>33</a:t>
            </a:r>
            <a:r>
              <a:rPr lang="ja-JP" altLang="ja-JP" dirty="0"/>
              <a:t>(1), 63.</a:t>
            </a:r>
            <a:endParaRPr lang="en-US" altLang="ja-JP" dirty="0"/>
          </a:p>
          <a:p>
            <a:pPr marL="228600" indent="-228600">
              <a:buAutoNum type="arabicPeriod"/>
            </a:pPr>
            <a:r>
              <a:rPr lang="ja-JP" altLang="ja-JP" dirty="0"/>
              <a:t>Lopez-Lira, A. (2024). Can ChatGPT forecast stock price movements?.</a:t>
            </a:r>
            <a:endParaRPr kumimoji="1" lang="en-US" altLang="ja-JP"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E6265A-B64C-92AD-27D7-4E0371545926}"/>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49EC8E7F-8398-9B37-1C97-AE3DD3AB6C1E}"/>
              </a:ext>
            </a:extLst>
          </p:cNvPr>
          <p:cNvSpPr>
            <a:spLocks noGrp="1"/>
          </p:cNvSpPr>
          <p:nvPr>
            <p:ph idx="1"/>
          </p:nvPr>
        </p:nvSpPr>
        <p:spPr/>
        <p:txBody>
          <a:bodyPr>
            <a:normAutofit/>
          </a:bodyPr>
          <a:lstStyle/>
          <a:p>
            <a:r>
              <a:rPr lang="en-US" altLang="ja-JP" sz="3200" dirty="0"/>
              <a:t>Post-training(</a:t>
            </a:r>
            <a:r>
              <a:rPr lang="ja-JP" altLang="en-US" sz="3200" dirty="0"/>
              <a:t>追加学習</a:t>
            </a:r>
            <a:r>
              <a:rPr lang="en-US" altLang="ja-JP" sz="3200" dirty="0"/>
              <a:t>)</a:t>
            </a:r>
          </a:p>
          <a:p>
            <a:pPr lvl="1"/>
            <a:r>
              <a:rPr lang="ja-JP" altLang="en-US" sz="3200" dirty="0"/>
              <a:t>事前学習後に、</a:t>
            </a:r>
            <a:r>
              <a:rPr lang="en-US" altLang="ja-JP" sz="3200" dirty="0"/>
              <a:t>LLM</a:t>
            </a:r>
            <a:r>
              <a:rPr lang="ja-JP" altLang="en-US" sz="3200" dirty="0"/>
              <a:t>を特定の目的に適応させるための学習</a:t>
            </a:r>
            <a:r>
              <a:rPr lang="en-US" altLang="ja-JP" sz="3200" baseline="30000" dirty="0"/>
              <a:t>3</a:t>
            </a:r>
          </a:p>
          <a:p>
            <a:endParaRPr lang="en-US" altLang="ja-JP" sz="3200" dirty="0"/>
          </a:p>
          <a:p>
            <a:r>
              <a:rPr lang="en-US" altLang="ja-JP" sz="3200" dirty="0"/>
              <a:t>Supervised Fine-tuning(SFT)</a:t>
            </a:r>
          </a:p>
          <a:p>
            <a:pPr lvl="1"/>
            <a:r>
              <a:rPr lang="ja-JP" altLang="en-US" sz="3200" dirty="0"/>
              <a:t>教師ありファインチューニング</a:t>
            </a:r>
          </a:p>
          <a:p>
            <a:pPr lvl="1"/>
            <a:r>
              <a:rPr lang="ja-JP" altLang="en-US" sz="3200" dirty="0"/>
              <a:t>入力された指示と、それに対応する出力の関係を</a:t>
            </a:r>
            <a:r>
              <a:rPr lang="en-US" altLang="ja-JP" sz="3200" dirty="0"/>
              <a:t>LLM</a:t>
            </a:r>
            <a:r>
              <a:rPr lang="ja-JP" altLang="en-US" sz="3200" dirty="0"/>
              <a:t>に学習させる手法</a:t>
            </a:r>
            <a:r>
              <a:rPr lang="en-US" altLang="ja-JP" sz="3200" baseline="30000" dirty="0"/>
              <a:t>3</a:t>
            </a:r>
          </a:p>
          <a:p>
            <a:pPr lvl="1"/>
            <a:endParaRPr lang="en-US" altLang="ja-JP" sz="3200" dirty="0"/>
          </a:p>
          <a:p>
            <a:endParaRPr kumimoji="1" lang="ja-JP" altLang="en-US" sz="3200" dirty="0"/>
          </a:p>
        </p:txBody>
      </p:sp>
      <p:sp>
        <p:nvSpPr>
          <p:cNvPr id="4" name="スライド番号プレースホルダー 3">
            <a:extLst>
              <a:ext uri="{FF2B5EF4-FFF2-40B4-BE49-F238E27FC236}">
                <a16:creationId xmlns:a16="http://schemas.microsoft.com/office/drawing/2014/main" id="{EC3A5FE5-61B1-1F93-6F67-4F8869E54AD5}"/>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
        <p:nvSpPr>
          <p:cNvPr id="5" name="フッター プレースホルダー 4">
            <a:extLst>
              <a:ext uri="{FF2B5EF4-FFF2-40B4-BE49-F238E27FC236}">
                <a16:creationId xmlns:a16="http://schemas.microsoft.com/office/drawing/2014/main" id="{63F15080-627C-9DDC-4BEE-A7343A013C9D}"/>
              </a:ext>
            </a:extLst>
          </p:cNvPr>
          <p:cNvSpPr>
            <a:spLocks noGrp="1"/>
          </p:cNvSpPr>
          <p:nvPr>
            <p:ph type="ftr" sz="quarter" idx="11"/>
          </p:nvPr>
        </p:nvSpPr>
        <p:spPr>
          <a:xfrm>
            <a:off x="1110781" y="6356350"/>
            <a:ext cx="10445026" cy="365125"/>
          </a:xfrm>
        </p:spPr>
        <p:txBody>
          <a:bodyPr/>
          <a:lstStyle/>
          <a:p>
            <a:r>
              <a:rPr kumimoji="1" lang="en-US" altLang="ja-JP" dirty="0"/>
              <a:t>3. </a:t>
            </a:r>
            <a:r>
              <a:rPr lang="ja-JP" altLang="ja-JP" dirty="0"/>
              <a:t>Lai, H., Liu, X., Gao, J., Cheng, J., Qi, Z., Xu, Y., ... &amp; Tang, J. (2025, July). A survey of post-training scaling in large language models. In </a:t>
            </a:r>
            <a:r>
              <a:rPr lang="ja-JP" altLang="ja-JP" i="1" dirty="0"/>
              <a:t>Proceedings of the 63rd Annual Meeting of the Association for Computational Linguistics (Volume 1: Long Papers)</a:t>
            </a:r>
            <a:r>
              <a:rPr lang="ja-JP" altLang="ja-JP" dirty="0"/>
              <a:t> (pp. 2771-2791).</a:t>
            </a:r>
            <a:endParaRPr kumimoji="1" lang="en-US" altLang="ja-JP" dirty="0"/>
          </a:p>
        </p:txBody>
      </p:sp>
    </p:spTree>
    <p:extLst>
      <p:ext uri="{BB962C8B-B14F-4D97-AF65-F5344CB8AC3E}">
        <p14:creationId xmlns:p14="http://schemas.microsoft.com/office/powerpoint/2010/main" val="189560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400" dirty="0"/>
              <a:t>学習データの例</a:t>
            </a:r>
            <a:endParaRPr kumimoji="1" lang="en-US" altLang="ja-JP" sz="2400" dirty="0"/>
          </a:p>
          <a:p>
            <a:pPr algn="ctr"/>
            <a:endParaRPr kumimoji="1" lang="en-US" altLang="ja-JP" sz="2400" dirty="0"/>
          </a:p>
          <a:p>
            <a:r>
              <a:rPr kumimoji="1" lang="ja-JP" altLang="en-US" sz="2400" dirty="0"/>
              <a:t>入力：</a:t>
            </a:r>
            <a:endParaRPr kumimoji="1" lang="en-US" altLang="ja-JP" sz="2400" dirty="0"/>
          </a:p>
          <a:p>
            <a:r>
              <a:rPr lang="ja-JP" altLang="en-US" sz="2400" dirty="0"/>
              <a:t>次の計算をしてください</a:t>
            </a:r>
            <a:endParaRPr lang="en-US" altLang="ja-JP" sz="2400" dirty="0"/>
          </a:p>
          <a:p>
            <a:r>
              <a:rPr kumimoji="1" lang="en-US" altLang="ja-JP" sz="2400" dirty="0"/>
              <a:t>12</a:t>
            </a:r>
            <a:r>
              <a:rPr kumimoji="1" lang="ja-JP" altLang="en-US" sz="2400" dirty="0"/>
              <a:t>＋８＝？</a:t>
            </a:r>
            <a:endParaRPr kumimoji="1" lang="en-US" altLang="ja-JP" sz="2400" dirty="0"/>
          </a:p>
          <a:p>
            <a:endParaRPr lang="en-US" altLang="ja-JP" sz="2400" dirty="0"/>
          </a:p>
          <a:p>
            <a:r>
              <a:rPr kumimoji="1" lang="ja-JP" altLang="en-US" sz="2400" dirty="0"/>
              <a:t>正解となる出力：</a:t>
            </a:r>
            <a:endParaRPr kumimoji="1" lang="en-US" altLang="ja-JP" sz="2400" dirty="0"/>
          </a:p>
          <a:p>
            <a:r>
              <a:rPr lang="en-US" altLang="ja-JP" sz="2400" dirty="0"/>
              <a:t>20</a:t>
            </a:r>
            <a:endParaRPr kumimoji="1" lang="ja-JP" altLang="en-US" sz="2400"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400" dirty="0"/>
              <a:t>LLM</a:t>
            </a:r>
            <a:br>
              <a:rPr kumimoji="1" lang="en-US" altLang="ja-JP" sz="2400" dirty="0"/>
            </a:br>
            <a:r>
              <a:rPr kumimoji="1" lang="ja-JP" altLang="en-US" sz="2400" dirty="0"/>
              <a:t>（事前学習済み</a:t>
            </a:r>
            <a:endParaRPr kumimoji="1" lang="en-US" altLang="ja-JP" sz="2400" dirty="0"/>
          </a:p>
          <a:p>
            <a:pPr algn="ctr"/>
            <a:r>
              <a:rPr kumimoji="1" lang="ja-JP" altLang="en-US" sz="2400" dirty="0"/>
              <a:t>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sz="2400" dirty="0"/>
              <a:t>学習後の例</a:t>
            </a:r>
            <a:endParaRPr kumimoji="1" lang="en-US" altLang="ja-JP" sz="2400" dirty="0"/>
          </a:p>
          <a:p>
            <a:pPr algn="ctr"/>
            <a:endParaRPr lang="en-US" altLang="ja-JP" sz="2400" dirty="0"/>
          </a:p>
          <a:p>
            <a:r>
              <a:rPr lang="ja-JP" altLang="en-US" sz="2400" dirty="0"/>
              <a:t>入力：</a:t>
            </a:r>
            <a:endParaRPr lang="en-US" altLang="ja-JP" sz="2400" dirty="0"/>
          </a:p>
          <a:p>
            <a:r>
              <a:rPr lang="ja-JP" altLang="en-US" sz="2400" dirty="0"/>
              <a:t>次の計算をしてください</a:t>
            </a:r>
            <a:endParaRPr lang="en-US" altLang="ja-JP" sz="2400" dirty="0"/>
          </a:p>
          <a:p>
            <a:r>
              <a:rPr lang="en-US" altLang="ja-JP" sz="2400" dirty="0"/>
              <a:t>21</a:t>
            </a:r>
            <a:r>
              <a:rPr lang="ja-JP" altLang="en-US" sz="2400" dirty="0"/>
              <a:t>＋</a:t>
            </a:r>
            <a:r>
              <a:rPr lang="en-US" altLang="ja-JP" sz="2400" dirty="0"/>
              <a:t>5</a:t>
            </a:r>
            <a:r>
              <a:rPr lang="ja-JP" altLang="en-US" sz="2400" dirty="0"/>
              <a:t>＝？</a:t>
            </a:r>
            <a:endParaRPr lang="en-US" altLang="ja-JP" sz="2400" dirty="0"/>
          </a:p>
          <a:p>
            <a:endParaRPr lang="en-US" altLang="ja-JP" sz="2400" dirty="0"/>
          </a:p>
          <a:p>
            <a:r>
              <a:rPr lang="ja-JP" altLang="en-US" sz="2400" dirty="0"/>
              <a:t>モデルの出力：</a:t>
            </a:r>
            <a:endParaRPr lang="en-US" altLang="ja-JP" sz="2400" dirty="0"/>
          </a:p>
          <a:p>
            <a:r>
              <a:rPr lang="en-US" altLang="ja-JP" sz="2400" dirty="0"/>
              <a:t>26</a:t>
            </a:r>
            <a:endParaRPr lang="ja-JP" altLang="en-US" sz="2400" dirty="0"/>
          </a:p>
          <a:p>
            <a:endParaRPr kumimoji="1" lang="ja-JP" altLang="en-US" sz="2400"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a:xfrm>
            <a:off x="838200" y="1436038"/>
            <a:ext cx="10515600" cy="4740925"/>
          </a:xfrm>
        </p:spPr>
        <p:txBody>
          <a:bodyPr>
            <a:normAutofit/>
          </a:bodyPr>
          <a:lstStyle/>
          <a:p>
            <a:r>
              <a:rPr lang="ja-JP" altLang="ja-JP" dirty="0"/>
              <a:t>Chu et al. (2025)</a:t>
            </a:r>
            <a:r>
              <a:rPr lang="en-US" altLang="ja-JP" baseline="30000" dirty="0"/>
              <a:t>4</a:t>
            </a:r>
            <a:r>
              <a:rPr lang="ja-JP" altLang="ja-JP" dirty="0"/>
              <a:t>：</a:t>
            </a:r>
            <a:r>
              <a:rPr lang="en-US" altLang="ja-JP" dirty="0"/>
              <a:t>SFT</a:t>
            </a:r>
            <a:r>
              <a:rPr lang="ja-JP" altLang="en-US" dirty="0"/>
              <a:t>と</a:t>
            </a:r>
            <a:r>
              <a:rPr lang="en-US" altLang="ja-JP" dirty="0"/>
              <a:t>RL</a:t>
            </a:r>
            <a:r>
              <a:rPr lang="ja-JP" altLang="en-US" dirty="0"/>
              <a:t>（</a:t>
            </a:r>
            <a:r>
              <a:rPr lang="en-US" altLang="ja-JP" dirty="0"/>
              <a:t>SFT</a:t>
            </a:r>
            <a:r>
              <a:rPr lang="ja-JP" altLang="en-US" dirty="0"/>
              <a:t>とは異なる学習手法）の汎化性能を比較し、</a:t>
            </a:r>
            <a:r>
              <a:rPr lang="en-US" altLang="ja-JP" dirty="0"/>
              <a:t>SFT</a:t>
            </a:r>
            <a:r>
              <a:rPr lang="ja-JP" altLang="en-US" dirty="0"/>
              <a:t>は学習データを記憶する傾向があることを示した研究</a:t>
            </a:r>
            <a:endParaRPr lang="en-US" altLang="ja-JP" dirty="0"/>
          </a:p>
          <a:p>
            <a:pPr lvl="1"/>
            <a:r>
              <a:rPr lang="ja-JP" altLang="en-US" sz="2800" dirty="0"/>
              <a:t>汎化性能：学習した知識や処理を、学習していない問題にも適用できる性能</a:t>
            </a:r>
            <a:endParaRPr lang="en-US" altLang="ja-JP" sz="2800" dirty="0"/>
          </a:p>
          <a:p>
            <a:pPr lvl="1"/>
            <a:r>
              <a:rPr lang="en-US" altLang="ja-JP" sz="2800" dirty="0"/>
              <a:t>SFT</a:t>
            </a:r>
            <a:r>
              <a:rPr lang="ja-JP" altLang="en-US" sz="2800" dirty="0"/>
              <a:t>による学習では、未知の問題への汎化は限定的</a:t>
            </a:r>
            <a:endParaRPr lang="en-US" altLang="ja-JP" sz="2800" dirty="0"/>
          </a:p>
          <a:p>
            <a:r>
              <a:rPr lang="en-US" altLang="ja-JP" dirty="0"/>
              <a:t>Ren et al. (2026)</a:t>
            </a:r>
            <a:r>
              <a:rPr lang="en-US" altLang="ja-JP" baseline="30000" dirty="0"/>
              <a:t>5</a:t>
            </a:r>
            <a:r>
              <a:rPr lang="ja-JP" altLang="en-US" dirty="0"/>
              <a:t>：</a:t>
            </a:r>
            <a:r>
              <a:rPr lang="en-US" altLang="ja-JP" dirty="0"/>
              <a:t>SFT</a:t>
            </a:r>
            <a:r>
              <a:rPr lang="ja-JP" altLang="en-US" dirty="0"/>
              <a:t>の汎化性能を分析し、最適化方法・学習データ・モデル能力などの条件によって、汎化性能が変化することを示した研究</a:t>
            </a:r>
            <a:endParaRPr lang="en-US" altLang="ja-JP" dirty="0"/>
          </a:p>
          <a:p>
            <a:pPr lvl="1"/>
            <a:r>
              <a:rPr lang="ja-JP" altLang="en-US" sz="2800" dirty="0"/>
              <a:t>条件によっては</a:t>
            </a:r>
            <a:r>
              <a:rPr lang="en-US" altLang="ja-JP" sz="2800" dirty="0"/>
              <a:t>SFT</a:t>
            </a:r>
            <a:r>
              <a:rPr lang="ja-JP" altLang="en-US" sz="2800" dirty="0"/>
              <a:t>による学習でも、汎化性能は向上する</a:t>
            </a:r>
            <a:endParaRPr lang="en-US" altLang="ja-JP" sz="2800" dirty="0"/>
          </a:p>
          <a:p>
            <a:pPr lvl="1"/>
            <a:endParaRPr kumimoji="1" lang="ja-JP" altLang="en-US" sz="2800"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0" y="5701192"/>
            <a:ext cx="12192000" cy="1136128"/>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r>
              <a:rPr kumimoji="1" lang="en-US" altLang="ja-JP" dirty="0"/>
              <a:t>5. </a:t>
            </a:r>
            <a:r>
              <a:rPr lang="ja-JP" altLang="ja-JP" dirty="0"/>
              <a:t>Ren, Q., Wang, P., Cai, R., Shao, S., Guo, D., Xie, Y., ... &amp; Liu, D. (2026). Rethinking generalization in reasoning sft: A conditional analysis on optimization, data, and model capability. </a:t>
            </a:r>
            <a:r>
              <a:rPr lang="ja-JP" altLang="ja-JP" i="1" dirty="0"/>
              <a:t>arXiv preprint arXiv:2604.06628</a:t>
            </a:r>
            <a:r>
              <a:rPr lang="ja-JP" altLang="ja-JP" dirty="0"/>
              <a: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sz="3200" dirty="0"/>
              <a:t>先行研究では、</a:t>
            </a:r>
            <a:r>
              <a:rPr kumimoji="1" lang="en-US" altLang="ja-JP" sz="3200" dirty="0"/>
              <a:t>SFT</a:t>
            </a:r>
            <a:r>
              <a:rPr kumimoji="1" lang="ja-JP" altLang="en-US" sz="3200" dirty="0"/>
              <a:t>による未知の問題への汎化は限定的であり、その性能は学習条件に依存することが示されている</a:t>
            </a:r>
            <a:endParaRPr kumimoji="1" lang="en-US" altLang="ja-JP" sz="3200" dirty="0"/>
          </a:p>
          <a:p>
            <a:endParaRPr kumimoji="1" lang="en-US" altLang="ja-JP" sz="3200" dirty="0"/>
          </a:p>
          <a:p>
            <a:r>
              <a:rPr kumimoji="1" lang="ja-JP" altLang="en-US" sz="3200" dirty="0"/>
              <a:t>しかし、正解率の比較だけでは、モデルが問題解決のどの段階でつまずいているのか分からない</a:t>
            </a:r>
            <a:endParaRPr kumimoji="1" lang="en-US" altLang="ja-JP" sz="3200" dirty="0"/>
          </a:p>
          <a:p>
            <a:endParaRPr kumimoji="1" lang="en-US" altLang="ja-JP" sz="3200" dirty="0"/>
          </a:p>
          <a:p>
            <a:r>
              <a:rPr kumimoji="1" lang="ja-JP" altLang="en-US" sz="3200" dirty="0"/>
              <a:t>また、</a:t>
            </a:r>
            <a:r>
              <a:rPr lang="ja-JP" altLang="en-US" sz="3200" dirty="0"/>
              <a:t>未知の問題</a:t>
            </a:r>
            <a:r>
              <a:rPr kumimoji="1" lang="ja-JP" altLang="en-US" sz="3200" dirty="0"/>
              <a:t>では「何を未知とするか」によって評価される能力が異なる</a:t>
            </a:r>
            <a:endParaRPr kumimoji="1" lang="en-US" altLang="ja-JP" sz="3200"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本研究では、「何を未知とするか」を明確に設定した問題を用いて、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特に、既知の要素を新たな組み合わせで利用する能力に着目</a:t>
            </a:r>
            <a:endParaRPr lang="en-US" altLang="ja-JP" dirty="0"/>
          </a:p>
          <a:p>
            <a:pPr lvl="1"/>
            <a:r>
              <a:rPr lang="ja-JP" altLang="en-US" sz="2800" dirty="0"/>
              <a:t>「</a:t>
            </a:r>
            <a:r>
              <a:rPr lang="ja-JP" altLang="ja-JP" sz="2800" dirty="0"/>
              <a:t>既知の単純な処理から、それらを組み合わせた複雑な処理への汎化は、LLMの汎化の重要な側面である</a:t>
            </a:r>
            <a:r>
              <a:rPr lang="ja-JP" altLang="en-US" sz="2800" dirty="0"/>
              <a:t>」</a:t>
            </a:r>
            <a:r>
              <a:rPr lang="en-US" altLang="ja-JP" sz="2800"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sz="2800" dirty="0"/>
              <a:t>既知の構成要素を未知の組み合わせで利用する能力</a:t>
            </a:r>
            <a:endParaRPr lang="ja-JP" altLang="en-US" sz="2800"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0" y="6055641"/>
            <a:ext cx="12192000" cy="365125"/>
          </a:xfrm>
        </p:spPr>
        <p:txBody>
          <a:bodyPr/>
          <a:lstStyle/>
          <a:p>
            <a:r>
              <a:rPr lang="en-US" altLang="ja-JP" dirty="0"/>
              <a:t>6</a:t>
            </a:r>
            <a:r>
              <a:rPr kumimoji="1" lang="en-US" altLang="ja-JP" dirty="0"/>
              <a:t>. </a:t>
            </a:r>
            <a:r>
              <a:rPr lang="ja-JP" altLang="ja-JP" dirty="0"/>
              <a:t>Yang, H., Lu, H., Lam, W., &amp; Cai, D. (2024, June). Exploring compositional generalization of large language models. In </a:t>
            </a:r>
            <a:r>
              <a:rPr lang="ja-JP" altLang="ja-JP" i="1" dirty="0"/>
              <a:t>Proceedings of the 2024 Conference of the North American Chapter of the Association for Computational Linguistics: Human Language Technologies (Volume 4: Student Research Workshop)</a:t>
            </a:r>
            <a:r>
              <a:rPr lang="ja-JP" altLang="ja-JP" dirty="0"/>
              <a:t> (pp. 16-24).</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normAutofit/>
          </a:bodyPr>
          <a:lstStyle/>
          <a:p>
            <a:r>
              <a:rPr kumimoji="1" lang="en-US" altLang="ja-JP" dirty="0"/>
              <a:t>Yang et al. (2024)</a:t>
            </a:r>
            <a:r>
              <a:rPr kumimoji="1" lang="en-US" altLang="ja-JP" baseline="30000" dirty="0"/>
              <a:t>6</a:t>
            </a:r>
            <a:r>
              <a:rPr kumimoji="1" lang="ja-JP" altLang="en-US" dirty="0"/>
              <a:t>：複数の処理を組み合わせた指示への対応能力に着目し、複合的な指示で</a:t>
            </a:r>
            <a:r>
              <a:rPr kumimoji="1" lang="en-US" altLang="ja-JP" dirty="0"/>
              <a:t>LLM</a:t>
            </a:r>
            <a:r>
              <a:rPr kumimoji="1" lang="ja-JP" altLang="en-US" dirty="0"/>
              <a:t>を追加学習・評価した研究。</a:t>
            </a:r>
            <a:endParaRPr kumimoji="1" lang="en-US" altLang="ja-JP" dirty="0"/>
          </a:p>
          <a:p>
            <a:pPr lvl="1"/>
            <a:r>
              <a:rPr kumimoji="1" lang="ja-JP" altLang="en-US" sz="2800" dirty="0"/>
              <a:t>複雑な指示で学習すると単純な指示にも対応できる一方、単純な指示から複雑な指示への対応は難しいことが示された</a:t>
            </a:r>
            <a:endParaRPr kumimoji="1" lang="en-US" altLang="ja-JP" sz="2800" dirty="0"/>
          </a:p>
          <a:p>
            <a:r>
              <a:rPr kumimoji="1" lang="en-US" altLang="ja-JP" dirty="0"/>
              <a:t>Hayati et al. (2025)</a:t>
            </a:r>
            <a:r>
              <a:rPr kumimoji="1" lang="en-US" altLang="ja-JP" baseline="30000" dirty="0"/>
              <a:t>7</a:t>
            </a:r>
            <a:r>
              <a:rPr kumimoji="1" lang="ja-JP" altLang="en-US" dirty="0"/>
              <a:t>：複数の処理が必要な指示に着目し、処理の順序を含むデータで</a:t>
            </a:r>
            <a:r>
              <a:rPr kumimoji="1" lang="en-US" altLang="ja-JP" dirty="0"/>
              <a:t>LLM</a:t>
            </a:r>
            <a:r>
              <a:rPr kumimoji="1" lang="ja-JP" altLang="en-US" dirty="0"/>
              <a:t>を追加学習した研究</a:t>
            </a:r>
            <a:endParaRPr kumimoji="1" lang="en-US" altLang="ja-JP" dirty="0"/>
          </a:p>
          <a:p>
            <a:pPr lvl="1"/>
            <a:r>
              <a:rPr kumimoji="1" lang="ja-JP" altLang="en-US" sz="2800" dirty="0"/>
              <a:t>処理の順序を含むデータで追加学習することで、複雑な指示や未知の問題への対応能力が向上</a:t>
            </a:r>
            <a:endParaRPr kumimoji="1" lang="en-US" altLang="ja-JP" sz="2800" dirty="0"/>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lang="ja-JP" altLang="ja-JP" dirty="0"/>
              <a:t>Hayati, S. A., Jung, T., Bodding-Long, T., Kar, S., Sethy, A., Kim, J. K., &amp; Kang, D. (2025, April). Chain-of-instructions: Compositional instruction tuning on large language models. In </a:t>
            </a:r>
            <a:r>
              <a:rPr lang="ja-JP" altLang="ja-JP" i="1" dirty="0"/>
              <a:t>Proceedings of the AAAI Conference on Artificial Intelligence</a:t>
            </a:r>
            <a:r>
              <a:rPr lang="ja-JP" altLang="ja-JP" dirty="0"/>
              <a:t> (Vol. 39, No. 22, pp. 24005-24013).</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normAutofit/>
          </a:bodyPr>
          <a:lstStyle/>
          <a:p>
            <a:r>
              <a:rPr kumimoji="1" lang="en-US" altLang="ja-JP" sz="3600" dirty="0"/>
              <a:t>RQ1</a:t>
            </a:r>
            <a:r>
              <a:rPr kumimoji="1" lang="ja-JP" altLang="en-US" sz="3600" dirty="0"/>
              <a:t>：</a:t>
            </a:r>
            <a:r>
              <a:rPr kumimoji="1" lang="en-US" altLang="ja-JP" sz="3600" dirty="0"/>
              <a:t>SFT</a:t>
            </a:r>
            <a:r>
              <a:rPr kumimoji="1" lang="ja-JP" altLang="en-US" sz="3600" dirty="0"/>
              <a:t>によって、既知の処理を新しい組み合わせで適用する問題解決能力は獲得されるのか？</a:t>
            </a:r>
            <a:endParaRPr kumimoji="1" lang="en-US" altLang="ja-JP" sz="3600" dirty="0"/>
          </a:p>
          <a:p>
            <a:endParaRPr kumimoji="1" lang="en-US" altLang="ja-JP" sz="3600" dirty="0"/>
          </a:p>
          <a:p>
            <a:r>
              <a:rPr kumimoji="1" lang="en-US" altLang="ja-JP" sz="3600" dirty="0"/>
              <a:t>RQ2</a:t>
            </a:r>
            <a:r>
              <a:rPr kumimoji="1" lang="ja-JP" altLang="en-US" sz="3600" dirty="0"/>
              <a:t>：</a:t>
            </a:r>
            <a:r>
              <a:rPr kumimoji="1" lang="en-US" altLang="ja-JP" sz="3600" dirty="0"/>
              <a:t>SFT</a:t>
            </a:r>
            <a:r>
              <a:rPr kumimoji="1" lang="ja-JP" altLang="en-US" sz="3600" dirty="0"/>
              <a:t>における教師データの違いは、この能力の獲得にどのような影響を与えるのか？</a:t>
            </a:r>
            <a:endParaRPr kumimoji="1" lang="en-US" altLang="ja-JP" sz="3600"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solidFill>
                  <a:srgbClr val="FF0000"/>
                </a:solidFill>
              </a:rPr>
              <a:t>研究方法</a:t>
            </a:r>
            <a:endParaRPr lang="en-US" altLang="ja-JP" sz="4400" dirty="0">
              <a:solidFill>
                <a:srgbClr val="FF0000"/>
              </a:solidFill>
            </a:endParaRPr>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800" dirty="0"/>
              <a:t>学習データ</a:t>
            </a:r>
            <a:endParaRPr kumimoji="1" lang="en-US" altLang="ja-JP" sz="2800" dirty="0"/>
          </a:p>
          <a:p>
            <a:pPr algn="ctr"/>
            <a:endParaRPr kumimoji="1" lang="en-US" altLang="ja-JP" sz="2800" dirty="0"/>
          </a:p>
          <a:p>
            <a:pPr algn="ctr"/>
            <a:r>
              <a:rPr kumimoji="1" lang="ja-JP" altLang="en-US" sz="2800" dirty="0"/>
              <a:t>問題文と答えのセット</a:t>
            </a:r>
            <a:endParaRPr kumimoji="1" lang="en-US" altLang="ja-JP" sz="2800"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800" dirty="0"/>
              <a:t>LLM</a:t>
            </a:r>
            <a:br>
              <a:rPr kumimoji="1" lang="en-US" altLang="ja-JP" sz="2800" dirty="0"/>
            </a:br>
            <a:r>
              <a:rPr kumimoji="1" lang="ja-JP" altLang="en-US" sz="2800"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sz="2800" dirty="0"/>
              <a:t>テスト用データ</a:t>
            </a:r>
            <a:endParaRPr lang="en-US" altLang="ja-JP" sz="2800" dirty="0"/>
          </a:p>
          <a:p>
            <a:endParaRPr lang="en-US" altLang="ja-JP" sz="2800" dirty="0"/>
          </a:p>
          <a:p>
            <a:pPr algn="ctr"/>
            <a:r>
              <a:rPr kumimoji="1" lang="ja-JP" altLang="en-US" sz="2800" dirty="0"/>
              <a:t>モデルの出力と</a:t>
            </a:r>
            <a:endParaRPr kumimoji="1" lang="en-US" altLang="ja-JP" sz="2800" dirty="0"/>
          </a:p>
          <a:p>
            <a:pPr algn="ctr"/>
            <a:r>
              <a:rPr kumimoji="1" lang="ja-JP" altLang="en-US" sz="2800"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925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6511265" y="2669557"/>
            <a:ext cx="4682464" cy="2540399"/>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dirty="0"/>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
        <p:nvSpPr>
          <p:cNvPr id="9" name="テキスト ボックス 8">
            <a:extLst>
              <a:ext uri="{FF2B5EF4-FFF2-40B4-BE49-F238E27FC236}">
                <a16:creationId xmlns:a16="http://schemas.microsoft.com/office/drawing/2014/main" id="{EA00D3A3-AF2A-9048-7925-40E6EE48ED92}"/>
              </a:ext>
            </a:extLst>
          </p:cNvPr>
          <p:cNvSpPr txBox="1"/>
          <p:nvPr/>
        </p:nvSpPr>
        <p:spPr>
          <a:xfrm>
            <a:off x="7203457" y="5710019"/>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4" name="テキスト ボックス 13">
            <a:extLst>
              <a:ext uri="{FF2B5EF4-FFF2-40B4-BE49-F238E27FC236}">
                <a16:creationId xmlns:a16="http://schemas.microsoft.com/office/drawing/2014/main" id="{C946B6FD-BA60-C4F0-1720-CFEACADF594A}"/>
              </a:ext>
            </a:extLst>
          </p:cNvPr>
          <p:cNvSpPr txBox="1"/>
          <p:nvPr/>
        </p:nvSpPr>
        <p:spPr>
          <a:xfrm>
            <a:off x="7199469" y="3678146"/>
            <a:ext cx="3435556" cy="523220"/>
          </a:xfrm>
          <a:prstGeom prst="rect">
            <a:avLst/>
          </a:prstGeom>
          <a:noFill/>
        </p:spPr>
        <p:txBody>
          <a:bodyPr wrap="none" rtlCol="0">
            <a:spAutoFit/>
          </a:bodyPr>
          <a:lstStyle/>
          <a:p>
            <a:pPr algn="ctr"/>
            <a:r>
              <a:rPr lang="en-US" altLang="ja-JP" sz="2800" dirty="0"/>
              <a:t>[1, 3, 9, 5, 9, 4, 8, 1]</a:t>
            </a:r>
            <a:endParaRPr lang="ja-JP" altLang="en-US" sz="2800" dirty="0"/>
          </a:p>
        </p:txBody>
      </p:sp>
    </p:spTree>
    <p:extLst>
      <p:ext uri="{BB962C8B-B14F-4D97-AF65-F5344CB8AC3E}">
        <p14:creationId xmlns:p14="http://schemas.microsoft.com/office/powerpoint/2010/main" val="2938551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        </a:t>
            </a:r>
          </a:p>
          <a:p>
            <a:endParaRPr lang="en-US" altLang="ja-JP" sz="2400" dirty="0"/>
          </a:p>
          <a:p>
            <a:r>
              <a:rPr lang="en-US" altLang="ja-JP" sz="2400" dirty="0"/>
              <a:t>Example 1</a:t>
            </a:r>
          </a:p>
          <a:p>
            <a:r>
              <a:rPr lang="en-US" altLang="ja-JP" sz="2400" dirty="0"/>
              <a:t>Input:</a:t>
            </a:r>
          </a:p>
          <a:p>
            <a:r>
              <a:rPr lang="en-US" altLang="ja-JP" sz="2400" dirty="0"/>
              <a:t>[1, 0, 4, 3, 3, 2, 1, 8, 1, 9]</a:t>
            </a:r>
          </a:p>
          <a:p>
            <a:r>
              <a:rPr lang="en-US" altLang="ja-JP" sz="2400" dirty="0"/>
              <a:t>Output:</a:t>
            </a:r>
          </a:p>
          <a:p>
            <a:r>
              <a:rPr lang="en-US" altLang="ja-JP" sz="2400" dirty="0"/>
              <a:t>[9, 1, 8, 1, 2, 3, 3, 4, 0, 1]</a:t>
            </a:r>
          </a:p>
          <a:p>
            <a:endParaRPr lang="en-US" altLang="ja-JP" sz="2400" dirty="0"/>
          </a:p>
          <a:p>
            <a:r>
              <a:rPr lang="en-US" altLang="ja-JP" sz="2400" dirty="0"/>
              <a:t>Query</a:t>
            </a:r>
          </a:p>
          <a:p>
            <a:r>
              <a:rPr lang="en-US" altLang="ja-JP" sz="2400" dirty="0"/>
              <a:t>Input:</a:t>
            </a:r>
          </a:p>
          <a:p>
            <a:r>
              <a:rPr lang="en-US" altLang="ja-JP" sz="2400" dirty="0"/>
              <a:t>[1, 8, 4, 9, 5, 9, 3, 1]</a:t>
            </a:r>
          </a:p>
          <a:p>
            <a:r>
              <a:rPr lang="en-US" altLang="ja-JP" sz="2400" dirty="0"/>
              <a:t>Output:</a:t>
            </a:r>
            <a:endParaRPr lang="ja-JP" altLang="en-US" sz="2400" dirty="0"/>
          </a:p>
          <a:p>
            <a:r>
              <a:rPr lang="en-US" altLang="ja-JP" sz="2400" dirty="0"/>
              <a:t>[1, 3, 9, 5, 9, 4, 8, 1]</a:t>
            </a:r>
            <a:endParaRPr lang="ja-JP" altLang="en-US" sz="2400" dirty="0"/>
          </a:p>
          <a:p>
            <a:pPr algn="ctr"/>
            <a:endParaRPr kumimoji="1" lang="ja-JP" altLang="en-US" sz="2400"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7413391" y="298867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6722986" y="5155051"/>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7315200" y="3700353"/>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noAutofit/>
          </a:bodyPr>
          <a:lstStyle/>
          <a:p>
            <a:r>
              <a:rPr lang="ja-JP" altLang="en-US" sz="3200" dirty="0"/>
              <a:t>前述</a:t>
            </a:r>
            <a:r>
              <a:rPr kumimoji="1" lang="ja-JP" altLang="en-US" sz="3200" dirty="0"/>
              <a:t>のような簡単な処理を２０種類用意</a:t>
            </a:r>
            <a:endParaRPr kumimoji="1" lang="en-US" altLang="ja-JP" sz="3200" dirty="0"/>
          </a:p>
          <a:p>
            <a:r>
              <a:rPr lang="ja-JP" altLang="en-US" sz="3200" dirty="0"/>
              <a:t>問題を作るときは、簡単な処理単体とそれらのうち</a:t>
            </a:r>
            <a:r>
              <a:rPr lang="en-US" altLang="ja-JP" sz="3200" dirty="0"/>
              <a:t>2</a:t>
            </a:r>
            <a:r>
              <a:rPr lang="ja-JP" altLang="en-US" sz="3200" dirty="0"/>
              <a:t>つをくみあわせたもの</a:t>
            </a:r>
            <a:endParaRPr lang="en-US" altLang="ja-JP" sz="3200" dirty="0"/>
          </a:p>
          <a:p>
            <a:pPr lvl="1"/>
            <a:r>
              <a:rPr lang="en-US" altLang="ja-JP" sz="3200" dirty="0"/>
              <a:t>2</a:t>
            </a:r>
            <a:r>
              <a:rPr lang="ja-JP" altLang="en-US" sz="3200" dirty="0"/>
              <a:t>つの処理を組み合わせた問題の中には、処理の順番は関係ないものもある。</a:t>
            </a:r>
            <a:endParaRPr lang="en-US" altLang="ja-JP" sz="3200" dirty="0"/>
          </a:p>
          <a:p>
            <a:r>
              <a:rPr kumimoji="1" lang="ja-JP" altLang="en-US" sz="3200" dirty="0"/>
              <a:t>全部を組み合わせるのではなく、処理単体の</a:t>
            </a:r>
            <a:r>
              <a:rPr kumimoji="1" lang="en-US" altLang="ja-JP" sz="3200" dirty="0"/>
              <a:t>20</a:t>
            </a:r>
            <a:r>
              <a:rPr kumimoji="1" lang="ja-JP" altLang="en-US" sz="3200" dirty="0"/>
              <a:t>種類と、組み合わせた処理を</a:t>
            </a:r>
            <a:r>
              <a:rPr kumimoji="1" lang="en-US" altLang="ja-JP" sz="3200" dirty="0"/>
              <a:t>50</a:t>
            </a:r>
            <a:r>
              <a:rPr kumimoji="1" lang="ja-JP" altLang="en-US" sz="3200" dirty="0"/>
              <a:t>種類用意</a:t>
            </a:r>
            <a:endParaRPr lang="en-US" altLang="ja-JP" sz="3200" dirty="0"/>
          </a:p>
          <a:p>
            <a:r>
              <a:rPr lang="ja-JP" altLang="ja-JP" sz="3200" dirty="0"/>
              <a:t>訓練</a:t>
            </a:r>
            <a:r>
              <a:rPr lang="ja-JP" altLang="en-US" sz="3200" dirty="0"/>
              <a:t>用データで学習させるのは全体で</a:t>
            </a:r>
            <a:r>
              <a:rPr lang="en-US" altLang="ja-JP" sz="3200" dirty="0"/>
              <a:t>70</a:t>
            </a:r>
            <a:r>
              <a:rPr lang="ja-JP" altLang="en-US" sz="3200" dirty="0"/>
              <a:t>種類のルール</a:t>
            </a:r>
            <a:endParaRPr kumimoji="1" lang="ja-JP" altLang="en-US" sz="3200"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lang="ja-JP" altLang="en-US" dirty="0"/>
              <a:t>訓練用</a:t>
            </a:r>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normAutofit/>
          </a:bodyPr>
          <a:lstStyle/>
          <a:p>
            <a:r>
              <a:rPr lang="ja-JP" altLang="en-US" sz="3200" dirty="0"/>
              <a:t>問題文と答えだけのセット</a:t>
            </a:r>
            <a:endParaRPr lang="en-US" altLang="ja-JP" sz="3200" dirty="0"/>
          </a:p>
          <a:p>
            <a:r>
              <a:rPr kumimoji="1" lang="ja-JP" altLang="en-US" sz="3200" dirty="0"/>
              <a:t>処理の過程を答えの部分に含めたもの</a:t>
            </a:r>
            <a:endParaRPr kumimoji="1" lang="en-US" altLang="ja-JP" sz="3200" dirty="0"/>
          </a:p>
          <a:p>
            <a:pPr lvl="1"/>
            <a:r>
              <a:rPr lang="ja-JP" altLang="en-US" sz="3200" dirty="0"/>
              <a:t>処理単体でも、</a:t>
            </a:r>
            <a:r>
              <a:rPr lang="en-US" altLang="ja-JP" sz="3200" dirty="0"/>
              <a:t>2</a:t>
            </a:r>
            <a:r>
              <a:rPr lang="ja-JP" altLang="en-US" sz="3200" dirty="0"/>
              <a:t>つの処理を組み合わせても解けるときは処理単体の方を選ぶ</a:t>
            </a:r>
            <a:endParaRPr kumimoji="1" lang="en-US" altLang="ja-JP" sz="3200" dirty="0"/>
          </a:p>
          <a:p>
            <a:pPr lvl="1"/>
            <a:r>
              <a:rPr lang="ja-JP" altLang="en-US" sz="3200" dirty="0"/>
              <a:t>順番が関係ない処理過程については、</a:t>
            </a:r>
            <a:r>
              <a:rPr lang="en-US" altLang="ja-JP" sz="3200" dirty="0"/>
              <a:t>2</a:t>
            </a:r>
            <a:r>
              <a:rPr lang="ja-JP" altLang="en-US" sz="3200" dirty="0"/>
              <a:t>通り以上あるときはその中のどれか</a:t>
            </a:r>
            <a:r>
              <a:rPr lang="en-US" altLang="ja-JP" sz="3200" dirty="0"/>
              <a:t>1</a:t>
            </a:r>
            <a:r>
              <a:rPr lang="ja-JP" altLang="en-US" sz="3200" dirty="0"/>
              <a:t>つだけを選んで作成</a:t>
            </a:r>
          </a:p>
          <a:p>
            <a:pPr lvl="1"/>
            <a:endParaRPr kumimoji="1" lang="en-US" altLang="ja-JP" sz="3200" dirty="0"/>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sz="2400" dirty="0"/>
              <a:t>Infer the transformation rule from examples.</a:t>
            </a:r>
          </a:p>
          <a:p>
            <a:r>
              <a:rPr kumimoji="1" lang="en-US" altLang="ja-JP" sz="2400" dirty="0"/>
              <a:t>Output the final array.</a:t>
            </a:r>
          </a:p>
          <a:p>
            <a:r>
              <a:rPr kumimoji="1" lang="en-US" altLang="ja-JP" sz="2400" dirty="0"/>
              <a:t>        </a:t>
            </a:r>
          </a:p>
          <a:p>
            <a:r>
              <a:rPr kumimoji="1" lang="en-US" altLang="ja-JP" sz="2400" dirty="0"/>
              <a:t>Example 1</a:t>
            </a:r>
          </a:p>
          <a:p>
            <a:r>
              <a:rPr kumimoji="1" lang="en-US" altLang="ja-JP" sz="2400" dirty="0"/>
              <a:t>Input:</a:t>
            </a:r>
          </a:p>
          <a:p>
            <a:r>
              <a:rPr kumimoji="1" lang="en-US" altLang="ja-JP" sz="2400" dirty="0"/>
              <a:t>[8, 9, 1, 4, 4]</a:t>
            </a:r>
          </a:p>
          <a:p>
            <a:r>
              <a:rPr kumimoji="1" lang="en-US" altLang="ja-JP" sz="2400" dirty="0"/>
              <a:t>Output:</a:t>
            </a:r>
          </a:p>
          <a:p>
            <a:r>
              <a:rPr kumimoji="1" lang="en-US" altLang="ja-JP" sz="2400" dirty="0"/>
              <a:t>[5, 5, 2, 10, 9]</a:t>
            </a:r>
          </a:p>
          <a:p>
            <a:endParaRPr kumimoji="1" lang="en-US" altLang="ja-JP" sz="2400" dirty="0"/>
          </a:p>
          <a:p>
            <a:r>
              <a:rPr kumimoji="1" lang="en-US" altLang="ja-JP" sz="2400" dirty="0"/>
              <a:t>Query</a:t>
            </a:r>
          </a:p>
          <a:p>
            <a:r>
              <a:rPr kumimoji="1" lang="en-US" altLang="ja-JP" sz="2400" dirty="0"/>
              <a:t>Input:</a:t>
            </a:r>
          </a:p>
          <a:p>
            <a:r>
              <a:rPr kumimoji="1" lang="en-US" altLang="ja-JP" sz="2400" dirty="0"/>
              <a:t>[9, 6, 0, 8, 8, 4, 0, 1, 9]</a:t>
            </a:r>
          </a:p>
          <a:p>
            <a:r>
              <a:rPr kumimoji="1" lang="en-US" altLang="ja-JP" sz="2400"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sz="2400" dirty="0"/>
              <a:t>Example 1:</a:t>
            </a:r>
          </a:p>
          <a:p>
            <a:r>
              <a:rPr kumimoji="1" lang="en-US" altLang="ja-JP" sz="2400" dirty="0"/>
              <a:t>Input: [8, 9, 1, 4, 4]</a:t>
            </a:r>
          </a:p>
          <a:p>
            <a:r>
              <a:rPr kumimoji="1" lang="en-US" altLang="ja-JP" sz="2400" dirty="0"/>
              <a:t>Step 1 (reverse): [4, 4, 1, 9, 8]</a:t>
            </a:r>
          </a:p>
          <a:p>
            <a:r>
              <a:rPr kumimoji="1" lang="en-US" altLang="ja-JP" sz="2400" dirty="0"/>
              <a:t>Step 2 (add_1): [5, 5, 2, 10, 9]</a:t>
            </a:r>
          </a:p>
          <a:p>
            <a:r>
              <a:rPr kumimoji="1" lang="en-US" altLang="ja-JP" sz="2400" dirty="0"/>
              <a:t>Output: [5, 5, 2, 10, 9]</a:t>
            </a:r>
          </a:p>
          <a:p>
            <a:endParaRPr kumimoji="1" lang="en-US" altLang="ja-JP" sz="2400" dirty="0"/>
          </a:p>
          <a:p>
            <a:r>
              <a:rPr kumimoji="1" lang="en-US" altLang="ja-JP" sz="2400" dirty="0"/>
              <a:t>Query :</a:t>
            </a:r>
          </a:p>
          <a:p>
            <a:r>
              <a:rPr kumimoji="1" lang="en-US" altLang="ja-JP" sz="2400" dirty="0"/>
              <a:t>Input: [9, 6, 0, 8, 8, 4, 0, 1, 9]</a:t>
            </a:r>
          </a:p>
          <a:p>
            <a:r>
              <a:rPr kumimoji="1" lang="en-US" altLang="ja-JP" sz="2400" dirty="0"/>
              <a:t>Step 1 (reverse): [9, 1, 0, 4, 8, 8, 0, 6, 9]</a:t>
            </a:r>
          </a:p>
          <a:p>
            <a:r>
              <a:rPr kumimoji="1" lang="en-US" altLang="ja-JP" sz="2400" dirty="0"/>
              <a:t>Step 2 (add_1): [10, 2, 1, 5, 9, 9, 1, 7, 10]</a:t>
            </a:r>
          </a:p>
          <a:p>
            <a:r>
              <a:rPr kumimoji="1" lang="en-US" altLang="ja-JP" sz="2400" dirty="0"/>
              <a:t>Final Answer: [10, 2, 1, 5, 9, 9, 1, 7, 10]</a:t>
            </a:r>
            <a:endParaRPr kumimoji="1" lang="ja-JP" altLang="en-US" sz="2400"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865168" y="1914717"/>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(reverse): [7, 1, 8, 3, 1, 2, 8, 3, 9, 6]</a:t>
            </a:r>
          </a:p>
          <a:p>
            <a:r>
              <a:rPr kumimoji="1" lang="en-US" altLang="ja-JP" sz="2000" dirty="0"/>
              <a:t>Step 2 (add_1):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(reverse): [2, 4, 8, 3, 7]</a:t>
            </a:r>
          </a:p>
          <a:p>
            <a:r>
              <a:rPr kumimoji="1" lang="en-US" altLang="ja-JP" sz="2000" dirty="0"/>
              <a:t>Step 2 (add_1): [3, 5, 9, 4, 8]</a:t>
            </a:r>
          </a:p>
          <a:p>
            <a:r>
              <a:rPr kumimoji="1" lang="en-US" altLang="ja-JP" sz="2000" dirty="0"/>
              <a:t>Final Answer: [3, 5, 9, 4, 8]</a:t>
            </a:r>
            <a:endParaRPr kumimoji="1" lang="ja-JP" altLang="en-US" sz="2000"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(add_1): [7, 10, 4, 9, 3, 2, 4, 9, 2, 8]</a:t>
            </a:r>
          </a:p>
          <a:p>
            <a:r>
              <a:rPr kumimoji="1" lang="en-US" altLang="ja-JP" sz="2000" dirty="0"/>
              <a:t>Step 2 (reverse):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(add_1): [8, 4, 9, 5, 3]</a:t>
            </a:r>
          </a:p>
          <a:p>
            <a:r>
              <a:rPr kumimoji="1" lang="en-US" altLang="ja-JP" sz="2000" dirty="0"/>
              <a:t>Step 2 (reverse): [3, 5, 9, 4, 8]</a:t>
            </a:r>
          </a:p>
          <a:p>
            <a:r>
              <a:rPr kumimoji="1" lang="en-US" altLang="ja-JP" sz="2000" dirty="0"/>
              <a:t>Final Answer: [3, 5, 9, 4, 8]</a:t>
            </a:r>
            <a:endParaRPr kumimoji="1" lang="ja-JP" altLang="en-US" sz="2000"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
        <p:nvSpPr>
          <p:cNvPr id="8" name="テキスト ボックス 7">
            <a:extLst>
              <a:ext uri="{FF2B5EF4-FFF2-40B4-BE49-F238E27FC236}">
                <a16:creationId xmlns:a16="http://schemas.microsoft.com/office/drawing/2014/main" id="{DB48FD7E-9717-EAB9-F85C-CF8B27BF6CC9}"/>
              </a:ext>
            </a:extLst>
          </p:cNvPr>
          <p:cNvSpPr txBox="1"/>
          <p:nvPr/>
        </p:nvSpPr>
        <p:spPr>
          <a:xfrm>
            <a:off x="5865167" y="4823613"/>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Tree>
    <p:extLst>
      <p:ext uri="{BB962C8B-B14F-4D97-AF65-F5344CB8AC3E}">
        <p14:creationId xmlns:p14="http://schemas.microsoft.com/office/powerpoint/2010/main" val="3031391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normAutofit/>
          </a:bodyPr>
          <a:lstStyle/>
          <a:p>
            <a:r>
              <a:rPr lang="ja-JP" altLang="en-US" sz="3600" dirty="0"/>
              <a:t>訓練用のデータその</a:t>
            </a:r>
            <a:r>
              <a:rPr lang="en-US" altLang="ja-JP" sz="3600" dirty="0"/>
              <a:t>1</a:t>
            </a:r>
          </a:p>
          <a:p>
            <a:pPr lvl="1"/>
            <a:r>
              <a:rPr lang="ja-JP" altLang="en-US" sz="3200" dirty="0"/>
              <a:t>問題文と答えだけのセット</a:t>
            </a:r>
          </a:p>
          <a:p>
            <a:pPr lvl="1"/>
            <a:r>
              <a:rPr kumimoji="1" lang="ja-JP" altLang="en-US" sz="3200" dirty="0"/>
              <a:t>ルールの種類は全部で</a:t>
            </a:r>
            <a:r>
              <a:rPr kumimoji="1" lang="en-US" altLang="ja-JP" sz="3200" dirty="0"/>
              <a:t>70</a:t>
            </a:r>
            <a:r>
              <a:rPr kumimoji="1" lang="ja-JP" altLang="en-US" sz="3200" dirty="0"/>
              <a:t>種類</a:t>
            </a:r>
            <a:endParaRPr kumimoji="1" lang="en-US" altLang="ja-JP" sz="3200" dirty="0"/>
          </a:p>
          <a:p>
            <a:pPr lvl="1"/>
            <a:r>
              <a:rPr lang="en-US" altLang="ja-JP" sz="3200" dirty="0"/>
              <a:t>1</a:t>
            </a:r>
            <a:r>
              <a:rPr lang="ja-JP" altLang="en-US" sz="3200" dirty="0"/>
              <a:t>つのルールにつき</a:t>
            </a:r>
            <a:r>
              <a:rPr lang="en-US" altLang="ja-JP" sz="3200" dirty="0"/>
              <a:t>50</a:t>
            </a:r>
            <a:r>
              <a:rPr lang="ja-JP" altLang="en-US" sz="3200" dirty="0"/>
              <a:t>問</a:t>
            </a:r>
            <a:endParaRPr lang="en-US" altLang="ja-JP" sz="3200" dirty="0"/>
          </a:p>
          <a:p>
            <a:pPr lvl="1"/>
            <a:r>
              <a:rPr kumimoji="1" lang="ja-JP" altLang="en-US" sz="3200" dirty="0"/>
              <a:t>全部で</a:t>
            </a:r>
            <a:r>
              <a:rPr kumimoji="1" lang="en-US" altLang="ja-JP" sz="3200" dirty="0"/>
              <a:t>3500</a:t>
            </a:r>
            <a:r>
              <a:rPr kumimoji="1" lang="ja-JP" altLang="en-US" sz="3200" dirty="0"/>
              <a:t>問</a:t>
            </a:r>
            <a:endParaRPr kumimoji="1" lang="en-US" altLang="ja-JP" sz="3200" dirty="0"/>
          </a:p>
          <a:p>
            <a:r>
              <a:rPr lang="ja-JP" altLang="en-US" sz="3600" dirty="0"/>
              <a:t>訓練用のデータその</a:t>
            </a:r>
            <a:r>
              <a:rPr lang="en-US" altLang="ja-JP" sz="3600" dirty="0"/>
              <a:t>2</a:t>
            </a:r>
          </a:p>
          <a:p>
            <a:pPr lvl="1"/>
            <a:r>
              <a:rPr lang="ja-JP" altLang="en-US" sz="3200" dirty="0"/>
              <a:t>処理の過程を答えの部分に含めたもの</a:t>
            </a:r>
            <a:endParaRPr lang="en-US" altLang="ja-JP" sz="3200" dirty="0"/>
          </a:p>
          <a:p>
            <a:pPr lvl="1"/>
            <a:r>
              <a:rPr kumimoji="1" lang="ja-JP" altLang="en-US" sz="3200" dirty="0">
                <a:solidFill>
                  <a:srgbClr val="FF0000"/>
                </a:solidFill>
              </a:rPr>
              <a:t>あとは全て同じ</a:t>
            </a:r>
            <a:endParaRPr kumimoji="1" lang="en-US" altLang="ja-JP" sz="3200" dirty="0">
              <a:solidFill>
                <a:srgbClr val="FF0000"/>
              </a:solidFill>
            </a:endParaRPr>
          </a:p>
          <a:p>
            <a:pPr lvl="1"/>
            <a:endParaRPr kumimoji="1" lang="ja-JP" altLang="en-US" sz="3200"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fontScale="92500" lnSpcReduction="10000"/>
          </a:bodyPr>
          <a:lstStyle/>
          <a:p>
            <a:r>
              <a:rPr lang="ja-JP" altLang="en-US" sz="3600" dirty="0"/>
              <a:t>テストデータその</a:t>
            </a:r>
            <a:r>
              <a:rPr lang="en-US" altLang="ja-JP" sz="3600" dirty="0"/>
              <a:t>1</a:t>
            </a:r>
          </a:p>
          <a:p>
            <a:pPr lvl="1"/>
            <a:r>
              <a:rPr lang="ja-JP" altLang="en-US" sz="3200" dirty="0"/>
              <a:t>訓練用のデータの問題と同じ処理単体と同じ組み合わせで</a:t>
            </a:r>
            <a:r>
              <a:rPr lang="en-US" altLang="ja-JP" sz="3200" dirty="0"/>
              <a:t>10</a:t>
            </a:r>
            <a:r>
              <a:rPr lang="ja-JP" altLang="en-US" sz="3200" dirty="0"/>
              <a:t>問ずつ</a:t>
            </a:r>
            <a:endParaRPr lang="en-US" altLang="ja-JP" sz="3200" dirty="0"/>
          </a:p>
          <a:p>
            <a:pPr lvl="1"/>
            <a:r>
              <a:rPr lang="ja-JP" altLang="en-US" sz="3200" dirty="0"/>
              <a:t>全体で</a:t>
            </a:r>
            <a:r>
              <a:rPr lang="en-US" altLang="ja-JP" sz="3200" dirty="0"/>
              <a:t>700</a:t>
            </a:r>
            <a:r>
              <a:rPr lang="ja-JP" altLang="en-US" sz="3200" dirty="0"/>
              <a:t>問</a:t>
            </a:r>
            <a:endParaRPr lang="en-US" altLang="ja-JP" sz="3200" dirty="0"/>
          </a:p>
          <a:p>
            <a:r>
              <a:rPr lang="ja-JP" altLang="en-US" sz="3600" dirty="0"/>
              <a:t>テストデータその</a:t>
            </a:r>
            <a:r>
              <a:rPr lang="en-US" altLang="ja-JP" sz="3600" dirty="0"/>
              <a:t>2</a:t>
            </a:r>
          </a:p>
          <a:p>
            <a:pPr lvl="1"/>
            <a:r>
              <a:rPr lang="ja-JP" altLang="ja-JP" sz="3200" dirty="0"/>
              <a:t>処理単体としては同じだけど</a:t>
            </a:r>
            <a:r>
              <a:rPr lang="ja-JP" altLang="en-US" sz="3200" dirty="0"/>
              <a:t>訓練用のデータでは出なかった組み合わせを</a:t>
            </a:r>
            <a:r>
              <a:rPr lang="en-US" altLang="ja-JP" sz="3200" dirty="0"/>
              <a:t>10</a:t>
            </a:r>
            <a:r>
              <a:rPr lang="ja-JP" altLang="en-US" sz="3200" dirty="0"/>
              <a:t>問ずつ</a:t>
            </a:r>
            <a:endParaRPr lang="en-US" altLang="ja-JP" sz="3200" dirty="0"/>
          </a:p>
          <a:p>
            <a:pPr lvl="1"/>
            <a:r>
              <a:rPr lang="ja-JP" altLang="en-US" sz="3200" dirty="0"/>
              <a:t>ルールの種類は</a:t>
            </a:r>
            <a:r>
              <a:rPr lang="en-US" altLang="ja-JP" sz="3200" dirty="0"/>
              <a:t>45</a:t>
            </a:r>
            <a:r>
              <a:rPr lang="ja-JP" altLang="en-US" sz="3200" dirty="0"/>
              <a:t>種類</a:t>
            </a:r>
            <a:endParaRPr lang="en-US" altLang="ja-JP" sz="3200" dirty="0"/>
          </a:p>
          <a:p>
            <a:pPr lvl="1"/>
            <a:r>
              <a:rPr lang="ja-JP" altLang="en-US" sz="3200" dirty="0"/>
              <a:t>全ての問題が</a:t>
            </a:r>
            <a:r>
              <a:rPr lang="en-US" altLang="ja-JP" sz="3200" dirty="0"/>
              <a:t>2</a:t>
            </a:r>
            <a:r>
              <a:rPr lang="ja-JP" altLang="en-US" sz="3200" dirty="0"/>
              <a:t>つの処理の組み合わせ</a:t>
            </a:r>
            <a:endParaRPr lang="en-US" altLang="ja-JP" sz="3200" dirty="0"/>
          </a:p>
          <a:p>
            <a:pPr lvl="1"/>
            <a:r>
              <a:rPr lang="ja-JP" altLang="en-US" sz="3200" dirty="0"/>
              <a:t>全体で</a:t>
            </a:r>
            <a:r>
              <a:rPr lang="en-US" altLang="ja-JP" sz="3200" dirty="0"/>
              <a:t>450</a:t>
            </a:r>
            <a:r>
              <a:rPr lang="ja-JP" altLang="en-US" sz="3200" dirty="0"/>
              <a:t>問</a:t>
            </a:r>
            <a:endParaRPr lang="en-US" altLang="ja-JP" sz="3200" dirty="0"/>
          </a:p>
          <a:p>
            <a:endParaRPr kumimoji="1" lang="ja-JP" altLang="en-US" sz="3600"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a:xfrm>
            <a:off x="838200" y="3047"/>
            <a:ext cx="10515600" cy="1325563"/>
          </a:xfrm>
        </p:spPr>
        <p:txBody>
          <a:bodyPr/>
          <a:lstStyle/>
          <a:p>
            <a:r>
              <a:rPr kumimoji="1" lang="ja-JP" altLang="en-US" dirty="0"/>
              <a:t>モデルと学習手法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138344"/>
            <a:ext cx="10515600" cy="4581312"/>
          </a:xfrm>
        </p:spPr>
        <p:txBody>
          <a:bodyPr>
            <a:normAutofit/>
          </a:bodyPr>
          <a:lstStyle/>
          <a:p>
            <a:r>
              <a:rPr lang="en-US" altLang="ja-JP" sz="3200" dirty="0"/>
              <a:t>Qwen3-4b</a:t>
            </a:r>
            <a:r>
              <a:rPr lang="en-US" altLang="ja-JP" sz="3200" baseline="30000" dirty="0"/>
              <a:t>8</a:t>
            </a:r>
            <a:r>
              <a:rPr lang="en-US" altLang="ja-JP" sz="3200" dirty="0"/>
              <a:t>(</a:t>
            </a:r>
            <a:r>
              <a:rPr lang="ja-JP" altLang="en-US" sz="3200" dirty="0"/>
              <a:t>使用するモデル</a:t>
            </a:r>
            <a:r>
              <a:rPr lang="en-US" altLang="ja-JP" sz="3200" dirty="0"/>
              <a:t>)</a:t>
            </a:r>
          </a:p>
          <a:p>
            <a:pPr lvl="1"/>
            <a:r>
              <a:rPr lang="en-US" altLang="ja-JP" sz="2800" dirty="0"/>
              <a:t>4B</a:t>
            </a:r>
            <a:r>
              <a:rPr lang="ja-JP" altLang="en-US" sz="2800" dirty="0"/>
              <a:t>パラメータの比較的小規模な</a:t>
            </a:r>
            <a:r>
              <a:rPr lang="en-US" altLang="ja-JP" sz="2800" dirty="0"/>
              <a:t>LLM </a:t>
            </a:r>
          </a:p>
          <a:p>
            <a:pPr lvl="1"/>
            <a:r>
              <a:rPr lang="ja-JP" altLang="en-US" sz="2800" dirty="0"/>
              <a:t>推論・問題解決能力を持つモデル </a:t>
            </a:r>
          </a:p>
          <a:p>
            <a:pPr lvl="1"/>
            <a:r>
              <a:rPr lang="ja-JP" altLang="en-US" sz="2800" dirty="0"/>
              <a:t>追加学習を用いた近年の研究でも採用されている </a:t>
            </a:r>
          </a:p>
          <a:p>
            <a:pPr lvl="2"/>
            <a:r>
              <a:rPr lang="en-US" altLang="ja-JP" sz="2400" dirty="0" err="1"/>
              <a:t>Kappagantula</a:t>
            </a:r>
            <a:r>
              <a:rPr lang="en-US" altLang="ja-JP" sz="2400" dirty="0"/>
              <a:t> et al. (2026)</a:t>
            </a:r>
            <a:r>
              <a:rPr lang="en-US" altLang="ja-JP" sz="2400" baseline="30000" dirty="0"/>
              <a:t>9</a:t>
            </a:r>
          </a:p>
          <a:p>
            <a:pPr lvl="2"/>
            <a:r>
              <a:rPr lang="ja-JP" altLang="ja-JP" sz="2400" dirty="0"/>
              <a:t>Shemla et al. (2026)</a:t>
            </a:r>
            <a:r>
              <a:rPr lang="en-US" altLang="ja-JP" sz="2400" baseline="30000" dirty="0"/>
              <a:t>10</a:t>
            </a:r>
          </a:p>
          <a:p>
            <a:r>
              <a:rPr lang="en-US" altLang="ja-JP" sz="3200" dirty="0"/>
              <a:t>LoRA</a:t>
            </a:r>
            <a:r>
              <a:rPr lang="en-US" altLang="ja-JP" sz="3200" baseline="30000" dirty="0"/>
              <a:t>11</a:t>
            </a:r>
            <a:r>
              <a:rPr lang="ja-JP" altLang="en-US" sz="3200" dirty="0"/>
              <a:t>（</a:t>
            </a:r>
            <a:r>
              <a:rPr lang="en-US" altLang="ja-JP" sz="3200" dirty="0"/>
              <a:t>Low-Rank Adaptation</a:t>
            </a:r>
            <a:r>
              <a:rPr lang="ja-JP" altLang="en-US" sz="3200" dirty="0"/>
              <a:t>）</a:t>
            </a:r>
            <a:r>
              <a:rPr lang="en-US" altLang="ja-JP" sz="3200" dirty="0"/>
              <a:t>(</a:t>
            </a:r>
            <a:r>
              <a:rPr lang="ja-JP" altLang="en-US" sz="3200" dirty="0"/>
              <a:t>学習手法</a:t>
            </a:r>
            <a:r>
              <a:rPr lang="en-US" altLang="ja-JP" sz="3200" dirty="0"/>
              <a:t>)</a:t>
            </a:r>
            <a:endParaRPr lang="ja-JP" altLang="en-US" sz="3200" dirty="0"/>
          </a:p>
          <a:p>
            <a:pPr lvl="1"/>
            <a:r>
              <a:rPr lang="ja-JP" altLang="en-US" sz="2800" dirty="0"/>
              <a:t>ベースモデルのパラメータを固定 </a:t>
            </a:r>
          </a:p>
          <a:p>
            <a:pPr lvl="1"/>
            <a:r>
              <a:rPr lang="ja-JP" altLang="en-US" sz="2800" dirty="0"/>
              <a:t>追加した小規模なパラメータのみを学習 </a:t>
            </a:r>
          </a:p>
          <a:p>
            <a:pPr lvl="1"/>
            <a:r>
              <a:rPr lang="ja-JP" altLang="en-US" sz="2800"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0" y="6127750"/>
            <a:ext cx="12192000" cy="365125"/>
          </a:xfrm>
        </p:spPr>
        <p:txBody>
          <a:bodyPr/>
          <a:lstStyle/>
          <a:p>
            <a:r>
              <a:rPr lang="en-US" altLang="ja-JP" dirty="0"/>
              <a:t>8.  </a:t>
            </a:r>
            <a:r>
              <a:rPr lang="ja-JP" altLang="ja-JP" dirty="0"/>
              <a:t>Yang, A., Li, A., Yang, B., Zhang, B., Hui, B., Zheng, B., ... &amp; Qiu, Z. (2025). Qwen3 technical report. </a:t>
            </a:r>
            <a:r>
              <a:rPr lang="ja-JP" altLang="ja-JP" i="1" dirty="0"/>
              <a:t>arXiv preprint arXiv:2505.09388</a:t>
            </a:r>
            <a:r>
              <a:rPr lang="ja-JP" altLang="ja-JP" dirty="0"/>
              <a:t>.</a:t>
            </a:r>
            <a:endParaRPr lang="en-US" altLang="ja-JP" dirty="0"/>
          </a:p>
          <a:p>
            <a:r>
              <a:rPr lang="en-US" altLang="ja-JP" dirty="0"/>
              <a:t>9. </a:t>
            </a:r>
            <a:r>
              <a:rPr lang="ja-JP" altLang="ja-JP" dirty="0"/>
              <a:t>Kappagantula, V. R. N., Hassantabar, S., Simpson, S., &amp; Moallem, G. (2026). Travel-Oriented Reasoning Large Language Model via Domain-Specific Knowledge Graphs. </a:t>
            </a:r>
            <a:r>
              <a:rPr lang="ja-JP" altLang="ja-JP" i="1" dirty="0"/>
              <a:t>arXiv preprint arXiv:2606.29254</a:t>
            </a:r>
            <a:r>
              <a:rPr lang="ja-JP" altLang="ja-JP" dirty="0"/>
              <a:t>.</a:t>
            </a:r>
            <a:endParaRPr lang="en-US" altLang="ja-JP" dirty="0"/>
          </a:p>
          <a:p>
            <a:r>
              <a:rPr lang="en-US" altLang="ja-JP" dirty="0"/>
              <a:t>10. </a:t>
            </a:r>
            <a:r>
              <a:rPr lang="ja-JP" altLang="ja-JP" dirty="0"/>
              <a:t>Shemla, Y., Yakobe, A., Agarwal, T., Patel, D., &amp; Maghraoui, K. E. (2026). Internalizing Tool Knowledge in Small Language Models via QLoRA Fine-Tuning. </a:t>
            </a:r>
            <a:r>
              <a:rPr lang="ja-JP" altLang="ja-JP" i="1" dirty="0"/>
              <a:t>arXiv preprint arXiv:2605.17774</a:t>
            </a:r>
            <a:r>
              <a:rPr lang="ja-JP" altLang="ja-JP" dirty="0"/>
              <a:t>.</a:t>
            </a:r>
            <a:endParaRPr lang="en-US" altLang="ja-JP" dirty="0"/>
          </a:p>
          <a:p>
            <a:r>
              <a:rPr lang="en-US" altLang="ja-JP" dirty="0"/>
              <a:t>11.  </a:t>
            </a:r>
            <a:r>
              <a:rPr lang="ja-JP" altLang="ja-JP" dirty="0"/>
              <a:t>Hu, E. J., Shen, Y., Wallis, P., Allen-Zhu, Z., Li, Y., Wang, S., ... &amp; Chen, W. (2021). Lora: Low-rank adaptation of large language models. </a:t>
            </a:r>
            <a:r>
              <a:rPr lang="ja-JP" altLang="ja-JP" i="1" dirty="0"/>
              <a:t>arXiv preprint arXiv:2106.09685</a:t>
            </a:r>
            <a:r>
              <a:rPr lang="ja-JP" altLang="ja-JP" dirty="0"/>
              <a:t>.</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normAutofit/>
          </a:bodyPr>
          <a:lstStyle/>
          <a:p>
            <a:r>
              <a:rPr kumimoji="1" lang="ja-JP" altLang="en-US" sz="3200" dirty="0"/>
              <a:t>テスト用の問題を解くモデル</a:t>
            </a:r>
            <a:endParaRPr kumimoji="1" lang="en-US" altLang="ja-JP" sz="3200" dirty="0"/>
          </a:p>
          <a:p>
            <a:pPr lvl="1"/>
            <a:r>
              <a:rPr kumimoji="1" lang="ja-JP" altLang="en-US" sz="3200" dirty="0"/>
              <a:t>追加の学習を行わず、</a:t>
            </a:r>
            <a:r>
              <a:rPr lang="ja-JP" altLang="en-US" sz="3200" dirty="0"/>
              <a:t>ベースモデルをそのまま使う</a:t>
            </a:r>
            <a:endParaRPr kumimoji="1" lang="en-US" altLang="ja-JP" sz="3200" dirty="0"/>
          </a:p>
          <a:p>
            <a:pPr lvl="1"/>
            <a:r>
              <a:rPr lang="ja-JP" altLang="en-US" sz="3200" dirty="0"/>
              <a:t>問題文と答えのみを用いて調整した</a:t>
            </a:r>
            <a:r>
              <a:rPr lang="en-US" altLang="ja-JP" sz="3200" dirty="0" err="1"/>
              <a:t>LoRA</a:t>
            </a:r>
            <a:r>
              <a:rPr lang="ja-JP" altLang="en-US" sz="3200" dirty="0"/>
              <a:t>を適用したモデル</a:t>
            </a:r>
            <a:endParaRPr lang="en-US" altLang="ja-JP" sz="3200" dirty="0"/>
          </a:p>
          <a:p>
            <a:pPr lvl="1"/>
            <a:r>
              <a:rPr kumimoji="1" lang="ja-JP" altLang="en-US" sz="3200" dirty="0"/>
              <a:t>問題文と処理の過程と答えを用いて調整した</a:t>
            </a:r>
            <a:r>
              <a:rPr kumimoji="1" lang="en-US" altLang="ja-JP" sz="3200" dirty="0" err="1"/>
              <a:t>LoRA</a:t>
            </a:r>
            <a:r>
              <a:rPr kumimoji="1" lang="ja-JP" altLang="en-US" sz="3200"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solidFill>
                  <a:srgbClr val="FF0000"/>
                </a:solidFill>
              </a:rPr>
              <a:t>問題解決</a:t>
            </a:r>
            <a:r>
              <a:rPr lang="ja-JP" altLang="en-US" sz="4400" dirty="0">
                <a:solidFill>
                  <a:srgbClr val="FF0000"/>
                </a:solidFill>
              </a:rPr>
              <a:t>能力の評価実験</a:t>
            </a:r>
            <a:endParaRPr lang="en-US" altLang="ja-JP" sz="4400" dirty="0">
              <a:solidFill>
                <a:srgbClr val="FF0000"/>
              </a:solidFill>
            </a:endParaRPr>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endParaRPr kumimoji="1" lang="ja-JP" altLang="en-US" dirty="0"/>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3907140497"/>
              </p:ext>
            </p:extLst>
          </p:nvPr>
        </p:nvGraphicFramePr>
        <p:xfrm>
          <a:off x="838200" y="1583169"/>
          <a:ext cx="10515600" cy="4351338"/>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450446">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t>469/700</a:t>
                      </a:r>
                    </a:p>
                    <a:p>
                      <a:pPr algn="ctr"/>
                      <a:r>
                        <a:rPr kumimoji="1" lang="en-US" altLang="ja-JP" sz="2800" dirty="0"/>
                        <a:t>67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t>179/450</a:t>
                      </a:r>
                    </a:p>
                    <a:p>
                      <a:pPr algn="ctr"/>
                      <a:r>
                        <a:rPr kumimoji="1" lang="en-US" altLang="ja-JP" sz="2800" dirty="0"/>
                        <a:t>39.7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646331"/>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spTree>
    <p:extLst>
      <p:ext uri="{BB962C8B-B14F-4D97-AF65-F5344CB8AC3E}">
        <p14:creationId xmlns:p14="http://schemas.microsoft.com/office/powerpoint/2010/main" val="21569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normAutofit/>
          </a:bodyPr>
          <a:lstStyle/>
          <a:p>
            <a:r>
              <a:rPr kumimoji="1" lang="ja-JP" altLang="en-US" sz="3200" dirty="0"/>
              <a:t>研究背景</a:t>
            </a:r>
            <a:endParaRPr kumimoji="1" lang="en-US" altLang="ja-JP" sz="3200" dirty="0"/>
          </a:p>
          <a:p>
            <a:r>
              <a:rPr lang="ja-JP" altLang="en-US" sz="3200" dirty="0"/>
              <a:t>研究方法</a:t>
            </a:r>
            <a:endParaRPr lang="en-US" altLang="ja-JP" sz="3200" dirty="0"/>
          </a:p>
          <a:p>
            <a:r>
              <a:rPr kumimoji="1" lang="ja-JP" altLang="en-US" sz="3200" dirty="0"/>
              <a:t>問題解決</a:t>
            </a:r>
            <a:r>
              <a:rPr lang="ja-JP" altLang="en-US" sz="3200" dirty="0"/>
              <a:t>能力の評価実験</a:t>
            </a:r>
            <a:endParaRPr lang="en-US" altLang="ja-JP" sz="3200" dirty="0"/>
          </a:p>
          <a:p>
            <a:r>
              <a:rPr kumimoji="1" lang="ja-JP" altLang="en-US" sz="3200" dirty="0">
                <a:solidFill>
                  <a:srgbClr val="FF0000"/>
                </a:solidFill>
              </a:rPr>
              <a:t>分析と考察</a:t>
            </a:r>
            <a:endParaRPr kumimoji="1" lang="en-US" altLang="ja-JP" sz="3200" dirty="0">
              <a:solidFill>
                <a:srgbClr val="FF0000"/>
              </a:solidFill>
            </a:endParaRPr>
          </a:p>
          <a:p>
            <a:pPr lvl="1"/>
            <a:r>
              <a:rPr kumimoji="1" lang="ja-JP" altLang="en-US" sz="3200" dirty="0"/>
              <a:t>単一処理・複数処理の比較</a:t>
            </a:r>
            <a:endParaRPr kumimoji="1" lang="en-US" altLang="ja-JP" sz="3200" dirty="0"/>
          </a:p>
          <a:p>
            <a:pPr lvl="1"/>
            <a:r>
              <a:rPr kumimoji="1" lang="ja-JP" altLang="en-US" sz="3200" dirty="0"/>
              <a:t>ベースモデルの分析</a:t>
            </a:r>
            <a:endParaRPr kumimoji="1" lang="en-US" altLang="ja-JP" sz="3200" dirty="0"/>
          </a:p>
          <a:p>
            <a:pPr lvl="1"/>
            <a:r>
              <a:rPr lang="ja-JP" altLang="en-US" sz="3200" dirty="0"/>
              <a:t>答えのみ</a:t>
            </a:r>
            <a:r>
              <a:rPr lang="en-US" altLang="ja-JP" sz="3200" dirty="0"/>
              <a:t>SFT</a:t>
            </a:r>
            <a:r>
              <a:rPr lang="ja-JP" altLang="en-US" sz="3200" dirty="0"/>
              <a:t>のモデルの分析</a:t>
            </a:r>
            <a:endParaRPr lang="en-US" altLang="ja-JP" sz="3200" dirty="0"/>
          </a:p>
          <a:p>
            <a:pPr lvl="1"/>
            <a:r>
              <a:rPr kumimoji="1" lang="ja-JP" altLang="en-US" sz="3200" dirty="0"/>
              <a:t>答え＋処理過程の</a:t>
            </a:r>
            <a:r>
              <a:rPr kumimoji="1" lang="en-US" altLang="ja-JP" sz="3200" dirty="0"/>
              <a:t>SFT</a:t>
            </a:r>
            <a:r>
              <a:rPr kumimoji="1" lang="ja-JP" altLang="en-US" sz="3200" dirty="0"/>
              <a:t>のモデルの分析</a:t>
            </a:r>
            <a:endParaRPr kumimoji="1" lang="en-US" altLang="ja-JP" sz="3200" dirty="0"/>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93E3D-DDF5-5046-0DEF-B829AECE4BDA}"/>
              </a:ext>
            </a:extLst>
          </p:cNvPr>
          <p:cNvSpPr>
            <a:spLocks noGrp="1"/>
          </p:cNvSpPr>
          <p:nvPr>
            <p:ph type="title"/>
          </p:nvPr>
        </p:nvSpPr>
        <p:spPr/>
        <p:txBody>
          <a:bodyPr/>
          <a:lstStyle/>
          <a:p>
            <a:r>
              <a:rPr kumimoji="1" lang="ja-JP" altLang="en-US" dirty="0"/>
              <a:t>単一処理・複数処理の比較</a:t>
            </a:r>
            <a:br>
              <a:rPr kumimoji="1" lang="en-US" altLang="ja-JP" dirty="0"/>
            </a:br>
            <a:r>
              <a:rPr kumimoji="1" lang="en-US" altLang="ja-JP" dirty="0"/>
              <a:t>(</a:t>
            </a:r>
            <a:r>
              <a:rPr kumimoji="1" lang="ja-JP" altLang="en-US" dirty="0"/>
              <a:t>テストデータその</a:t>
            </a:r>
            <a:r>
              <a:rPr kumimoji="1" lang="en-US" altLang="ja-JP" dirty="0"/>
              <a:t>1)</a:t>
            </a:r>
            <a:endParaRPr kumimoji="1" lang="ja-JP" altLang="en-US" dirty="0"/>
          </a:p>
        </p:txBody>
      </p:sp>
      <p:graphicFrame>
        <p:nvGraphicFramePr>
          <p:cNvPr id="6" name="コンテンツ プレースホルダー 5">
            <a:extLst>
              <a:ext uri="{FF2B5EF4-FFF2-40B4-BE49-F238E27FC236}">
                <a16:creationId xmlns:a16="http://schemas.microsoft.com/office/drawing/2014/main" id="{DDBE55B4-951A-F452-19AC-FAB59D76D1A9}"/>
              </a:ext>
            </a:extLst>
          </p:cNvPr>
          <p:cNvGraphicFramePr>
            <a:graphicFrameLocks noGrp="1"/>
          </p:cNvGraphicFramePr>
          <p:nvPr>
            <p:ph idx="1"/>
            <p:extLst>
              <p:ext uri="{D42A27DB-BD31-4B8C-83A1-F6EECF244321}">
                <p14:modId xmlns:p14="http://schemas.microsoft.com/office/powerpoint/2010/main" val="882682062"/>
              </p:ext>
            </p:extLst>
          </p:nvPr>
        </p:nvGraphicFramePr>
        <p:xfrm>
          <a:off x="838200" y="1825624"/>
          <a:ext cx="10515600" cy="3133002"/>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756612490"/>
                    </a:ext>
                  </a:extLst>
                </a:gridCol>
                <a:gridCol w="2628900">
                  <a:extLst>
                    <a:ext uri="{9D8B030D-6E8A-4147-A177-3AD203B41FA5}">
                      <a16:colId xmlns:a16="http://schemas.microsoft.com/office/drawing/2014/main" val="3087168986"/>
                    </a:ext>
                  </a:extLst>
                </a:gridCol>
                <a:gridCol w="2628900">
                  <a:extLst>
                    <a:ext uri="{9D8B030D-6E8A-4147-A177-3AD203B41FA5}">
                      <a16:colId xmlns:a16="http://schemas.microsoft.com/office/drawing/2014/main" val="1142035119"/>
                    </a:ext>
                  </a:extLst>
                </a:gridCol>
                <a:gridCol w="2628900">
                  <a:extLst>
                    <a:ext uri="{9D8B030D-6E8A-4147-A177-3AD203B41FA5}">
                      <a16:colId xmlns:a16="http://schemas.microsoft.com/office/drawing/2014/main" val="2234398844"/>
                    </a:ext>
                  </a:extLst>
                </a:gridCol>
              </a:tblGrid>
              <a:tr h="1169210">
                <a:tc>
                  <a:txBody>
                    <a:bodyPr/>
                    <a:lstStyle/>
                    <a:p>
                      <a:pPr algn="ctr"/>
                      <a:endParaRPr kumimoji="1" lang="ja-JP" altLang="en-US" sz="2400" dirty="0"/>
                    </a:p>
                  </a:txBody>
                  <a:tcPr anchor="ctr"/>
                </a:tc>
                <a:tc>
                  <a:txBody>
                    <a:bodyPr/>
                    <a:lstStyle/>
                    <a:p>
                      <a:pPr algn="ctr"/>
                      <a:r>
                        <a:rPr kumimoji="1" lang="ja-JP" altLang="en-US" sz="2400" dirty="0"/>
                        <a:t>ベースモデル</a:t>
                      </a:r>
                    </a:p>
                  </a:txBody>
                  <a:tcPr anchor="ctr"/>
                </a:tc>
                <a:tc>
                  <a:txBody>
                    <a:bodyPr/>
                    <a:lstStyle/>
                    <a:p>
                      <a:pPr algn="ctr"/>
                      <a:r>
                        <a:rPr kumimoji="1" lang="ja-JP" altLang="en-US" sz="2400" dirty="0"/>
                        <a:t>答えのみ</a:t>
                      </a:r>
                      <a:r>
                        <a:rPr kumimoji="1" lang="en-US" altLang="ja-JP" sz="2400" dirty="0"/>
                        <a:t>SFT</a:t>
                      </a:r>
                      <a:endParaRPr kumimoji="1" lang="ja-JP" altLang="en-US" sz="2400" dirty="0"/>
                    </a:p>
                  </a:txBody>
                  <a:tcPr anchor="ctr"/>
                </a:tc>
                <a:tc>
                  <a:txBody>
                    <a:bodyPr/>
                    <a:lstStyle/>
                    <a:p>
                      <a:pPr algn="ctr"/>
                      <a:r>
                        <a:rPr kumimoji="1" lang="ja-JP" altLang="en-US" sz="2400" dirty="0"/>
                        <a:t>答え＋処理過程</a:t>
                      </a:r>
                    </a:p>
                  </a:txBody>
                  <a:tcPr anchor="ctr"/>
                </a:tc>
                <a:extLst>
                  <a:ext uri="{0D108BD9-81ED-4DB2-BD59-A6C34878D82A}">
                    <a16:rowId xmlns:a16="http://schemas.microsoft.com/office/drawing/2014/main" val="3965733535"/>
                  </a:ext>
                </a:extLst>
              </a:tr>
              <a:tr h="981896">
                <a:tc>
                  <a:txBody>
                    <a:bodyPr/>
                    <a:lstStyle/>
                    <a:p>
                      <a:pPr algn="ctr"/>
                      <a:r>
                        <a:rPr kumimoji="1" lang="ja-JP" altLang="en-US" sz="2400" dirty="0"/>
                        <a:t>処理単体</a:t>
                      </a:r>
                    </a:p>
                  </a:txBody>
                  <a:tcPr anchor="ctr"/>
                </a:tc>
                <a:tc>
                  <a:txBody>
                    <a:bodyPr/>
                    <a:lstStyle/>
                    <a:p>
                      <a:pPr algn="ctr"/>
                      <a:r>
                        <a:rPr kumimoji="1" lang="en-US" altLang="ja-JP" sz="2400" dirty="0"/>
                        <a:t>194/240</a:t>
                      </a:r>
                    </a:p>
                    <a:p>
                      <a:pPr algn="ctr"/>
                      <a:r>
                        <a:rPr kumimoji="1" lang="en-US" altLang="zh-TW" sz="2400" dirty="0"/>
                        <a:t>80.8</a:t>
                      </a:r>
                      <a:r>
                        <a:rPr kumimoji="1" lang="en-US" altLang="ja-JP" sz="2400" dirty="0"/>
                        <a:t>%</a:t>
                      </a:r>
                      <a:endParaRPr kumimoji="1" lang="ja-JP" altLang="en-US" sz="2400" dirty="0"/>
                    </a:p>
                  </a:txBody>
                  <a:tcPr anchor="ctr"/>
                </a:tc>
                <a:tc>
                  <a:txBody>
                    <a:bodyPr/>
                    <a:lstStyle/>
                    <a:p>
                      <a:pPr algn="ctr"/>
                      <a:r>
                        <a:rPr kumimoji="1" lang="en-US" altLang="zh-TW" sz="2400" dirty="0"/>
                        <a:t>207</a:t>
                      </a:r>
                      <a:r>
                        <a:rPr kumimoji="1" lang="en-US" altLang="ja-JP" sz="2400" dirty="0"/>
                        <a:t>/240</a:t>
                      </a:r>
                    </a:p>
                    <a:p>
                      <a:pPr algn="ctr"/>
                      <a:r>
                        <a:rPr kumimoji="1" lang="en-US" altLang="zh-TW" sz="2400" dirty="0"/>
                        <a:t>86.2</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201</a:t>
                      </a:r>
                      <a:r>
                        <a:rPr kumimoji="1" lang="en-US" altLang="ja-JP" sz="2400" dirty="0"/>
                        <a:t>/240</a:t>
                      </a:r>
                    </a:p>
                    <a:p>
                      <a:pPr algn="ctr"/>
                      <a:r>
                        <a:rPr kumimoji="1" lang="en-US" altLang="zh-TW" sz="2400" dirty="0"/>
                        <a:t>83</a:t>
                      </a:r>
                      <a:r>
                        <a:rPr kumimoji="1" lang="en-US" altLang="ja-JP" sz="2400" dirty="0"/>
                        <a:t>.</a:t>
                      </a:r>
                      <a:r>
                        <a:rPr kumimoji="1" lang="en-US" altLang="zh-TW" sz="2400" dirty="0"/>
                        <a:t>7%</a:t>
                      </a:r>
                      <a:endParaRPr kumimoji="1" lang="ja-JP" altLang="en-US" sz="2400" dirty="0"/>
                    </a:p>
                  </a:txBody>
                  <a:tcPr anchor="ctr"/>
                </a:tc>
                <a:extLst>
                  <a:ext uri="{0D108BD9-81ED-4DB2-BD59-A6C34878D82A}">
                    <a16:rowId xmlns:a16="http://schemas.microsoft.com/office/drawing/2014/main" val="995411637"/>
                  </a:ext>
                </a:extLst>
              </a:tr>
              <a:tr h="981896">
                <a:tc>
                  <a:txBody>
                    <a:bodyPr/>
                    <a:lstStyle/>
                    <a:p>
                      <a:pPr algn="ctr"/>
                      <a:r>
                        <a:rPr kumimoji="1" lang="en-US" altLang="ja-JP" sz="2400" dirty="0"/>
                        <a:t>2</a:t>
                      </a:r>
                      <a:r>
                        <a:rPr kumimoji="1" lang="ja-JP" altLang="en-US" sz="2400" dirty="0"/>
                        <a:t>つの処理の</a:t>
                      </a:r>
                      <a:endParaRPr kumimoji="1" lang="en-US" altLang="ja-JP" sz="2400" dirty="0"/>
                    </a:p>
                    <a:p>
                      <a:pPr algn="ctr"/>
                      <a:r>
                        <a:rPr kumimoji="1" lang="ja-JP" altLang="en-US" sz="2400" dirty="0"/>
                        <a:t>組み合わせ</a:t>
                      </a:r>
                    </a:p>
                  </a:txBody>
                  <a:tcPr anchor="ctr"/>
                </a:tc>
                <a:tc>
                  <a:txBody>
                    <a:bodyPr/>
                    <a:lstStyle/>
                    <a:p>
                      <a:pPr algn="ctr"/>
                      <a:r>
                        <a:rPr kumimoji="1" lang="en-US" altLang="ja-JP" sz="2400" dirty="0"/>
                        <a:t>73/460</a:t>
                      </a:r>
                    </a:p>
                    <a:p>
                      <a:pPr algn="ctr"/>
                      <a:r>
                        <a:rPr kumimoji="1" lang="en-US" altLang="zh-TW" sz="2400" dirty="0"/>
                        <a:t>15.8</a:t>
                      </a:r>
                      <a:r>
                        <a:rPr kumimoji="1" lang="en-US" altLang="ja-JP" sz="2400" dirty="0"/>
                        <a:t>%</a:t>
                      </a:r>
                      <a:endParaRPr kumimoji="1" lang="ja-JP" altLang="en-US" sz="2400" dirty="0"/>
                    </a:p>
                  </a:txBody>
                  <a:tcPr anchor="ctr"/>
                </a:tc>
                <a:tc>
                  <a:txBody>
                    <a:bodyPr/>
                    <a:lstStyle/>
                    <a:p>
                      <a:pPr algn="ctr"/>
                      <a:r>
                        <a:rPr kumimoji="1" lang="en-US" altLang="zh-TW" sz="2400" dirty="0"/>
                        <a:t>262</a:t>
                      </a:r>
                      <a:r>
                        <a:rPr kumimoji="1" lang="en-US" altLang="ja-JP" sz="2400" dirty="0"/>
                        <a:t>/460</a:t>
                      </a:r>
                    </a:p>
                    <a:p>
                      <a:pPr algn="ctr"/>
                      <a:r>
                        <a:rPr kumimoji="1" lang="en-US" altLang="zh-TW" sz="2400" dirty="0"/>
                        <a:t>56.9</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362</a:t>
                      </a:r>
                      <a:r>
                        <a:rPr kumimoji="1" lang="en-US" altLang="ja-JP" sz="2400" dirty="0"/>
                        <a:t>/460</a:t>
                      </a:r>
                    </a:p>
                    <a:p>
                      <a:pPr algn="ctr"/>
                      <a:r>
                        <a:rPr kumimoji="1" lang="en-US" altLang="zh-TW" sz="2400" dirty="0"/>
                        <a:t>78.6%</a:t>
                      </a:r>
                      <a:endParaRPr kumimoji="1" lang="ja-JP" altLang="en-US" sz="2400" dirty="0"/>
                    </a:p>
                  </a:txBody>
                  <a:tcPr anchor="ctr"/>
                </a:tc>
                <a:extLst>
                  <a:ext uri="{0D108BD9-81ED-4DB2-BD59-A6C34878D82A}">
                    <a16:rowId xmlns:a16="http://schemas.microsoft.com/office/drawing/2014/main" val="658592565"/>
                  </a:ext>
                </a:extLst>
              </a:tr>
            </a:tbl>
          </a:graphicData>
        </a:graphic>
      </p:graphicFrame>
      <p:sp>
        <p:nvSpPr>
          <p:cNvPr id="4" name="スライド番号プレースホルダー 3">
            <a:extLst>
              <a:ext uri="{FF2B5EF4-FFF2-40B4-BE49-F238E27FC236}">
                <a16:creationId xmlns:a16="http://schemas.microsoft.com/office/drawing/2014/main" id="{4BB5E59D-C358-217D-279A-99970DCD597C}"/>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
        <p:nvSpPr>
          <p:cNvPr id="8" name="テキスト ボックス 7">
            <a:extLst>
              <a:ext uri="{FF2B5EF4-FFF2-40B4-BE49-F238E27FC236}">
                <a16:creationId xmlns:a16="http://schemas.microsoft.com/office/drawing/2014/main" id="{2BBEE7E5-D36E-7BA4-441D-4E0F28144288}"/>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2380742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03F6F-BD06-0854-878E-7EBF931FA3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35AC5F-7285-F96A-3794-860EFB46F61D}"/>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310FC054-B519-73E0-34E0-FC4A8CD20DF0}"/>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5" name="四角形: 角を丸くする 4">
            <a:extLst>
              <a:ext uri="{FF2B5EF4-FFF2-40B4-BE49-F238E27FC236}">
                <a16:creationId xmlns:a16="http://schemas.microsoft.com/office/drawing/2014/main" id="{EAEE0D67-EC1A-0D3B-7ADE-11B6FE97E0C6}"/>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[6, 0, 4, 8, 7, 6, 4, 7]</a:t>
            </a:r>
          </a:p>
          <a:p>
            <a:r>
              <a:rPr lang="en-US" altLang="ja-JP" sz="2400" dirty="0"/>
              <a:t>Output:</a:t>
            </a:r>
          </a:p>
          <a:p>
            <a:r>
              <a:rPr lang="en-US" altLang="ja-JP" sz="2400" dirty="0"/>
              <a:t>[7, 4, 6, 7, 8, 4, 0, 6]</a:t>
            </a:r>
          </a:p>
          <a:p>
            <a:endParaRPr lang="en-US" altLang="ja-JP" sz="2400" dirty="0"/>
          </a:p>
          <a:p>
            <a:r>
              <a:rPr lang="en-US" altLang="ja-JP" sz="2400" dirty="0"/>
              <a:t>Query</a:t>
            </a:r>
          </a:p>
          <a:p>
            <a:r>
              <a:rPr lang="en-US" altLang="ja-JP" sz="2400" dirty="0"/>
              <a:t>Input:</a:t>
            </a:r>
          </a:p>
          <a:p>
            <a:r>
              <a:rPr lang="en-US" altLang="ja-JP" sz="2400" dirty="0"/>
              <a:t>[3, 5, 1, 3, 9, 3, 3]</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87E2B364-4DFD-2C02-51C0-1E418D78BA70}"/>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4A09E621-D4E2-FEAA-1B4F-E07DA29F594F}"/>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[3, 3, 9, 3, 1, 5, 3]</a:t>
            </a:r>
            <a:endParaRPr kumimoji="1" lang="ja-JP" altLang="en-US" sz="2400" dirty="0"/>
          </a:p>
        </p:txBody>
      </p:sp>
      <p:sp>
        <p:nvSpPr>
          <p:cNvPr id="10" name="矢印: 左カーブ 9">
            <a:extLst>
              <a:ext uri="{FF2B5EF4-FFF2-40B4-BE49-F238E27FC236}">
                <a16:creationId xmlns:a16="http://schemas.microsoft.com/office/drawing/2014/main" id="{35E854B6-9671-388E-9C0E-32CF57FFBDCA}"/>
              </a:ext>
            </a:extLst>
          </p:cNvPr>
          <p:cNvSpPr/>
          <p:nvPr/>
        </p:nvSpPr>
        <p:spPr>
          <a:xfrm>
            <a:off x="4190743" y="3741982"/>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43C261DB-5CEE-5E47-6052-BA34227676ED}"/>
              </a:ext>
            </a:extLst>
          </p:cNvPr>
          <p:cNvSpPr txBox="1"/>
          <p:nvPr/>
        </p:nvSpPr>
        <p:spPr>
          <a:xfrm>
            <a:off x="4552820" y="3667361"/>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7B90F65E-2C75-8AEC-BEEC-3552FB11302C}"/>
              </a:ext>
            </a:extLst>
          </p:cNvPr>
          <p:cNvSpPr txBox="1"/>
          <p:nvPr/>
        </p:nvSpPr>
        <p:spPr>
          <a:xfrm>
            <a:off x="6179679" y="5334286"/>
            <a:ext cx="5812810" cy="523220"/>
          </a:xfrm>
          <a:prstGeom prst="rect">
            <a:avLst/>
          </a:prstGeom>
          <a:noFill/>
        </p:spPr>
        <p:txBody>
          <a:bodyPr wrap="none" rtlCol="0">
            <a:spAutoFit/>
          </a:bodyPr>
          <a:lstStyle/>
          <a:p>
            <a:r>
              <a:rPr kumimoji="1" lang="ja-JP" altLang="en-US" sz="2800" dirty="0"/>
              <a:t>このルールの問題は</a:t>
            </a:r>
            <a:r>
              <a:rPr kumimoji="1" lang="en-US" altLang="ja-JP" sz="2800" dirty="0"/>
              <a:t>10</a:t>
            </a:r>
            <a:r>
              <a:rPr kumimoji="1" lang="ja-JP" altLang="en-US" sz="2800" dirty="0"/>
              <a:t>問中</a:t>
            </a:r>
            <a:r>
              <a:rPr kumimoji="1" lang="en-US" altLang="ja-JP" sz="2800" dirty="0"/>
              <a:t>9</a:t>
            </a:r>
            <a:r>
              <a:rPr kumimoji="1" lang="ja-JP" altLang="en-US" sz="2800" dirty="0"/>
              <a:t>問正解</a:t>
            </a:r>
          </a:p>
        </p:txBody>
      </p:sp>
    </p:spTree>
    <p:extLst>
      <p:ext uri="{BB962C8B-B14F-4D97-AF65-F5344CB8AC3E}">
        <p14:creationId xmlns:p14="http://schemas.microsoft.com/office/powerpoint/2010/main" val="2830446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AEFF3-D4BF-CD8A-84D5-8469CA66E4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EDF5C5-6158-AD4E-AC3C-53FDF2F0BA1C}"/>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A7B34F1D-19A0-4710-8C6B-93EA690D6C6A}"/>
              </a:ext>
            </a:extLst>
          </p:cNvPr>
          <p:cNvSpPr>
            <a:spLocks noGrp="1"/>
          </p:cNvSpPr>
          <p:nvPr>
            <p:ph sz="half" idx="1"/>
          </p:nvPr>
        </p:nvSpPr>
        <p:spPr>
          <a:xfrm>
            <a:off x="513455" y="1825625"/>
            <a:ext cx="5506345" cy="4351338"/>
          </a:xfrm>
        </p:spPr>
        <p:txBody>
          <a:bodyPr>
            <a:normAutofit/>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4B42313-F24A-AFF4-9140-E82DE17B3048}"/>
              </a:ext>
            </a:extLst>
          </p:cNvPr>
          <p:cNvSpPr>
            <a:spLocks noGrp="1"/>
          </p:cNvSpPr>
          <p:nvPr>
            <p:ph sz="half" idx="2"/>
          </p:nvPr>
        </p:nvSpPr>
        <p:spPr/>
        <p:txBody>
          <a:bodyPr>
            <a:normAutofit/>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9D455210-B3A3-D915-3739-CC1E3D2C59BE}"/>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6" name="四角形: 角を丸くする 5">
            <a:extLst>
              <a:ext uri="{FF2B5EF4-FFF2-40B4-BE49-F238E27FC236}">
                <a16:creationId xmlns:a16="http://schemas.microsoft.com/office/drawing/2014/main" id="{8A839E9B-DC5F-B795-BA48-54A00C7687CA}"/>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sz="2000" dirty="0"/>
              <a:t>The transformation rule appears to be reversing the input array. </a:t>
            </a:r>
          </a:p>
          <a:p>
            <a:endParaRPr lang="en-US" altLang="ja-JP" sz="2000" dirty="0"/>
          </a:p>
          <a:p>
            <a:r>
              <a:rPr lang="en-US" altLang="ja-JP" sz="2000" dirty="0"/>
              <a:t>For the input `[3, 5, 1, 3, 9, 3, 3]`, reversing the elements gives:</a:t>
            </a:r>
          </a:p>
          <a:p>
            <a:endParaRPr lang="en-US" altLang="ja-JP" sz="2000" dirty="0"/>
          </a:p>
          <a:p>
            <a:r>
              <a:rPr lang="en-US" altLang="ja-JP" sz="2000" dirty="0"/>
              <a:t>**Output:**  </a:t>
            </a:r>
          </a:p>
          <a:p>
            <a:r>
              <a:rPr lang="en-US" altLang="ja-JP" sz="2000" dirty="0"/>
              <a:t>[3, 3, 9, 3, 1, 5, 3]  </a:t>
            </a:r>
          </a:p>
          <a:p>
            <a:endParaRPr lang="en-US" altLang="ja-JP" sz="2000" dirty="0"/>
          </a:p>
          <a:p>
            <a:r>
              <a:rPr lang="en-US" altLang="ja-JP" sz="2000" dirty="0"/>
              <a:t>**Final Answer:**  </a:t>
            </a:r>
          </a:p>
          <a:p>
            <a:r>
              <a:rPr lang="en-US" altLang="ja-JP" sz="2000" dirty="0"/>
              <a:t>[3, 3, 9, 3, 1, 5, 3]</a:t>
            </a:r>
            <a:endParaRPr kumimoji="1" lang="ja-JP" altLang="en-US" sz="2000" dirty="0"/>
          </a:p>
        </p:txBody>
      </p:sp>
    </p:spTree>
    <p:extLst>
      <p:ext uri="{BB962C8B-B14F-4D97-AF65-F5344CB8AC3E}">
        <p14:creationId xmlns:p14="http://schemas.microsoft.com/office/powerpoint/2010/main" val="1980460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155AC-23AE-DA91-0704-22182593B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A11CED-FC49-04F0-7514-474EB3DCBECA}"/>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3A2DAA9C-E67E-B699-44B6-38F997EB1AC9}"/>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5" name="四角形: 角を丸くする 4">
            <a:extLst>
              <a:ext uri="{FF2B5EF4-FFF2-40B4-BE49-F238E27FC236}">
                <a16:creationId xmlns:a16="http://schemas.microsoft.com/office/drawing/2014/main" id="{AB280D72-8DFD-BE79-06E6-A444A4B62ACA}"/>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[4, 5, 8, 0, 7, 3, 0, 2, 1]</a:t>
            </a:r>
          </a:p>
          <a:p>
            <a:r>
              <a:rPr lang="en-US" altLang="ja-JP" sz="2400" dirty="0"/>
              <a:t>Output:</a:t>
            </a:r>
          </a:p>
          <a:p>
            <a:r>
              <a:rPr lang="en-US" altLang="ja-JP" sz="2400" dirty="0"/>
              <a:t>[1, 2, 0, 3, 7, 0, 8, 5, 4]</a:t>
            </a:r>
          </a:p>
          <a:p>
            <a:endParaRPr lang="en-US" altLang="ja-JP" sz="2400" dirty="0"/>
          </a:p>
          <a:p>
            <a:r>
              <a:rPr lang="en-US" altLang="ja-JP" sz="2400" dirty="0"/>
              <a:t>Query</a:t>
            </a:r>
          </a:p>
          <a:p>
            <a:r>
              <a:rPr lang="en-US" altLang="ja-JP" sz="2400" dirty="0"/>
              <a:t>Input:</a:t>
            </a:r>
          </a:p>
          <a:p>
            <a:r>
              <a:rPr lang="en-US" altLang="ja-JP" sz="2400" dirty="0"/>
              <a:t>[5, 3, 8, 3, 2, 3, 6]</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0184B53A-112F-ACA2-BBD9-973AFE861792}"/>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33705CDB-B9BC-D70C-16FE-D8B3E75C950F}"/>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[6, 3, 2, 3, 8, 3, 5]</a:t>
            </a:r>
            <a:endParaRPr kumimoji="1" lang="ja-JP" altLang="en-US" sz="2400" dirty="0"/>
          </a:p>
        </p:txBody>
      </p:sp>
      <p:sp>
        <p:nvSpPr>
          <p:cNvPr id="10" name="矢印: 左カーブ 9">
            <a:extLst>
              <a:ext uri="{FF2B5EF4-FFF2-40B4-BE49-F238E27FC236}">
                <a16:creationId xmlns:a16="http://schemas.microsoft.com/office/drawing/2014/main" id="{E6366FDD-25BD-7074-A4BF-0882E0F64D46}"/>
              </a:ext>
            </a:extLst>
          </p:cNvPr>
          <p:cNvSpPr/>
          <p:nvPr/>
        </p:nvSpPr>
        <p:spPr>
          <a:xfrm>
            <a:off x="4643851" y="3798744"/>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DB8627A1-79A9-28D7-592B-BEC633D239EF}"/>
              </a:ext>
            </a:extLst>
          </p:cNvPr>
          <p:cNvSpPr txBox="1"/>
          <p:nvPr/>
        </p:nvSpPr>
        <p:spPr>
          <a:xfrm>
            <a:off x="4468437" y="4501982"/>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86584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AE127-01DB-D6D0-2B20-3CA05D2AF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655818-1284-4AC0-BCCE-3218E83617C4}"/>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B11B1470-198B-16C4-7A26-695FD9C6237B}"/>
              </a:ext>
            </a:extLst>
          </p:cNvPr>
          <p:cNvSpPr>
            <a:spLocks noGrp="1"/>
          </p:cNvSpPr>
          <p:nvPr>
            <p:ph idx="1"/>
          </p:nvPr>
        </p:nvSpPr>
        <p:spPr>
          <a:xfrm>
            <a:off x="484816" y="1825625"/>
            <a:ext cx="10868984" cy="4351338"/>
          </a:xfrm>
        </p:spPr>
        <p:txBody>
          <a:bodyPr>
            <a:normAutofit/>
          </a:bodyPr>
          <a:lstStyle/>
          <a:p>
            <a:r>
              <a:rPr lang="ja-JP" altLang="en-US" sz="3200" dirty="0"/>
              <a:t>推論の過程を要約したもの</a:t>
            </a:r>
            <a:endParaRPr lang="en-US" altLang="ja-JP" sz="3200" dirty="0"/>
          </a:p>
          <a:p>
            <a:pPr lvl="1"/>
            <a:r>
              <a:rPr lang="ja-JP" altLang="ja-JP" sz="2800" dirty="0"/>
              <a:t>Example 1から出力の要素位置を確認</a:t>
            </a:r>
            <a:endParaRPr lang="en-US" altLang="ja-JP" sz="2800" dirty="0"/>
          </a:p>
          <a:p>
            <a:pPr lvl="1"/>
            <a:r>
              <a:rPr lang="ja-JP" altLang="en-US" sz="2800" dirty="0"/>
              <a:t>「順序を逆にするルール」</a:t>
            </a:r>
            <a:r>
              <a:rPr kumimoji="1" lang="ja-JP" altLang="en-US" sz="2800" dirty="0"/>
              <a:t>の可能性を検討するが、途中で否定 </a:t>
            </a:r>
          </a:p>
          <a:p>
            <a:pPr lvl="1"/>
            <a:r>
              <a:rPr kumimoji="1" lang="en-US" altLang="ja-JP" sz="2800" dirty="0"/>
              <a:t>Example 2</a:t>
            </a:r>
            <a:r>
              <a:rPr kumimoji="1" lang="ja-JP" altLang="en-US" sz="2800" dirty="0"/>
              <a:t>以降について、要素の位置関係を繰り返し検討 </a:t>
            </a:r>
          </a:p>
          <a:p>
            <a:pPr lvl="1"/>
            <a:r>
              <a:rPr kumimoji="1" lang="ja-JP" altLang="en-US" sz="2800" dirty="0"/>
              <a:t>明確なルールを特定できないまま推論が長大化</a:t>
            </a:r>
            <a:endParaRPr kumimoji="1" lang="en-US" altLang="ja-JP" sz="2800" dirty="0"/>
          </a:p>
          <a:p>
            <a:pPr lvl="2"/>
            <a:r>
              <a:rPr lang="ja-JP" altLang="en-US" sz="2400" dirty="0"/>
              <a:t>ただ当てはまりそうなルールを提示するだけで、検証はしなくなってしまった。</a:t>
            </a:r>
            <a:endParaRPr lang="en-US" altLang="ja-JP" sz="2400" dirty="0"/>
          </a:p>
          <a:p>
            <a:pPr lvl="2"/>
            <a:r>
              <a:rPr lang="ja-JP" altLang="en-US" sz="2400" dirty="0"/>
              <a:t>トークンの上限</a:t>
            </a:r>
            <a:r>
              <a:rPr lang="en-US" altLang="ja-JP" sz="2400" dirty="0"/>
              <a:t>(4096</a:t>
            </a:r>
            <a:r>
              <a:rPr lang="ja-JP" altLang="en-US" sz="2400" dirty="0"/>
              <a:t>トークンが上限</a:t>
            </a:r>
            <a:r>
              <a:rPr lang="en-US" altLang="ja-JP" sz="2400" dirty="0"/>
              <a:t>)</a:t>
            </a:r>
            <a:r>
              <a:rPr lang="ja-JP" altLang="en-US" sz="2400" dirty="0"/>
              <a:t>まで</a:t>
            </a:r>
            <a:r>
              <a:rPr kumimoji="1" lang="ja-JP" altLang="en-US" sz="2400" dirty="0"/>
              <a:t>ひたすらルールを提示し続ける</a:t>
            </a:r>
          </a:p>
          <a:p>
            <a:pPr lvl="1"/>
            <a:r>
              <a:rPr kumimoji="1" lang="ja-JP" altLang="en-US" sz="2800" dirty="0"/>
              <a:t>最終的な変換ルール・出力を正しく導出できず</a:t>
            </a:r>
          </a:p>
          <a:p>
            <a:pPr lvl="1"/>
            <a:endParaRPr kumimoji="1" lang="ja-JP" altLang="en-US" sz="2800" dirty="0"/>
          </a:p>
        </p:txBody>
      </p:sp>
      <p:sp>
        <p:nvSpPr>
          <p:cNvPr id="4" name="スライド番号プレースホルダー 3">
            <a:extLst>
              <a:ext uri="{FF2B5EF4-FFF2-40B4-BE49-F238E27FC236}">
                <a16:creationId xmlns:a16="http://schemas.microsoft.com/office/drawing/2014/main" id="{69EB4058-FB60-4537-8733-2D55BD316CAD}"/>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2619576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33447-95BD-7EA9-862C-8D7AEEB895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387BC2-EA76-6F82-BA51-31113823025C}"/>
              </a:ext>
            </a:extLst>
          </p:cNvPr>
          <p:cNvSpPr>
            <a:spLocks noGrp="1"/>
          </p:cNvSpPr>
          <p:nvPr>
            <p:ph type="title"/>
          </p:nvPr>
        </p:nvSpPr>
        <p:spPr>
          <a:xfrm>
            <a:off x="692190" y="304427"/>
            <a:ext cx="10807615" cy="1325563"/>
          </a:xfrm>
        </p:spPr>
        <p:txBody>
          <a:bodyPr>
            <a:normAutofit fontScale="90000"/>
          </a:bodyPr>
          <a:lstStyle/>
          <a:p>
            <a:r>
              <a:rPr kumimoji="1" lang="ja-JP" altLang="en-US" dirty="0"/>
              <a:t>ベースモデルの出力の分析</a:t>
            </a:r>
            <a:br>
              <a:rPr kumimoji="1" lang="en-US" altLang="ja-JP" dirty="0"/>
            </a:br>
            <a:r>
              <a:rPr kumimoji="1" lang="en-US" altLang="ja-JP" dirty="0"/>
              <a:t>(</a:t>
            </a:r>
            <a:r>
              <a:rPr kumimoji="1" lang="ja-JP" altLang="en-US" dirty="0"/>
              <a:t>トークン上限で終了した場合と正解率の関係</a:t>
            </a:r>
            <a:r>
              <a:rPr kumimoji="1"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7DC44DD3-DD57-5936-27B2-9CCB5B7B897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6904C0-171A-64E3-375B-44B4C83CC13A}"/>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C2F8BD4B-B6BA-27AD-EE9C-BB4A5DCC4DA7}"/>
              </a:ext>
            </a:extLst>
          </p:cNvPr>
          <p:cNvGraphicFramePr>
            <a:graphicFrameLocks noGrp="1"/>
          </p:cNvGraphicFramePr>
          <p:nvPr>
            <p:ph idx="1"/>
          </p:nvPr>
        </p:nvGraphicFramePr>
        <p:xfrm>
          <a:off x="838200" y="1825626"/>
          <a:ext cx="10515597" cy="227997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759990">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759990">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759990">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graphicFrame>
        <p:nvGraphicFramePr>
          <p:cNvPr id="3" name="コンテンツ プレースホルダー 4">
            <a:extLst>
              <a:ext uri="{FF2B5EF4-FFF2-40B4-BE49-F238E27FC236}">
                <a16:creationId xmlns:a16="http://schemas.microsoft.com/office/drawing/2014/main" id="{BF38268E-4DCA-59BD-3D97-71FB3F3774B9}"/>
              </a:ext>
            </a:extLst>
          </p:cNvPr>
          <p:cNvGraphicFramePr>
            <a:graphicFrameLocks/>
          </p:cNvGraphicFramePr>
          <p:nvPr>
            <p:extLst>
              <p:ext uri="{D42A27DB-BD31-4B8C-83A1-F6EECF244321}">
                <p14:modId xmlns:p14="http://schemas.microsoft.com/office/powerpoint/2010/main" val="1999699124"/>
              </p:ext>
            </p:extLst>
          </p:nvPr>
        </p:nvGraphicFramePr>
        <p:xfrm>
          <a:off x="838200" y="1825625"/>
          <a:ext cx="10515597" cy="413945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827891">
                <a:tc>
                  <a:txBody>
                    <a:bodyPr/>
                    <a:lstStyle/>
                    <a:p>
                      <a:pPr algn="ctr"/>
                      <a:endParaRPr kumimoji="1" lang="ja-JP" altLang="en-US" sz="2400" dirty="0"/>
                    </a:p>
                  </a:txBody>
                  <a:tcPr anchor="ctr"/>
                </a:tc>
                <a:tc>
                  <a:txBody>
                    <a:bodyPr/>
                    <a:lstStyle/>
                    <a:p>
                      <a:pPr algn="ctr"/>
                      <a:r>
                        <a:rPr kumimoji="1" lang="ja-JP" altLang="en-US" sz="2400" dirty="0"/>
                        <a:t>テストデータその</a:t>
                      </a:r>
                      <a:r>
                        <a:rPr kumimoji="1" lang="en-US" altLang="ja-JP" sz="2400" dirty="0"/>
                        <a:t>1</a:t>
                      </a:r>
                      <a:endParaRPr kumimoji="1" lang="ja-JP" altLang="en-US" sz="2400" dirty="0"/>
                    </a:p>
                  </a:txBody>
                  <a:tcPr anchor="ctr"/>
                </a:tc>
                <a:tc>
                  <a:txBody>
                    <a:bodyPr/>
                    <a:lstStyle/>
                    <a:p>
                      <a:pPr algn="ctr"/>
                      <a:r>
                        <a:rPr kumimoji="1" lang="ja-JP" altLang="en-US" sz="2400" dirty="0"/>
                        <a:t>テストデータその</a:t>
                      </a:r>
                      <a:r>
                        <a:rPr kumimoji="1" lang="en-US" altLang="ja-JP" sz="2400" dirty="0"/>
                        <a:t>2</a:t>
                      </a:r>
                      <a:endParaRPr kumimoji="1" lang="ja-JP" altLang="en-US" sz="2400" dirty="0"/>
                    </a:p>
                  </a:txBody>
                  <a:tcPr anchor="ctr"/>
                </a:tc>
                <a:extLst>
                  <a:ext uri="{0D108BD9-81ED-4DB2-BD59-A6C34878D82A}">
                    <a16:rowId xmlns:a16="http://schemas.microsoft.com/office/drawing/2014/main" val="275587262"/>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254</a:t>
                      </a:r>
                      <a:endParaRPr kumimoji="1" lang="ja-JP" altLang="en-US" sz="2400" dirty="0"/>
                    </a:p>
                  </a:txBody>
                  <a:tcPr anchor="ctr"/>
                </a:tc>
                <a:tc>
                  <a:txBody>
                    <a:bodyPr/>
                    <a:lstStyle/>
                    <a:p>
                      <a:pPr algn="ctr"/>
                      <a:r>
                        <a:rPr kumimoji="1" lang="en-US" altLang="ja-JP" sz="2400" dirty="0"/>
                        <a:t>38</a:t>
                      </a:r>
                      <a:endParaRPr kumimoji="1" lang="ja-JP" altLang="en-US" sz="2400" dirty="0"/>
                    </a:p>
                  </a:txBody>
                  <a:tcPr anchor="ctr"/>
                </a:tc>
                <a:extLst>
                  <a:ext uri="{0D108BD9-81ED-4DB2-BD59-A6C34878D82A}">
                    <a16:rowId xmlns:a16="http://schemas.microsoft.com/office/drawing/2014/main" val="1068892279"/>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3</a:t>
                      </a:r>
                      <a:endParaRPr kumimoji="1" lang="ja-JP" altLang="en-US" sz="2400" dirty="0"/>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064241014"/>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13</a:t>
                      </a:r>
                      <a:endParaRPr kumimoji="1" lang="ja-JP" altLang="en-US" sz="2400" dirty="0"/>
                    </a:p>
                  </a:txBody>
                  <a:tcPr anchor="ctr"/>
                </a:tc>
                <a:tc>
                  <a:txBody>
                    <a:bodyPr/>
                    <a:lstStyle/>
                    <a:p>
                      <a:pPr algn="ctr"/>
                      <a:r>
                        <a:rPr kumimoji="1" lang="en-US" altLang="ja-JP" sz="2400" dirty="0"/>
                        <a:t>6</a:t>
                      </a:r>
                      <a:endParaRPr kumimoji="1" lang="ja-JP" altLang="en-US" sz="2400" dirty="0"/>
                    </a:p>
                  </a:txBody>
                  <a:tcPr anchor="ctr"/>
                </a:tc>
                <a:extLst>
                  <a:ext uri="{0D108BD9-81ED-4DB2-BD59-A6C34878D82A}">
                    <a16:rowId xmlns:a16="http://schemas.microsoft.com/office/drawing/2014/main" val="3511778032"/>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430</a:t>
                      </a:r>
                      <a:endParaRPr kumimoji="1" lang="ja-JP" altLang="en-US" sz="2400" dirty="0"/>
                    </a:p>
                  </a:txBody>
                  <a:tcPr anchor="ctr"/>
                </a:tc>
                <a:tc>
                  <a:txBody>
                    <a:bodyPr/>
                    <a:lstStyle/>
                    <a:p>
                      <a:pPr algn="ctr"/>
                      <a:r>
                        <a:rPr kumimoji="1" lang="en-US" altLang="ja-JP" sz="2400" dirty="0"/>
                        <a:t>405</a:t>
                      </a:r>
                      <a:endParaRPr kumimoji="1" lang="ja-JP" altLang="en-US" sz="2400"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42415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分析と考察</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normAutofit/>
          </a:bodyPr>
          <a:lstStyle/>
          <a:p>
            <a:r>
              <a:rPr kumimoji="1" lang="ja-JP" altLang="en-US" dirty="0"/>
              <a:t>ベースモデルの失敗要因：推論の長大化</a:t>
            </a:r>
            <a:endParaRPr kumimoji="1" lang="en-US" altLang="ja-JP" dirty="0"/>
          </a:p>
          <a:p>
            <a:endParaRPr kumimoji="1" lang="en-US" altLang="ja-JP" dirty="0"/>
          </a:p>
          <a:p>
            <a:r>
              <a:rPr kumimoji="1" lang="ja-JP" altLang="en-US" dirty="0"/>
              <a:t>考察</a:t>
            </a:r>
            <a:endParaRPr kumimoji="1" lang="en-US" altLang="ja-JP" dirty="0"/>
          </a:p>
          <a:p>
            <a:pPr lvl="1"/>
            <a:r>
              <a:rPr kumimoji="1" lang="ja-JP" altLang="en-US" sz="2800"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a:xfrm>
            <a:off x="838200" y="1374559"/>
            <a:ext cx="10515600" cy="4108881"/>
          </a:xfrm>
        </p:spPr>
        <p:txBody>
          <a:bodyPr/>
          <a:lstStyle/>
          <a:p>
            <a:r>
              <a:rPr lang="ja-JP" altLang="en-US" dirty="0"/>
              <a:t>答えのみを学習させることで、テストデータその</a:t>
            </a:r>
            <a:r>
              <a:rPr lang="en-US" altLang="ja-JP" dirty="0"/>
              <a:t>1</a:t>
            </a:r>
            <a:r>
              <a:rPr lang="ja-JP" altLang="en-US" dirty="0"/>
              <a:t>だけでなくテストデータその</a:t>
            </a:r>
            <a:r>
              <a:rPr lang="en-US" altLang="ja-JP" dirty="0"/>
              <a:t>2</a:t>
            </a:r>
            <a:r>
              <a:rPr lang="ja-JP" altLang="en-US" dirty="0"/>
              <a:t>の正解率も大きく向上した</a:t>
            </a:r>
          </a:p>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
        <p:nvSpPr>
          <p:cNvPr id="7" name="テキスト ボックス 6">
            <a:extLst>
              <a:ext uri="{FF2B5EF4-FFF2-40B4-BE49-F238E27FC236}">
                <a16:creationId xmlns:a16="http://schemas.microsoft.com/office/drawing/2014/main" id="{B16EF27F-99F3-788A-BE6D-AC717960A93F}"/>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8" name="表 7">
            <a:extLst>
              <a:ext uri="{FF2B5EF4-FFF2-40B4-BE49-F238E27FC236}">
                <a16:creationId xmlns:a16="http://schemas.microsoft.com/office/drawing/2014/main" id="{740E485A-FD0A-755C-CA11-6D70F92B8071}"/>
              </a:ext>
            </a:extLst>
          </p:cNvPr>
          <p:cNvGraphicFramePr>
            <a:graphicFrameLocks noGrp="1"/>
          </p:cNvGraphicFramePr>
          <p:nvPr>
            <p:extLst>
              <p:ext uri="{D42A27DB-BD31-4B8C-83A1-F6EECF244321}">
                <p14:modId xmlns:p14="http://schemas.microsoft.com/office/powerpoint/2010/main" val="2957096687"/>
              </p:ext>
            </p:extLst>
          </p:nvPr>
        </p:nvGraphicFramePr>
        <p:xfrm>
          <a:off x="838200" y="2255520"/>
          <a:ext cx="10515600" cy="391418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304729">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solidFill>
                            <a:srgbClr val="FF0000"/>
                          </a:solidFill>
                        </a:rPr>
                        <a:t>469/700</a:t>
                      </a:r>
                    </a:p>
                    <a:p>
                      <a:pPr algn="ctr"/>
                      <a:r>
                        <a:rPr kumimoji="1" lang="en-US" altLang="ja-JP" sz="2800" dirty="0">
                          <a:solidFill>
                            <a:srgbClr val="FF0000"/>
                          </a:solidFill>
                        </a:rPr>
                        <a:t>67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solidFill>
                            <a:srgbClr val="FF0000"/>
                          </a:solidFill>
                        </a:rPr>
                        <a:t>179/450</a:t>
                      </a:r>
                    </a:p>
                    <a:p>
                      <a:pPr algn="ctr"/>
                      <a:r>
                        <a:rPr kumimoji="1" lang="en-US" altLang="ja-JP" sz="2800" dirty="0">
                          <a:solidFill>
                            <a:srgbClr val="FF0000"/>
                          </a:solidFill>
                        </a:rPr>
                        <a:t>39.7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normAutofit/>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normAutofit/>
          </a:bodyPr>
          <a:lstStyle/>
          <a:p>
            <a:r>
              <a:rPr lang="ja-JP" altLang="en-US" sz="3200" dirty="0"/>
              <a:t>処理の順序が関係ない問題の内、</a:t>
            </a:r>
            <a:r>
              <a:rPr lang="en-US" altLang="ja-JP" sz="3200" dirty="0"/>
              <a:t>7</a:t>
            </a:r>
            <a:r>
              <a:rPr lang="ja-JP" altLang="en-US" sz="3200" dirty="0"/>
              <a:t>例だけ学習時に教えていない順序を適用</a:t>
            </a:r>
            <a:endParaRPr kumimoji="1" lang="en-US" altLang="ja-JP" sz="3200" dirty="0"/>
          </a:p>
          <a:p>
            <a:pPr lvl="1"/>
            <a:r>
              <a:rPr lang="en-US" altLang="ja-JP" sz="2800" dirty="0"/>
              <a:t>7</a:t>
            </a:r>
            <a:r>
              <a:rPr lang="ja-JP" altLang="en-US" sz="2800" dirty="0"/>
              <a:t>例中</a:t>
            </a:r>
            <a:r>
              <a:rPr lang="en-US" altLang="ja-JP" sz="2800" dirty="0"/>
              <a:t>6</a:t>
            </a:r>
            <a:r>
              <a:rPr lang="ja-JP" altLang="en-US" sz="2800" dirty="0"/>
              <a:t>例が最終的な回答まで合っていた。</a:t>
            </a:r>
            <a:endParaRPr lang="en-US" altLang="ja-JP" sz="2800" dirty="0"/>
          </a:p>
          <a:p>
            <a:endParaRPr lang="en-US" altLang="ja-JP" sz="3200" dirty="0"/>
          </a:p>
          <a:p>
            <a:r>
              <a:rPr lang="ja-JP" altLang="ja-JP" sz="3200" dirty="0"/>
              <a:t>学習時に与えられた処理順序の単純な再現だけでは説明できない出力が確認された</a:t>
            </a:r>
            <a:endParaRPr lang="en-US" altLang="ja-JP" sz="3200"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normAutofit/>
          </a:bodyPr>
          <a:lstStyle/>
          <a:p>
            <a:r>
              <a:rPr lang="ja-JP" altLang="ja-JP" sz="3200" dirty="0"/>
              <a:t>問題を解くために、モデルが学習データに存在しない処理を自発的に生成してしまう</a:t>
            </a:r>
            <a:endParaRPr lang="en-US" altLang="ja-JP" sz="3200" dirty="0"/>
          </a:p>
          <a:p>
            <a:endParaRPr kumimoji="1" lang="en-US" altLang="ja-JP" sz="3200" dirty="0"/>
          </a:p>
          <a:p>
            <a:r>
              <a:rPr lang="ja-JP" altLang="ja-JP" sz="3200" dirty="0"/>
              <a:t>学習データで使用していない処理名を、モデルが出力する事例も2例確認されました。</a:t>
            </a:r>
            <a:endParaRPr lang="en-US" altLang="ja-JP" sz="3200" dirty="0"/>
          </a:p>
          <a:p>
            <a:pPr lvl="1"/>
            <a:r>
              <a:rPr lang="ja-JP" altLang="ja-JP" sz="2800" dirty="0"/>
              <a:t>単なる誤ったルール</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a:t>
            </a:r>
            <a:r>
              <a:rPr kumimoji="1" lang="en-US" altLang="ja-JP" dirty="0"/>
              <a:t>(</a:t>
            </a:r>
            <a:r>
              <a:rPr kumimoji="1" lang="ja-JP" altLang="en-US" dirty="0"/>
              <a:t>訓練用データ内で使用しているルール名</a:t>
            </a:r>
            <a:r>
              <a:rPr kumimoji="1" lang="en-US" altLang="ja-JP" dirty="0"/>
              <a:t>)</a:t>
            </a:r>
            <a:r>
              <a:rPr kumimoji="1" lang="ja-JP" altLang="en-US" dirty="0"/>
              <a:t>を選べていたか</a:t>
            </a:r>
            <a:endParaRPr lang="en-US" altLang="ja-JP" dirty="0"/>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94AB6FED-56B8-7B5D-0A07-360B2B6F02DF}"/>
              </a:ext>
            </a:extLst>
          </p:cNvPr>
          <p:cNvGraphicFramePr>
            <a:graphicFrameLocks noGrp="1"/>
          </p:cNvGraphicFramePr>
          <p:nvPr>
            <p:extLst>
              <p:ext uri="{D42A27DB-BD31-4B8C-83A1-F6EECF244321}">
                <p14:modId xmlns:p14="http://schemas.microsoft.com/office/powerpoint/2010/main" val="830632784"/>
              </p:ext>
            </p:extLst>
          </p:nvPr>
        </p:nvGraphicFramePr>
        <p:xfrm>
          <a:off x="1769818" y="3097649"/>
          <a:ext cx="8652364" cy="3258701"/>
        </p:xfrm>
        <a:graphic>
          <a:graphicData uri="http://schemas.openxmlformats.org/drawingml/2006/table">
            <a:tbl>
              <a:tblPr firstRow="1" bandRow="1">
                <a:tableStyleId>{5C22544A-7EE6-4342-B048-85BDC9FD1C3A}</a:tableStyleId>
              </a:tblPr>
              <a:tblGrid>
                <a:gridCol w="2163091">
                  <a:extLst>
                    <a:ext uri="{9D8B030D-6E8A-4147-A177-3AD203B41FA5}">
                      <a16:colId xmlns:a16="http://schemas.microsoft.com/office/drawing/2014/main" val="3255851566"/>
                    </a:ext>
                  </a:extLst>
                </a:gridCol>
                <a:gridCol w="2163091">
                  <a:extLst>
                    <a:ext uri="{9D8B030D-6E8A-4147-A177-3AD203B41FA5}">
                      <a16:colId xmlns:a16="http://schemas.microsoft.com/office/drawing/2014/main" val="3985248991"/>
                    </a:ext>
                  </a:extLst>
                </a:gridCol>
                <a:gridCol w="2163091">
                  <a:extLst>
                    <a:ext uri="{9D8B030D-6E8A-4147-A177-3AD203B41FA5}">
                      <a16:colId xmlns:a16="http://schemas.microsoft.com/office/drawing/2014/main" val="498038683"/>
                    </a:ext>
                  </a:extLst>
                </a:gridCol>
                <a:gridCol w="2163091">
                  <a:extLst>
                    <a:ext uri="{9D8B030D-6E8A-4147-A177-3AD203B41FA5}">
                      <a16:colId xmlns:a16="http://schemas.microsoft.com/office/drawing/2014/main" val="2664031934"/>
                    </a:ext>
                  </a:extLst>
                </a:gridCol>
              </a:tblGrid>
              <a:tr h="718019">
                <a:tc>
                  <a:txBody>
                    <a:bodyPr/>
                    <a:lstStyle/>
                    <a:p>
                      <a:pPr algn="ctr"/>
                      <a:endParaRPr kumimoji="1" lang="ja-JP" altLang="en-US" sz="2400" dirty="0"/>
                    </a:p>
                  </a:txBody>
                  <a:tcPr anchor="ctr"/>
                </a:tc>
                <a:tc>
                  <a:txBody>
                    <a:bodyPr/>
                    <a:lstStyle/>
                    <a:p>
                      <a:pPr algn="ctr"/>
                      <a:r>
                        <a:rPr lang="ja-JP" altLang="ja-JP" sz="2400" dirty="0"/>
                        <a:t>正解</a:t>
                      </a:r>
                      <a:endParaRPr kumimoji="1" lang="ja-JP" altLang="en-US" sz="2400" dirty="0"/>
                    </a:p>
                  </a:txBody>
                  <a:tcPr anchor="ctr"/>
                </a:tc>
                <a:tc>
                  <a:txBody>
                    <a:bodyPr/>
                    <a:lstStyle/>
                    <a:p>
                      <a:pPr algn="ctr"/>
                      <a:r>
                        <a:rPr lang="ja-JP" altLang="ja-JP" sz="2400" dirty="0"/>
                        <a:t>不正解</a:t>
                      </a:r>
                      <a:endParaRPr kumimoji="1" lang="ja-JP" altLang="en-US" sz="2400" dirty="0"/>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1172174070"/>
                  </a:ext>
                </a:extLst>
              </a:tr>
              <a:tr h="846894">
                <a:tc>
                  <a:txBody>
                    <a:bodyPr/>
                    <a:lstStyle/>
                    <a:p>
                      <a:pPr algn="ctr"/>
                      <a:r>
                        <a:rPr lang="ja-JP" altLang="ja-JP" sz="2400" dirty="0"/>
                        <a:t>正しい</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52</a:t>
                      </a:r>
                      <a:r>
                        <a:rPr kumimoji="1" lang="en-US" altLang="ja-JP" sz="2400" b="0" i="0" kern="1200" dirty="0">
                          <a:solidFill>
                            <a:schemeClr val="dk1"/>
                          </a:solidFill>
                          <a:effectLst/>
                          <a:latin typeface="+mn-lt"/>
                          <a:ea typeface="+mn-ea"/>
                          <a:cs typeface="+mn-cs"/>
                        </a:rPr>
                        <a:t>7</a:t>
                      </a:r>
                      <a:r>
                        <a:rPr lang="ja-JP" altLang="ja-JP" sz="2400" dirty="0"/>
                        <a:t>(75.</a:t>
                      </a:r>
                      <a:r>
                        <a:rPr lang="en-US" altLang="ja-JP" sz="2400" dirty="0"/>
                        <a:t>2</a:t>
                      </a:r>
                      <a:r>
                        <a:rPr lang="ja-JP"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a:t>
                      </a:r>
                      <a:r>
                        <a:rPr kumimoji="1" lang="en-US" altLang="ja-JP" sz="2400" b="0" i="0" kern="1200" dirty="0">
                          <a:solidFill>
                            <a:schemeClr val="dk1"/>
                          </a:solidFill>
                          <a:effectLst/>
                          <a:latin typeface="+mn-lt"/>
                          <a:ea typeface="+mn-ea"/>
                          <a:cs typeface="+mn-cs"/>
                        </a:rPr>
                        <a:t>7(3.8%)</a:t>
                      </a:r>
                      <a:endParaRPr kumimoji="1" lang="ja-JP" altLang="en-US" sz="2400" dirty="0"/>
                    </a:p>
                  </a:txBody>
                  <a:tcPr anchor="ctr"/>
                </a:tc>
                <a:tc>
                  <a:txBody>
                    <a:bodyPr/>
                    <a:lstStyle/>
                    <a:p>
                      <a:pPr algn="ctr"/>
                      <a:r>
                        <a:rPr kumimoji="1" lang="en-US" altLang="ja-JP" sz="2400" dirty="0"/>
                        <a:t>554(79.1%)</a:t>
                      </a:r>
                      <a:endParaRPr kumimoji="1" lang="ja-JP" altLang="en-US" sz="2400" dirty="0"/>
                    </a:p>
                  </a:txBody>
                  <a:tcPr anchor="ctr"/>
                </a:tc>
                <a:extLst>
                  <a:ext uri="{0D108BD9-81ED-4DB2-BD59-A6C34878D82A}">
                    <a16:rowId xmlns:a16="http://schemas.microsoft.com/office/drawing/2014/main" val="6058657"/>
                  </a:ext>
                </a:extLst>
              </a:tr>
              <a:tr h="846894">
                <a:tc>
                  <a:txBody>
                    <a:bodyPr/>
                    <a:lstStyle/>
                    <a:p>
                      <a:pPr algn="ctr"/>
                      <a:r>
                        <a:rPr lang="ja-JP" altLang="ja-JP" sz="2400" dirty="0"/>
                        <a:t>誤った</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a:t>
                      </a:r>
                      <a:r>
                        <a:rPr kumimoji="1" lang="en-US" altLang="ja-JP" sz="2400" b="0" i="0" kern="1200" dirty="0">
                          <a:solidFill>
                            <a:schemeClr val="dk1"/>
                          </a:solidFill>
                          <a:effectLst/>
                          <a:latin typeface="+mn-lt"/>
                          <a:ea typeface="+mn-ea"/>
                          <a:cs typeface="+mn-cs"/>
                        </a:rPr>
                        <a:t>(5.1%)</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110</a:t>
                      </a:r>
                      <a:r>
                        <a:rPr kumimoji="1" lang="en-US" altLang="ja-JP" sz="2400" b="0" i="0" kern="1200" dirty="0">
                          <a:solidFill>
                            <a:schemeClr val="dk1"/>
                          </a:solidFill>
                          <a:effectLst/>
                          <a:latin typeface="+mn-lt"/>
                          <a:ea typeface="+mn-ea"/>
                          <a:cs typeface="+mn-cs"/>
                        </a:rPr>
                        <a:t>(15.7%)</a:t>
                      </a:r>
                      <a:endParaRPr kumimoji="1" lang="ja-JP" altLang="en-US" sz="2400" dirty="0"/>
                    </a:p>
                  </a:txBody>
                  <a:tcPr anchor="ctr"/>
                </a:tc>
                <a:tc>
                  <a:txBody>
                    <a:bodyPr/>
                    <a:lstStyle/>
                    <a:p>
                      <a:pPr algn="ctr"/>
                      <a:r>
                        <a:rPr kumimoji="1" lang="en-US" altLang="ja-JP" sz="2400" dirty="0"/>
                        <a:t>146 (20.8%)</a:t>
                      </a:r>
                      <a:endParaRPr kumimoji="1" lang="ja-JP" altLang="en-US" sz="2400" dirty="0"/>
                    </a:p>
                  </a:txBody>
                  <a:tcPr anchor="ctr"/>
                </a:tc>
                <a:extLst>
                  <a:ext uri="{0D108BD9-81ED-4DB2-BD59-A6C34878D82A}">
                    <a16:rowId xmlns:a16="http://schemas.microsoft.com/office/drawing/2014/main" val="3555240128"/>
                  </a:ext>
                </a:extLst>
              </a:tr>
              <a:tr h="846894">
                <a:tc>
                  <a:txBody>
                    <a:bodyPr/>
                    <a:lstStyle/>
                    <a:p>
                      <a:pPr algn="ctr"/>
                      <a:r>
                        <a:rPr lang="ja-JP" altLang="ja-JP" sz="2400" dirty="0"/>
                        <a:t>計</a:t>
                      </a:r>
                      <a:endParaRPr kumimoji="1" lang="ja-JP" altLang="en-US" sz="2400" dirty="0"/>
                    </a:p>
                  </a:txBody>
                  <a:tcPr anchor="ctr"/>
                </a:tc>
                <a:tc>
                  <a:txBody>
                    <a:bodyPr/>
                    <a:lstStyle/>
                    <a:p>
                      <a:pPr algn="ctr"/>
                      <a:r>
                        <a:rPr lang="ja-JP" altLang="ja-JP" sz="2400" dirty="0"/>
                        <a:t>563</a:t>
                      </a:r>
                      <a:r>
                        <a:rPr kumimoji="1" lang="en-US" altLang="ja-JP" sz="2400" dirty="0"/>
                        <a:t>(80.4%)</a:t>
                      </a:r>
                      <a:endParaRPr kumimoji="1" lang="ja-JP" altLang="en-US" sz="2400" dirty="0"/>
                    </a:p>
                  </a:txBody>
                  <a:tcPr anchor="ctr"/>
                </a:tc>
                <a:tc>
                  <a:txBody>
                    <a:bodyPr/>
                    <a:lstStyle/>
                    <a:p>
                      <a:pPr algn="ctr"/>
                      <a:r>
                        <a:rPr kumimoji="1" lang="en-US" altLang="ja-JP" sz="2400" dirty="0"/>
                        <a:t>137(19.5%)</a:t>
                      </a:r>
                      <a:endParaRPr kumimoji="1" lang="ja-JP" altLang="en-US" sz="2400" dirty="0"/>
                    </a:p>
                  </a:txBody>
                  <a:tcPr anchor="ctr"/>
                </a:tc>
                <a:tc>
                  <a:txBody>
                    <a:bodyPr/>
                    <a:lstStyle/>
                    <a:p>
                      <a:pPr algn="ctr"/>
                      <a:r>
                        <a:rPr kumimoji="1" lang="en-US" altLang="ja-JP" sz="2400" dirty="0"/>
                        <a:t>700</a:t>
                      </a:r>
                      <a:endParaRPr kumimoji="1" lang="ja-JP" altLang="en-US" sz="2400" dirty="0"/>
                    </a:p>
                  </a:txBody>
                  <a:tcPr anchor="ctr"/>
                </a:tc>
                <a:extLst>
                  <a:ext uri="{0D108BD9-81ED-4DB2-BD59-A6C34878D82A}">
                    <a16:rowId xmlns:a16="http://schemas.microsoft.com/office/drawing/2014/main" val="1975189124"/>
                  </a:ext>
                </a:extLst>
              </a:tr>
            </a:tbl>
          </a:graphicData>
        </a:graphic>
      </p:graphicFrame>
    </p:spTree>
    <p:extLst>
      <p:ext uri="{BB962C8B-B14F-4D97-AF65-F5344CB8AC3E}">
        <p14:creationId xmlns:p14="http://schemas.microsoft.com/office/powerpoint/2010/main" val="31937723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89F8C4-790E-DA25-F18F-0151736C88F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8A999B23-2CC5-1E9C-C725-1D21BF5C2283}"/>
              </a:ext>
            </a:extLst>
          </p:cNvPr>
          <p:cNvSpPr>
            <a:spLocks noGrp="1"/>
          </p:cNvSpPr>
          <p:nvPr>
            <p:ph idx="1"/>
          </p:nvPr>
        </p:nvSpPr>
        <p:spPr/>
        <p:txBody>
          <a:bodyPr>
            <a:normAutofit/>
          </a:bodyPr>
          <a:lstStyle/>
          <a:p>
            <a:r>
              <a:rPr kumimoji="1" lang="ja-JP" altLang="en-US" sz="3200" dirty="0"/>
              <a:t>正しいルール選択 → 正解：</a:t>
            </a:r>
            <a:r>
              <a:rPr kumimoji="1" lang="en-US" altLang="ja-JP" sz="3200" dirty="0"/>
              <a:t>527 / 554 = 9</a:t>
            </a:r>
            <a:r>
              <a:rPr lang="en-US" altLang="ja-JP" sz="3200" dirty="0"/>
              <a:t>5.1</a:t>
            </a:r>
            <a:r>
              <a:rPr kumimoji="1" lang="en-US" altLang="ja-JP" sz="3200" dirty="0"/>
              <a:t>%</a:t>
            </a:r>
          </a:p>
          <a:p>
            <a:r>
              <a:rPr kumimoji="1" lang="ja-JP" altLang="en-US" sz="3200" dirty="0"/>
              <a:t>誤ったルール選択 → 正解：</a:t>
            </a:r>
            <a:r>
              <a:rPr kumimoji="1" lang="en-US" altLang="ja-JP" sz="3200" dirty="0"/>
              <a:t>36 / 146 = 24.6% </a:t>
            </a:r>
          </a:p>
          <a:p>
            <a:r>
              <a:rPr kumimoji="1" lang="ja-JP" altLang="en-US" sz="3200" dirty="0"/>
              <a:t>ルール選択が正しい場合、その後の処理も高い確率で正しく行えている</a:t>
            </a:r>
            <a:endParaRPr kumimoji="1" lang="en-US" altLang="ja-JP" sz="3200" dirty="0"/>
          </a:p>
          <a:p>
            <a:r>
              <a:rPr kumimoji="1" lang="ja-JP" altLang="en-US" sz="3200" dirty="0"/>
              <a:t>不正解の主な要因は、ルール選択の段階での誤り</a:t>
            </a:r>
          </a:p>
        </p:txBody>
      </p:sp>
      <p:sp>
        <p:nvSpPr>
          <p:cNvPr id="4" name="スライド番号プレースホルダー 3">
            <a:extLst>
              <a:ext uri="{FF2B5EF4-FFF2-40B4-BE49-F238E27FC236}">
                <a16:creationId xmlns:a16="http://schemas.microsoft.com/office/drawing/2014/main" id="{9F24E83E-3BA5-7139-9BB3-C802C509A05A}"/>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143494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0CA0B9-152F-4E7F-9FE6-6C8870A3FD3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0A0084C-C382-0FE8-1752-F213B021860F}"/>
              </a:ext>
            </a:extLst>
          </p:cNvPr>
          <p:cNvSpPr>
            <a:spLocks noGrp="1"/>
          </p:cNvSpPr>
          <p:nvPr>
            <p:ph idx="1"/>
          </p:nvPr>
        </p:nvSpPr>
        <p:spPr/>
        <p:txBody>
          <a:bodyPr/>
          <a:lstStyle/>
          <a:p>
            <a:r>
              <a:rPr kumimoji="1" lang="ja-JP" altLang="en-US" dirty="0"/>
              <a:t>ルールを正しく適用できていたか</a:t>
            </a:r>
            <a:endParaRPr kumimoji="1" lang="en-US" altLang="ja-JP" dirty="0"/>
          </a:p>
          <a:p>
            <a:pPr lvl="1"/>
            <a:r>
              <a:rPr lang="ja-JP" altLang="en-US" dirty="0"/>
              <a:t>学習データではそもそも教えてない処理を生成してる</a:t>
            </a:r>
            <a:r>
              <a:rPr lang="en-US" altLang="ja-JP" dirty="0"/>
              <a:t>2</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AD6EA617-1E79-3605-BA3E-B9EBD3885963}"/>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graphicFrame>
        <p:nvGraphicFramePr>
          <p:cNvPr id="6" name="表 5">
            <a:extLst>
              <a:ext uri="{FF2B5EF4-FFF2-40B4-BE49-F238E27FC236}">
                <a16:creationId xmlns:a16="http://schemas.microsoft.com/office/drawing/2014/main" id="{598E29AC-141A-4391-6245-5D4ECDE4F8C7}"/>
              </a:ext>
            </a:extLst>
          </p:cNvPr>
          <p:cNvGraphicFramePr>
            <a:graphicFrameLocks noGrp="1"/>
          </p:cNvGraphicFramePr>
          <p:nvPr>
            <p:extLst>
              <p:ext uri="{D42A27DB-BD31-4B8C-83A1-F6EECF244321}">
                <p14:modId xmlns:p14="http://schemas.microsoft.com/office/powerpoint/2010/main" val="2850683606"/>
              </p:ext>
            </p:extLst>
          </p:nvPr>
        </p:nvGraphicFramePr>
        <p:xfrm>
          <a:off x="2032000" y="3052561"/>
          <a:ext cx="8128000" cy="3252968"/>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804582596"/>
                    </a:ext>
                  </a:extLst>
                </a:gridCol>
                <a:gridCol w="2032000">
                  <a:extLst>
                    <a:ext uri="{9D8B030D-6E8A-4147-A177-3AD203B41FA5}">
                      <a16:colId xmlns:a16="http://schemas.microsoft.com/office/drawing/2014/main" val="4279670729"/>
                    </a:ext>
                  </a:extLst>
                </a:gridCol>
                <a:gridCol w="2032000">
                  <a:extLst>
                    <a:ext uri="{9D8B030D-6E8A-4147-A177-3AD203B41FA5}">
                      <a16:colId xmlns:a16="http://schemas.microsoft.com/office/drawing/2014/main" val="3912188202"/>
                    </a:ext>
                  </a:extLst>
                </a:gridCol>
                <a:gridCol w="2032000">
                  <a:extLst>
                    <a:ext uri="{9D8B030D-6E8A-4147-A177-3AD203B41FA5}">
                      <a16:colId xmlns:a16="http://schemas.microsoft.com/office/drawing/2014/main" val="3434184460"/>
                    </a:ext>
                  </a:extLst>
                </a:gridCol>
              </a:tblGrid>
              <a:tr h="803524">
                <a:tc>
                  <a:txBody>
                    <a:bodyPr/>
                    <a:lstStyle/>
                    <a:p>
                      <a:pPr algn="ctr"/>
                      <a:endParaRPr kumimoji="1" lang="ja-JP" altLang="en-US" sz="2400" dirty="0"/>
                    </a:p>
                  </a:txBody>
                  <a:tcPr anchor="ctr"/>
                </a:tc>
                <a:tc>
                  <a:txBody>
                    <a:bodyPr/>
                    <a:lstStyle/>
                    <a:p>
                      <a:pPr algn="ctr"/>
                      <a:r>
                        <a:rPr kumimoji="1" lang="ja-JP" altLang="en-US" sz="2400" dirty="0"/>
                        <a:t>正解</a:t>
                      </a:r>
                    </a:p>
                  </a:txBody>
                  <a:tcPr anchor="ctr"/>
                </a:tc>
                <a:tc>
                  <a:txBody>
                    <a:bodyPr/>
                    <a:lstStyle/>
                    <a:p>
                      <a:pPr algn="ctr"/>
                      <a:r>
                        <a:rPr kumimoji="1" lang="ja-JP" altLang="en-US" sz="2400" dirty="0"/>
                        <a:t>不正解</a:t>
                      </a:r>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2787018612"/>
                  </a:ext>
                </a:extLst>
              </a:tr>
              <a:tr h="803524">
                <a:tc>
                  <a:txBody>
                    <a:bodyPr/>
                    <a:lstStyle/>
                    <a:p>
                      <a:pPr algn="ctr"/>
                      <a:r>
                        <a:rPr kumimoji="1" lang="ja-JP" altLang="en-US" sz="2400" dirty="0"/>
                        <a:t>正しい</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520</a:t>
                      </a:r>
                    </a:p>
                    <a:p>
                      <a:pPr algn="ctr"/>
                      <a:r>
                        <a:rPr lang="ja-JP" altLang="ja-JP" sz="2400" dirty="0"/>
                        <a:t>(74.</a:t>
                      </a:r>
                      <a:r>
                        <a:rPr lang="en-US" altLang="ja-JP" sz="2400" dirty="0"/>
                        <a:t>4</a:t>
                      </a:r>
                      <a:r>
                        <a:rPr lang="ja-JP" altLang="ja-JP" sz="2400" dirty="0"/>
                        <a:t>%)</a:t>
                      </a:r>
                      <a:endParaRPr kumimoji="1" lang="ja-JP" altLang="en-US" sz="2400" dirty="0"/>
                    </a:p>
                  </a:txBody>
                  <a:tcPr anchor="ctr"/>
                </a:tc>
                <a:tc>
                  <a:txBody>
                    <a:bodyPr/>
                    <a:lstStyle/>
                    <a:p>
                      <a:pPr algn="ctr"/>
                      <a:r>
                        <a:rPr kumimoji="1" lang="en-US" altLang="ja-JP" sz="2400" dirty="0"/>
                        <a:t>46</a:t>
                      </a:r>
                    </a:p>
                    <a:p>
                      <a:pPr algn="ctr"/>
                      <a:r>
                        <a:rPr lang="ja-JP" altLang="ja-JP" sz="2400" dirty="0"/>
                        <a:t>(6.</a:t>
                      </a:r>
                      <a:r>
                        <a:rPr lang="en-US" altLang="ja-JP" sz="2400" dirty="0"/>
                        <a:t>5</a:t>
                      </a:r>
                      <a:r>
                        <a:rPr lang="ja-JP" altLang="ja-JP" sz="2400" dirty="0"/>
                        <a:t>%)</a:t>
                      </a:r>
                      <a:endParaRPr kumimoji="1" lang="ja-JP" altLang="en-US" sz="2400" dirty="0"/>
                    </a:p>
                  </a:txBody>
                  <a:tcPr anchor="ctr"/>
                </a:tc>
                <a:tc>
                  <a:txBody>
                    <a:bodyPr/>
                    <a:lstStyle/>
                    <a:p>
                      <a:pPr algn="ctr"/>
                      <a:r>
                        <a:rPr kumimoji="1" lang="en-US" altLang="ja-JP" sz="2400" dirty="0"/>
                        <a:t>566</a:t>
                      </a:r>
                    </a:p>
                    <a:p>
                      <a:pPr algn="ctr"/>
                      <a:r>
                        <a:rPr kumimoji="1" lang="en-US" altLang="ja-JP" sz="2400" dirty="0"/>
                        <a:t>(81%)</a:t>
                      </a:r>
                      <a:endParaRPr kumimoji="1" lang="ja-JP" altLang="en-US" sz="2400" dirty="0"/>
                    </a:p>
                  </a:txBody>
                  <a:tcPr anchor="ctr"/>
                </a:tc>
                <a:extLst>
                  <a:ext uri="{0D108BD9-81ED-4DB2-BD59-A6C34878D82A}">
                    <a16:rowId xmlns:a16="http://schemas.microsoft.com/office/drawing/2014/main" val="3825885354"/>
                  </a:ext>
                </a:extLst>
              </a:tr>
              <a:tr h="803524">
                <a:tc>
                  <a:txBody>
                    <a:bodyPr/>
                    <a:lstStyle/>
                    <a:p>
                      <a:pPr algn="ctr"/>
                      <a:r>
                        <a:rPr kumimoji="1" lang="ja-JP" altLang="en-US" sz="2400" dirty="0"/>
                        <a:t>誤った</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42</a:t>
                      </a:r>
                      <a:r>
                        <a:rPr lang="ja-JP" altLang="ja-JP" sz="2400" dirty="0"/>
                        <a:t>(6%)</a:t>
                      </a:r>
                      <a:endParaRPr kumimoji="1" lang="ja-JP" altLang="en-US" sz="2400" dirty="0"/>
                    </a:p>
                  </a:txBody>
                  <a:tcPr anchor="ctr"/>
                </a:tc>
                <a:tc>
                  <a:txBody>
                    <a:bodyPr/>
                    <a:lstStyle/>
                    <a:p>
                      <a:pPr algn="ctr"/>
                      <a:r>
                        <a:rPr kumimoji="1" lang="en-US" altLang="ja-JP" sz="2400" dirty="0"/>
                        <a:t>90</a:t>
                      </a:r>
                      <a:r>
                        <a:rPr lang="ja-JP" altLang="ja-JP" sz="2400" dirty="0"/>
                        <a:t>(12.</a:t>
                      </a:r>
                      <a:r>
                        <a:rPr lang="en-US" altLang="ja-JP" sz="2400" dirty="0"/>
                        <a:t>8</a:t>
                      </a:r>
                      <a:r>
                        <a:rPr lang="ja-JP" altLang="ja-JP" sz="2400" dirty="0"/>
                        <a:t>%)</a:t>
                      </a:r>
                      <a:endParaRPr kumimoji="1" lang="ja-JP" altLang="en-US" sz="2400" dirty="0"/>
                    </a:p>
                  </a:txBody>
                  <a:tcPr anchor="ctr"/>
                </a:tc>
                <a:tc>
                  <a:txBody>
                    <a:bodyPr/>
                    <a:lstStyle/>
                    <a:p>
                      <a:pPr algn="ctr"/>
                      <a:r>
                        <a:rPr kumimoji="1" lang="en-US" altLang="ja-JP" sz="2400" dirty="0"/>
                        <a:t>132 (18.9%)</a:t>
                      </a:r>
                      <a:endParaRPr kumimoji="1" lang="ja-JP" altLang="en-US" sz="2400" dirty="0"/>
                    </a:p>
                  </a:txBody>
                  <a:tcPr anchor="ctr"/>
                </a:tc>
                <a:extLst>
                  <a:ext uri="{0D108BD9-81ED-4DB2-BD59-A6C34878D82A}">
                    <a16:rowId xmlns:a16="http://schemas.microsoft.com/office/drawing/2014/main" val="2562858176"/>
                  </a:ext>
                </a:extLst>
              </a:tr>
              <a:tr h="803524">
                <a:tc>
                  <a:txBody>
                    <a:bodyPr/>
                    <a:lstStyle/>
                    <a:p>
                      <a:pPr algn="ctr"/>
                      <a:r>
                        <a:rPr kumimoji="1" lang="ja-JP" altLang="en-US" sz="2400" dirty="0"/>
                        <a:t>計</a:t>
                      </a:r>
                    </a:p>
                  </a:txBody>
                  <a:tcPr anchor="ctr"/>
                </a:tc>
                <a:tc>
                  <a:txBody>
                    <a:bodyPr/>
                    <a:lstStyle/>
                    <a:p>
                      <a:pPr algn="ctr"/>
                      <a:r>
                        <a:rPr kumimoji="1" lang="en-US" altLang="ja-JP" sz="2400" dirty="0"/>
                        <a:t>562 (80.5%)</a:t>
                      </a:r>
                      <a:endParaRPr kumimoji="1" lang="ja-JP" altLang="en-US" sz="2400" dirty="0"/>
                    </a:p>
                  </a:txBody>
                  <a:tcPr anchor="ctr"/>
                </a:tc>
                <a:tc>
                  <a:txBody>
                    <a:bodyPr/>
                    <a:lstStyle/>
                    <a:p>
                      <a:pPr algn="ctr"/>
                      <a:r>
                        <a:rPr kumimoji="1" lang="en-US" altLang="ja-JP" sz="2400" dirty="0"/>
                        <a:t>136 (19.4%)</a:t>
                      </a:r>
                      <a:endParaRPr kumimoji="1" lang="ja-JP" altLang="en-US" sz="2400" dirty="0"/>
                    </a:p>
                  </a:txBody>
                  <a:tcPr anchor="ctr"/>
                </a:tc>
                <a:tc>
                  <a:txBody>
                    <a:bodyPr/>
                    <a:lstStyle/>
                    <a:p>
                      <a:pPr algn="ctr"/>
                      <a:r>
                        <a:rPr kumimoji="1" lang="en-US" altLang="ja-JP" sz="2400" dirty="0"/>
                        <a:t>698</a:t>
                      </a:r>
                      <a:endParaRPr kumimoji="1" lang="ja-JP" altLang="en-US" sz="2400" dirty="0"/>
                    </a:p>
                  </a:txBody>
                  <a:tcPr anchor="ctr"/>
                </a:tc>
                <a:extLst>
                  <a:ext uri="{0D108BD9-81ED-4DB2-BD59-A6C34878D82A}">
                    <a16:rowId xmlns:a16="http://schemas.microsoft.com/office/drawing/2014/main" val="2457602188"/>
                  </a:ext>
                </a:extLst>
              </a:tr>
            </a:tbl>
          </a:graphicData>
        </a:graphic>
      </p:graphicFrame>
    </p:spTree>
    <p:extLst>
      <p:ext uri="{BB962C8B-B14F-4D97-AF65-F5344CB8AC3E}">
        <p14:creationId xmlns:p14="http://schemas.microsoft.com/office/powerpoint/2010/main" val="560320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852493-A577-DAB4-8D69-AD7A54C2F26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11F871ED-3394-B5A8-5136-1C5546A4CD3E}"/>
              </a:ext>
            </a:extLst>
          </p:cNvPr>
          <p:cNvSpPr>
            <a:spLocks noGrp="1"/>
          </p:cNvSpPr>
          <p:nvPr>
            <p:ph idx="1"/>
          </p:nvPr>
        </p:nvSpPr>
        <p:spPr/>
        <p:txBody>
          <a:bodyPr/>
          <a:lstStyle/>
          <a:p>
            <a:r>
              <a:rPr kumimoji="1" lang="ja-JP" altLang="en-US" dirty="0"/>
              <a:t>ルールを正しく選べた場合の分析</a:t>
            </a:r>
          </a:p>
        </p:txBody>
      </p:sp>
      <p:sp>
        <p:nvSpPr>
          <p:cNvPr id="4" name="スライド番号プレースホルダー 3">
            <a:extLst>
              <a:ext uri="{FF2B5EF4-FFF2-40B4-BE49-F238E27FC236}">
                <a16:creationId xmlns:a16="http://schemas.microsoft.com/office/drawing/2014/main" id="{BBF44169-3AA1-82EB-504B-C8577F766333}"/>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graphicFrame>
        <p:nvGraphicFramePr>
          <p:cNvPr id="6" name="表 5">
            <a:extLst>
              <a:ext uri="{FF2B5EF4-FFF2-40B4-BE49-F238E27FC236}">
                <a16:creationId xmlns:a16="http://schemas.microsoft.com/office/drawing/2014/main" id="{FDF3E11F-9EA8-3D36-8C53-CE8AABC089AC}"/>
              </a:ext>
            </a:extLst>
          </p:cNvPr>
          <p:cNvGraphicFramePr>
            <a:graphicFrameLocks noGrp="1"/>
          </p:cNvGraphicFramePr>
          <p:nvPr>
            <p:extLst>
              <p:ext uri="{D42A27DB-BD31-4B8C-83A1-F6EECF244321}">
                <p14:modId xmlns:p14="http://schemas.microsoft.com/office/powerpoint/2010/main" val="1418173725"/>
              </p:ext>
            </p:extLst>
          </p:nvPr>
        </p:nvGraphicFramePr>
        <p:xfrm>
          <a:off x="2032000" y="2274576"/>
          <a:ext cx="8128000" cy="341075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8215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526</a:t>
                      </a:r>
                      <a:endParaRPr kumimoji="1" lang="ja-JP" altLang="en-US" sz="2400" dirty="0"/>
                    </a:p>
                  </a:txBody>
                  <a:tcPr anchor="ctr"/>
                </a:tc>
                <a:extLst>
                  <a:ext uri="{0D108BD9-81ED-4DB2-BD59-A6C34878D82A}">
                    <a16:rowId xmlns:a16="http://schemas.microsoft.com/office/drawing/2014/main" val="380766584"/>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420634431"/>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t>×</a:t>
                      </a:r>
                      <a:endParaRPr kumimoji="1" lang="ja-JP" altLang="en-US" sz="2400" dirty="0"/>
                    </a:p>
                  </a:txBody>
                  <a:tcPr anchor="ctr"/>
                </a:tc>
                <a:tc>
                  <a:txBody>
                    <a:bodyPr/>
                    <a:lstStyle/>
                    <a:p>
                      <a:pPr algn="ctr"/>
                      <a:r>
                        <a:rPr kumimoji="1" lang="en-US" altLang="ja-JP" sz="2400" dirty="0"/>
                        <a:t>27</a:t>
                      </a:r>
                      <a:endParaRPr kumimoji="1" lang="ja-JP" altLang="en-US"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234739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301CD-D356-098F-B6D8-7DD2406C001B}"/>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6097F1E4-8F69-A684-7368-E8FA66DBB62F}"/>
              </a:ext>
            </a:extLst>
          </p:cNvPr>
          <p:cNvSpPr>
            <a:spLocks noGrp="1"/>
          </p:cNvSpPr>
          <p:nvPr>
            <p:ph idx="1"/>
          </p:nvPr>
        </p:nvSpPr>
        <p:spPr/>
        <p:txBody>
          <a:bodyPr/>
          <a:lstStyle/>
          <a:p>
            <a:r>
              <a:rPr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62D584B1-3EA7-275F-749B-550CB5F3F311}"/>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graphicFrame>
        <p:nvGraphicFramePr>
          <p:cNvPr id="5" name="表 4">
            <a:extLst>
              <a:ext uri="{FF2B5EF4-FFF2-40B4-BE49-F238E27FC236}">
                <a16:creationId xmlns:a16="http://schemas.microsoft.com/office/drawing/2014/main" id="{1C0175EA-AE6C-5B6A-AC9B-73F732329AC4}"/>
              </a:ext>
            </a:extLst>
          </p:cNvPr>
          <p:cNvGraphicFramePr>
            <a:graphicFrameLocks noGrp="1"/>
          </p:cNvGraphicFramePr>
          <p:nvPr>
            <p:extLst>
              <p:ext uri="{D42A27DB-BD31-4B8C-83A1-F6EECF244321}">
                <p14:modId xmlns:p14="http://schemas.microsoft.com/office/powerpoint/2010/main" val="2142370331"/>
              </p:ext>
            </p:extLst>
          </p:nvPr>
        </p:nvGraphicFramePr>
        <p:xfrm>
          <a:off x="2032000" y="2268434"/>
          <a:ext cx="8128000" cy="342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80171117"/>
                    </a:ext>
                  </a:extLst>
                </a:gridCol>
                <a:gridCol w="2032000">
                  <a:extLst>
                    <a:ext uri="{9D8B030D-6E8A-4147-A177-3AD203B41FA5}">
                      <a16:colId xmlns:a16="http://schemas.microsoft.com/office/drawing/2014/main" val="1426255165"/>
                    </a:ext>
                  </a:extLst>
                </a:gridCol>
                <a:gridCol w="2032000">
                  <a:extLst>
                    <a:ext uri="{9D8B030D-6E8A-4147-A177-3AD203B41FA5}">
                      <a16:colId xmlns:a16="http://schemas.microsoft.com/office/drawing/2014/main" val="2309493775"/>
                    </a:ext>
                  </a:extLst>
                </a:gridCol>
                <a:gridCol w="2032000">
                  <a:extLst>
                    <a:ext uri="{9D8B030D-6E8A-4147-A177-3AD203B41FA5}">
                      <a16:colId xmlns:a16="http://schemas.microsoft.com/office/drawing/2014/main" val="817386420"/>
                    </a:ext>
                  </a:extLst>
                </a:gridCol>
              </a:tblGrid>
              <a:tr h="68400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517169335"/>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10</a:t>
                      </a:r>
                      <a:endParaRPr kumimoji="1" lang="ja-JP" altLang="en-US" sz="2400" dirty="0"/>
                    </a:p>
                  </a:txBody>
                  <a:tcPr anchor="ctr"/>
                </a:tc>
                <a:extLst>
                  <a:ext uri="{0D108BD9-81ED-4DB2-BD59-A6C34878D82A}">
                    <a16:rowId xmlns:a16="http://schemas.microsoft.com/office/drawing/2014/main" val="1564320072"/>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68</a:t>
                      </a:r>
                      <a:endParaRPr kumimoji="1" lang="ja-JP" altLang="en-US" sz="2400" dirty="0"/>
                    </a:p>
                  </a:txBody>
                  <a:tcPr anchor="ctr"/>
                </a:tc>
                <a:extLst>
                  <a:ext uri="{0D108BD9-81ED-4DB2-BD59-A6C34878D82A}">
                    <a16:rowId xmlns:a16="http://schemas.microsoft.com/office/drawing/2014/main" val="932963751"/>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26</a:t>
                      </a:r>
                      <a:endParaRPr kumimoji="1" lang="ja-JP" altLang="en-US" sz="2400" dirty="0"/>
                    </a:p>
                  </a:txBody>
                  <a:tcPr anchor="ctr"/>
                </a:tc>
                <a:extLst>
                  <a:ext uri="{0D108BD9-81ED-4DB2-BD59-A6C34878D82A}">
                    <a16:rowId xmlns:a16="http://schemas.microsoft.com/office/drawing/2014/main" val="25094660"/>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42</a:t>
                      </a:r>
                      <a:endParaRPr kumimoji="1" lang="ja-JP" altLang="en-US" sz="2400" dirty="0"/>
                    </a:p>
                  </a:txBody>
                  <a:tcPr anchor="ctr"/>
                </a:tc>
                <a:extLst>
                  <a:ext uri="{0D108BD9-81ED-4DB2-BD59-A6C34878D82A}">
                    <a16:rowId xmlns:a16="http://schemas.microsoft.com/office/drawing/2014/main" val="246520760"/>
                  </a:ext>
                </a:extLst>
              </a:tr>
            </a:tbl>
          </a:graphicData>
        </a:graphic>
      </p:graphicFrame>
    </p:spTree>
    <p:extLst>
      <p:ext uri="{BB962C8B-B14F-4D97-AF65-F5344CB8AC3E}">
        <p14:creationId xmlns:p14="http://schemas.microsoft.com/office/powerpoint/2010/main" val="2403712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8DB990-9728-1947-5450-3C3EC0AF82A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309AA82-5126-550F-5CF0-9593BDE42A34}"/>
              </a:ext>
            </a:extLst>
          </p:cNvPr>
          <p:cNvSpPr>
            <a:spLocks noGrp="1"/>
          </p:cNvSpPr>
          <p:nvPr>
            <p:ph idx="1"/>
          </p:nvPr>
        </p:nvSpPr>
        <p:spPr>
          <a:xfrm>
            <a:off x="838200" y="1825624"/>
            <a:ext cx="10515600" cy="4747009"/>
          </a:xfrm>
        </p:spPr>
        <p:txBody>
          <a:bodyPr>
            <a:normAutofit fontScale="92500" lnSpcReduction="10000"/>
          </a:bodyPr>
          <a:lstStyle/>
          <a:p>
            <a:r>
              <a:rPr kumimoji="1" lang="ja-JP" altLang="en-US" sz="3200" dirty="0"/>
              <a:t>正しいルールを選べた場合、ほぼ「適用できるか」で決まる</a:t>
            </a:r>
            <a:endParaRPr kumimoji="1" lang="en-US" altLang="ja-JP" sz="3200" dirty="0"/>
          </a:p>
          <a:p>
            <a:r>
              <a:rPr kumimoji="1" lang="ja-JP" altLang="en-US" sz="3200" dirty="0"/>
              <a:t>正しいルールを選択し、正しく適用できた場合、最終回答はすべて正解した。</a:t>
            </a:r>
            <a:endParaRPr lang="en-US" altLang="ja-JP" sz="3200" dirty="0"/>
          </a:p>
          <a:p>
            <a:r>
              <a:rPr kumimoji="1" lang="ja-JP" altLang="en-US" sz="3200" dirty="0"/>
              <a:t>「正しいルールを選んだのに適用で失敗」が</a:t>
            </a:r>
            <a:r>
              <a:rPr kumimoji="1" lang="en-US" altLang="ja-JP" sz="3200" dirty="0"/>
              <a:t>27</a:t>
            </a:r>
            <a:r>
              <a:rPr kumimoji="1" lang="ja-JP" altLang="en-US" sz="3200" dirty="0"/>
              <a:t>問</a:t>
            </a:r>
            <a:endParaRPr kumimoji="1" lang="en-US" altLang="ja-JP" sz="3200" dirty="0"/>
          </a:p>
          <a:p>
            <a:r>
              <a:rPr kumimoji="1" lang="ja-JP" altLang="en-US" sz="3200" dirty="0"/>
              <a:t>誤ったルールを選んだ場合は、かなり不安定</a:t>
            </a:r>
            <a:endParaRPr kumimoji="1" lang="en-US" altLang="ja-JP" sz="3200" dirty="0"/>
          </a:p>
          <a:p>
            <a:r>
              <a:rPr kumimoji="1" lang="ja-JP" altLang="en-US" sz="3200" dirty="0"/>
              <a:t>ルール選択を誤った場合、選択したルールを正しく適用できる場合もあるが、それでも最終的な正解にはつながりにくい。</a:t>
            </a:r>
            <a:endParaRPr kumimoji="1" lang="en-US" altLang="ja-JP" sz="3200" dirty="0"/>
          </a:p>
          <a:p>
            <a:r>
              <a:rPr kumimoji="1" lang="ja-JP" altLang="en-US" sz="3200" dirty="0"/>
              <a:t>「選択</a:t>
            </a:r>
            <a:r>
              <a:rPr kumimoji="1" lang="en-US" altLang="ja-JP" sz="3200" dirty="0"/>
              <a:t>×</a:t>
            </a:r>
            <a:r>
              <a:rPr kumimoji="1" lang="ja-JP" altLang="en-US" sz="3200" dirty="0"/>
              <a:t>・適用</a:t>
            </a:r>
            <a:r>
              <a:rPr kumimoji="1" lang="en-US" altLang="ja-JP" sz="3200" dirty="0"/>
              <a:t>×</a:t>
            </a:r>
            <a:r>
              <a:rPr kumimoji="1" lang="ja-JP" altLang="en-US" sz="3200" dirty="0"/>
              <a:t>・回答○」が</a:t>
            </a:r>
            <a:r>
              <a:rPr kumimoji="1" lang="en-US" altLang="ja-JP" sz="3200" dirty="0"/>
              <a:t>26</a:t>
            </a:r>
            <a:r>
              <a:rPr kumimoji="1" lang="ja-JP" altLang="en-US" sz="3200" dirty="0"/>
              <a:t>件ある</a:t>
            </a:r>
          </a:p>
        </p:txBody>
      </p:sp>
      <p:sp>
        <p:nvSpPr>
          <p:cNvPr id="4" name="スライド番号プレースホルダー 3">
            <a:extLst>
              <a:ext uri="{FF2B5EF4-FFF2-40B4-BE49-F238E27FC236}">
                <a16:creationId xmlns:a16="http://schemas.microsoft.com/office/drawing/2014/main" id="{CEBC135F-248B-1120-40AD-1F10FDE7CAD1}"/>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Tree>
    <p:extLst>
      <p:ext uri="{BB962C8B-B14F-4D97-AF65-F5344CB8AC3E}">
        <p14:creationId xmlns:p14="http://schemas.microsoft.com/office/powerpoint/2010/main" val="21920804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CB6A5B-C2E8-3604-02CB-54123A0F7B5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2A53606-3C4C-1C71-A04D-AF818D527974}"/>
              </a:ext>
            </a:extLst>
          </p:cNvPr>
          <p:cNvSpPr>
            <a:spLocks noGrp="1"/>
          </p:cNvSpPr>
          <p:nvPr>
            <p:ph idx="1"/>
          </p:nvPr>
        </p:nvSpPr>
        <p:spPr/>
        <p:txBody>
          <a:bodyPr>
            <a:normAutofit/>
          </a:bodyPr>
          <a:lstStyle/>
          <a:p>
            <a:r>
              <a:rPr kumimoji="1" lang="en-US" altLang="ja-JP" sz="3600" dirty="0"/>
              <a:t>26</a:t>
            </a:r>
            <a:r>
              <a:rPr kumimoji="1" lang="ja-JP" altLang="en-US" sz="3600" dirty="0"/>
              <a:t>件の</a:t>
            </a:r>
            <a:r>
              <a:rPr lang="ja-JP" altLang="en-US" sz="3600" dirty="0"/>
              <a:t>「選択</a:t>
            </a:r>
            <a:r>
              <a:rPr lang="en-US" altLang="ja-JP" sz="3600" dirty="0"/>
              <a:t>×</a:t>
            </a:r>
            <a:r>
              <a:rPr lang="ja-JP" altLang="en-US" sz="3600" dirty="0"/>
              <a:t>・適用</a:t>
            </a:r>
            <a:r>
              <a:rPr lang="en-US" altLang="ja-JP" sz="3600" dirty="0"/>
              <a:t>×</a:t>
            </a:r>
            <a:r>
              <a:rPr lang="ja-JP" altLang="en-US" sz="3600" dirty="0"/>
              <a:t>・回答○」について</a:t>
            </a:r>
            <a:endParaRPr lang="en-US" altLang="ja-JP" sz="3600" dirty="0"/>
          </a:p>
          <a:p>
            <a:r>
              <a:rPr kumimoji="1" lang="ja-JP" altLang="en-US" sz="3600" dirty="0"/>
              <a:t>パターン①：ルール名の不一致</a:t>
            </a:r>
            <a:endParaRPr kumimoji="1" lang="en-US" altLang="ja-JP" sz="3600" dirty="0"/>
          </a:p>
          <a:p>
            <a:pPr lvl="1"/>
            <a:r>
              <a:rPr lang="ja-JP" altLang="en-US" sz="3200" dirty="0"/>
              <a:t>実際の処理は正しい</a:t>
            </a:r>
            <a:endParaRPr lang="en-US" altLang="ja-JP" sz="3200" dirty="0"/>
          </a:p>
          <a:p>
            <a:pPr lvl="1"/>
            <a:r>
              <a:rPr lang="ja-JP" altLang="en-US" sz="3200" dirty="0"/>
              <a:t>評価上は選択</a:t>
            </a:r>
            <a:r>
              <a:rPr lang="en-US" altLang="ja-JP" sz="3200" dirty="0"/>
              <a:t>×</a:t>
            </a:r>
            <a:r>
              <a:rPr lang="ja-JP" altLang="en-US" sz="3200" dirty="0"/>
              <a:t>・適用</a:t>
            </a:r>
            <a:r>
              <a:rPr lang="en-US" altLang="ja-JP" sz="3200" dirty="0"/>
              <a:t>×</a:t>
            </a:r>
            <a:r>
              <a:rPr lang="ja-JP" altLang="en-US" sz="3200" dirty="0"/>
              <a:t>になっている</a:t>
            </a:r>
            <a:endParaRPr lang="en-US" altLang="ja-JP" sz="3200" dirty="0"/>
          </a:p>
          <a:p>
            <a:r>
              <a:rPr kumimoji="1" lang="ja-JP" altLang="en-US" sz="3600" dirty="0"/>
              <a:t>パターン②：冗長な処理の追加</a:t>
            </a:r>
            <a:endParaRPr kumimoji="1" lang="en-US" altLang="ja-JP" sz="3600" dirty="0"/>
          </a:p>
          <a:p>
            <a:pPr lvl="1"/>
            <a:r>
              <a:rPr kumimoji="1" lang="ja-JP" altLang="en-US" sz="3200" dirty="0"/>
              <a:t>正解に必要な処理はできている</a:t>
            </a:r>
            <a:endParaRPr kumimoji="1" lang="en-US" altLang="ja-JP" sz="3200" dirty="0"/>
          </a:p>
          <a:p>
            <a:pPr lvl="1"/>
            <a:r>
              <a:rPr kumimoji="1" lang="ja-JP" altLang="en-US" sz="3200" dirty="0"/>
              <a:t>結果に影響しない処理を追加している</a:t>
            </a:r>
            <a:endParaRPr kumimoji="1" lang="en-US" altLang="ja-JP" sz="3200" dirty="0"/>
          </a:p>
        </p:txBody>
      </p:sp>
      <p:sp>
        <p:nvSpPr>
          <p:cNvPr id="4" name="スライド番号プレースホルダー 3">
            <a:extLst>
              <a:ext uri="{FF2B5EF4-FFF2-40B4-BE49-F238E27FC236}">
                <a16:creationId xmlns:a16="http://schemas.microsoft.com/office/drawing/2014/main" id="{7CEBF255-A292-5CCA-EB9C-42930239C1A4}"/>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36567696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3350BD-4A48-7CE3-E6D8-0DA27FC932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CE033E-92D7-D246-B7F2-6AFA318E7DB1}"/>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34C86527-250E-C0E6-1AEE-A33C0FA1EEDE}"/>
              </a:ext>
            </a:extLst>
          </p:cNvPr>
          <p:cNvSpPr>
            <a:spLocks noGrp="1"/>
          </p:cNvSpPr>
          <p:nvPr>
            <p:ph idx="1"/>
          </p:nvPr>
        </p:nvSpPr>
        <p:spPr/>
        <p:txBody>
          <a:bodyPr/>
          <a:lstStyle/>
          <a:p>
            <a:r>
              <a:rPr kumimoji="1" lang="ja-JP" altLang="en-US" dirty="0"/>
              <a:t>ルールを正しく選べた場合の分析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0853F57-1B0A-0FB3-4556-AAB1DE33F4A9}"/>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graphicFrame>
        <p:nvGraphicFramePr>
          <p:cNvPr id="6" name="表 5">
            <a:extLst>
              <a:ext uri="{FF2B5EF4-FFF2-40B4-BE49-F238E27FC236}">
                <a16:creationId xmlns:a16="http://schemas.microsoft.com/office/drawing/2014/main" id="{25AFBA60-0A0F-4A61-9363-643FFAEB3B59}"/>
              </a:ext>
            </a:extLst>
          </p:cNvPr>
          <p:cNvGraphicFramePr>
            <a:graphicFrameLocks noGrp="1"/>
          </p:cNvGraphicFramePr>
          <p:nvPr>
            <p:extLst>
              <p:ext uri="{D42A27DB-BD31-4B8C-83A1-F6EECF244321}">
                <p14:modId xmlns:p14="http://schemas.microsoft.com/office/powerpoint/2010/main" val="2200498173"/>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en-US" altLang="ja-JP" sz="2400" dirty="0"/>
                        <a:t>1</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0</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dirty="0"/>
                        <a:t>0</a:t>
                      </a:r>
                      <a:endParaRPr lang="ja-JP" altLang="ja-JP"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78997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E3FAEB6-6A91-82D7-4493-70C0A94742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C893E-90C3-233F-F1B5-227963F79B5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FF6EC6BB-7F1E-E2DF-DC95-7B2E6A72F44F}"/>
              </a:ext>
            </a:extLst>
          </p:cNvPr>
          <p:cNvSpPr>
            <a:spLocks noGrp="1"/>
          </p:cNvSpPr>
          <p:nvPr>
            <p:ph idx="1"/>
          </p:nvPr>
        </p:nvSpPr>
        <p:spPr/>
        <p:txBody>
          <a:bodyPr/>
          <a:lstStyle/>
          <a:p>
            <a:r>
              <a:rPr kumimoji="1"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A05187A-DB30-15E4-D809-77BF0D78BCA6}"/>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graphicFrame>
        <p:nvGraphicFramePr>
          <p:cNvPr id="6" name="表 5">
            <a:extLst>
              <a:ext uri="{FF2B5EF4-FFF2-40B4-BE49-F238E27FC236}">
                <a16:creationId xmlns:a16="http://schemas.microsoft.com/office/drawing/2014/main" id="{D42B3A5A-8230-67EA-0EBB-7A5FD65CD706}"/>
              </a:ext>
            </a:extLst>
          </p:cNvPr>
          <p:cNvGraphicFramePr>
            <a:graphicFrameLocks noGrp="1"/>
          </p:cNvGraphicFramePr>
          <p:nvPr>
            <p:extLst>
              <p:ext uri="{D42A27DB-BD31-4B8C-83A1-F6EECF244321}">
                <p14:modId xmlns:p14="http://schemas.microsoft.com/office/powerpoint/2010/main" val="3668500996"/>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ja-JP" altLang="ja-JP" sz="2400" dirty="0"/>
                        <a:t>32</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ja-JP" altLang="ja-JP" sz="2400" dirty="0"/>
                        <a:t>271</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47</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dirty="0"/>
                        <a:t>99</a:t>
                      </a:r>
                      <a:endParaRPr lang="ja-JP" altLang="ja-JP"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29286604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B34D3-C78A-A01B-5225-57CB6F9B359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0FA241EC-1CB1-BC98-378A-39ACCE0C958B}"/>
              </a:ext>
            </a:extLst>
          </p:cNvPr>
          <p:cNvSpPr>
            <a:spLocks noGrp="1"/>
          </p:cNvSpPr>
          <p:nvPr>
            <p:ph idx="1"/>
          </p:nvPr>
        </p:nvSpPr>
        <p:spPr>
          <a:xfrm>
            <a:off x="838200" y="1825624"/>
            <a:ext cx="10515600" cy="4789968"/>
          </a:xfrm>
        </p:spPr>
        <p:txBody>
          <a:bodyPr>
            <a:normAutofit/>
          </a:bodyPr>
          <a:lstStyle/>
          <a:p>
            <a:r>
              <a:rPr kumimoji="1" lang="ja-JP" altLang="en-US" sz="3200" dirty="0"/>
              <a:t>正しいルール選択はほとんどできていない</a:t>
            </a:r>
            <a:endParaRPr kumimoji="1" lang="en-US" altLang="ja-JP" sz="3200" dirty="0"/>
          </a:p>
          <a:p>
            <a:pPr lvl="1"/>
            <a:r>
              <a:rPr kumimoji="1" lang="en-US" altLang="ja-JP" sz="2800" dirty="0"/>
              <a:t>1 / 450</a:t>
            </a:r>
            <a:r>
              <a:rPr kumimoji="1" lang="ja-JP" altLang="en-US" sz="2800" dirty="0"/>
              <a:t>件</a:t>
            </a:r>
            <a:endParaRPr lang="en-US" altLang="ja-JP" sz="2800" dirty="0"/>
          </a:p>
          <a:p>
            <a:r>
              <a:rPr kumimoji="1" lang="ja-JP" altLang="en-US" sz="3200" dirty="0"/>
              <a:t>最も多かったのは「選択</a:t>
            </a:r>
            <a:r>
              <a:rPr kumimoji="1" lang="en-US" altLang="ja-JP" sz="3200" dirty="0"/>
              <a:t>×</a:t>
            </a:r>
            <a:r>
              <a:rPr kumimoji="1" lang="ja-JP" altLang="en-US" sz="3200" dirty="0"/>
              <a:t>・適用○・回答</a:t>
            </a:r>
            <a:r>
              <a:rPr kumimoji="1" lang="en-US" altLang="ja-JP" sz="3200" dirty="0"/>
              <a:t>×</a:t>
            </a:r>
            <a:r>
              <a:rPr kumimoji="1" lang="ja-JP" altLang="en-US" sz="3200" dirty="0"/>
              <a:t>」</a:t>
            </a:r>
            <a:endParaRPr kumimoji="1" lang="en-US" altLang="ja-JP" sz="3200" dirty="0"/>
          </a:p>
          <a:p>
            <a:pPr lvl="1"/>
            <a:r>
              <a:rPr kumimoji="1" lang="en-US" altLang="ja-JP" sz="2800" dirty="0"/>
              <a:t>271 / 450</a:t>
            </a:r>
            <a:r>
              <a:rPr kumimoji="1" lang="ja-JP" altLang="en-US" sz="2800" dirty="0"/>
              <a:t>件 </a:t>
            </a:r>
            <a:r>
              <a:rPr kumimoji="1" lang="en-US" altLang="ja-JP" sz="2800" dirty="0"/>
              <a:t>= 60.2%</a:t>
            </a:r>
          </a:p>
          <a:p>
            <a:pPr lvl="1"/>
            <a:r>
              <a:rPr kumimoji="1" lang="ja-JP" altLang="en-US" sz="2800" dirty="0"/>
              <a:t>選択したルール自体は正しく適用できているが、ルールの組み合わせを正しく選択できず、最終的に不正解となった</a:t>
            </a:r>
            <a:endParaRPr kumimoji="1" lang="en-US" altLang="ja-JP" sz="2800" dirty="0"/>
          </a:p>
          <a:p>
            <a:pPr lvl="1"/>
            <a:r>
              <a:rPr kumimoji="1" lang="ja-JP" altLang="en-US" sz="2800" dirty="0"/>
              <a:t>既知の処理を適切に組み合わせることに難しさがある可能性</a:t>
            </a:r>
            <a:endParaRPr kumimoji="1" lang="en-US" altLang="ja-JP" sz="2800" dirty="0"/>
          </a:p>
          <a:p>
            <a:r>
              <a:rPr kumimoji="1" lang="ja-JP" altLang="en-US" sz="3200" dirty="0"/>
              <a:t>選択を間違えても正解するケースもある</a:t>
            </a:r>
            <a:endParaRPr kumimoji="1" lang="en-US" altLang="ja-JP" sz="3200" dirty="0"/>
          </a:p>
          <a:p>
            <a:pPr lvl="1"/>
            <a:r>
              <a:rPr kumimoji="1" lang="ja-JP" altLang="en-US" sz="2800" dirty="0"/>
              <a:t>選択</a:t>
            </a:r>
            <a:r>
              <a:rPr kumimoji="1" lang="en-US" altLang="ja-JP" sz="2800" dirty="0"/>
              <a:t>×</a:t>
            </a:r>
            <a:r>
              <a:rPr kumimoji="1" lang="ja-JP" altLang="en-US" sz="2800" dirty="0"/>
              <a:t>・適用○・回答○：</a:t>
            </a:r>
            <a:r>
              <a:rPr kumimoji="1" lang="en-US" altLang="ja-JP" sz="2800" dirty="0"/>
              <a:t>32</a:t>
            </a:r>
            <a:r>
              <a:rPr kumimoji="1" lang="ja-JP" altLang="en-US" sz="2800" dirty="0"/>
              <a:t>件</a:t>
            </a:r>
            <a:endParaRPr kumimoji="1" lang="en-US" altLang="ja-JP" sz="2800" dirty="0"/>
          </a:p>
          <a:p>
            <a:pPr lvl="1"/>
            <a:r>
              <a:rPr kumimoji="1" lang="ja-JP" altLang="en-US" sz="2800" dirty="0"/>
              <a:t>選択</a:t>
            </a:r>
            <a:r>
              <a:rPr kumimoji="1" lang="en-US" altLang="ja-JP" sz="2800" dirty="0"/>
              <a:t>×</a:t>
            </a:r>
            <a:r>
              <a:rPr kumimoji="1" lang="ja-JP" altLang="en-US" sz="2800" dirty="0"/>
              <a:t>・適用</a:t>
            </a:r>
            <a:r>
              <a:rPr kumimoji="1" lang="en-US" altLang="ja-JP" sz="2800" dirty="0"/>
              <a:t>×</a:t>
            </a:r>
            <a:r>
              <a:rPr kumimoji="1" lang="ja-JP" altLang="en-US" sz="2800" dirty="0"/>
              <a:t>・回答○：</a:t>
            </a:r>
            <a:r>
              <a:rPr kumimoji="1" lang="en-US" altLang="ja-JP" sz="2800" dirty="0"/>
              <a:t>47</a:t>
            </a:r>
            <a:r>
              <a:rPr kumimoji="1" lang="ja-JP" altLang="en-US" sz="2800" dirty="0"/>
              <a:t>件</a:t>
            </a:r>
            <a:endParaRPr kumimoji="1" lang="en-US" altLang="ja-JP" sz="2800" dirty="0"/>
          </a:p>
        </p:txBody>
      </p:sp>
      <p:sp>
        <p:nvSpPr>
          <p:cNvPr id="4" name="スライド番号プレースホルダー 3">
            <a:extLst>
              <a:ext uri="{FF2B5EF4-FFF2-40B4-BE49-F238E27FC236}">
                <a16:creationId xmlns:a16="http://schemas.microsoft.com/office/drawing/2014/main" id="{5754B12B-3969-51BD-5E9E-F5F0CF438854}"/>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11028510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10F40D-782D-B5FE-7282-5AABBF0929DD}"/>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C3BE5359-DB32-BD86-4138-E1160900C98C}"/>
              </a:ext>
            </a:extLst>
          </p:cNvPr>
          <p:cNvSpPr>
            <a:spLocks noGrp="1"/>
          </p:cNvSpPr>
          <p:nvPr>
            <p:ph idx="1"/>
          </p:nvPr>
        </p:nvSpPr>
        <p:spPr/>
        <p:txBody>
          <a:bodyPr>
            <a:normAutofit/>
          </a:bodyPr>
          <a:lstStyle/>
          <a:p>
            <a:r>
              <a:rPr lang="en-US" altLang="ja-JP" sz="3200" dirty="0"/>
              <a:t>RQ1</a:t>
            </a:r>
            <a:r>
              <a:rPr lang="ja-JP" altLang="en-US" sz="3200" dirty="0"/>
              <a:t>：</a:t>
            </a:r>
            <a:r>
              <a:rPr lang="en-US" altLang="ja-JP" sz="3200" dirty="0"/>
              <a:t>SFT</a:t>
            </a:r>
            <a:r>
              <a:rPr lang="ja-JP" altLang="en-US" sz="3200" dirty="0"/>
              <a:t>によって、既知の処理を新しい組み合わせで利用する問題解決能力は獲得されるのか？</a:t>
            </a:r>
            <a:endParaRPr lang="en-US" altLang="ja-JP" sz="3200" dirty="0"/>
          </a:p>
          <a:p>
            <a:pPr lvl="1"/>
            <a:r>
              <a:rPr lang="ja-JP" altLang="en-US" sz="2800" dirty="0"/>
              <a:t>どちらの</a:t>
            </a:r>
            <a:r>
              <a:rPr lang="en-US" altLang="ja-JP" sz="2800" dirty="0"/>
              <a:t>SFT</a:t>
            </a:r>
            <a:r>
              <a:rPr lang="ja-JP" altLang="en-US" sz="2800" dirty="0"/>
              <a:t>でもテストデータその</a:t>
            </a:r>
            <a:r>
              <a:rPr lang="en-US" altLang="ja-JP" sz="2800" dirty="0"/>
              <a:t>2</a:t>
            </a:r>
            <a:r>
              <a:rPr lang="ja-JP" altLang="en-US" sz="2800" dirty="0"/>
              <a:t>での性能はベースモデルより向上しているため、</a:t>
            </a:r>
            <a:r>
              <a:rPr lang="en-US" altLang="ja-JP" sz="2800" dirty="0"/>
              <a:t>SFT</a:t>
            </a:r>
            <a:r>
              <a:rPr lang="ja-JP" altLang="en-US" sz="2800" dirty="0"/>
              <a:t>によって既知の処理を新しい組み合わせで利用する能力が一定程度獲得できた</a:t>
            </a:r>
            <a:endParaRPr lang="en-US" altLang="ja-JP" sz="2800" dirty="0"/>
          </a:p>
          <a:p>
            <a:pPr lvl="1"/>
            <a:r>
              <a:rPr lang="ja-JP" altLang="en-US" sz="2800" dirty="0"/>
              <a:t>テストデータその２での性能はテストデータその</a:t>
            </a:r>
            <a:r>
              <a:rPr lang="en-US" altLang="ja-JP" sz="2800" dirty="0"/>
              <a:t>1</a:t>
            </a:r>
            <a:r>
              <a:rPr lang="ja-JP" altLang="en-US" sz="2800" dirty="0"/>
              <a:t>での性能と比較して低く、獲得された能力は限定的</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2CB9FA0E-5A0C-E28C-5963-CF6818C9B04B}"/>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14085991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1513D-8BAE-B030-0BDB-54B176C4FF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FB300F-A209-EDA8-63E9-B98B3517E85C}"/>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11F7692A-B488-F637-91E6-7217E03B8E27}"/>
              </a:ext>
            </a:extLst>
          </p:cNvPr>
          <p:cNvSpPr>
            <a:spLocks noGrp="1"/>
          </p:cNvSpPr>
          <p:nvPr>
            <p:ph idx="1"/>
          </p:nvPr>
        </p:nvSpPr>
        <p:spPr/>
        <p:txBody>
          <a:bodyPr>
            <a:normAutofit/>
          </a:bodyPr>
          <a:lstStyle/>
          <a:p>
            <a:r>
              <a:rPr lang="en-US" altLang="ja-JP" sz="3200" dirty="0"/>
              <a:t>RQ2</a:t>
            </a:r>
            <a:r>
              <a:rPr lang="ja-JP" altLang="en-US" sz="3200" dirty="0"/>
              <a:t>：</a:t>
            </a:r>
            <a:r>
              <a:rPr lang="en-US" altLang="ja-JP" sz="3200" dirty="0"/>
              <a:t>SFT</a:t>
            </a:r>
            <a:r>
              <a:rPr lang="ja-JP" altLang="en-US" sz="3200" dirty="0"/>
              <a:t>における教師データの違いは、この問題解決能力の獲得にどのような影響を与えるのか？</a:t>
            </a:r>
            <a:endParaRPr lang="en-US" altLang="ja-JP" sz="3200" dirty="0"/>
          </a:p>
          <a:p>
            <a:pPr lvl="1"/>
            <a:r>
              <a:rPr lang="ja-JP" altLang="en-US" sz="2800" dirty="0"/>
              <a:t>答え＋処理過程</a:t>
            </a:r>
            <a:r>
              <a:rPr lang="en-US" altLang="ja-JP" sz="2800" dirty="0"/>
              <a:t>SFT</a:t>
            </a:r>
            <a:r>
              <a:rPr lang="ja-JP" altLang="en-US" sz="2800" dirty="0"/>
              <a:t>はテストデータその</a:t>
            </a:r>
            <a:r>
              <a:rPr lang="en-US" altLang="ja-JP" sz="2800" dirty="0"/>
              <a:t>1</a:t>
            </a:r>
            <a:r>
              <a:rPr lang="ja-JP" altLang="en-US" sz="2800" dirty="0"/>
              <a:t>では</a:t>
            </a:r>
            <a:r>
              <a:rPr lang="en-US" altLang="ja-JP" sz="2800" dirty="0"/>
              <a:t>80.4%</a:t>
            </a:r>
            <a:r>
              <a:rPr lang="ja-JP" altLang="en-US" sz="2800" dirty="0"/>
              <a:t>と最も高いが、テストデータその</a:t>
            </a:r>
            <a:r>
              <a:rPr lang="en-US" altLang="ja-JP" sz="2800" dirty="0"/>
              <a:t>2</a:t>
            </a:r>
            <a:r>
              <a:rPr lang="ja-JP" altLang="en-US" sz="2800" dirty="0"/>
              <a:t>では</a:t>
            </a:r>
            <a:r>
              <a:rPr lang="en-US" altLang="ja-JP" sz="2800" dirty="0"/>
              <a:t>17.7%</a:t>
            </a:r>
            <a:r>
              <a:rPr lang="ja-JP" altLang="en-US" sz="2800" dirty="0"/>
              <a:t>となり、答えのみ</a:t>
            </a:r>
            <a:r>
              <a:rPr lang="en-US" altLang="ja-JP" sz="2800" dirty="0"/>
              <a:t>SFT</a:t>
            </a:r>
            <a:r>
              <a:rPr lang="ja-JP" altLang="en-US" sz="2800" dirty="0"/>
              <a:t>の</a:t>
            </a:r>
            <a:r>
              <a:rPr lang="en-US" altLang="ja-JP" sz="2800" dirty="0"/>
              <a:t>39.7%</a:t>
            </a:r>
            <a:r>
              <a:rPr lang="ja-JP" altLang="en-US" sz="2800" dirty="0"/>
              <a:t>を下回る</a:t>
            </a:r>
            <a:endParaRPr lang="en-US" altLang="ja-JP" sz="2800" dirty="0"/>
          </a:p>
          <a:p>
            <a:pPr lvl="1"/>
            <a:r>
              <a:rPr lang="ja-JP" altLang="en-US" sz="2800" dirty="0"/>
              <a:t>処理過程を教師として与えることは、学習した問題への適応には有効だが、新しい組み合わせへの汎化を必ずしも促進しない可能性</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FD467DEE-4DE6-E08A-0E33-8B4CEDD1A9D1}"/>
              </a:ext>
            </a:extLst>
          </p:cNvPr>
          <p:cNvSpPr>
            <a:spLocks noGrp="1"/>
          </p:cNvSpPr>
          <p:nvPr>
            <p:ph type="sldNum" sz="quarter" idx="12"/>
          </p:nvPr>
        </p:nvSpPr>
        <p:spPr/>
        <p:txBody>
          <a:bodyPr/>
          <a:lstStyle/>
          <a:p>
            <a:fld id="{10649E7B-FC1B-418B-9B6A-00859DB1DEE8}" type="slidenum">
              <a:rPr kumimoji="1" lang="ja-JP" altLang="en-US" smtClean="0"/>
              <a:t>48</a:t>
            </a:fld>
            <a:endParaRPr kumimoji="1" lang="ja-JP" altLang="en-US"/>
          </a:p>
        </p:txBody>
      </p:sp>
    </p:spTree>
    <p:extLst>
      <p:ext uri="{BB962C8B-B14F-4D97-AF65-F5344CB8AC3E}">
        <p14:creationId xmlns:p14="http://schemas.microsoft.com/office/powerpoint/2010/main" val="29457955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E69329-AF1E-667F-1EA5-4ED2C221D285}"/>
              </a:ext>
            </a:extLst>
          </p:cNvPr>
          <p:cNvSpPr>
            <a:spLocks noGrp="1"/>
          </p:cNvSpPr>
          <p:nvPr>
            <p:ph type="title"/>
          </p:nvPr>
        </p:nvSpPr>
        <p:spPr/>
        <p:txBody>
          <a:bodyPr/>
          <a:lstStyle/>
          <a:p>
            <a:r>
              <a:rPr kumimoji="1" lang="ja-JP" altLang="en-US" dirty="0"/>
              <a:t>今後の課題</a:t>
            </a:r>
          </a:p>
        </p:txBody>
      </p:sp>
      <p:sp>
        <p:nvSpPr>
          <p:cNvPr id="3" name="コンテンツ プレースホルダー 2">
            <a:extLst>
              <a:ext uri="{FF2B5EF4-FFF2-40B4-BE49-F238E27FC236}">
                <a16:creationId xmlns:a16="http://schemas.microsoft.com/office/drawing/2014/main" id="{36FA4F64-8AB9-3F80-0D97-3E540A81AE53}"/>
              </a:ext>
            </a:extLst>
          </p:cNvPr>
          <p:cNvSpPr>
            <a:spLocks noGrp="1"/>
          </p:cNvSpPr>
          <p:nvPr>
            <p:ph idx="1"/>
          </p:nvPr>
        </p:nvSpPr>
        <p:spPr/>
        <p:txBody>
          <a:bodyPr>
            <a:normAutofit/>
          </a:bodyPr>
          <a:lstStyle/>
          <a:p>
            <a:r>
              <a:rPr lang="ja-JP" altLang="en-US" sz="3200" dirty="0"/>
              <a:t>答え＋処理過程の</a:t>
            </a:r>
            <a:r>
              <a:rPr lang="en-US" altLang="ja-JP" sz="3200" dirty="0"/>
              <a:t>SFT</a:t>
            </a:r>
            <a:r>
              <a:rPr lang="ja-JP" altLang="en-US" sz="3200" dirty="0"/>
              <a:t>の分析をもう少し</a:t>
            </a:r>
            <a:endParaRPr lang="en-US" altLang="ja-JP" sz="3200" dirty="0"/>
          </a:p>
          <a:p>
            <a:endParaRPr lang="en-US" altLang="ja-JP" sz="3200" dirty="0"/>
          </a:p>
          <a:p>
            <a:r>
              <a:rPr lang="ja-JP" altLang="en-US" sz="3200" dirty="0"/>
              <a:t>テストデータその</a:t>
            </a:r>
            <a:r>
              <a:rPr lang="en-US" altLang="ja-JP" sz="3200" dirty="0"/>
              <a:t>2</a:t>
            </a:r>
            <a:r>
              <a:rPr lang="ja-JP" altLang="en-US" sz="3200" dirty="0"/>
              <a:t>についての分析</a:t>
            </a:r>
            <a:endParaRPr kumimoji="1" lang="en-US" altLang="ja-JP" sz="3200" dirty="0"/>
          </a:p>
          <a:p>
            <a:endParaRPr kumimoji="1" lang="ja-JP" altLang="en-US" sz="3200" dirty="0"/>
          </a:p>
          <a:p>
            <a:r>
              <a:rPr kumimoji="1" lang="ja-JP" altLang="en-US" sz="3200" dirty="0"/>
              <a:t>推論過程の最初の誤りが発生する位置・原因を分析</a:t>
            </a:r>
            <a:endParaRPr kumimoji="1" lang="en-US" altLang="ja-JP" sz="3200" dirty="0"/>
          </a:p>
          <a:p>
            <a:endParaRPr lang="en-US" altLang="ja-JP" sz="3200" dirty="0"/>
          </a:p>
        </p:txBody>
      </p:sp>
      <p:sp>
        <p:nvSpPr>
          <p:cNvPr id="4" name="スライド番号プレースホルダー 3">
            <a:extLst>
              <a:ext uri="{FF2B5EF4-FFF2-40B4-BE49-F238E27FC236}">
                <a16:creationId xmlns:a16="http://schemas.microsoft.com/office/drawing/2014/main" id="{92CC3E0A-FCC4-6102-0CD1-6E203FE7993E}"/>
              </a:ext>
            </a:extLst>
          </p:cNvPr>
          <p:cNvSpPr>
            <a:spLocks noGrp="1"/>
          </p:cNvSpPr>
          <p:nvPr>
            <p:ph type="sldNum" sz="quarter" idx="12"/>
          </p:nvPr>
        </p:nvSpPr>
        <p:spPr/>
        <p:txBody>
          <a:bodyPr/>
          <a:lstStyle/>
          <a:p>
            <a:fld id="{10649E7B-FC1B-418B-9B6A-00859DB1DEE8}" type="slidenum">
              <a:rPr kumimoji="1" lang="ja-JP" altLang="en-US" smtClean="0"/>
              <a:t>49</a:t>
            </a:fld>
            <a:endParaRPr kumimoji="1" lang="ja-JP" altLang="en-US"/>
          </a:p>
        </p:txBody>
      </p:sp>
    </p:spTree>
    <p:extLst>
      <p:ext uri="{BB962C8B-B14F-4D97-AF65-F5344CB8AC3E}">
        <p14:creationId xmlns:p14="http://schemas.microsoft.com/office/powerpoint/2010/main" val="20554813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959B89-0CB7-D762-0215-ACF53DC80765}"/>
              </a:ext>
            </a:extLst>
          </p:cNvPr>
          <p:cNvSpPr>
            <a:spLocks noGrp="1"/>
          </p:cNvSpPr>
          <p:nvPr>
            <p:ph type="title"/>
          </p:nvPr>
        </p:nvSpPr>
        <p:spPr/>
        <p:txBody>
          <a:bodyPr/>
          <a:lstStyle/>
          <a:p>
            <a:r>
              <a:rPr kumimoji="1" lang="ja-JP" altLang="en-US" dirty="0"/>
              <a:t>実験の改善点</a:t>
            </a:r>
          </a:p>
        </p:txBody>
      </p:sp>
      <p:sp>
        <p:nvSpPr>
          <p:cNvPr id="3" name="コンテンツ プレースホルダー 2">
            <a:extLst>
              <a:ext uri="{FF2B5EF4-FFF2-40B4-BE49-F238E27FC236}">
                <a16:creationId xmlns:a16="http://schemas.microsoft.com/office/drawing/2014/main" id="{FE690461-7056-8E83-E806-6396C50A43DE}"/>
              </a:ext>
            </a:extLst>
          </p:cNvPr>
          <p:cNvSpPr>
            <a:spLocks noGrp="1"/>
          </p:cNvSpPr>
          <p:nvPr>
            <p:ph idx="1"/>
          </p:nvPr>
        </p:nvSpPr>
        <p:spPr/>
        <p:txBody>
          <a:bodyPr>
            <a:normAutofit/>
          </a:bodyPr>
          <a:lstStyle/>
          <a:p>
            <a:r>
              <a:rPr lang="ja-JP" altLang="en-US" sz="3200" dirty="0"/>
              <a:t>問題文の部分もモデルの調整に含めない</a:t>
            </a:r>
            <a:endParaRPr lang="en-US" altLang="ja-JP" sz="3200" dirty="0"/>
          </a:p>
          <a:p>
            <a:endParaRPr lang="en-US" altLang="ja-JP" sz="3200" dirty="0"/>
          </a:p>
          <a:p>
            <a:r>
              <a:rPr lang="ja-JP" altLang="en-US" sz="3200" dirty="0"/>
              <a:t>教師データの偏り</a:t>
            </a:r>
            <a:endParaRPr lang="en-US" altLang="ja-JP" sz="3200" dirty="0"/>
          </a:p>
        </p:txBody>
      </p:sp>
      <p:sp>
        <p:nvSpPr>
          <p:cNvPr id="4" name="スライド番号プレースホルダー 3">
            <a:extLst>
              <a:ext uri="{FF2B5EF4-FFF2-40B4-BE49-F238E27FC236}">
                <a16:creationId xmlns:a16="http://schemas.microsoft.com/office/drawing/2014/main" id="{27DC1D97-E555-A2C1-A739-D33B70FE3928}"/>
              </a:ext>
            </a:extLst>
          </p:cNvPr>
          <p:cNvSpPr>
            <a:spLocks noGrp="1"/>
          </p:cNvSpPr>
          <p:nvPr>
            <p:ph type="sldNum" sz="quarter" idx="12"/>
          </p:nvPr>
        </p:nvSpPr>
        <p:spPr/>
        <p:txBody>
          <a:bodyPr/>
          <a:lstStyle/>
          <a:p>
            <a:fld id="{10649E7B-FC1B-418B-9B6A-00859DB1DEE8}" type="slidenum">
              <a:rPr kumimoji="1" lang="ja-JP" altLang="en-US" smtClean="0"/>
              <a:t>50</a:t>
            </a:fld>
            <a:endParaRPr kumimoji="1" lang="ja-JP" altLang="en-US"/>
          </a:p>
        </p:txBody>
      </p:sp>
    </p:spTree>
    <p:extLst>
      <p:ext uri="{BB962C8B-B14F-4D97-AF65-F5344CB8AC3E}">
        <p14:creationId xmlns:p14="http://schemas.microsoft.com/office/powerpoint/2010/main" val="3089590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BC79A2-AA51-8388-6EAA-30FC6DDD4B90}"/>
              </a:ext>
            </a:extLst>
          </p:cNvPr>
          <p:cNvSpPr>
            <a:spLocks noGrp="1"/>
          </p:cNvSpPr>
          <p:nvPr>
            <p:ph type="title"/>
          </p:nvPr>
        </p:nvSpPr>
        <p:spPr/>
        <p:txBody>
          <a:bodyPr/>
          <a:lstStyle/>
          <a:p>
            <a:endParaRPr kumimoji="1" lang="ja-JP" altLang="en-US" dirty="0"/>
          </a:p>
        </p:txBody>
      </p:sp>
      <p:pic>
        <p:nvPicPr>
          <p:cNvPr id="6" name="コンテンツ プレースホルダー 5">
            <a:extLst>
              <a:ext uri="{FF2B5EF4-FFF2-40B4-BE49-F238E27FC236}">
                <a16:creationId xmlns:a16="http://schemas.microsoft.com/office/drawing/2014/main" id="{50826EF8-D7D1-4B52-AE51-7273359F02B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9314" t="53484" r="53530" b="30901"/>
          <a:stretch>
            <a:fillRect/>
          </a:stretch>
        </p:blipFill>
        <p:spPr>
          <a:xfrm>
            <a:off x="179164" y="2173262"/>
            <a:ext cx="5816600" cy="2977881"/>
          </a:xfrm>
          <a:prstGeom prst="rect">
            <a:avLst/>
          </a:prstGeom>
        </p:spPr>
      </p:pic>
      <p:sp>
        <p:nvSpPr>
          <p:cNvPr id="4" name="スライド番号プレースホルダー 3">
            <a:extLst>
              <a:ext uri="{FF2B5EF4-FFF2-40B4-BE49-F238E27FC236}">
                <a16:creationId xmlns:a16="http://schemas.microsoft.com/office/drawing/2014/main" id="{C1B4E658-4F5B-7147-9B91-D09E7CEB44AF}"/>
              </a:ext>
            </a:extLst>
          </p:cNvPr>
          <p:cNvSpPr>
            <a:spLocks noGrp="1"/>
          </p:cNvSpPr>
          <p:nvPr>
            <p:ph type="sldNum" sz="quarter" idx="12"/>
          </p:nvPr>
        </p:nvSpPr>
        <p:spPr/>
        <p:txBody>
          <a:bodyPr/>
          <a:lstStyle/>
          <a:p>
            <a:fld id="{10649E7B-FC1B-418B-9B6A-00859DB1DEE8}" type="slidenum">
              <a:rPr kumimoji="1" lang="ja-JP" altLang="en-US" smtClean="0"/>
              <a:t>51</a:t>
            </a:fld>
            <a:endParaRPr kumimoji="1" lang="ja-JP" altLang="en-US"/>
          </a:p>
        </p:txBody>
      </p:sp>
      <p:sp>
        <p:nvSpPr>
          <p:cNvPr id="3" name="フッター プレースホルダー 2">
            <a:extLst>
              <a:ext uri="{FF2B5EF4-FFF2-40B4-BE49-F238E27FC236}">
                <a16:creationId xmlns:a16="http://schemas.microsoft.com/office/drawing/2014/main" id="{EE7BED2A-EC08-EC60-A25A-472E77EBE14F}"/>
              </a:ext>
            </a:extLst>
          </p:cNvPr>
          <p:cNvSpPr>
            <a:spLocks noGrp="1"/>
          </p:cNvSpPr>
          <p:nvPr>
            <p:ph type="ftr" sz="quarter" idx="11"/>
          </p:nvPr>
        </p:nvSpPr>
        <p:spPr>
          <a:xfrm>
            <a:off x="1067823" y="6356350"/>
            <a:ext cx="9855882" cy="365125"/>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endParaRPr kumimoji="1" lang="ja-JP" altLang="en-US" dirty="0"/>
          </a:p>
        </p:txBody>
      </p:sp>
      <p:pic>
        <p:nvPicPr>
          <p:cNvPr id="7" name="図 6">
            <a:extLst>
              <a:ext uri="{FF2B5EF4-FFF2-40B4-BE49-F238E27FC236}">
                <a16:creationId xmlns:a16="http://schemas.microsoft.com/office/drawing/2014/main" id="{EEC15A80-A4EA-4929-6AAF-962A87576C78}"/>
              </a:ext>
            </a:extLst>
          </p:cNvPr>
          <p:cNvPicPr>
            <a:picLocks noChangeAspect="1"/>
          </p:cNvPicPr>
          <p:nvPr/>
        </p:nvPicPr>
        <p:blipFill>
          <a:blip r:embed="rId4">
            <a:extLst>
              <a:ext uri="{28A0092B-C50C-407E-A947-70E740481C1C}">
                <a14:useLocalDpi xmlns:a14="http://schemas.microsoft.com/office/drawing/2010/main" val="0"/>
              </a:ext>
            </a:extLst>
          </a:blip>
          <a:srcRect l="24619" t="20451" r="26321" b="10777"/>
          <a:stretch>
            <a:fillRect/>
          </a:stretch>
        </p:blipFill>
        <p:spPr>
          <a:xfrm>
            <a:off x="6895813" y="1949126"/>
            <a:ext cx="4345119" cy="3426151"/>
          </a:xfrm>
          <a:prstGeom prst="rect">
            <a:avLst/>
          </a:prstGeom>
        </p:spPr>
      </p:pic>
    </p:spTree>
    <p:extLst>
      <p:ext uri="{BB962C8B-B14F-4D97-AF65-F5344CB8AC3E}">
        <p14:creationId xmlns:p14="http://schemas.microsoft.com/office/powerpoint/2010/main" val="33577799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A3A826-D5CC-D447-43AA-150AB5178C13}"/>
              </a:ext>
            </a:extLst>
          </p:cNvPr>
          <p:cNvSpPr>
            <a:spLocks noGrp="1"/>
          </p:cNvSpPr>
          <p:nvPr>
            <p:ph type="title"/>
          </p:nvPr>
        </p:nvSpPr>
        <p:spPr/>
        <p:txBody>
          <a:bodyPr/>
          <a:lstStyle/>
          <a:p>
            <a:endParaRPr kumimoji="1" lang="ja-JP" altLang="en-US"/>
          </a:p>
        </p:txBody>
      </p:sp>
      <p:pic>
        <p:nvPicPr>
          <p:cNvPr id="8" name="コンテンツ プレースホルダー 7">
            <a:extLst>
              <a:ext uri="{FF2B5EF4-FFF2-40B4-BE49-F238E27FC236}">
                <a16:creationId xmlns:a16="http://schemas.microsoft.com/office/drawing/2014/main" id="{EC9EAA0D-89E5-7896-275B-565255BA4BD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5440" t="42732" r="25589" b="40994"/>
          <a:stretch>
            <a:fillRect/>
          </a:stretch>
        </p:blipFill>
        <p:spPr>
          <a:xfrm>
            <a:off x="955649" y="2446142"/>
            <a:ext cx="10515601" cy="1965716"/>
          </a:xfrm>
          <a:prstGeom prst="rect">
            <a:avLst/>
          </a:prstGeom>
        </p:spPr>
      </p:pic>
      <p:sp>
        <p:nvSpPr>
          <p:cNvPr id="4" name="スライド番号プレースホルダー 3">
            <a:extLst>
              <a:ext uri="{FF2B5EF4-FFF2-40B4-BE49-F238E27FC236}">
                <a16:creationId xmlns:a16="http://schemas.microsoft.com/office/drawing/2014/main" id="{571C2936-64F1-C7F0-8DD0-79CA08DBE148}"/>
              </a:ext>
            </a:extLst>
          </p:cNvPr>
          <p:cNvSpPr>
            <a:spLocks noGrp="1"/>
          </p:cNvSpPr>
          <p:nvPr>
            <p:ph type="sldNum" sz="quarter" idx="12"/>
          </p:nvPr>
        </p:nvSpPr>
        <p:spPr/>
        <p:txBody>
          <a:bodyPr/>
          <a:lstStyle/>
          <a:p>
            <a:fld id="{10649E7B-FC1B-418B-9B6A-00859DB1DEE8}" type="slidenum">
              <a:rPr kumimoji="1" lang="ja-JP" altLang="en-US" smtClean="0"/>
              <a:t>52</a:t>
            </a:fld>
            <a:endParaRPr kumimoji="1" lang="ja-JP" altLang="en-US"/>
          </a:p>
        </p:txBody>
      </p:sp>
      <p:sp>
        <p:nvSpPr>
          <p:cNvPr id="6" name="テキスト ボックス 5">
            <a:extLst>
              <a:ext uri="{FF2B5EF4-FFF2-40B4-BE49-F238E27FC236}">
                <a16:creationId xmlns:a16="http://schemas.microsoft.com/office/drawing/2014/main" id="{9BD98E8F-5933-C077-B887-6330BFE916EA}"/>
              </a:ext>
            </a:extLst>
          </p:cNvPr>
          <p:cNvSpPr txBox="1"/>
          <p:nvPr/>
        </p:nvSpPr>
        <p:spPr>
          <a:xfrm>
            <a:off x="1405352" y="6215746"/>
            <a:ext cx="8470474" cy="646331"/>
          </a:xfrm>
          <a:prstGeom prst="rect">
            <a:avLst/>
          </a:prstGeom>
          <a:noFill/>
        </p:spPr>
        <p:txBody>
          <a:bodyPr wrap="square">
            <a:spAutoFit/>
          </a:bodyPr>
          <a:lstStyle/>
          <a:p>
            <a:r>
              <a:rPr lang="en-US" altLang="ja-JP" sz="1200" dirty="0"/>
              <a:t>7</a:t>
            </a:r>
            <a:r>
              <a:rPr kumimoji="1" lang="en-US" altLang="ja-JP" sz="1200" dirty="0"/>
              <a:t>. </a:t>
            </a:r>
            <a:r>
              <a:rPr lang="ja-JP" altLang="ja-JP" sz="1200" dirty="0"/>
              <a:t>Hayati, S. A., Jung, T., Bodding-Long, T., Kar, S., Sethy, A., Kim, J. K., &amp; Kang, D. (2025, April). Chain-of-instructions: Compositional instruction tuning on large language models. In </a:t>
            </a:r>
            <a:r>
              <a:rPr lang="ja-JP" altLang="ja-JP" sz="1200" i="1" dirty="0"/>
              <a:t>Proceedings of the AAAI Conference on Artificial Intelligence</a:t>
            </a:r>
            <a:r>
              <a:rPr lang="ja-JP" altLang="ja-JP" sz="1200" dirty="0"/>
              <a:t> (Vol. 39, No. 22, pp. 24005-24013).</a:t>
            </a:r>
            <a:endParaRPr kumimoji="1" lang="ja-JP" altLang="en-US" sz="1200" dirty="0"/>
          </a:p>
        </p:txBody>
      </p:sp>
    </p:spTree>
    <p:extLst>
      <p:ext uri="{BB962C8B-B14F-4D97-AF65-F5344CB8AC3E}">
        <p14:creationId xmlns:p14="http://schemas.microsoft.com/office/powerpoint/2010/main" val="34741175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10270</TotalTime>
  <Words>7770</Words>
  <Application>Microsoft Office PowerPoint</Application>
  <PresentationFormat>ワイド画面</PresentationFormat>
  <Paragraphs>858</Paragraphs>
  <Slides>52</Slides>
  <Notes>51</Notes>
  <HiddenSlides>9</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52</vt:i4>
      </vt:variant>
    </vt:vector>
  </HeadingPairs>
  <TitlesOfParts>
    <vt:vector size="56" baseType="lpstr">
      <vt:lpstr>游ゴシック</vt:lpstr>
      <vt:lpstr>游ゴシック Light</vt:lpstr>
      <vt:lpstr>Arial</vt:lpstr>
      <vt:lpstr>Office テーマ</vt:lpstr>
      <vt:lpstr>生成AIの追加学習による問題解決能力の変化</vt:lpstr>
      <vt:lpstr>目次</vt:lpstr>
      <vt:lpstr>目次</vt:lpstr>
      <vt:lpstr>用語の解説</vt:lpstr>
      <vt:lpstr>用語の解説</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訓練用データについて</vt:lpstr>
      <vt:lpstr>処理の過程を答えの部分に含めたもの</vt:lpstr>
      <vt:lpstr>答え＋処理過程のSFTの分析</vt:lpstr>
      <vt:lpstr>データについて</vt:lpstr>
      <vt:lpstr>データについて</vt:lpstr>
      <vt:lpstr>モデルと学習手法</vt:lpstr>
      <vt:lpstr>研究方法</vt:lpstr>
      <vt:lpstr>目次</vt:lpstr>
      <vt:lpstr>問題解決能力の評価実験</vt:lpstr>
      <vt:lpstr>目次</vt:lpstr>
      <vt:lpstr>単一処理・複数処理の比較 (テストデータその1)</vt:lpstr>
      <vt:lpstr>ベースモデルの正解例の問題</vt:lpstr>
      <vt:lpstr>ベースモデルの正解例の出力</vt:lpstr>
      <vt:lpstr>ベースモデルの失敗例の問題</vt:lpstr>
      <vt:lpstr>ベースモデルの失敗例の出力</vt:lpstr>
      <vt:lpstr>ベースモデルの出力の分析 (トークン上限で終了した場合と正解率の関係)</vt:lpstr>
      <vt:lpstr>分析と考察</vt:lpstr>
      <vt:lpstr>答えのみのSFTの分析</vt:lpstr>
      <vt:lpstr>答え＋処理過程のSFTの分析 珍しい事例</vt:lpstr>
      <vt:lpstr>答え＋処理過程のSFTの分析 珍しい事例</vt:lpstr>
      <vt:lpstr>答え＋処理過程のSFTの分析 テストデータその1</vt:lpstr>
      <vt:lpstr>答え＋処理過程のSFTの分析</vt:lpstr>
      <vt:lpstr>答え＋処理過程のSFTの分析</vt:lpstr>
      <vt:lpstr>答え＋処理過程のSFTの分析 テストデータその1</vt:lpstr>
      <vt:lpstr>答え＋処理過程のSFTの分析 テストデータその1</vt:lpstr>
      <vt:lpstr>答え＋処理過程のSFTの分析</vt:lpstr>
      <vt:lpstr>答え＋処理過程のSFTの分析</vt:lpstr>
      <vt:lpstr>答え＋処理過程のSFTの分析 テストデータその2</vt:lpstr>
      <vt:lpstr>答え＋処理過程のSFTの分析 テストデータその2</vt:lpstr>
      <vt:lpstr>答え＋処理過程のSFTの分析 テストデータその2</vt:lpstr>
      <vt:lpstr>考察</vt:lpstr>
      <vt:lpstr>考察</vt:lpstr>
      <vt:lpstr>今後の課題</vt:lpstr>
      <vt:lpstr>実験の改善点</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18</cp:revision>
  <dcterms:created xsi:type="dcterms:W3CDTF">2026-09-01T15:23:02Z</dcterms:created>
  <dcterms:modified xsi:type="dcterms:W3CDTF">2026-09-15T21:11:21Z</dcterms:modified>
</cp:coreProperties>
</file>