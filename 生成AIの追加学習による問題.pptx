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56" r:id="rId2"/>
    <p:sldId id="257" r:id="rId3"/>
    <p:sldId id="265" r:id="rId4"/>
    <p:sldId id="258" r:id="rId5"/>
    <p:sldId id="259" r:id="rId6"/>
    <p:sldId id="260" r:id="rId7"/>
    <p:sldId id="261" r:id="rId8"/>
    <p:sldId id="263" r:id="rId9"/>
    <p:sldId id="262" r:id="rId10"/>
    <p:sldId id="264" r:id="rId11"/>
    <p:sldId id="267" r:id="rId12"/>
    <p:sldId id="269" r:id="rId13"/>
    <p:sldId id="271" r:id="rId14"/>
    <p:sldId id="272" r:id="rId15"/>
    <p:sldId id="273" r:id="rId16"/>
    <p:sldId id="274" r:id="rId17"/>
    <p:sldId id="275" r:id="rId18"/>
    <p:sldId id="276" r:id="rId19"/>
    <p:sldId id="277" r:id="rId20"/>
    <p:sldId id="278" r:id="rId21"/>
    <p:sldId id="279" r:id="rId22"/>
    <p:sldId id="281" r:id="rId23"/>
    <p:sldId id="282" r:id="rId24"/>
    <p:sldId id="283" r:id="rId2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138" d="100"/>
          <a:sy n="138" d="100"/>
        </p:scale>
        <p:origin x="156" y="5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2026/9/8</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2026/9/8</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2026/9/8</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2026/9/8</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2026/9/8</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2026/9/8</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2026/9/8</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p:txBody>
          <a:bodyPr/>
          <a:lstStyle/>
          <a:p>
            <a:r>
              <a:rPr lang="ja-JP" altLang="en-US" dirty="0"/>
              <a:t>生成</a:t>
            </a:r>
            <a:r>
              <a:rPr lang="en-US" altLang="ja-JP" dirty="0"/>
              <a:t>AI</a:t>
            </a:r>
            <a:r>
              <a:rPr lang="ja-JP" altLang="en-US" dirty="0"/>
              <a:t>の追加学習による問題解決能力の変化</a:t>
            </a:r>
            <a:endParaRPr kumimoji="1" lang="ja-JP" altLang="en-US"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lstStyle/>
          <a:p>
            <a:r>
              <a:rPr kumimoji="1" lang="ja-JP" altLang="en-US" dirty="0"/>
              <a:t>慶應義塾大学　文学部　人文社会学科</a:t>
            </a:r>
            <a:endParaRPr kumimoji="1" lang="en-US" altLang="ja-JP" dirty="0"/>
          </a:p>
          <a:p>
            <a:r>
              <a:rPr lang="ja-JP" altLang="en-US" dirty="0"/>
              <a:t>図書館情報学　</a:t>
            </a:r>
            <a:r>
              <a:rPr lang="en-US" altLang="ja-JP" dirty="0"/>
              <a:t>4</a:t>
            </a:r>
            <a:r>
              <a:rPr lang="ja-JP" altLang="en-US" dirty="0"/>
              <a:t>年　小山竜史</a:t>
            </a:r>
            <a:endParaRPr kumimoji="1" lang="ja-JP" altLang="en-US"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lstStyle/>
          <a:p>
            <a:r>
              <a:rPr kumimoji="1" lang="ja-JP" altLang="en-US" dirty="0">
                <a:solidFill>
                  <a:srgbClr val="FF0000"/>
                </a:solidFill>
              </a:rPr>
              <a:t>研究背景</a:t>
            </a:r>
            <a:endParaRPr kumimoji="1" lang="en-US" altLang="ja-JP" dirty="0">
              <a:solidFill>
                <a:srgbClr val="FF0000"/>
              </a:solidFill>
            </a:endParaRPr>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a:t>研究背景</a:t>
            </a:r>
            <a:endParaRPr kumimoji="1" lang="ja-JP" altLang="en-US"/>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lstStyle/>
          <a:p>
            <a:r>
              <a:rPr kumimoji="1" lang="ja-JP" altLang="en-US" dirty="0"/>
              <a:t>用語の解説</a:t>
            </a:r>
            <a:endParaRPr kumimoji="1" lang="en-US" altLang="ja-JP" dirty="0"/>
          </a:p>
          <a:p>
            <a:pPr lvl="1"/>
            <a:r>
              <a:rPr lang="ja-JP" altLang="en-US" dirty="0"/>
              <a:t>生成</a:t>
            </a:r>
            <a:r>
              <a:rPr lang="en-US" altLang="ja-JP" dirty="0"/>
              <a:t>AI</a:t>
            </a:r>
          </a:p>
          <a:p>
            <a:pPr lvl="2"/>
            <a:r>
              <a:rPr lang="ja-JP" altLang="en-US" dirty="0"/>
              <a:t>ユーザの指示に基づき、文章・画像・プログラムコードなどの新しいコンテンツを生成する</a:t>
            </a:r>
            <a:r>
              <a:rPr lang="en-US" altLang="ja-JP" dirty="0"/>
              <a:t>AI</a:t>
            </a:r>
            <a:r>
              <a:rPr lang="en-US" altLang="ja-JP" baseline="30000" dirty="0"/>
              <a:t>1</a:t>
            </a:r>
          </a:p>
          <a:p>
            <a:pPr lvl="1"/>
            <a:r>
              <a:rPr lang="en-US" altLang="ja-JP" dirty="0"/>
              <a:t>LLM</a:t>
            </a:r>
            <a:endParaRPr lang="en-US" altLang="ja-JP" baseline="30000" dirty="0"/>
          </a:p>
          <a:p>
            <a:pPr lvl="2"/>
            <a:r>
              <a:rPr lang="ja-JP" altLang="en-US" dirty="0"/>
              <a:t>大量のデータで事前学習された、大規模な言語モデル</a:t>
            </a:r>
            <a:r>
              <a:rPr lang="en-US" altLang="ja-JP" baseline="30000" dirty="0"/>
              <a:t>2</a:t>
            </a:r>
          </a:p>
          <a:p>
            <a:pPr lvl="1"/>
            <a:r>
              <a:rPr lang="en-US" altLang="ja-JP" dirty="0"/>
              <a:t>Post-training(</a:t>
            </a:r>
            <a:r>
              <a:rPr lang="ja-JP" altLang="en-US" dirty="0"/>
              <a:t>追加学習</a:t>
            </a:r>
            <a:r>
              <a:rPr lang="en-US" altLang="ja-JP" dirty="0"/>
              <a:t>)</a:t>
            </a:r>
          </a:p>
          <a:p>
            <a:pPr lvl="2"/>
            <a:r>
              <a:rPr lang="ja-JP" altLang="en-US" dirty="0"/>
              <a:t>事前学習後に、</a:t>
            </a:r>
            <a:r>
              <a:rPr lang="en-US" altLang="ja-JP" dirty="0"/>
              <a:t>LLM</a:t>
            </a:r>
            <a:r>
              <a:rPr lang="ja-JP" altLang="en-US" dirty="0"/>
              <a:t>を特定の目的に適応させるための学習</a:t>
            </a:r>
            <a:r>
              <a:rPr lang="en-US" altLang="ja-JP" baseline="30000" dirty="0"/>
              <a:t>3</a:t>
            </a:r>
          </a:p>
          <a:p>
            <a:pPr lvl="1"/>
            <a:r>
              <a:rPr kumimoji="1" lang="en-US" altLang="ja-JP" dirty="0"/>
              <a:t>Supervised Fine-tuning(SFT)</a:t>
            </a:r>
          </a:p>
          <a:p>
            <a:pPr lvl="2"/>
            <a:r>
              <a:rPr kumimoji="1" lang="ja-JP" altLang="en-US" dirty="0"/>
              <a:t>教師ありファインチューニング</a:t>
            </a:r>
            <a:endParaRPr kumimoji="1" lang="en-US" altLang="ja-JP" dirty="0"/>
          </a:p>
          <a:p>
            <a:pPr lvl="2"/>
            <a:r>
              <a:rPr kumimoji="1" lang="en-US" altLang="ja-JP" dirty="0"/>
              <a:t>LLM</a:t>
            </a:r>
            <a:r>
              <a:rPr kumimoji="1" lang="ja-JP" altLang="en-US" dirty="0"/>
              <a:t>に入力された指示と、それに対応する出力の関係を学習させる手法</a:t>
            </a:r>
            <a:r>
              <a:rPr kumimoji="1" lang="en-US" altLang="ja-JP" baseline="30000" dirty="0"/>
              <a:t>3</a:t>
            </a:r>
          </a:p>
          <a:p>
            <a:pPr lvl="1"/>
            <a:endParaRPr kumimoji="1" lang="ja-JP" altLang="en-US" dirty="0"/>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r>
              <a:rPr kumimoji="1" lang="en-US" altLang="ja-JP" dirty="0"/>
              <a:t>Banh &amp; Strobel (2023). “Generative artificial intelligence” </a:t>
            </a:r>
          </a:p>
          <a:p>
            <a:pPr marL="228600" indent="-228600">
              <a:buAutoNum type="arabicPeriod"/>
            </a:pPr>
            <a:r>
              <a:rPr kumimoji="1" lang="en-US" altLang="ja-JP" dirty="0"/>
              <a:t>Lopez-Lira &amp; Tang (2026). “Can ChatGPT Forecast Stock Price Movements?” </a:t>
            </a:r>
          </a:p>
          <a:p>
            <a:pPr marL="228600" indent="-228600">
              <a:buAutoNum type="arabicPeriod"/>
            </a:pPr>
            <a:r>
              <a:rPr kumimoji="1" lang="en-US" altLang="ja-JP" dirty="0"/>
              <a:t>Lai et al. (2025). “A Survey of Post-Training Scaling in Large Language Models”</a:t>
            </a:r>
            <a:endParaRPr kumimoji="1" lang="ja-JP" altLang="en-US"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学習データの例</a:t>
            </a:r>
            <a:endParaRPr kumimoji="1" lang="en-US" altLang="ja-JP" dirty="0"/>
          </a:p>
          <a:p>
            <a:pPr algn="ctr"/>
            <a:endParaRPr kumimoji="1" lang="en-US" altLang="ja-JP" dirty="0"/>
          </a:p>
          <a:p>
            <a:r>
              <a:rPr kumimoji="1" lang="ja-JP" altLang="en-US" dirty="0"/>
              <a:t>入力：</a:t>
            </a:r>
            <a:endParaRPr kumimoji="1" lang="en-US" altLang="ja-JP" dirty="0"/>
          </a:p>
          <a:p>
            <a:r>
              <a:rPr lang="ja-JP" altLang="en-US" dirty="0"/>
              <a:t>次の計算をしてください</a:t>
            </a:r>
            <a:endParaRPr lang="en-US" altLang="ja-JP" dirty="0"/>
          </a:p>
          <a:p>
            <a:r>
              <a:rPr kumimoji="1" lang="en-US" altLang="ja-JP" dirty="0"/>
              <a:t>12</a:t>
            </a:r>
            <a:r>
              <a:rPr kumimoji="1" lang="ja-JP" altLang="en-US" dirty="0"/>
              <a:t>＋８＝？</a:t>
            </a:r>
            <a:endParaRPr kumimoji="1" lang="en-US" altLang="ja-JP" dirty="0"/>
          </a:p>
          <a:p>
            <a:endParaRPr lang="en-US" altLang="ja-JP" dirty="0"/>
          </a:p>
          <a:p>
            <a:r>
              <a:rPr kumimoji="1" lang="ja-JP" altLang="en-US" dirty="0"/>
              <a:t>正解となる出力：</a:t>
            </a:r>
            <a:endParaRPr kumimoji="1" lang="en-US" altLang="ja-JP" dirty="0"/>
          </a:p>
          <a:p>
            <a:r>
              <a:rPr lang="en-US" altLang="ja-JP" dirty="0"/>
              <a:t>20</a:t>
            </a:r>
            <a:endParaRPr kumimoji="1" lang="ja-JP" altLang="en-US"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dirty="0"/>
              <a:t>学習後の例</a:t>
            </a:r>
            <a:endParaRPr kumimoji="1" lang="en-US" altLang="ja-JP" dirty="0"/>
          </a:p>
          <a:p>
            <a:pPr algn="ctr"/>
            <a:endParaRPr lang="en-US" altLang="ja-JP" dirty="0"/>
          </a:p>
          <a:p>
            <a:r>
              <a:rPr lang="ja-JP" altLang="en-US" dirty="0"/>
              <a:t>入力：</a:t>
            </a:r>
            <a:endParaRPr lang="en-US" altLang="ja-JP" dirty="0"/>
          </a:p>
          <a:p>
            <a:r>
              <a:rPr lang="ja-JP" altLang="en-US" dirty="0"/>
              <a:t>次の計算をしてください</a:t>
            </a:r>
            <a:endParaRPr lang="en-US" altLang="ja-JP" dirty="0"/>
          </a:p>
          <a:p>
            <a:r>
              <a:rPr lang="en-US" altLang="ja-JP" dirty="0"/>
              <a:t>21</a:t>
            </a:r>
            <a:r>
              <a:rPr lang="ja-JP" altLang="en-US" dirty="0"/>
              <a:t>＋</a:t>
            </a:r>
            <a:r>
              <a:rPr lang="en-US" altLang="ja-JP" dirty="0"/>
              <a:t>5</a:t>
            </a:r>
            <a:r>
              <a:rPr lang="ja-JP" altLang="en-US" dirty="0"/>
              <a:t>＝？</a:t>
            </a:r>
            <a:endParaRPr lang="en-US" altLang="ja-JP" dirty="0"/>
          </a:p>
          <a:p>
            <a:endParaRPr lang="en-US" altLang="ja-JP" dirty="0"/>
          </a:p>
          <a:p>
            <a:r>
              <a:rPr lang="ja-JP" altLang="en-US" dirty="0"/>
              <a:t>モデルの出力：</a:t>
            </a:r>
            <a:endParaRPr lang="en-US" altLang="ja-JP" dirty="0"/>
          </a:p>
          <a:p>
            <a:r>
              <a:rPr lang="en-US" altLang="ja-JP" dirty="0"/>
              <a:t>26</a:t>
            </a:r>
            <a:endParaRPr lang="ja-JP" altLang="en-US" dirty="0"/>
          </a:p>
          <a:p>
            <a:endParaRPr kumimoji="1" lang="ja-JP" altLang="en-US"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p:txBody>
          <a:bodyPr/>
          <a:lstStyle/>
          <a:p>
            <a:r>
              <a:rPr lang="ja-JP" altLang="ja-JP" dirty="0"/>
              <a:t>Chu et al. (2025)</a:t>
            </a:r>
            <a:r>
              <a:rPr lang="en-US" altLang="ja-JP" baseline="30000" dirty="0"/>
              <a:t>4</a:t>
            </a:r>
            <a:r>
              <a:rPr lang="ja-JP" altLang="ja-JP" dirty="0"/>
              <a:t>：SFTとRL</a:t>
            </a:r>
            <a:r>
              <a:rPr lang="en-US" altLang="ja-JP" dirty="0"/>
              <a:t>(</a:t>
            </a:r>
            <a:r>
              <a:rPr lang="ja-JP" altLang="en-US" dirty="0"/>
              <a:t>教師ありファインチューニングではない別の学習手法</a:t>
            </a:r>
            <a:r>
              <a:rPr lang="en-US" altLang="ja-JP" dirty="0"/>
              <a:t>)</a:t>
            </a:r>
            <a:r>
              <a:rPr lang="ja-JP" altLang="ja-JP" dirty="0"/>
              <a:t>の汎化能力を比較し、SFTが学習データを記憶する傾向を示した研究</a:t>
            </a:r>
            <a:endParaRPr lang="en-US" altLang="ja-JP" baseline="30000" dirty="0"/>
          </a:p>
          <a:p>
            <a:pPr lvl="1"/>
            <a:r>
              <a:rPr lang="ja-JP" altLang="ja-JP" dirty="0"/>
              <a:t>SFT</a:t>
            </a:r>
            <a:r>
              <a:rPr lang="ja-JP" altLang="en-US" dirty="0"/>
              <a:t>による学習</a:t>
            </a:r>
            <a:r>
              <a:rPr lang="ja-JP" altLang="ja-JP" dirty="0"/>
              <a:t>は</a:t>
            </a:r>
            <a:r>
              <a:rPr lang="ja-JP" altLang="en-US" dirty="0"/>
              <a:t>未知の問題に対しては効果は限定的</a:t>
            </a:r>
            <a:endParaRPr lang="en-US" altLang="ja-JP" dirty="0"/>
          </a:p>
          <a:p>
            <a:pPr lvl="1"/>
            <a:endParaRPr lang="en-US" altLang="ja-JP" dirty="0"/>
          </a:p>
          <a:p>
            <a:r>
              <a:rPr lang="en-US" altLang="ja-JP" dirty="0"/>
              <a:t>Ren et al. (2026)</a:t>
            </a:r>
            <a:r>
              <a:rPr lang="en-US" altLang="ja-JP" baseline="30000" dirty="0"/>
              <a:t>5</a:t>
            </a:r>
            <a:r>
              <a:rPr lang="ja-JP" altLang="en-US" dirty="0"/>
              <a:t>：推論</a:t>
            </a:r>
            <a:r>
              <a:rPr lang="en-US" altLang="ja-JP" dirty="0"/>
              <a:t>SFT</a:t>
            </a:r>
            <a:r>
              <a:rPr lang="ja-JP" altLang="en-US" dirty="0"/>
              <a:t>の汎化能力を分析し、最適化・学習データ・モデル能力などの条件によって汎化性能が変化することを示した研究</a:t>
            </a:r>
            <a:endParaRPr lang="en-US" altLang="ja-JP" baseline="30000" dirty="0"/>
          </a:p>
          <a:p>
            <a:pPr lvl="1"/>
            <a:r>
              <a:rPr lang="ja-JP" altLang="en-US" dirty="0"/>
              <a:t>条件によっては</a:t>
            </a:r>
            <a:r>
              <a:rPr lang="en-US" altLang="ja-JP" dirty="0"/>
              <a:t>SFT</a:t>
            </a:r>
            <a:r>
              <a:rPr lang="ja-JP" altLang="en-US" dirty="0"/>
              <a:t>による学習でも、汎化性能は向上する</a:t>
            </a:r>
            <a:endParaRPr lang="en-US" altLang="ja-JP" dirty="0"/>
          </a:p>
          <a:p>
            <a:pPr lvl="1"/>
            <a:endParaRPr kumimoji="1" lang="ja-JP" altLang="en-US"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838200" y="6356350"/>
            <a:ext cx="11090564" cy="365125"/>
          </a:xfrm>
        </p:spPr>
        <p:txBody>
          <a:bodyPr/>
          <a:lstStyle/>
          <a:p>
            <a:r>
              <a:rPr lang="en-US" altLang="ja-JP" dirty="0"/>
              <a:t>4.  </a:t>
            </a:r>
            <a:r>
              <a:rPr lang="ja-JP" altLang="ja-JP" dirty="0"/>
              <a:t>Chu et al. (2025). “SFT Memorizes, RL Generalizes”</a:t>
            </a:r>
            <a:endParaRPr lang="en-US" altLang="ja-JP" dirty="0"/>
          </a:p>
          <a:p>
            <a:r>
              <a:rPr kumimoji="1" lang="en-US" altLang="ja-JP" dirty="0"/>
              <a:t>5.  Ren et al. (2026). “Rethinking Generalization in Reasoning SFT”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dirty="0"/>
              <a:t>先行研究では、</a:t>
            </a:r>
            <a:r>
              <a:rPr kumimoji="1" lang="en-US" altLang="ja-JP" dirty="0"/>
              <a:t>SFT</a:t>
            </a:r>
            <a:r>
              <a:rPr kumimoji="1" lang="ja-JP" altLang="en-US" dirty="0"/>
              <a:t>による未知の問題への汎化は限定的であることや、その成否が学習条件に依存することが示されている</a:t>
            </a:r>
            <a:endParaRPr kumimoji="1" lang="en-US" altLang="ja-JP" dirty="0"/>
          </a:p>
          <a:p>
            <a:endParaRPr kumimoji="1" lang="en-US" altLang="ja-JP" dirty="0"/>
          </a:p>
          <a:p>
            <a:r>
              <a:rPr kumimoji="1" lang="ja-JP" altLang="en-US" dirty="0"/>
              <a:t>しかし、正解率の比較だけでは、モデルが問題解決のどの段階でつまずいているのか分からない</a:t>
            </a:r>
            <a:endParaRPr kumimoji="1" lang="en-US" altLang="ja-JP" dirty="0"/>
          </a:p>
          <a:p>
            <a:endParaRPr kumimoji="1" lang="en-US" altLang="ja-JP" dirty="0"/>
          </a:p>
          <a:p>
            <a:r>
              <a:rPr kumimoji="1" lang="ja-JP" altLang="en-US" dirty="0"/>
              <a:t>また、</a:t>
            </a:r>
            <a:r>
              <a:rPr lang="ja-JP" altLang="en-US" dirty="0"/>
              <a:t>未知の問題</a:t>
            </a:r>
            <a:r>
              <a:rPr kumimoji="1" lang="ja-JP" altLang="en-US" dirty="0"/>
              <a:t>では「何を未知とするか」によって評価される汎化能力が異なる</a:t>
            </a:r>
            <a:endParaRPr kumimoji="1" lang="en-US" altLang="ja-JP"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dirty="0"/>
              <a:t>自分の調べたいこと</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自分の研究では、 「何を未知とするか」を明確に設定した問題を用いて、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既知の要素を新たに組み合わせた未知の問題への汎化が、研究されている</a:t>
            </a:r>
            <a:endParaRPr lang="en-US" altLang="ja-JP" dirty="0"/>
          </a:p>
          <a:p>
            <a:pPr lvl="1"/>
            <a:r>
              <a:rPr lang="ja-JP" altLang="en-US" dirty="0"/>
              <a:t>「</a:t>
            </a:r>
            <a:r>
              <a:rPr lang="ja-JP" altLang="ja-JP" dirty="0"/>
              <a:t>既知の単純な処理から、それらを組み合わせた複雑な処理への汎化は、LLMのOOD汎化の重要な側面である</a:t>
            </a:r>
            <a:r>
              <a:rPr lang="ja-JP" altLang="en-US" dirty="0"/>
              <a:t>」</a:t>
            </a:r>
            <a:r>
              <a:rPr lang="en-US" altLang="ja-JP" baseline="30000" dirty="0"/>
              <a:t>6</a:t>
            </a:r>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dirty="0"/>
              <a:t>既知の構成要素を未知の組み合わせで利用する能力</a:t>
            </a:r>
            <a:endParaRPr lang="ja-JP" altLang="en-US"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1" y="6356350"/>
            <a:ext cx="12192000" cy="365125"/>
          </a:xfrm>
        </p:spPr>
        <p:txBody>
          <a:bodyPr/>
          <a:lstStyle/>
          <a:p>
            <a:r>
              <a:rPr lang="en-US" altLang="ja-JP" dirty="0"/>
              <a:t>6</a:t>
            </a:r>
            <a:r>
              <a:rPr kumimoji="1" lang="en-US" altLang="ja-JP" dirty="0"/>
              <a:t>.  </a:t>
            </a:r>
            <a:r>
              <a:rPr lang="ja-JP" altLang="ja-JP" dirty="0"/>
              <a:t>Yang et al. (2024). “Exploring Compositional Generalization of Large Language Models”</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lstStyle/>
          <a:p>
            <a:r>
              <a:rPr kumimoji="1" lang="en-US" altLang="ja-JP" dirty="0"/>
              <a:t>Yang et al. (2024)</a:t>
            </a:r>
            <a:r>
              <a:rPr kumimoji="1" lang="en-US" altLang="ja-JP" baseline="30000" dirty="0"/>
              <a:t>6</a:t>
            </a:r>
            <a:r>
              <a:rPr kumimoji="1" lang="ja-JP" altLang="en-US" dirty="0"/>
              <a:t>：複数の単純な指示からなる複雑な指示に、</a:t>
            </a:r>
            <a:r>
              <a:rPr kumimoji="1" lang="en-US" altLang="ja-JP" dirty="0"/>
              <a:t>LLM</a:t>
            </a:r>
            <a:r>
              <a:rPr kumimoji="1" lang="ja-JP" altLang="en-US" dirty="0"/>
              <a:t>がどの程度汎化できるかを</a:t>
            </a:r>
            <a:r>
              <a:rPr kumimoji="1" lang="en-US" altLang="ja-JP" dirty="0"/>
              <a:t>SFT</a:t>
            </a:r>
            <a:r>
              <a:rPr kumimoji="1" lang="ja-JP" altLang="en-US" dirty="0"/>
              <a:t>によって検証した研究。</a:t>
            </a:r>
            <a:endParaRPr kumimoji="1" lang="en-US" altLang="ja-JP" dirty="0"/>
          </a:p>
          <a:p>
            <a:endParaRPr kumimoji="1" lang="en-US" altLang="ja-JP" dirty="0"/>
          </a:p>
          <a:p>
            <a:r>
              <a:rPr kumimoji="1" lang="en-US" altLang="ja-JP" dirty="0"/>
              <a:t>Hayati et al. (2025)</a:t>
            </a:r>
            <a:r>
              <a:rPr kumimoji="1" lang="en-US" altLang="ja-JP" baseline="30000" dirty="0"/>
              <a:t>7</a:t>
            </a:r>
            <a:r>
              <a:rPr kumimoji="1" lang="ja-JP" altLang="en-US" dirty="0"/>
              <a:t>：複数の処理を</a:t>
            </a:r>
            <a:r>
              <a:rPr lang="ja-JP" altLang="en-US" dirty="0"/>
              <a:t>組み合わせた</a:t>
            </a:r>
            <a:r>
              <a:rPr kumimoji="1" lang="ja-JP" altLang="en-US" dirty="0"/>
              <a:t>問題を</a:t>
            </a:r>
            <a:r>
              <a:rPr kumimoji="1" lang="en-US" altLang="ja-JP" dirty="0"/>
              <a:t>SFT</a:t>
            </a:r>
            <a:r>
              <a:rPr kumimoji="1" lang="ja-JP" altLang="en-US" dirty="0"/>
              <a:t>し、学習時よりも長い未知の処理への汎化を検証</a:t>
            </a:r>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Hayati et al. (2025). “Chain-of-Instructions: Compositional Instruction Tuning on Large Language Models”</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lstStyle/>
          <a:p>
            <a:r>
              <a:rPr kumimoji="1" lang="en-US" altLang="ja-JP" dirty="0"/>
              <a:t>RQ1</a:t>
            </a:r>
            <a:r>
              <a:rPr kumimoji="1" lang="ja-JP" altLang="en-US" dirty="0"/>
              <a:t>：</a:t>
            </a:r>
            <a:r>
              <a:rPr kumimoji="1" lang="en-US" altLang="ja-JP" dirty="0"/>
              <a:t>SFT</a:t>
            </a:r>
            <a:r>
              <a:rPr kumimoji="1" lang="ja-JP" altLang="en-US" dirty="0"/>
              <a:t>によって、既知の処理を新しい組み合わせで利用する問題解決能力は獲得されるのか？</a:t>
            </a:r>
            <a:endParaRPr kumimoji="1" lang="en-US" altLang="ja-JP" dirty="0"/>
          </a:p>
          <a:p>
            <a:endParaRPr kumimoji="1" lang="en-US" altLang="ja-JP" dirty="0"/>
          </a:p>
          <a:p>
            <a:r>
              <a:rPr kumimoji="1" lang="en-US" altLang="ja-JP" dirty="0"/>
              <a:t>RQ2</a:t>
            </a:r>
            <a:r>
              <a:rPr kumimoji="1" lang="ja-JP" altLang="en-US" dirty="0"/>
              <a:t>：</a:t>
            </a:r>
            <a:r>
              <a:rPr kumimoji="1" lang="en-US" altLang="ja-JP" dirty="0"/>
              <a:t>SFT</a:t>
            </a:r>
            <a:r>
              <a:rPr kumimoji="1" lang="ja-JP" altLang="en-US" dirty="0"/>
              <a:t>における教師</a:t>
            </a:r>
            <a:r>
              <a:rPr lang="ja-JP" altLang="en-US" dirty="0"/>
              <a:t>データ</a:t>
            </a:r>
            <a:r>
              <a:rPr kumimoji="1" lang="ja-JP" altLang="en-US" dirty="0"/>
              <a:t>の違いは、この問題解決能力の獲得にどのような影響を与えるのか？</a:t>
            </a:r>
            <a:endParaRPr kumimoji="1" lang="en-US" altLang="ja-JP"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lstStyle/>
          <a:p>
            <a:r>
              <a:rPr kumimoji="1" lang="ja-JP" altLang="en-US" dirty="0"/>
              <a:t>研究背景</a:t>
            </a:r>
            <a:endParaRPr kumimoji="1" lang="en-US" altLang="ja-JP" dirty="0"/>
          </a:p>
          <a:p>
            <a:r>
              <a:rPr lang="ja-JP" altLang="en-US" dirty="0">
                <a:solidFill>
                  <a:srgbClr val="FF0000"/>
                </a:solidFill>
              </a:rPr>
              <a:t>研究方法</a:t>
            </a:r>
            <a:endParaRPr lang="en-US" altLang="ja-JP" dirty="0">
              <a:solidFill>
                <a:srgbClr val="FF0000"/>
              </a:solidFill>
            </a:endParaRPr>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a:t>
            </a:r>
            <a:endParaRPr kumimoji="1" lang="en-US" altLang="ja-JP" dirty="0"/>
          </a:p>
          <a:p>
            <a:pPr algn="ctr"/>
            <a:endParaRPr kumimoji="1" lang="en-US" altLang="ja-JP" dirty="0"/>
          </a:p>
          <a:p>
            <a:pPr algn="ctr"/>
            <a:r>
              <a:rPr kumimoji="1" lang="ja-JP" altLang="en-US" dirty="0"/>
              <a:t>問題文と答えのセット</a:t>
            </a:r>
            <a:endParaRPr kumimoji="1" lang="en-US" altLang="ja-JP"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dirty="0"/>
              <a:t>テスト用のデータ</a:t>
            </a:r>
            <a:endParaRPr lang="en-US" altLang="ja-JP" dirty="0"/>
          </a:p>
          <a:p>
            <a:endParaRPr lang="en-US" altLang="ja-JP" dirty="0"/>
          </a:p>
          <a:p>
            <a:pPr algn="ctr"/>
            <a:r>
              <a:rPr kumimoji="1" lang="ja-JP" altLang="en-US" dirty="0"/>
              <a:t>モデルの出力と</a:t>
            </a:r>
            <a:endParaRPr kumimoji="1" lang="en-US" altLang="ja-JP" dirty="0"/>
          </a:p>
          <a:p>
            <a:pPr algn="ctr"/>
            <a:r>
              <a:rPr kumimoji="1" lang="ja-JP" altLang="en-US"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550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Example 2</a:t>
            </a:r>
          </a:p>
          <a:p>
            <a:pPr marL="0" indent="0">
              <a:buNone/>
            </a:pPr>
            <a:r>
              <a:rPr lang="en-US" altLang="ja-JP" dirty="0"/>
              <a:t>Input:</a:t>
            </a:r>
          </a:p>
          <a:p>
            <a:pPr marL="0" indent="0">
              <a:buNone/>
            </a:pPr>
            <a:r>
              <a:rPr lang="en-US" altLang="ja-JP" dirty="0"/>
              <a:t>[0, 0, 1, 3, 3, 8, 9, 0]</a:t>
            </a:r>
          </a:p>
          <a:p>
            <a:pPr marL="0" indent="0">
              <a:buNone/>
            </a:pPr>
            <a:r>
              <a:rPr lang="en-US" altLang="ja-JP" dirty="0"/>
              <a:t>Output:</a:t>
            </a:r>
          </a:p>
          <a:p>
            <a:pPr marL="0" indent="0">
              <a:buNone/>
            </a:pPr>
            <a:r>
              <a:rPr lang="en-US" altLang="ja-JP" dirty="0"/>
              <a:t>[0, 9, 8, 3, 3, 1, 0, 0]</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4" name="コンテンツ プレースホルダー 3">
            <a:extLst>
              <a:ext uri="{FF2B5EF4-FFF2-40B4-BE49-F238E27FC236}">
                <a16:creationId xmlns:a16="http://schemas.microsoft.com/office/drawing/2014/main" id="{24ED5CC6-E2E2-3D6E-55BB-7ACFC48074F9}"/>
              </a:ext>
            </a:extLst>
          </p:cNvPr>
          <p:cNvSpPr>
            <a:spLocks noGrp="1"/>
          </p:cNvSpPr>
          <p:nvPr>
            <p:ph sz="half" idx="2"/>
          </p:nvPr>
        </p:nvSpPr>
        <p:spPr/>
        <p:txBody>
          <a:bodyPr>
            <a:normAutofit fontScale="55000" lnSpcReduction="20000"/>
          </a:bodyPr>
          <a:lstStyle/>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r>
              <a:rPr lang="en-US" altLang="ja-JP" dirty="0"/>
              <a:t>[1, 3, 9, 5, 9, 4, 8, 1]</a:t>
            </a:r>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7536129" y="3429000"/>
            <a:ext cx="2442491" cy="1050946"/>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938551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        </a:t>
            </a:r>
          </a:p>
          <a:p>
            <a:endParaRPr lang="en-US" altLang="ja-JP" dirty="0"/>
          </a:p>
          <a:p>
            <a:r>
              <a:rPr lang="en-US" altLang="ja-JP" dirty="0"/>
              <a:t>Example 1</a:t>
            </a:r>
          </a:p>
          <a:p>
            <a:r>
              <a:rPr lang="en-US" altLang="ja-JP" dirty="0"/>
              <a:t>Input:</a:t>
            </a:r>
          </a:p>
          <a:p>
            <a:r>
              <a:rPr lang="en-US" altLang="ja-JP" dirty="0"/>
              <a:t>[1, 0, 4, 3, 3, 2, 1, 8, 1, 9]</a:t>
            </a:r>
          </a:p>
          <a:p>
            <a:r>
              <a:rPr lang="en-US" altLang="ja-JP" dirty="0"/>
              <a:t>Output:</a:t>
            </a:r>
          </a:p>
          <a:p>
            <a:r>
              <a:rPr lang="en-US" altLang="ja-JP" dirty="0"/>
              <a:t>[9, 1, 8, 1, 2, 3, 3, 4, 0, 1]</a:t>
            </a:r>
          </a:p>
          <a:p>
            <a:endParaRPr lang="en-US" altLang="ja-JP" dirty="0"/>
          </a:p>
          <a:p>
            <a:r>
              <a:rPr lang="en-US" altLang="ja-JP" dirty="0"/>
              <a:t>Example 2</a:t>
            </a:r>
          </a:p>
          <a:p>
            <a:r>
              <a:rPr lang="en-US" altLang="ja-JP" dirty="0"/>
              <a:t>Input:</a:t>
            </a:r>
          </a:p>
          <a:p>
            <a:r>
              <a:rPr lang="en-US" altLang="ja-JP" dirty="0"/>
              <a:t>[0, 0, 1, 3, 3, 8, 9, 0]</a:t>
            </a:r>
          </a:p>
          <a:p>
            <a:r>
              <a:rPr lang="en-US" altLang="ja-JP" dirty="0"/>
              <a:t>Output:</a:t>
            </a:r>
          </a:p>
          <a:p>
            <a:r>
              <a:rPr lang="en-US" altLang="ja-JP" dirty="0"/>
              <a:t>[0, 9, 8, 3, 3, 1, 0, 0]</a:t>
            </a:r>
          </a:p>
          <a:p>
            <a:endParaRPr lang="en-US" altLang="ja-JP" dirty="0"/>
          </a:p>
          <a:p>
            <a:r>
              <a:rPr lang="en-US" altLang="ja-JP" dirty="0"/>
              <a:t>Query</a:t>
            </a:r>
          </a:p>
          <a:p>
            <a:r>
              <a:rPr lang="en-US" altLang="ja-JP" dirty="0"/>
              <a:t>Input:</a:t>
            </a:r>
          </a:p>
          <a:p>
            <a:r>
              <a:rPr lang="en-US" altLang="ja-JP" dirty="0"/>
              <a:t>[1, 8, 4, 9, 5, 9, 3, 1]</a:t>
            </a:r>
          </a:p>
          <a:p>
            <a:r>
              <a:rPr lang="en-US" altLang="ja-JP" dirty="0"/>
              <a:t>Output:</a:t>
            </a:r>
            <a:endParaRPr lang="ja-JP" altLang="en-US" dirty="0"/>
          </a:p>
          <a:p>
            <a:r>
              <a:rPr lang="en-US" altLang="ja-JP" dirty="0"/>
              <a:t>[1, 3, 9, 5, 9, 4, 8, 1]</a:t>
            </a:r>
            <a:endParaRPr lang="ja-JP" altLang="en-US" dirty="0"/>
          </a:p>
          <a:p>
            <a:pPr algn="ctr"/>
            <a:endParaRPr kumimoji="1" lang="ja-JP" altLang="en-US"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6505128" y="22338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 name="矢印: 左カーブ 6">
            <a:extLst>
              <a:ext uri="{FF2B5EF4-FFF2-40B4-BE49-F238E27FC236}">
                <a16:creationId xmlns:a16="http://schemas.microsoft.com/office/drawing/2014/main" id="{39E13BFF-6AED-FE84-CE76-479D4CA99904}"/>
              </a:ext>
            </a:extLst>
          </p:cNvPr>
          <p:cNvSpPr/>
          <p:nvPr/>
        </p:nvSpPr>
        <p:spPr>
          <a:xfrm>
            <a:off x="5955873" y="377931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5955872" y="5478217"/>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6916301" y="2159215"/>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lstStyle/>
          <a:p>
            <a:r>
              <a:rPr kumimoji="1" lang="ja-JP" altLang="en-US" dirty="0"/>
              <a:t>さっきのような簡単な処理を２０種類用意</a:t>
            </a:r>
            <a:endParaRPr kumimoji="1" lang="en-US" altLang="ja-JP" dirty="0"/>
          </a:p>
          <a:p>
            <a:endParaRPr kumimoji="1" lang="en-US" altLang="ja-JP" dirty="0"/>
          </a:p>
          <a:p>
            <a:r>
              <a:rPr lang="ja-JP" altLang="en-US" dirty="0"/>
              <a:t>問題を作るときは、簡単な処理単体とそれらのうち</a:t>
            </a:r>
            <a:r>
              <a:rPr lang="en-US" altLang="ja-JP" dirty="0"/>
              <a:t>2</a:t>
            </a:r>
            <a:r>
              <a:rPr lang="ja-JP" altLang="en-US" dirty="0"/>
              <a:t>つをくみあわせたもの</a:t>
            </a:r>
            <a:endParaRPr lang="en-US" altLang="ja-JP" dirty="0"/>
          </a:p>
          <a:p>
            <a:endParaRPr lang="en-US" altLang="ja-JP" dirty="0"/>
          </a:p>
          <a:p>
            <a:r>
              <a:rPr kumimoji="1" lang="ja-JP" altLang="en-US" dirty="0"/>
              <a:t>全部を組み合わせるのではなく、実際には処理単体の</a:t>
            </a:r>
            <a:r>
              <a:rPr kumimoji="1" lang="en-US" altLang="ja-JP" dirty="0"/>
              <a:t>20</a:t>
            </a:r>
            <a:r>
              <a:rPr kumimoji="1" lang="ja-JP" altLang="en-US" dirty="0"/>
              <a:t>種類と、組み合わせた処理を４２種類用意しました。</a:t>
            </a:r>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lstStyle/>
          <a:p>
            <a:r>
              <a:rPr kumimoji="1" lang="ja-JP" altLang="en-US" dirty="0"/>
              <a:t>訓練用のデータ</a:t>
            </a:r>
            <a:endParaRPr kumimoji="1" lang="en-US" altLang="ja-JP" dirty="0"/>
          </a:p>
          <a:p>
            <a:pPr lvl="1"/>
            <a:r>
              <a:rPr lang="ja-JP" altLang="en-US" dirty="0"/>
              <a:t>問題文と答えだけのセット</a:t>
            </a:r>
            <a:endParaRPr lang="en-US" altLang="ja-JP" dirty="0"/>
          </a:p>
          <a:p>
            <a:pPr lvl="1"/>
            <a:r>
              <a:rPr kumimoji="1" lang="ja-JP" altLang="en-US" dirty="0"/>
              <a:t>処理の過程を答えの部分に含めたもの</a:t>
            </a:r>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dirty="0"/>
              <a:t>Infer the transformation rule from examples.</a:t>
            </a:r>
          </a:p>
          <a:p>
            <a:r>
              <a:rPr kumimoji="1" lang="en-US" altLang="ja-JP" dirty="0"/>
              <a:t>Output the final array.</a:t>
            </a:r>
          </a:p>
          <a:p>
            <a:r>
              <a:rPr kumimoji="1" lang="en-US" altLang="ja-JP" dirty="0"/>
              <a:t>        </a:t>
            </a:r>
          </a:p>
          <a:p>
            <a:r>
              <a:rPr kumimoji="1" lang="en-US" altLang="ja-JP" dirty="0"/>
              <a:t>Example 1</a:t>
            </a:r>
          </a:p>
          <a:p>
            <a:r>
              <a:rPr kumimoji="1" lang="en-US" altLang="ja-JP" dirty="0"/>
              <a:t>Input:</a:t>
            </a:r>
          </a:p>
          <a:p>
            <a:r>
              <a:rPr kumimoji="1" lang="en-US" altLang="ja-JP" dirty="0"/>
              <a:t>[8, 9, 1, 4, 4]</a:t>
            </a:r>
          </a:p>
          <a:p>
            <a:r>
              <a:rPr kumimoji="1" lang="en-US" altLang="ja-JP" dirty="0"/>
              <a:t>Output:</a:t>
            </a:r>
          </a:p>
          <a:p>
            <a:r>
              <a:rPr kumimoji="1" lang="en-US" altLang="ja-JP" dirty="0"/>
              <a:t>[5, 5, 2, 10, 9]</a:t>
            </a:r>
          </a:p>
          <a:p>
            <a:endParaRPr kumimoji="1" lang="en-US" altLang="ja-JP" dirty="0"/>
          </a:p>
          <a:p>
            <a:r>
              <a:rPr kumimoji="1" lang="en-US" altLang="ja-JP" dirty="0"/>
              <a:t>Example 2</a:t>
            </a:r>
          </a:p>
          <a:p>
            <a:r>
              <a:rPr kumimoji="1" lang="en-US" altLang="ja-JP" dirty="0"/>
              <a:t>Input:</a:t>
            </a:r>
          </a:p>
          <a:p>
            <a:r>
              <a:rPr kumimoji="1" lang="en-US" altLang="ja-JP" dirty="0"/>
              <a:t>[4, 7, 3, 3, 6, 4, 4, 6]</a:t>
            </a:r>
          </a:p>
          <a:p>
            <a:r>
              <a:rPr kumimoji="1" lang="en-US" altLang="ja-JP" dirty="0"/>
              <a:t>Output:</a:t>
            </a:r>
          </a:p>
          <a:p>
            <a:r>
              <a:rPr kumimoji="1" lang="en-US" altLang="ja-JP" dirty="0"/>
              <a:t>[7, 5, 5, 7, 4, 4, 8, 5]</a:t>
            </a:r>
          </a:p>
          <a:p>
            <a:endParaRPr kumimoji="1" lang="en-US" altLang="ja-JP" dirty="0"/>
          </a:p>
          <a:p>
            <a:r>
              <a:rPr kumimoji="1" lang="en-US" altLang="ja-JP" dirty="0"/>
              <a:t>Query</a:t>
            </a:r>
          </a:p>
          <a:p>
            <a:r>
              <a:rPr kumimoji="1" lang="en-US" altLang="ja-JP" dirty="0"/>
              <a:t>Input:</a:t>
            </a:r>
          </a:p>
          <a:p>
            <a:r>
              <a:rPr kumimoji="1" lang="en-US" altLang="ja-JP" dirty="0"/>
              <a:t>[9, 6, 0, 8, 8, 4, 0, 1, 9]</a:t>
            </a:r>
          </a:p>
          <a:p>
            <a:r>
              <a:rPr kumimoji="1" lang="en-US" altLang="ja-JP"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dirty="0"/>
              <a:t>Example 1:</a:t>
            </a:r>
          </a:p>
          <a:p>
            <a:r>
              <a:rPr kumimoji="1" lang="en-US" altLang="ja-JP" dirty="0"/>
              <a:t>Input: [8, 9, 1, 4, 4]</a:t>
            </a:r>
          </a:p>
          <a:p>
            <a:r>
              <a:rPr kumimoji="1" lang="en-US" altLang="ja-JP" dirty="0"/>
              <a:t>Step 1 (reverse): [4, 4, 1, 9, 8]</a:t>
            </a:r>
          </a:p>
          <a:p>
            <a:r>
              <a:rPr kumimoji="1" lang="en-US" altLang="ja-JP" dirty="0"/>
              <a:t>Step 2 (add_1): [5, 5, 2, 10, 9]</a:t>
            </a:r>
          </a:p>
          <a:p>
            <a:r>
              <a:rPr kumimoji="1" lang="en-US" altLang="ja-JP" dirty="0"/>
              <a:t>Output: [5, 5, 2, 10, 9]</a:t>
            </a:r>
          </a:p>
          <a:p>
            <a:endParaRPr kumimoji="1" lang="en-US" altLang="ja-JP" dirty="0"/>
          </a:p>
          <a:p>
            <a:r>
              <a:rPr kumimoji="1" lang="en-US" altLang="ja-JP" dirty="0"/>
              <a:t>Example 2:</a:t>
            </a:r>
          </a:p>
          <a:p>
            <a:r>
              <a:rPr kumimoji="1" lang="en-US" altLang="ja-JP" dirty="0"/>
              <a:t>Input: [4, 7, 3, 3, 6, 4, 4, 6]</a:t>
            </a:r>
          </a:p>
          <a:p>
            <a:r>
              <a:rPr kumimoji="1" lang="en-US" altLang="ja-JP" dirty="0"/>
              <a:t>Step 1 (reverse): [6, 4, 4, 6, 3, 3, 7, 4]</a:t>
            </a:r>
          </a:p>
          <a:p>
            <a:r>
              <a:rPr kumimoji="1" lang="en-US" altLang="ja-JP" dirty="0"/>
              <a:t>Step 2 (add_1): [7, 5, 5, 7, 4, 4, 8, 5]</a:t>
            </a:r>
          </a:p>
          <a:p>
            <a:r>
              <a:rPr kumimoji="1" lang="en-US" altLang="ja-JP" dirty="0"/>
              <a:t>Output: [7, 5, 5, 7, 4, 4, 8, 5]</a:t>
            </a:r>
          </a:p>
          <a:p>
            <a:endParaRPr kumimoji="1" lang="en-US" altLang="ja-JP" dirty="0"/>
          </a:p>
          <a:p>
            <a:r>
              <a:rPr kumimoji="1" lang="en-US" altLang="ja-JP" dirty="0"/>
              <a:t>Query :</a:t>
            </a:r>
          </a:p>
          <a:p>
            <a:r>
              <a:rPr kumimoji="1" lang="en-US" altLang="ja-JP" dirty="0"/>
              <a:t>Input: [9, 6, 0, 8, 8, 4, 0, 1, 9]</a:t>
            </a:r>
          </a:p>
          <a:p>
            <a:r>
              <a:rPr kumimoji="1" lang="en-US" altLang="ja-JP" dirty="0"/>
              <a:t>Step 1 (reverse): [9, 1, 0, 4, 8, 8, 0, 6, 9]</a:t>
            </a:r>
          </a:p>
          <a:p>
            <a:r>
              <a:rPr kumimoji="1" lang="en-US" altLang="ja-JP" dirty="0"/>
              <a:t>Step 2 (add_1): [10, 2, 1, 5, 9, 9, 1, 7, 10]</a:t>
            </a:r>
          </a:p>
          <a:p>
            <a:r>
              <a:rPr kumimoji="1" lang="en-US" altLang="ja-JP" dirty="0"/>
              <a:t>Final Answer: [10, 2, 1, 5, 9, 9, 1, 7, 10]</a:t>
            </a:r>
            <a:endParaRPr kumimoji="1" lang="ja-JP" altLang="en-US"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588169" y="1914717"/>
            <a:ext cx="738664" cy="3590094"/>
          </a:xfrm>
          <a:prstGeom prst="rect">
            <a:avLst/>
          </a:prstGeom>
          <a:noFill/>
        </p:spPr>
        <p:txBody>
          <a:bodyPr vert="eaVert" wrap="square" rtlCol="0">
            <a:spAutoFit/>
          </a:bodyPr>
          <a:lstStyle/>
          <a:p>
            <a:r>
              <a:rPr lang="en-US" altLang="ja-JP" dirty="0"/>
              <a:t>※</a:t>
            </a:r>
            <a:r>
              <a:rPr lang="ja-JP" altLang="en-US" dirty="0"/>
              <a:t>実際は５つの例を使います</a:t>
            </a:r>
          </a:p>
          <a:p>
            <a:endParaRPr kumimoji="1" lang="ja-JP" altLang="en-US" dirty="0"/>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lstStyle/>
          <a:p>
            <a:r>
              <a:rPr lang="ja-JP" altLang="en-US" dirty="0"/>
              <a:t>訓練用のデータその</a:t>
            </a:r>
            <a:r>
              <a:rPr lang="en-US" altLang="ja-JP" dirty="0"/>
              <a:t>1</a:t>
            </a:r>
          </a:p>
          <a:p>
            <a:pPr lvl="1"/>
            <a:r>
              <a:rPr lang="ja-JP" altLang="en-US" dirty="0"/>
              <a:t>問題文と答えだけのセット</a:t>
            </a:r>
            <a:endParaRPr lang="en-US" altLang="ja-JP" dirty="0"/>
          </a:p>
          <a:p>
            <a:pPr lvl="1"/>
            <a:r>
              <a:rPr lang="ja-JP" altLang="en-US" dirty="0"/>
              <a:t>処理の過程を答えの部分に含めたもの</a:t>
            </a:r>
          </a:p>
          <a:p>
            <a:pPr lvl="1"/>
            <a:r>
              <a:rPr kumimoji="1" lang="ja-JP" altLang="en-US" dirty="0"/>
              <a:t>ルールの種類は全部で</a:t>
            </a:r>
            <a:r>
              <a:rPr kumimoji="1" lang="en-US" altLang="ja-JP" dirty="0"/>
              <a:t>72</a:t>
            </a:r>
            <a:r>
              <a:rPr kumimoji="1" lang="ja-JP" altLang="en-US" dirty="0"/>
              <a:t>種類</a:t>
            </a:r>
            <a:endParaRPr kumimoji="1" lang="en-US" altLang="ja-JP" dirty="0"/>
          </a:p>
          <a:p>
            <a:pPr lvl="1"/>
            <a:r>
              <a:rPr lang="en-US" altLang="ja-JP" dirty="0"/>
              <a:t>1</a:t>
            </a:r>
            <a:r>
              <a:rPr lang="ja-JP" altLang="en-US" dirty="0"/>
              <a:t>つのルールにつき</a:t>
            </a:r>
            <a:r>
              <a:rPr lang="en-US" altLang="ja-JP" dirty="0"/>
              <a:t>50</a:t>
            </a:r>
            <a:r>
              <a:rPr lang="ja-JP" altLang="en-US" dirty="0"/>
              <a:t>問</a:t>
            </a:r>
            <a:endParaRPr lang="en-US" altLang="ja-JP" dirty="0"/>
          </a:p>
          <a:p>
            <a:pPr lvl="1"/>
            <a:r>
              <a:rPr kumimoji="1" lang="ja-JP" altLang="en-US" dirty="0"/>
              <a:t>全部で</a:t>
            </a:r>
            <a:r>
              <a:rPr kumimoji="1" lang="en-US" altLang="ja-JP" dirty="0"/>
              <a:t>3600</a:t>
            </a:r>
            <a:r>
              <a:rPr kumimoji="1" lang="ja-JP" altLang="en-US" dirty="0"/>
              <a:t>問</a:t>
            </a:r>
            <a:endParaRPr kumimoji="1" lang="en-US" altLang="ja-JP" dirty="0"/>
          </a:p>
          <a:p>
            <a:r>
              <a:rPr lang="ja-JP" altLang="en-US" dirty="0"/>
              <a:t>訓練用のデータその</a:t>
            </a:r>
            <a:r>
              <a:rPr lang="en-US" altLang="ja-JP" dirty="0"/>
              <a:t>2</a:t>
            </a:r>
          </a:p>
          <a:p>
            <a:pPr lvl="1"/>
            <a:r>
              <a:rPr lang="ja-JP" altLang="en-US" dirty="0"/>
              <a:t>処理の過程を答えの部分に含めたもの</a:t>
            </a:r>
            <a:endParaRPr lang="en-US" altLang="ja-JP" dirty="0"/>
          </a:p>
          <a:p>
            <a:pPr lvl="1"/>
            <a:r>
              <a:rPr kumimoji="1" lang="ja-JP" altLang="en-US" dirty="0"/>
              <a:t>あとは全部同じ</a:t>
            </a:r>
            <a:endParaRPr kumimoji="1" lang="en-US" altLang="ja-JP" dirty="0"/>
          </a:p>
          <a:p>
            <a:pPr lvl="1"/>
            <a:endParaRPr kumimoji="1" lang="ja-JP" altLang="en-US"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a:bodyPr>
          <a:lstStyle/>
          <a:p>
            <a:r>
              <a:rPr lang="ja-JP" altLang="en-US" dirty="0"/>
              <a:t>テストデータその</a:t>
            </a:r>
            <a:r>
              <a:rPr lang="en-US" altLang="ja-JP" dirty="0"/>
              <a:t>1</a:t>
            </a:r>
          </a:p>
          <a:p>
            <a:pPr lvl="1"/>
            <a:r>
              <a:rPr lang="ja-JP" altLang="en-US" dirty="0"/>
              <a:t>訓練用のデータの問題と同じ処理とその組み合わせで</a:t>
            </a:r>
            <a:r>
              <a:rPr lang="en-US" altLang="ja-JP" dirty="0"/>
              <a:t>10</a:t>
            </a:r>
            <a:r>
              <a:rPr lang="ja-JP" altLang="en-US" dirty="0"/>
              <a:t>問ずつ</a:t>
            </a:r>
            <a:endParaRPr lang="en-US" altLang="ja-JP" dirty="0"/>
          </a:p>
          <a:p>
            <a:pPr lvl="1"/>
            <a:r>
              <a:rPr lang="ja-JP" altLang="en-US" dirty="0"/>
              <a:t>全部で</a:t>
            </a:r>
            <a:r>
              <a:rPr lang="en-US" altLang="ja-JP" dirty="0"/>
              <a:t>720</a:t>
            </a:r>
            <a:r>
              <a:rPr lang="ja-JP" altLang="en-US" dirty="0"/>
              <a:t>問</a:t>
            </a:r>
            <a:endParaRPr lang="en-US" altLang="ja-JP" dirty="0"/>
          </a:p>
          <a:p>
            <a:r>
              <a:rPr lang="ja-JP" altLang="en-US" dirty="0"/>
              <a:t>テストデータその</a:t>
            </a:r>
            <a:r>
              <a:rPr lang="en-US" altLang="ja-JP" dirty="0"/>
              <a:t>2</a:t>
            </a:r>
          </a:p>
          <a:p>
            <a:pPr lvl="1"/>
            <a:r>
              <a:rPr lang="ja-JP" altLang="ja-JP" dirty="0"/>
              <a:t>処理単体としては同じだけど</a:t>
            </a:r>
            <a:r>
              <a:rPr lang="ja-JP" altLang="en-US" dirty="0"/>
              <a:t>訓練用のデータでは出なかった組み合わせを</a:t>
            </a:r>
            <a:r>
              <a:rPr lang="en-US" altLang="ja-JP" dirty="0"/>
              <a:t>10</a:t>
            </a:r>
            <a:r>
              <a:rPr lang="ja-JP" altLang="en-US" dirty="0"/>
              <a:t>問ずつ</a:t>
            </a:r>
            <a:endParaRPr lang="en-US" altLang="ja-JP" dirty="0"/>
          </a:p>
          <a:p>
            <a:pPr lvl="1"/>
            <a:r>
              <a:rPr lang="ja-JP" altLang="en-US" dirty="0"/>
              <a:t>ルールの種類は</a:t>
            </a:r>
            <a:r>
              <a:rPr lang="en-US" altLang="ja-JP" dirty="0"/>
              <a:t>48</a:t>
            </a:r>
            <a:r>
              <a:rPr lang="ja-JP" altLang="en-US" dirty="0"/>
              <a:t>種類</a:t>
            </a:r>
            <a:endParaRPr lang="en-US" altLang="ja-JP" dirty="0"/>
          </a:p>
          <a:p>
            <a:pPr lvl="1"/>
            <a:r>
              <a:rPr lang="ja-JP" altLang="en-US" dirty="0"/>
              <a:t>全部の問題が</a:t>
            </a:r>
            <a:r>
              <a:rPr lang="en-US" altLang="ja-JP" dirty="0"/>
              <a:t>2</a:t>
            </a:r>
            <a:r>
              <a:rPr lang="ja-JP" altLang="en-US" dirty="0"/>
              <a:t>つの処理の組み合わせ</a:t>
            </a:r>
            <a:endParaRPr lang="en-US" altLang="ja-JP" dirty="0"/>
          </a:p>
          <a:p>
            <a:pPr lvl="1"/>
            <a:r>
              <a:rPr lang="ja-JP" altLang="en-US" dirty="0"/>
              <a:t>全部で</a:t>
            </a:r>
            <a:r>
              <a:rPr lang="en-US" altLang="ja-JP" dirty="0"/>
              <a:t>480</a:t>
            </a:r>
            <a:r>
              <a:rPr lang="ja-JP" altLang="en-US" dirty="0"/>
              <a:t>問</a:t>
            </a:r>
            <a:endParaRPr lang="en-US" altLang="ja-JP" dirty="0"/>
          </a:p>
          <a:p>
            <a:endParaRPr kumimoji="1" lang="ja-JP" altLang="en-US"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825625"/>
            <a:ext cx="10515600" cy="4581312"/>
          </a:xfrm>
        </p:spPr>
        <p:txBody>
          <a:bodyPr>
            <a:normAutofit/>
          </a:bodyPr>
          <a:lstStyle/>
          <a:p>
            <a:r>
              <a:rPr lang="en-US" altLang="ja-JP" dirty="0"/>
              <a:t>Qwen3-4b</a:t>
            </a:r>
            <a:r>
              <a:rPr lang="en-US" altLang="ja-JP" baseline="30000" dirty="0"/>
              <a:t>8</a:t>
            </a:r>
          </a:p>
          <a:p>
            <a:pPr lvl="1"/>
            <a:r>
              <a:rPr lang="en-US" altLang="ja-JP" dirty="0"/>
              <a:t>4B</a:t>
            </a:r>
            <a:r>
              <a:rPr lang="ja-JP" altLang="en-US" dirty="0"/>
              <a:t>パラメータの比較的小規模な</a:t>
            </a:r>
            <a:r>
              <a:rPr lang="en-US" altLang="ja-JP" dirty="0"/>
              <a:t>LLM </a:t>
            </a:r>
          </a:p>
          <a:p>
            <a:pPr lvl="1"/>
            <a:r>
              <a:rPr lang="ja-JP" altLang="en-US" dirty="0"/>
              <a:t>推論・問題解決能力を持つモデル </a:t>
            </a:r>
          </a:p>
          <a:p>
            <a:pPr lvl="1"/>
            <a:r>
              <a:rPr lang="ja-JP" altLang="en-US" dirty="0"/>
              <a:t>追加学習を用いた近年の研究でも採用されている </a:t>
            </a:r>
          </a:p>
          <a:p>
            <a:pPr lvl="3"/>
            <a:r>
              <a:rPr lang="ja-JP" altLang="en-US" dirty="0">
                <a:solidFill>
                  <a:srgbClr val="FF0000"/>
                </a:solidFill>
              </a:rPr>
              <a:t>引用</a:t>
            </a:r>
            <a:endParaRPr lang="en-US" altLang="ja-JP" dirty="0">
              <a:solidFill>
                <a:srgbClr val="FF0000"/>
              </a:solidFill>
            </a:endParaRPr>
          </a:p>
          <a:p>
            <a:pPr lvl="3"/>
            <a:r>
              <a:rPr lang="ja-JP" altLang="en-US" dirty="0">
                <a:solidFill>
                  <a:srgbClr val="FF0000"/>
                </a:solidFill>
              </a:rPr>
              <a:t>引用</a:t>
            </a:r>
            <a:endParaRPr lang="en-US" altLang="ja-JP" dirty="0">
              <a:solidFill>
                <a:srgbClr val="FF0000"/>
              </a:solidFill>
            </a:endParaRPr>
          </a:p>
          <a:p>
            <a:endParaRPr lang="en-US" altLang="ja-JP" dirty="0"/>
          </a:p>
          <a:p>
            <a:r>
              <a:rPr lang="en-US" altLang="ja-JP" dirty="0"/>
              <a:t>LoRA</a:t>
            </a:r>
            <a:r>
              <a:rPr lang="en-US" altLang="ja-JP" baseline="30000" dirty="0"/>
              <a:t>9</a:t>
            </a:r>
            <a:r>
              <a:rPr lang="ja-JP" altLang="en-US" dirty="0"/>
              <a:t>（</a:t>
            </a:r>
            <a:r>
              <a:rPr lang="en-US" altLang="ja-JP" dirty="0"/>
              <a:t>Low-Rank Adaptation</a:t>
            </a:r>
            <a:r>
              <a:rPr lang="ja-JP" altLang="en-US" dirty="0"/>
              <a:t>）</a:t>
            </a:r>
          </a:p>
          <a:p>
            <a:pPr lvl="1"/>
            <a:r>
              <a:rPr lang="ja-JP" altLang="en-US" dirty="0"/>
              <a:t>ベースモデルのパラメータを固定 </a:t>
            </a:r>
          </a:p>
          <a:p>
            <a:pPr lvl="1"/>
            <a:r>
              <a:rPr lang="ja-JP" altLang="en-US" dirty="0"/>
              <a:t>追加した小規模なパラメータのみを学習 </a:t>
            </a:r>
          </a:p>
          <a:p>
            <a:pPr lvl="1"/>
            <a:r>
              <a:rPr lang="ja-JP" altLang="en-US"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1115291" y="6356350"/>
            <a:ext cx="9961418" cy="365125"/>
          </a:xfrm>
        </p:spPr>
        <p:txBody>
          <a:bodyPr/>
          <a:lstStyle/>
          <a:p>
            <a:r>
              <a:rPr lang="en-US" altLang="ja-JP" dirty="0"/>
              <a:t>8.  </a:t>
            </a:r>
            <a:r>
              <a:rPr lang="ja-JP" altLang="ja-JP" dirty="0"/>
              <a:t>Yang et al. (2025). “Qwen3 Technical Report”</a:t>
            </a:r>
            <a:endParaRPr lang="en-US" altLang="ja-JP" dirty="0"/>
          </a:p>
          <a:p>
            <a:r>
              <a:rPr lang="en-US" altLang="ja-JP" dirty="0"/>
              <a:t>9.  </a:t>
            </a:r>
            <a:r>
              <a:rPr lang="ja-JP" altLang="ja-JP" dirty="0"/>
              <a:t>Hu et al. (2021). “LoRA: Low-Rank Adaptation of Large Language Models”</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lstStyle/>
          <a:p>
            <a:r>
              <a:rPr kumimoji="1" lang="ja-JP" altLang="en-US" dirty="0"/>
              <a:t>テスト用の問題を解くモデル</a:t>
            </a:r>
            <a:endParaRPr kumimoji="1" lang="en-US" altLang="ja-JP" dirty="0"/>
          </a:p>
          <a:p>
            <a:pPr lvl="1"/>
            <a:r>
              <a:rPr kumimoji="1" lang="ja-JP" altLang="en-US" dirty="0"/>
              <a:t>追加の学習を行わず、そのままのモデル</a:t>
            </a:r>
            <a:endParaRPr kumimoji="1" lang="en-US" altLang="ja-JP" dirty="0"/>
          </a:p>
          <a:p>
            <a:pPr lvl="1"/>
            <a:r>
              <a:rPr lang="ja-JP" altLang="en-US" dirty="0"/>
              <a:t>問題文と答えのみを用いて調整した</a:t>
            </a:r>
            <a:r>
              <a:rPr lang="en-US" altLang="ja-JP" dirty="0" err="1"/>
              <a:t>LoRA</a:t>
            </a:r>
            <a:r>
              <a:rPr lang="ja-JP" altLang="en-US" dirty="0"/>
              <a:t>を適用したモデル</a:t>
            </a:r>
            <a:endParaRPr lang="en-US" altLang="ja-JP" dirty="0"/>
          </a:p>
          <a:p>
            <a:pPr lvl="1"/>
            <a:r>
              <a:rPr kumimoji="1" lang="ja-JP" altLang="en-US" dirty="0"/>
              <a:t>問題文と処理の過程と答えを用いて調整した</a:t>
            </a:r>
            <a:r>
              <a:rPr kumimoji="1" lang="en-US" altLang="ja-JP" dirty="0" err="1"/>
              <a:t>LoRA</a:t>
            </a:r>
            <a:r>
              <a:rPr kumimoji="1" lang="ja-JP" altLang="en-US"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solidFill>
                  <a:srgbClr val="FF0000"/>
                </a:solidFill>
              </a:rPr>
              <a:t>問題解決</a:t>
            </a:r>
            <a:r>
              <a:rPr lang="ja-JP" altLang="en-US" dirty="0">
                <a:solidFill>
                  <a:srgbClr val="FF0000"/>
                </a:solidFill>
              </a:rPr>
              <a:t>能力の評価実験</a:t>
            </a:r>
            <a:endParaRPr lang="en-US" altLang="ja-JP" dirty="0">
              <a:solidFill>
                <a:srgbClr val="FF0000"/>
              </a:solidFill>
            </a:endParaRPr>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r>
              <a:rPr lang="en-US" altLang="ja-JP" dirty="0">
                <a:solidFill>
                  <a:srgbClr val="FF0000"/>
                </a:solidFill>
              </a:rPr>
              <a:t>(</a:t>
            </a:r>
            <a:r>
              <a:rPr lang="ja-JP" altLang="en-US" dirty="0">
                <a:solidFill>
                  <a:srgbClr val="FF0000"/>
                </a:solidFill>
              </a:rPr>
              <a:t>やり直し中</a:t>
            </a:r>
            <a:r>
              <a:rPr lang="en-US" altLang="ja-JP" dirty="0">
                <a:solidFill>
                  <a:srgbClr val="FF0000"/>
                </a:solidFill>
              </a:rPr>
              <a:t>)</a:t>
            </a:r>
            <a:endParaRPr kumimoji="1" lang="ja-JP" altLang="en-US" dirty="0">
              <a:solidFill>
                <a:srgbClr val="FF0000"/>
              </a:solidFill>
            </a:endParaRPr>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565062704"/>
              </p:ext>
            </p:extLst>
          </p:nvPr>
        </p:nvGraphicFramePr>
        <p:xfrm>
          <a:off x="838200" y="1583169"/>
          <a:ext cx="10515600" cy="435133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811409">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277/680</a:t>
                      </a:r>
                    </a:p>
                    <a:p>
                      <a:pPr algn="ctr"/>
                      <a:r>
                        <a:rPr kumimoji="1" lang="ja-JP" altLang="en-US" sz="2100" dirty="0"/>
                        <a:t>約</a:t>
                      </a:r>
                      <a:r>
                        <a:rPr kumimoji="1" lang="en-US" altLang="ja-JP" sz="2100" dirty="0"/>
                        <a:t>40</a:t>
                      </a:r>
                      <a:r>
                        <a:rPr kumimoji="1" lang="ja-JP" altLang="en-US" sz="2100" dirty="0"/>
                        <a:t>％</a:t>
                      </a:r>
                    </a:p>
                  </a:txBody>
                  <a:tcPr anchor="ctr"/>
                </a:tc>
                <a:tc>
                  <a:txBody>
                    <a:bodyPr/>
                    <a:lstStyle/>
                    <a:p>
                      <a:pPr algn="ctr"/>
                      <a:r>
                        <a:rPr kumimoji="1" lang="en-US" altLang="ja-JP" sz="2100" dirty="0"/>
                        <a:t>484/680</a:t>
                      </a:r>
                    </a:p>
                    <a:p>
                      <a:pPr algn="ctr"/>
                      <a:r>
                        <a:rPr kumimoji="1" lang="ja-JP" altLang="en-US" sz="2100" dirty="0"/>
                        <a:t>約</a:t>
                      </a:r>
                      <a:r>
                        <a:rPr kumimoji="1" lang="en-US" altLang="ja-JP" sz="2100" dirty="0"/>
                        <a:t>71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548</a:t>
                      </a:r>
                      <a:r>
                        <a:rPr kumimoji="1" lang="en-US" altLang="ja-JP" sz="2100" b="0" i="0" kern="1200" dirty="0">
                          <a:solidFill>
                            <a:schemeClr val="dk1"/>
                          </a:solidFill>
                          <a:effectLst/>
                          <a:latin typeface="+mn-lt"/>
                          <a:ea typeface="+mn-ea"/>
                          <a:cs typeface="+mn-cs"/>
                        </a:rPr>
                        <a:t>/680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80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ja-JP" altLang="ja-JP" sz="2100" b="0" i="0" kern="1200" dirty="0">
                          <a:solidFill>
                            <a:schemeClr val="dk1"/>
                          </a:solidFill>
                          <a:effectLst/>
                          <a:latin typeface="+mn-lt"/>
                          <a:ea typeface="+mn-ea"/>
                          <a:cs typeface="+mn-cs"/>
                        </a:rPr>
                        <a:t>67</a:t>
                      </a:r>
                      <a:r>
                        <a:rPr kumimoji="1" lang="en-US" altLang="ja-JP" sz="2100" dirty="0"/>
                        <a:t>/480</a:t>
                      </a:r>
                    </a:p>
                    <a:p>
                      <a:pPr algn="ctr"/>
                      <a:r>
                        <a:rPr kumimoji="1" lang="ja-JP" altLang="en-US" sz="2100" dirty="0"/>
                        <a:t>約</a:t>
                      </a:r>
                      <a:r>
                        <a:rPr kumimoji="1" lang="en-US" altLang="ja-JP" sz="2100" dirty="0"/>
                        <a:t>13</a:t>
                      </a:r>
                      <a:r>
                        <a:rPr kumimoji="1" lang="ja-JP" altLang="en-US" sz="2100" dirty="0"/>
                        <a:t>％</a:t>
                      </a:r>
                    </a:p>
                  </a:txBody>
                  <a:tcPr anchor="ctr"/>
                </a:tc>
                <a:tc>
                  <a:txBody>
                    <a:bodyPr/>
                    <a:lstStyle/>
                    <a:p>
                      <a:pPr algn="ctr"/>
                      <a:r>
                        <a:rPr kumimoji="1" lang="en-US" altLang="ja-JP" sz="2100" dirty="0"/>
                        <a:t>201/480</a:t>
                      </a:r>
                    </a:p>
                    <a:p>
                      <a:pPr algn="ctr"/>
                      <a:r>
                        <a:rPr kumimoji="1" lang="ja-JP" altLang="en-US" sz="2100" dirty="0"/>
                        <a:t>約</a:t>
                      </a:r>
                      <a:r>
                        <a:rPr kumimoji="1" lang="en-US" altLang="ja-JP" sz="2100" dirty="0"/>
                        <a:t>41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98</a:t>
                      </a:r>
                      <a:r>
                        <a:rPr kumimoji="1" lang="en-US" altLang="ja-JP" sz="2100" b="0" i="0" kern="1200" dirty="0">
                          <a:solidFill>
                            <a:schemeClr val="dk1"/>
                          </a:solidFill>
                          <a:effectLst/>
                          <a:latin typeface="+mn-lt"/>
                          <a:ea typeface="+mn-ea"/>
                          <a:cs typeface="+mn-cs"/>
                        </a:rPr>
                        <a:t>/480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20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923330"/>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a:p>
            <a:endParaRPr kumimoji="1" lang="ja-JP" altLang="en-US" dirty="0"/>
          </a:p>
        </p:txBody>
      </p:sp>
    </p:spTree>
    <p:extLst>
      <p:ext uri="{BB962C8B-B14F-4D97-AF65-F5344CB8AC3E}">
        <p14:creationId xmlns:p14="http://schemas.microsoft.com/office/powerpoint/2010/main" val="21569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17FC67-421D-54F2-1BEE-EAE5769FFEF2}"/>
              </a:ext>
            </a:extLst>
          </p:cNvPr>
          <p:cNvSpPr>
            <a:spLocks noGrp="1"/>
          </p:cNvSpPr>
          <p:nvPr>
            <p:ph type="title"/>
          </p:nvPr>
        </p:nvSpPr>
        <p:spPr/>
        <p:txBody>
          <a:bodyPr/>
          <a:lstStyle/>
          <a:p>
            <a:r>
              <a:rPr lang="ja-JP" altLang="en-US" dirty="0"/>
              <a:t>問題解決能力の評価実験</a:t>
            </a:r>
            <a:endParaRPr kumimoji="1" lang="ja-JP" altLang="en-US" dirty="0"/>
          </a:p>
        </p:txBody>
      </p:sp>
      <p:sp>
        <p:nvSpPr>
          <p:cNvPr id="3" name="コンテンツ プレースホルダー 2">
            <a:extLst>
              <a:ext uri="{FF2B5EF4-FFF2-40B4-BE49-F238E27FC236}">
                <a16:creationId xmlns:a16="http://schemas.microsoft.com/office/drawing/2014/main" id="{4B21DC81-254B-4357-7900-4994D496D353}"/>
              </a:ext>
            </a:extLst>
          </p:cNvPr>
          <p:cNvSpPr>
            <a:spLocks noGrp="1"/>
          </p:cNvSpPr>
          <p:nvPr>
            <p:ph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7DF5970-CA74-5E3E-9472-A3480A45816E}"/>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23848029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2060</TotalTime>
  <Words>1931</Words>
  <Application>Microsoft Office PowerPoint</Application>
  <PresentationFormat>ワイド画面</PresentationFormat>
  <Paragraphs>278</Paragraphs>
  <Slides>24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24</vt:i4>
      </vt:variant>
    </vt:vector>
  </HeadingPairs>
  <TitlesOfParts>
    <vt:vector size="28" baseType="lpstr">
      <vt:lpstr>游ゴシック</vt:lpstr>
      <vt:lpstr>游ゴシック Light</vt:lpstr>
      <vt:lpstr>Arial</vt:lpstr>
      <vt:lpstr>Office テーマ</vt:lpstr>
      <vt:lpstr>生成AIの追加学習による問題解決能力の変化</vt:lpstr>
      <vt:lpstr>目次</vt:lpstr>
      <vt:lpstr>目次</vt:lpstr>
      <vt:lpstr>研究背景</vt:lpstr>
      <vt:lpstr>SFTによる追加学習</vt:lpstr>
      <vt:lpstr>先行研究</vt:lpstr>
      <vt:lpstr>先行研究からわかること</vt:lpstr>
      <vt:lpstr>自分の調べたいこと</vt:lpstr>
      <vt:lpstr>Compositional Generalizationの先行研究</vt:lpstr>
      <vt:lpstr>研究目的</vt:lpstr>
      <vt:lpstr>目次</vt:lpstr>
      <vt:lpstr>研究方法</vt:lpstr>
      <vt:lpstr>問題</vt:lpstr>
      <vt:lpstr>仕組み</vt:lpstr>
      <vt:lpstr>研究方法</vt:lpstr>
      <vt:lpstr>データについて</vt:lpstr>
      <vt:lpstr>処理の過程を答えの部分に含めたもの</vt:lpstr>
      <vt:lpstr>データについて</vt:lpstr>
      <vt:lpstr>データについて</vt:lpstr>
      <vt:lpstr>研究方法</vt:lpstr>
      <vt:lpstr>研究方法</vt:lpstr>
      <vt:lpstr>目次</vt:lpstr>
      <vt:lpstr>問題解決能力の評価実験(やり直し中)</vt:lpstr>
      <vt:lpstr>問題解決能力の評価実験</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4</cp:revision>
  <dcterms:created xsi:type="dcterms:W3CDTF">2026-09-01T15:23:02Z</dcterms:created>
  <dcterms:modified xsi:type="dcterms:W3CDTF">2026-09-09T01:44:16Z</dcterms:modified>
</cp:coreProperties>
</file>