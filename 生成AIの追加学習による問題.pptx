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9"/>
  </p:notesMasterIdLst>
  <p:handoutMasterIdLst>
    <p:handoutMasterId r:id="rId50"/>
  </p:handoutMasterIdLst>
  <p:sldIdLst>
    <p:sldId id="256" r:id="rId2"/>
    <p:sldId id="257" r:id="rId3"/>
    <p:sldId id="265" r:id="rId4"/>
    <p:sldId id="258" r:id="rId5"/>
    <p:sldId id="259" r:id="rId6"/>
    <p:sldId id="260" r:id="rId7"/>
    <p:sldId id="261" r:id="rId8"/>
    <p:sldId id="263" r:id="rId9"/>
    <p:sldId id="262" r:id="rId10"/>
    <p:sldId id="264" r:id="rId11"/>
    <p:sldId id="267" r:id="rId12"/>
    <p:sldId id="269" r:id="rId13"/>
    <p:sldId id="271" r:id="rId14"/>
    <p:sldId id="272" r:id="rId15"/>
    <p:sldId id="273" r:id="rId16"/>
    <p:sldId id="274" r:id="rId17"/>
    <p:sldId id="275" r:id="rId18"/>
    <p:sldId id="276" r:id="rId19"/>
    <p:sldId id="277" r:id="rId20"/>
    <p:sldId id="278" r:id="rId21"/>
    <p:sldId id="279" r:id="rId22"/>
    <p:sldId id="281" r:id="rId23"/>
    <p:sldId id="282" r:id="rId24"/>
    <p:sldId id="283" r:id="rId25"/>
    <p:sldId id="285" r:id="rId26"/>
    <p:sldId id="287" r:id="rId27"/>
    <p:sldId id="288" r:id="rId28"/>
    <p:sldId id="290" r:id="rId29"/>
    <p:sldId id="293" r:id="rId30"/>
    <p:sldId id="295" r:id="rId31"/>
    <p:sldId id="296" r:id="rId32"/>
    <p:sldId id="297" r:id="rId33"/>
    <p:sldId id="298" r:id="rId34"/>
    <p:sldId id="299" r:id="rId35"/>
    <p:sldId id="300" r:id="rId36"/>
    <p:sldId id="301" r:id="rId37"/>
    <p:sldId id="302" r:id="rId38"/>
    <p:sldId id="303" r:id="rId39"/>
    <p:sldId id="304" r:id="rId40"/>
    <p:sldId id="305" r:id="rId41"/>
    <p:sldId id="307" r:id="rId42"/>
    <p:sldId id="306" r:id="rId43"/>
    <p:sldId id="308" r:id="rId44"/>
    <p:sldId id="309" r:id="rId45"/>
    <p:sldId id="310" r:id="rId46"/>
    <p:sldId id="311" r:id="rId47"/>
    <p:sldId id="284" r:id="rId4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672"/>
  </p:normalViewPr>
  <p:slideViewPr>
    <p:cSldViewPr snapToGrid="0">
      <p:cViewPr varScale="1">
        <p:scale>
          <a:sx n="156" d="100"/>
          <a:sy n="156" d="100"/>
        </p:scale>
        <p:origin x="348" y="1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handoutMaster" Target="handoutMasters/handout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A1C62D9E-085A-E766-4459-84109B96012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A26E88DC-CA8F-B845-ED88-928A9EBD45D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D0BDCF3-6838-49F9-878F-F13A4D3F69AF}" type="datetimeFigureOut">
              <a:rPr kumimoji="1" lang="ja-JP" altLang="en-US" smtClean="0"/>
              <a:t>2026/9/11</a:t>
            </a:fld>
            <a:endParaRPr kumimoji="1" lang="ja-JP" altLang="en-US"/>
          </a:p>
        </p:txBody>
      </p:sp>
      <p:sp>
        <p:nvSpPr>
          <p:cNvPr id="4" name="フッター プレースホルダー 3">
            <a:extLst>
              <a:ext uri="{FF2B5EF4-FFF2-40B4-BE49-F238E27FC236}">
                <a16:creationId xmlns:a16="http://schemas.microsoft.com/office/drawing/2014/main" id="{6BA09338-4410-469A-C088-1E372AB4CB0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34043C3C-3033-6782-5183-13BB271C2AB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416AACF-0064-475C-82B7-308A3EEA8AD9}" type="slidenum">
              <a:rPr kumimoji="1" lang="ja-JP" altLang="en-US" smtClean="0"/>
              <a:t>‹#›</a:t>
            </a:fld>
            <a:endParaRPr kumimoji="1" lang="ja-JP" altLang="en-US"/>
          </a:p>
        </p:txBody>
      </p:sp>
    </p:spTree>
    <p:extLst>
      <p:ext uri="{BB962C8B-B14F-4D97-AF65-F5344CB8AC3E}">
        <p14:creationId xmlns:p14="http://schemas.microsoft.com/office/powerpoint/2010/main" val="29935829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D7D25B-E7F4-42EB-A3A2-379C00250A8D}" type="datetimeFigureOut">
              <a:rPr kumimoji="1" lang="ja-JP" altLang="en-US" smtClean="0"/>
              <a:t>2026/9/11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DA8E0A-CFBF-4245-917B-805B87964056}" type="slidenum">
              <a:rPr kumimoji="1" lang="ja-JP" altLang="en-US" smtClean="0"/>
              <a:t>‹#›</a:t>
            </a:fld>
            <a:endParaRPr kumimoji="1" lang="ja-JP" altLang="en-US"/>
          </a:p>
        </p:txBody>
      </p:sp>
    </p:spTree>
    <p:extLst>
      <p:ext uri="{BB962C8B-B14F-4D97-AF65-F5344CB8AC3E}">
        <p14:creationId xmlns:p14="http://schemas.microsoft.com/office/powerpoint/2010/main" val="1221789192"/>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5F4AF92-2292-3CE5-E00B-FAA5BBABBD69}"/>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CCBA7B7-16DF-6A26-665E-2C825772BE7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C0789E10-EE99-BFF1-3129-76456A4F00AE}"/>
              </a:ext>
            </a:extLst>
          </p:cNvPr>
          <p:cNvSpPr>
            <a:spLocks noGrp="1"/>
          </p:cNvSpPr>
          <p:nvPr>
            <p:ph type="dt" sz="half" idx="10"/>
          </p:nvPr>
        </p:nvSpPr>
        <p:spPr/>
        <p:txBody>
          <a:bodyPr/>
          <a:lstStyle/>
          <a:p>
            <a:fld id="{A3A6DBD2-DA0F-4369-AACF-DF8255168190}"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B628457F-DFEF-A424-E440-B3C40595EDD2}"/>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F21A758F-0EC2-8B1D-8C36-59D5747639DB}"/>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7122165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60D6B52-A4D6-900E-DB8D-7C4C882520BB}"/>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5BE521F-4341-BE0F-52D5-3A6D6154506F}"/>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83062C3-BBA2-E596-9911-87A719E34D8B}"/>
              </a:ext>
            </a:extLst>
          </p:cNvPr>
          <p:cNvSpPr>
            <a:spLocks noGrp="1"/>
          </p:cNvSpPr>
          <p:nvPr>
            <p:ph type="dt" sz="half" idx="10"/>
          </p:nvPr>
        </p:nvSpPr>
        <p:spPr/>
        <p:txBody>
          <a:bodyPr/>
          <a:lstStyle/>
          <a:p>
            <a:fld id="{DB0EC384-A088-42ED-AC29-547DFB1F70D3}"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685C09E1-D463-E0A3-8308-B35B3B8B4970}"/>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88FB6DD6-655A-D780-2F5E-3371FA6881C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6463711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49981A8-526D-220E-ACB1-F125F95B0FDC}"/>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B0EA4A3-F163-93F2-5A32-DDCDC8CFEA3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4005994E-14EA-5EF2-331F-BD786E28C386}"/>
              </a:ext>
            </a:extLst>
          </p:cNvPr>
          <p:cNvSpPr>
            <a:spLocks noGrp="1"/>
          </p:cNvSpPr>
          <p:nvPr>
            <p:ph type="dt" sz="half" idx="10"/>
          </p:nvPr>
        </p:nvSpPr>
        <p:spPr/>
        <p:txBody>
          <a:bodyPr/>
          <a:lstStyle/>
          <a:p>
            <a:fld id="{72396E98-BCEA-43E3-A527-8B3F64AC7C63}"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47CCE1B9-989D-D2C1-C2A3-C255CEE4B14B}"/>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18FE1E8E-BD87-671D-A64D-88CD10EC249E}"/>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999351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64FDBC-05DD-2DE4-EBDD-FA352DA791C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41854E5-1AEE-EA6D-18EC-15283ACE2015}"/>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D3879AE-AFD9-9048-3639-6C5A802C4C2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85704807-7261-1FD1-31DC-BB0B735EE065}"/>
              </a:ext>
            </a:extLst>
          </p:cNvPr>
          <p:cNvSpPr>
            <a:spLocks noGrp="1"/>
          </p:cNvSpPr>
          <p:nvPr>
            <p:ph type="dt" sz="half" idx="10"/>
          </p:nvPr>
        </p:nvSpPr>
        <p:spPr/>
        <p:txBody>
          <a:bodyPr/>
          <a:lstStyle/>
          <a:p>
            <a:fld id="{1FEB46E7-DFC0-4570-B8A6-AF34C134E007}" type="datetime1">
              <a:rPr kumimoji="1" lang="ja-JP" altLang="en-US" smtClean="0"/>
              <a:t>2026/9/11</a:t>
            </a:fld>
            <a:endParaRPr kumimoji="1" lang="ja-JP" altLang="en-US"/>
          </a:p>
        </p:txBody>
      </p:sp>
      <p:sp>
        <p:nvSpPr>
          <p:cNvPr id="6" name="フッター プレースホルダー 5">
            <a:extLst>
              <a:ext uri="{FF2B5EF4-FFF2-40B4-BE49-F238E27FC236}">
                <a16:creationId xmlns:a16="http://schemas.microsoft.com/office/drawing/2014/main" id="{22E11EEF-4256-80B9-82B3-E964AFC8604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895B2884-8DC2-5ED0-243B-C3B3FADE9F0E}"/>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9144440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82B26E-BBDB-C4A6-6F9E-98847B75F5EF}"/>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531A323-EC66-BB1D-6F79-79985302017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09D325EA-620B-2943-3015-9655E08667B7}"/>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63D86F26-9D37-84D1-592E-C2768E4F91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1FCEFD80-A2B9-BD1F-AC48-F84628E529C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749039CE-69D8-E289-E77A-92A59C5EF4BD}"/>
              </a:ext>
            </a:extLst>
          </p:cNvPr>
          <p:cNvSpPr>
            <a:spLocks noGrp="1"/>
          </p:cNvSpPr>
          <p:nvPr>
            <p:ph type="dt" sz="half" idx="10"/>
          </p:nvPr>
        </p:nvSpPr>
        <p:spPr/>
        <p:txBody>
          <a:bodyPr/>
          <a:lstStyle/>
          <a:p>
            <a:fld id="{D3810E2D-B8D9-4D54-BDF3-688F00317A31}" type="datetime1">
              <a:rPr kumimoji="1" lang="ja-JP" altLang="en-US" smtClean="0"/>
              <a:t>2026/9/11</a:t>
            </a:fld>
            <a:endParaRPr kumimoji="1" lang="ja-JP" altLang="en-US"/>
          </a:p>
        </p:txBody>
      </p:sp>
      <p:sp>
        <p:nvSpPr>
          <p:cNvPr id="8" name="フッター プレースホルダー 7">
            <a:extLst>
              <a:ext uri="{FF2B5EF4-FFF2-40B4-BE49-F238E27FC236}">
                <a16:creationId xmlns:a16="http://schemas.microsoft.com/office/drawing/2014/main" id="{97EA1AD2-F2F8-0665-8110-5CB883594FF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9" name="スライド番号プレースホルダー 8">
            <a:extLst>
              <a:ext uri="{FF2B5EF4-FFF2-40B4-BE49-F238E27FC236}">
                <a16:creationId xmlns:a16="http://schemas.microsoft.com/office/drawing/2014/main" id="{320C9573-8E6C-8465-39E4-98FA2A517D32}"/>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8876882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0CC538F-BFF1-C0A4-97AC-C7545B50B967}"/>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04814FCB-A23C-8814-B1D8-1BBB38CCBA0B}"/>
              </a:ext>
            </a:extLst>
          </p:cNvPr>
          <p:cNvSpPr>
            <a:spLocks noGrp="1"/>
          </p:cNvSpPr>
          <p:nvPr>
            <p:ph type="dt" sz="half" idx="10"/>
          </p:nvPr>
        </p:nvSpPr>
        <p:spPr/>
        <p:txBody>
          <a:bodyPr/>
          <a:lstStyle/>
          <a:p>
            <a:fld id="{79343A81-EC42-4B0B-B788-83B2979B1AC0}" type="datetime1">
              <a:rPr kumimoji="1" lang="ja-JP" altLang="en-US" smtClean="0"/>
              <a:t>2026/9/11</a:t>
            </a:fld>
            <a:endParaRPr kumimoji="1" lang="ja-JP" altLang="en-US"/>
          </a:p>
        </p:txBody>
      </p:sp>
      <p:sp>
        <p:nvSpPr>
          <p:cNvPr id="4" name="フッター プレースホルダー 3">
            <a:extLst>
              <a:ext uri="{FF2B5EF4-FFF2-40B4-BE49-F238E27FC236}">
                <a16:creationId xmlns:a16="http://schemas.microsoft.com/office/drawing/2014/main" id="{1622895D-BD80-A103-7DCF-17313F0B6759}"/>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5" name="スライド番号プレースホルダー 4">
            <a:extLst>
              <a:ext uri="{FF2B5EF4-FFF2-40B4-BE49-F238E27FC236}">
                <a16:creationId xmlns:a16="http://schemas.microsoft.com/office/drawing/2014/main" id="{D85647EC-8A8A-400E-E322-AF6B12E91F5D}"/>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059874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2F68687C-815B-6576-BE53-D6A3CB1AB55F}"/>
              </a:ext>
            </a:extLst>
          </p:cNvPr>
          <p:cNvSpPr>
            <a:spLocks noGrp="1"/>
          </p:cNvSpPr>
          <p:nvPr>
            <p:ph type="dt" sz="half" idx="10"/>
          </p:nvPr>
        </p:nvSpPr>
        <p:spPr/>
        <p:txBody>
          <a:bodyPr/>
          <a:lstStyle/>
          <a:p>
            <a:fld id="{9748B458-1745-45CB-B123-B28D42A66973}"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ABA6BE4A-98EA-3F84-D1EC-4758782CD58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4" name="スライド番号プレースホルダー 3">
            <a:extLst>
              <a:ext uri="{FF2B5EF4-FFF2-40B4-BE49-F238E27FC236}">
                <a16:creationId xmlns:a16="http://schemas.microsoft.com/office/drawing/2014/main" id="{97149DA9-656F-B162-F974-1908220926F3}"/>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836265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BE4667A-8CCA-DF17-AE90-5CA604C2A2E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A649824-92D4-8338-A585-FF05564F0A7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E3947ABF-773A-8FC5-0B51-8A4E71491E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9EF21D1-E7D1-8F1D-0024-B00AF282E258}"/>
              </a:ext>
            </a:extLst>
          </p:cNvPr>
          <p:cNvSpPr>
            <a:spLocks noGrp="1"/>
          </p:cNvSpPr>
          <p:nvPr>
            <p:ph type="dt" sz="half" idx="10"/>
          </p:nvPr>
        </p:nvSpPr>
        <p:spPr/>
        <p:txBody>
          <a:bodyPr/>
          <a:lstStyle/>
          <a:p>
            <a:fld id="{170F0C33-9C7C-4089-8659-3DECCBA36575}" type="datetime1">
              <a:rPr kumimoji="1" lang="ja-JP" altLang="en-US" smtClean="0"/>
              <a:t>2026/9/11</a:t>
            </a:fld>
            <a:endParaRPr kumimoji="1" lang="ja-JP" altLang="en-US"/>
          </a:p>
        </p:txBody>
      </p:sp>
      <p:sp>
        <p:nvSpPr>
          <p:cNvPr id="6" name="フッター プレースホルダー 5">
            <a:extLst>
              <a:ext uri="{FF2B5EF4-FFF2-40B4-BE49-F238E27FC236}">
                <a16:creationId xmlns:a16="http://schemas.microsoft.com/office/drawing/2014/main" id="{FB12FF2E-FABD-27FD-5FA0-E896C07EB2C4}"/>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50C5075B-7332-D8A8-5D6D-02A83DCAC34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12982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FDEEE10-96D8-1946-3144-94D9807CE91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2895A00-CEFB-6161-5D73-6F35C27855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821A144B-A879-F9AF-F140-AAAF273868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7BB9BCB-6FD3-20C1-3943-9F3962E93C53}"/>
              </a:ext>
            </a:extLst>
          </p:cNvPr>
          <p:cNvSpPr>
            <a:spLocks noGrp="1"/>
          </p:cNvSpPr>
          <p:nvPr>
            <p:ph type="dt" sz="half" idx="10"/>
          </p:nvPr>
        </p:nvSpPr>
        <p:spPr/>
        <p:txBody>
          <a:bodyPr/>
          <a:lstStyle/>
          <a:p>
            <a:fld id="{5B765AC1-2970-4943-B44F-799C74942DCC}" type="datetime1">
              <a:rPr kumimoji="1" lang="ja-JP" altLang="en-US" smtClean="0"/>
              <a:t>2026/9/11</a:t>
            </a:fld>
            <a:endParaRPr kumimoji="1" lang="ja-JP" altLang="en-US"/>
          </a:p>
        </p:txBody>
      </p:sp>
      <p:sp>
        <p:nvSpPr>
          <p:cNvPr id="6" name="フッター プレースホルダー 5">
            <a:extLst>
              <a:ext uri="{FF2B5EF4-FFF2-40B4-BE49-F238E27FC236}">
                <a16:creationId xmlns:a16="http://schemas.microsoft.com/office/drawing/2014/main" id="{EF436DDF-863D-1BA4-EFAB-180CC656370D}"/>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8881ACA5-D0B1-2B2F-AE34-5C9667900CC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23971134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8976B8-5C2C-4621-685F-6582D93404F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5DE4E30-DED0-CCF2-3D89-0C1CB15D48C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246B60E-22E2-D595-B8BA-430ED75B92F5}"/>
              </a:ext>
            </a:extLst>
          </p:cNvPr>
          <p:cNvSpPr>
            <a:spLocks noGrp="1"/>
          </p:cNvSpPr>
          <p:nvPr>
            <p:ph type="dt" sz="half" idx="10"/>
          </p:nvPr>
        </p:nvSpPr>
        <p:spPr/>
        <p:txBody>
          <a:bodyPr/>
          <a:lstStyle/>
          <a:p>
            <a:fld id="{6D55F33B-3C44-4800-AEBE-821A56E94784}"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DA19BABE-19FB-9852-33C2-622F18B0F7B6}"/>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E85B72B6-CCDB-59BE-9FB5-97FBA6D66844}"/>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27688803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0BB324BF-46B0-E862-DF60-17D7B1F0CA9D}"/>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3BC3CEA-D2B8-F0AF-EF9C-675BE2D75C3B}"/>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917713F-48AF-01BC-A05A-7E13D180A524}"/>
              </a:ext>
            </a:extLst>
          </p:cNvPr>
          <p:cNvSpPr>
            <a:spLocks noGrp="1"/>
          </p:cNvSpPr>
          <p:nvPr>
            <p:ph type="dt" sz="half" idx="10"/>
          </p:nvPr>
        </p:nvSpPr>
        <p:spPr/>
        <p:txBody>
          <a:bodyPr/>
          <a:lstStyle/>
          <a:p>
            <a:fld id="{3D39F1BD-DB4A-41B8-812B-24EA046BEB95}"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E1919BAB-D0C3-FFF6-830B-28E5C3FFA75E}"/>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41DB04A1-7053-2219-9CB4-0127CEE6BA1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992501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B51ACA0-6C9C-B2DB-158D-89A476042A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24A1321-60FD-D77F-8A35-C48FE8FC61B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17A5BA-95D8-6448-FA23-1A7261A18E4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E1D47AA-5221-48CA-B202-E9B9DD006441}"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BFF71853-8734-51BF-E59D-9D0DD9A6CD6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DFB4C56B-5E24-BB14-D15C-36C119F9DC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4346964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D56A85E-8031-7842-6829-4F5ED40EAC36}"/>
              </a:ext>
            </a:extLst>
          </p:cNvPr>
          <p:cNvSpPr>
            <a:spLocks noGrp="1"/>
          </p:cNvSpPr>
          <p:nvPr>
            <p:ph type="ctrTitle"/>
          </p:nvPr>
        </p:nvSpPr>
        <p:spPr/>
        <p:txBody>
          <a:bodyPr/>
          <a:lstStyle/>
          <a:p>
            <a:r>
              <a:rPr lang="ja-JP" altLang="en-US" dirty="0"/>
              <a:t>生成</a:t>
            </a:r>
            <a:r>
              <a:rPr lang="en-US" altLang="ja-JP" dirty="0"/>
              <a:t>AI</a:t>
            </a:r>
            <a:r>
              <a:rPr lang="ja-JP" altLang="en-US" dirty="0"/>
              <a:t>の追加学習による問題解決能力の変化</a:t>
            </a:r>
            <a:endParaRPr kumimoji="1" lang="ja-JP" altLang="en-US" dirty="0"/>
          </a:p>
        </p:txBody>
      </p:sp>
      <p:sp>
        <p:nvSpPr>
          <p:cNvPr id="3" name="字幕 2">
            <a:extLst>
              <a:ext uri="{FF2B5EF4-FFF2-40B4-BE49-F238E27FC236}">
                <a16:creationId xmlns:a16="http://schemas.microsoft.com/office/drawing/2014/main" id="{824CC220-3657-A40C-0260-0F5A771FAE93}"/>
              </a:ext>
            </a:extLst>
          </p:cNvPr>
          <p:cNvSpPr>
            <a:spLocks noGrp="1"/>
          </p:cNvSpPr>
          <p:nvPr>
            <p:ph type="subTitle" idx="1"/>
          </p:nvPr>
        </p:nvSpPr>
        <p:spPr/>
        <p:txBody>
          <a:bodyPr/>
          <a:lstStyle/>
          <a:p>
            <a:r>
              <a:rPr kumimoji="1" lang="ja-JP" altLang="en-US" dirty="0"/>
              <a:t>慶應義塾大学　文学部　人文社会学科</a:t>
            </a:r>
            <a:endParaRPr kumimoji="1" lang="en-US" altLang="ja-JP" dirty="0"/>
          </a:p>
          <a:p>
            <a:r>
              <a:rPr lang="ja-JP" altLang="en-US" dirty="0"/>
              <a:t>図書館情報学　</a:t>
            </a:r>
            <a:r>
              <a:rPr lang="en-US" altLang="ja-JP" dirty="0"/>
              <a:t>4</a:t>
            </a:r>
            <a:r>
              <a:rPr lang="ja-JP" altLang="en-US" dirty="0"/>
              <a:t>年　小山竜史</a:t>
            </a:r>
            <a:endParaRPr kumimoji="1" lang="ja-JP" altLang="en-US" dirty="0"/>
          </a:p>
        </p:txBody>
      </p:sp>
      <p:sp>
        <p:nvSpPr>
          <p:cNvPr id="7" name="スライド番号プレースホルダー 6">
            <a:extLst>
              <a:ext uri="{FF2B5EF4-FFF2-40B4-BE49-F238E27FC236}">
                <a16:creationId xmlns:a16="http://schemas.microsoft.com/office/drawing/2014/main" id="{51D03811-63CF-FD27-4E55-56B57D713C01}"/>
              </a:ext>
            </a:extLst>
          </p:cNvPr>
          <p:cNvSpPr>
            <a:spLocks noGrp="1"/>
          </p:cNvSpPr>
          <p:nvPr>
            <p:ph type="sldNum" sz="quarter" idx="12"/>
          </p:nvPr>
        </p:nvSpPr>
        <p:spPr/>
        <p:txBody>
          <a:bodyPr/>
          <a:lstStyle/>
          <a:p>
            <a:fld id="{10649E7B-FC1B-418B-9B6A-00859DB1DEE8}" type="slidenum">
              <a:rPr kumimoji="1" lang="ja-JP" altLang="en-US" smtClean="0"/>
              <a:t>1</a:t>
            </a:fld>
            <a:endParaRPr kumimoji="1" lang="ja-JP" altLang="en-US"/>
          </a:p>
        </p:txBody>
      </p:sp>
    </p:spTree>
    <p:extLst>
      <p:ext uri="{BB962C8B-B14F-4D97-AF65-F5344CB8AC3E}">
        <p14:creationId xmlns:p14="http://schemas.microsoft.com/office/powerpoint/2010/main" val="40936433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A74D53-1A3F-89E2-9BBA-CF5B5B5A66A2}"/>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D73C0892-8DA2-6AB6-3BFE-4199F1A0B7ED}"/>
              </a:ext>
            </a:extLst>
          </p:cNvPr>
          <p:cNvSpPr>
            <a:spLocks noGrp="1"/>
          </p:cNvSpPr>
          <p:nvPr>
            <p:ph idx="1"/>
          </p:nvPr>
        </p:nvSpPr>
        <p:spPr/>
        <p:txBody>
          <a:bodyPr/>
          <a:lstStyle/>
          <a:p>
            <a:r>
              <a:rPr kumimoji="1" lang="ja-JP" altLang="en-US" dirty="0"/>
              <a:t>研究背景</a:t>
            </a:r>
            <a:endParaRPr kumimoji="1" lang="en-US" altLang="ja-JP" dirty="0"/>
          </a:p>
          <a:p>
            <a:r>
              <a:rPr lang="ja-JP" altLang="en-US" dirty="0"/>
              <a:t>研究方法</a:t>
            </a:r>
            <a:endParaRPr lang="en-US" altLang="ja-JP" dirty="0"/>
          </a:p>
          <a:p>
            <a:r>
              <a:rPr kumimoji="1" lang="ja-JP" altLang="en-US" dirty="0"/>
              <a:t>問題解決</a:t>
            </a:r>
            <a:r>
              <a:rPr lang="ja-JP" altLang="en-US" dirty="0"/>
              <a:t>能力の評価実験</a:t>
            </a:r>
            <a:endParaRPr lang="en-US" altLang="ja-JP" dirty="0"/>
          </a:p>
          <a:p>
            <a:r>
              <a:rPr kumimoji="1" lang="ja-JP" altLang="en-US" dirty="0"/>
              <a:t>分析と考察</a:t>
            </a:r>
          </a:p>
        </p:txBody>
      </p:sp>
      <p:sp>
        <p:nvSpPr>
          <p:cNvPr id="7" name="スライド番号プレースホルダー 6">
            <a:extLst>
              <a:ext uri="{FF2B5EF4-FFF2-40B4-BE49-F238E27FC236}">
                <a16:creationId xmlns:a16="http://schemas.microsoft.com/office/drawing/2014/main" id="{C1AF13FE-0158-1890-C46B-9CD1B7BE5DC3}"/>
              </a:ext>
            </a:extLst>
          </p:cNvPr>
          <p:cNvSpPr>
            <a:spLocks noGrp="1"/>
          </p:cNvSpPr>
          <p:nvPr>
            <p:ph type="sldNum" sz="quarter" idx="12"/>
          </p:nvPr>
        </p:nvSpPr>
        <p:spPr/>
        <p:txBody>
          <a:bodyPr/>
          <a:lstStyle/>
          <a:p>
            <a:fld id="{10649E7B-FC1B-418B-9B6A-00859DB1DEE8}" type="slidenum">
              <a:rPr kumimoji="1" lang="ja-JP" altLang="en-US" smtClean="0"/>
              <a:t>2</a:t>
            </a:fld>
            <a:endParaRPr kumimoji="1" lang="ja-JP" altLang="en-US"/>
          </a:p>
        </p:txBody>
      </p:sp>
    </p:spTree>
    <p:extLst>
      <p:ext uri="{BB962C8B-B14F-4D97-AF65-F5344CB8AC3E}">
        <p14:creationId xmlns:p14="http://schemas.microsoft.com/office/powerpoint/2010/main" val="9596738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F334B-FDBB-A672-2E4D-D6B5908C64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B85FF3-F6EE-4285-4091-0973186413EA}"/>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C33145C6-AA19-15B0-CB78-D3BECF4A947D}"/>
              </a:ext>
            </a:extLst>
          </p:cNvPr>
          <p:cNvSpPr>
            <a:spLocks noGrp="1"/>
          </p:cNvSpPr>
          <p:nvPr>
            <p:ph idx="1"/>
          </p:nvPr>
        </p:nvSpPr>
        <p:spPr/>
        <p:txBody>
          <a:bodyPr/>
          <a:lstStyle/>
          <a:p>
            <a:r>
              <a:rPr kumimoji="1" lang="ja-JP" altLang="en-US" dirty="0">
                <a:solidFill>
                  <a:srgbClr val="FF0000"/>
                </a:solidFill>
              </a:rPr>
              <a:t>研究背景</a:t>
            </a:r>
            <a:endParaRPr kumimoji="1" lang="en-US" altLang="ja-JP" dirty="0">
              <a:solidFill>
                <a:srgbClr val="FF0000"/>
              </a:solidFill>
            </a:endParaRPr>
          </a:p>
          <a:p>
            <a:r>
              <a:rPr lang="ja-JP" altLang="en-US" dirty="0"/>
              <a:t>研究方法</a:t>
            </a:r>
            <a:endParaRPr lang="en-US" altLang="ja-JP" dirty="0"/>
          </a:p>
          <a:p>
            <a:r>
              <a:rPr kumimoji="1" lang="ja-JP" altLang="en-US" dirty="0"/>
              <a:t>問題解決</a:t>
            </a:r>
            <a:r>
              <a:rPr lang="ja-JP" altLang="en-US" dirty="0"/>
              <a:t>能力の評価実験</a:t>
            </a:r>
            <a:endParaRPr lang="en-US" altLang="ja-JP" dirty="0"/>
          </a:p>
          <a:p>
            <a:r>
              <a:rPr kumimoji="1" lang="ja-JP" altLang="en-US" dirty="0"/>
              <a:t>分析と考察</a:t>
            </a:r>
          </a:p>
        </p:txBody>
      </p:sp>
      <p:sp>
        <p:nvSpPr>
          <p:cNvPr id="7" name="スライド番号プレースホルダー 6">
            <a:extLst>
              <a:ext uri="{FF2B5EF4-FFF2-40B4-BE49-F238E27FC236}">
                <a16:creationId xmlns:a16="http://schemas.microsoft.com/office/drawing/2014/main" id="{665DCAC2-8785-1720-63B5-0814DF17D33C}"/>
              </a:ext>
            </a:extLst>
          </p:cNvPr>
          <p:cNvSpPr>
            <a:spLocks noGrp="1"/>
          </p:cNvSpPr>
          <p:nvPr>
            <p:ph type="sldNum" sz="quarter" idx="12"/>
          </p:nvPr>
        </p:nvSpPr>
        <p:spPr/>
        <p:txBody>
          <a:bodyPr/>
          <a:lstStyle/>
          <a:p>
            <a:fld id="{10649E7B-FC1B-418B-9B6A-00859DB1DEE8}" type="slidenum">
              <a:rPr kumimoji="1" lang="ja-JP" altLang="en-US" smtClean="0"/>
              <a:t>3</a:t>
            </a:fld>
            <a:endParaRPr kumimoji="1" lang="ja-JP" altLang="en-US"/>
          </a:p>
        </p:txBody>
      </p:sp>
    </p:spTree>
    <p:extLst>
      <p:ext uri="{BB962C8B-B14F-4D97-AF65-F5344CB8AC3E}">
        <p14:creationId xmlns:p14="http://schemas.microsoft.com/office/powerpoint/2010/main" val="24174246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FD152E5-FF1D-0A46-290D-9A34D61E20F9}"/>
              </a:ext>
            </a:extLst>
          </p:cNvPr>
          <p:cNvSpPr>
            <a:spLocks noGrp="1"/>
          </p:cNvSpPr>
          <p:nvPr>
            <p:ph type="title"/>
          </p:nvPr>
        </p:nvSpPr>
        <p:spPr/>
        <p:txBody>
          <a:bodyPr/>
          <a:lstStyle/>
          <a:p>
            <a:r>
              <a:rPr lang="ja-JP" altLang="en-US"/>
              <a:t>研究背景</a:t>
            </a:r>
            <a:endParaRPr kumimoji="1" lang="ja-JP" altLang="en-US"/>
          </a:p>
        </p:txBody>
      </p:sp>
      <p:sp>
        <p:nvSpPr>
          <p:cNvPr id="3" name="コンテンツ プレースホルダー 2">
            <a:extLst>
              <a:ext uri="{FF2B5EF4-FFF2-40B4-BE49-F238E27FC236}">
                <a16:creationId xmlns:a16="http://schemas.microsoft.com/office/drawing/2014/main" id="{60D3A0ED-B975-D9E5-73F6-B5040D83D1A5}"/>
              </a:ext>
            </a:extLst>
          </p:cNvPr>
          <p:cNvSpPr>
            <a:spLocks noGrp="1"/>
          </p:cNvSpPr>
          <p:nvPr>
            <p:ph idx="1"/>
          </p:nvPr>
        </p:nvSpPr>
        <p:spPr/>
        <p:txBody>
          <a:bodyPr>
            <a:normAutofit/>
          </a:bodyPr>
          <a:lstStyle/>
          <a:p>
            <a:r>
              <a:rPr kumimoji="1" lang="ja-JP" altLang="en-US" dirty="0"/>
              <a:t>用語の解説</a:t>
            </a:r>
            <a:endParaRPr kumimoji="1" lang="en-US" altLang="ja-JP" dirty="0"/>
          </a:p>
          <a:p>
            <a:pPr lvl="1"/>
            <a:r>
              <a:rPr lang="ja-JP" altLang="en-US" dirty="0"/>
              <a:t>生成</a:t>
            </a:r>
            <a:r>
              <a:rPr lang="en-US" altLang="ja-JP" dirty="0"/>
              <a:t>AI</a:t>
            </a:r>
          </a:p>
          <a:p>
            <a:pPr lvl="2"/>
            <a:r>
              <a:rPr lang="ja-JP" altLang="en-US" dirty="0"/>
              <a:t>ユーザの指示に基づき、文章・画像・プログラムコードなどの新しいコンテンツを生成する</a:t>
            </a:r>
            <a:r>
              <a:rPr lang="en-US" altLang="ja-JP" dirty="0"/>
              <a:t>AI</a:t>
            </a:r>
            <a:r>
              <a:rPr lang="en-US" altLang="ja-JP" baseline="30000" dirty="0"/>
              <a:t>1</a:t>
            </a:r>
          </a:p>
          <a:p>
            <a:pPr lvl="1"/>
            <a:r>
              <a:rPr lang="en-US" altLang="ja-JP" dirty="0"/>
              <a:t>LLM(</a:t>
            </a:r>
            <a:r>
              <a:rPr lang="ja-JP" altLang="en-US" dirty="0"/>
              <a:t>大規模言語モデル</a:t>
            </a:r>
            <a:r>
              <a:rPr lang="en-US" altLang="ja-JP" dirty="0"/>
              <a:t>)</a:t>
            </a:r>
          </a:p>
          <a:p>
            <a:pPr lvl="2"/>
            <a:r>
              <a:rPr lang="ja-JP" altLang="en-US" baseline="30000" dirty="0">
                <a:solidFill>
                  <a:srgbClr val="FF0000"/>
                </a:solidFill>
              </a:rPr>
              <a:t>前の要素との接続</a:t>
            </a:r>
            <a:endParaRPr lang="en-US" altLang="ja-JP" baseline="30000" dirty="0">
              <a:solidFill>
                <a:srgbClr val="FF0000"/>
              </a:solidFill>
            </a:endParaRPr>
          </a:p>
          <a:p>
            <a:pPr lvl="2"/>
            <a:r>
              <a:rPr lang="ja-JP" altLang="en-US" dirty="0"/>
              <a:t>大量のデータで事前学習された、大規模な言語モデル</a:t>
            </a:r>
            <a:r>
              <a:rPr lang="en-US" altLang="ja-JP" baseline="30000" dirty="0"/>
              <a:t>2</a:t>
            </a:r>
          </a:p>
          <a:p>
            <a:pPr lvl="1"/>
            <a:r>
              <a:rPr lang="en-US" altLang="ja-JP" dirty="0"/>
              <a:t>Post-training(</a:t>
            </a:r>
            <a:r>
              <a:rPr lang="ja-JP" altLang="en-US" dirty="0"/>
              <a:t>追加学習</a:t>
            </a:r>
            <a:r>
              <a:rPr lang="en-US" altLang="ja-JP" dirty="0"/>
              <a:t>)</a:t>
            </a:r>
          </a:p>
          <a:p>
            <a:pPr lvl="2"/>
            <a:r>
              <a:rPr lang="ja-JP" altLang="en-US" dirty="0"/>
              <a:t>事前学習後に、</a:t>
            </a:r>
            <a:r>
              <a:rPr lang="en-US" altLang="ja-JP" dirty="0"/>
              <a:t>LLM</a:t>
            </a:r>
            <a:r>
              <a:rPr lang="ja-JP" altLang="en-US" dirty="0"/>
              <a:t>を特定の目的に適応させるための学習</a:t>
            </a:r>
            <a:r>
              <a:rPr lang="en-US" altLang="ja-JP" baseline="30000" dirty="0"/>
              <a:t>3</a:t>
            </a:r>
          </a:p>
          <a:p>
            <a:pPr lvl="1"/>
            <a:r>
              <a:rPr kumimoji="1" lang="en-US" altLang="ja-JP" dirty="0"/>
              <a:t>Supervised Fine-tuning(SFT)</a:t>
            </a:r>
          </a:p>
          <a:p>
            <a:pPr lvl="2"/>
            <a:r>
              <a:rPr kumimoji="1" lang="ja-JP" altLang="en-US" dirty="0"/>
              <a:t>教師ありファインチューニング</a:t>
            </a:r>
            <a:endParaRPr kumimoji="1" lang="en-US" altLang="ja-JP" dirty="0"/>
          </a:p>
          <a:p>
            <a:pPr lvl="2"/>
            <a:r>
              <a:rPr kumimoji="1" lang="ja-JP" altLang="en-US" dirty="0"/>
              <a:t>入力された指示と、それに対応する出力の関係を</a:t>
            </a:r>
            <a:r>
              <a:rPr kumimoji="1" lang="en-US" altLang="ja-JP" dirty="0"/>
              <a:t>LLM</a:t>
            </a:r>
            <a:r>
              <a:rPr kumimoji="1" lang="ja-JP" altLang="en-US" dirty="0"/>
              <a:t>に学習させる手法</a:t>
            </a:r>
            <a:r>
              <a:rPr kumimoji="1" lang="en-US" altLang="ja-JP" baseline="30000" dirty="0"/>
              <a:t>3</a:t>
            </a:r>
          </a:p>
          <a:p>
            <a:pPr lvl="1"/>
            <a:endParaRPr kumimoji="1" lang="ja-JP" altLang="en-US" dirty="0"/>
          </a:p>
        </p:txBody>
      </p:sp>
      <p:sp>
        <p:nvSpPr>
          <p:cNvPr id="5" name="スライド番号プレースホルダー 4">
            <a:extLst>
              <a:ext uri="{FF2B5EF4-FFF2-40B4-BE49-F238E27FC236}">
                <a16:creationId xmlns:a16="http://schemas.microsoft.com/office/drawing/2014/main" id="{8B99BE1C-0773-C3D6-9793-540B41CED105}"/>
              </a:ext>
            </a:extLst>
          </p:cNvPr>
          <p:cNvSpPr>
            <a:spLocks noGrp="1"/>
          </p:cNvSpPr>
          <p:nvPr>
            <p:ph type="sldNum" sz="quarter" idx="12"/>
          </p:nvPr>
        </p:nvSpPr>
        <p:spPr/>
        <p:txBody>
          <a:bodyPr/>
          <a:lstStyle/>
          <a:p>
            <a:fld id="{10649E7B-FC1B-418B-9B6A-00859DB1DEE8}" type="slidenum">
              <a:rPr kumimoji="1" lang="ja-JP" altLang="en-US" smtClean="0"/>
              <a:t>4</a:t>
            </a:fld>
            <a:endParaRPr kumimoji="1" lang="ja-JP" altLang="en-US" dirty="0"/>
          </a:p>
        </p:txBody>
      </p:sp>
      <p:sp>
        <p:nvSpPr>
          <p:cNvPr id="6" name="フッター プレースホルダー 5">
            <a:extLst>
              <a:ext uri="{FF2B5EF4-FFF2-40B4-BE49-F238E27FC236}">
                <a16:creationId xmlns:a16="http://schemas.microsoft.com/office/drawing/2014/main" id="{D7C39388-F272-0374-8C4A-880189C87223}"/>
              </a:ext>
            </a:extLst>
          </p:cNvPr>
          <p:cNvSpPr>
            <a:spLocks noGrp="1"/>
          </p:cNvSpPr>
          <p:nvPr>
            <p:ph type="ftr" sz="quarter" idx="11"/>
          </p:nvPr>
        </p:nvSpPr>
        <p:spPr>
          <a:xfrm>
            <a:off x="183572" y="5977803"/>
            <a:ext cx="11824855" cy="757094"/>
          </a:xfrm>
        </p:spPr>
        <p:txBody>
          <a:bodyPr/>
          <a:lstStyle/>
          <a:p>
            <a:pPr marL="228600" indent="-228600">
              <a:buAutoNum type="arabicPeriod"/>
            </a:pPr>
            <a:r>
              <a:rPr kumimoji="1" lang="en-US" altLang="ja-JP" dirty="0"/>
              <a:t>Banh &amp; Strobel (2023). “Generative artificial intelligence” </a:t>
            </a:r>
          </a:p>
          <a:p>
            <a:pPr marL="228600" indent="-228600">
              <a:buAutoNum type="arabicPeriod"/>
            </a:pPr>
            <a:r>
              <a:rPr kumimoji="1" lang="en-US" altLang="ja-JP" dirty="0"/>
              <a:t>Lopez-Lira &amp; Tang (2026). “Can ChatGPT Forecast Stock Price Movements?” </a:t>
            </a:r>
          </a:p>
          <a:p>
            <a:pPr marL="228600" indent="-228600">
              <a:buAutoNum type="arabicPeriod"/>
            </a:pPr>
            <a:r>
              <a:rPr kumimoji="1" lang="en-US" altLang="ja-JP" dirty="0"/>
              <a:t>Lai et al. (2025). “A Survey of Post-Training Scaling in Large Language Models”</a:t>
            </a:r>
            <a:endParaRPr kumimoji="1" lang="ja-JP" altLang="en-US" dirty="0"/>
          </a:p>
        </p:txBody>
      </p:sp>
    </p:spTree>
    <p:extLst>
      <p:ext uri="{BB962C8B-B14F-4D97-AF65-F5344CB8AC3E}">
        <p14:creationId xmlns:p14="http://schemas.microsoft.com/office/powerpoint/2010/main" val="26325877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1A7CE0-69BD-F5D6-E4F6-88532BA353F8}"/>
              </a:ext>
            </a:extLst>
          </p:cNvPr>
          <p:cNvSpPr>
            <a:spLocks noGrp="1"/>
          </p:cNvSpPr>
          <p:nvPr>
            <p:ph type="title"/>
          </p:nvPr>
        </p:nvSpPr>
        <p:spPr/>
        <p:txBody>
          <a:bodyPr/>
          <a:lstStyle/>
          <a:p>
            <a:r>
              <a:rPr lang="en-US" altLang="ja-JP" dirty="0"/>
              <a:t>SFT</a:t>
            </a:r>
            <a:r>
              <a:rPr lang="ja-JP" altLang="en-US" dirty="0"/>
              <a:t>による追加学習</a:t>
            </a:r>
            <a:endParaRPr kumimoji="1" lang="ja-JP" altLang="en-US" dirty="0"/>
          </a:p>
        </p:txBody>
      </p:sp>
      <p:sp>
        <p:nvSpPr>
          <p:cNvPr id="4" name="四角形: 角を丸くする 3">
            <a:extLst>
              <a:ext uri="{FF2B5EF4-FFF2-40B4-BE49-F238E27FC236}">
                <a16:creationId xmlns:a16="http://schemas.microsoft.com/office/drawing/2014/main" id="{16200363-F6D6-85D2-BA4B-B1B421F98811}"/>
              </a:ext>
            </a:extLst>
          </p:cNvPr>
          <p:cNvSpPr/>
          <p:nvPr/>
        </p:nvSpPr>
        <p:spPr>
          <a:xfrm>
            <a:off x="838200" y="1920879"/>
            <a:ext cx="3037772" cy="416082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学習データの例</a:t>
            </a:r>
            <a:endParaRPr kumimoji="1" lang="en-US" altLang="ja-JP" dirty="0"/>
          </a:p>
          <a:p>
            <a:pPr algn="ctr"/>
            <a:endParaRPr kumimoji="1" lang="en-US" altLang="ja-JP" dirty="0"/>
          </a:p>
          <a:p>
            <a:r>
              <a:rPr kumimoji="1" lang="ja-JP" altLang="en-US" dirty="0"/>
              <a:t>入力：</a:t>
            </a:r>
            <a:endParaRPr kumimoji="1" lang="en-US" altLang="ja-JP" dirty="0"/>
          </a:p>
          <a:p>
            <a:r>
              <a:rPr lang="ja-JP" altLang="en-US" dirty="0"/>
              <a:t>次の計算をしてください</a:t>
            </a:r>
            <a:endParaRPr lang="en-US" altLang="ja-JP" dirty="0"/>
          </a:p>
          <a:p>
            <a:r>
              <a:rPr kumimoji="1" lang="en-US" altLang="ja-JP" dirty="0"/>
              <a:t>12</a:t>
            </a:r>
            <a:r>
              <a:rPr kumimoji="1" lang="ja-JP" altLang="en-US" dirty="0"/>
              <a:t>＋８＝？</a:t>
            </a:r>
            <a:endParaRPr kumimoji="1" lang="en-US" altLang="ja-JP" dirty="0"/>
          </a:p>
          <a:p>
            <a:endParaRPr lang="en-US" altLang="ja-JP" dirty="0"/>
          </a:p>
          <a:p>
            <a:r>
              <a:rPr kumimoji="1" lang="ja-JP" altLang="en-US" dirty="0"/>
              <a:t>正解となる出力：</a:t>
            </a:r>
            <a:endParaRPr kumimoji="1" lang="en-US" altLang="ja-JP" dirty="0"/>
          </a:p>
          <a:p>
            <a:r>
              <a:rPr lang="en-US" altLang="ja-JP" dirty="0"/>
              <a:t>20</a:t>
            </a:r>
            <a:endParaRPr kumimoji="1" lang="ja-JP" altLang="en-US" dirty="0"/>
          </a:p>
        </p:txBody>
      </p:sp>
      <p:sp>
        <p:nvSpPr>
          <p:cNvPr id="5" name="四角形: 角を丸くする 4">
            <a:extLst>
              <a:ext uri="{FF2B5EF4-FFF2-40B4-BE49-F238E27FC236}">
                <a16:creationId xmlns:a16="http://schemas.microsoft.com/office/drawing/2014/main" id="{D40380A3-71BA-9B50-5089-73AAB8215ED9}"/>
              </a:ext>
            </a:extLst>
          </p:cNvPr>
          <p:cNvSpPr/>
          <p:nvPr/>
        </p:nvSpPr>
        <p:spPr>
          <a:xfrm>
            <a:off x="4603707" y="2915058"/>
            <a:ext cx="2984585" cy="2172467"/>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kumimoji="1" lang="en-US" altLang="ja-JP" dirty="0"/>
              <a:t>LLM</a:t>
            </a:r>
            <a:br>
              <a:rPr kumimoji="1" lang="en-US" altLang="ja-JP" dirty="0"/>
            </a:br>
            <a:r>
              <a:rPr kumimoji="1" lang="ja-JP" altLang="en-US" dirty="0"/>
              <a:t>（事前学習済みモデル）</a:t>
            </a:r>
          </a:p>
        </p:txBody>
      </p:sp>
      <p:sp>
        <p:nvSpPr>
          <p:cNvPr id="6" name="四角形: 角を丸くする 5">
            <a:extLst>
              <a:ext uri="{FF2B5EF4-FFF2-40B4-BE49-F238E27FC236}">
                <a16:creationId xmlns:a16="http://schemas.microsoft.com/office/drawing/2014/main" id="{D204CEE7-7666-5FF7-B9FF-8EC61FC6398E}"/>
              </a:ext>
            </a:extLst>
          </p:cNvPr>
          <p:cNvSpPr/>
          <p:nvPr/>
        </p:nvSpPr>
        <p:spPr>
          <a:xfrm>
            <a:off x="8316028" y="1920879"/>
            <a:ext cx="3037772" cy="4160827"/>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kumimoji="1" lang="ja-JP" altLang="en-US" dirty="0"/>
              <a:t>学習後の例</a:t>
            </a:r>
            <a:endParaRPr kumimoji="1" lang="en-US" altLang="ja-JP" dirty="0"/>
          </a:p>
          <a:p>
            <a:pPr algn="ctr"/>
            <a:endParaRPr lang="en-US" altLang="ja-JP" dirty="0"/>
          </a:p>
          <a:p>
            <a:r>
              <a:rPr lang="ja-JP" altLang="en-US" dirty="0"/>
              <a:t>入力：</a:t>
            </a:r>
            <a:endParaRPr lang="en-US" altLang="ja-JP" dirty="0"/>
          </a:p>
          <a:p>
            <a:r>
              <a:rPr lang="ja-JP" altLang="en-US" dirty="0"/>
              <a:t>次の計算をしてください</a:t>
            </a:r>
            <a:endParaRPr lang="en-US" altLang="ja-JP" dirty="0"/>
          </a:p>
          <a:p>
            <a:r>
              <a:rPr lang="en-US" altLang="ja-JP" dirty="0"/>
              <a:t>21</a:t>
            </a:r>
            <a:r>
              <a:rPr lang="ja-JP" altLang="en-US" dirty="0"/>
              <a:t>＋</a:t>
            </a:r>
            <a:r>
              <a:rPr lang="en-US" altLang="ja-JP" dirty="0"/>
              <a:t>5</a:t>
            </a:r>
            <a:r>
              <a:rPr lang="ja-JP" altLang="en-US" dirty="0"/>
              <a:t>＝？</a:t>
            </a:r>
            <a:endParaRPr lang="en-US" altLang="ja-JP" dirty="0"/>
          </a:p>
          <a:p>
            <a:endParaRPr lang="en-US" altLang="ja-JP" dirty="0"/>
          </a:p>
          <a:p>
            <a:r>
              <a:rPr lang="ja-JP" altLang="en-US" dirty="0"/>
              <a:t>モデルの出力：</a:t>
            </a:r>
            <a:endParaRPr lang="en-US" altLang="ja-JP" dirty="0"/>
          </a:p>
          <a:p>
            <a:r>
              <a:rPr lang="en-US" altLang="ja-JP" dirty="0"/>
              <a:t>26</a:t>
            </a:r>
            <a:endParaRPr lang="ja-JP" altLang="en-US" dirty="0"/>
          </a:p>
          <a:p>
            <a:endParaRPr kumimoji="1" lang="ja-JP" altLang="en-US" dirty="0"/>
          </a:p>
        </p:txBody>
      </p:sp>
      <p:sp>
        <p:nvSpPr>
          <p:cNvPr id="7" name="矢印: 右 6">
            <a:extLst>
              <a:ext uri="{FF2B5EF4-FFF2-40B4-BE49-F238E27FC236}">
                <a16:creationId xmlns:a16="http://schemas.microsoft.com/office/drawing/2014/main" id="{471AE4F3-01C6-4F51-B6CB-8587CD7B0273}"/>
              </a:ext>
            </a:extLst>
          </p:cNvPr>
          <p:cNvSpPr/>
          <p:nvPr/>
        </p:nvSpPr>
        <p:spPr>
          <a:xfrm>
            <a:off x="4068773"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9DBB0480-6EB9-B1B3-8D5B-013AE90146CA}"/>
              </a:ext>
            </a:extLst>
          </p:cNvPr>
          <p:cNvSpPr/>
          <p:nvPr/>
        </p:nvSpPr>
        <p:spPr>
          <a:xfrm>
            <a:off x="7748874"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B9AA247A-442C-D923-4626-FF2E59D28201}"/>
              </a:ext>
            </a:extLst>
          </p:cNvPr>
          <p:cNvSpPr>
            <a:spLocks noGrp="1"/>
          </p:cNvSpPr>
          <p:nvPr>
            <p:ph type="sldNum" sz="quarter" idx="12"/>
          </p:nvPr>
        </p:nvSpPr>
        <p:spPr/>
        <p:txBody>
          <a:bodyPr/>
          <a:lstStyle/>
          <a:p>
            <a:fld id="{10649E7B-FC1B-418B-9B6A-00859DB1DEE8}" type="slidenum">
              <a:rPr kumimoji="1" lang="ja-JP" altLang="en-US" smtClean="0"/>
              <a:t>5</a:t>
            </a:fld>
            <a:endParaRPr kumimoji="1" lang="ja-JP" altLang="en-US"/>
          </a:p>
        </p:txBody>
      </p:sp>
    </p:spTree>
    <p:extLst>
      <p:ext uri="{BB962C8B-B14F-4D97-AF65-F5344CB8AC3E}">
        <p14:creationId xmlns:p14="http://schemas.microsoft.com/office/powerpoint/2010/main" val="3257406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485B426-4B47-7AE7-2A8E-5B52F8577DB3}"/>
              </a:ext>
            </a:extLst>
          </p:cNvPr>
          <p:cNvSpPr>
            <a:spLocks noGrp="1"/>
          </p:cNvSpPr>
          <p:nvPr>
            <p:ph type="title"/>
          </p:nvPr>
        </p:nvSpPr>
        <p:spPr/>
        <p:txBody>
          <a:bodyPr/>
          <a:lstStyle/>
          <a:p>
            <a:r>
              <a:rPr kumimoji="1" lang="ja-JP" altLang="en-US" dirty="0"/>
              <a:t>先行研究</a:t>
            </a:r>
          </a:p>
        </p:txBody>
      </p:sp>
      <p:sp>
        <p:nvSpPr>
          <p:cNvPr id="3" name="コンテンツ プレースホルダー 2">
            <a:extLst>
              <a:ext uri="{FF2B5EF4-FFF2-40B4-BE49-F238E27FC236}">
                <a16:creationId xmlns:a16="http://schemas.microsoft.com/office/drawing/2014/main" id="{BCE9AAC2-8404-734C-BBDC-6C61F67C4122}"/>
              </a:ext>
            </a:extLst>
          </p:cNvPr>
          <p:cNvSpPr>
            <a:spLocks noGrp="1"/>
          </p:cNvSpPr>
          <p:nvPr>
            <p:ph idx="1"/>
          </p:nvPr>
        </p:nvSpPr>
        <p:spPr/>
        <p:txBody>
          <a:bodyPr/>
          <a:lstStyle/>
          <a:p>
            <a:r>
              <a:rPr lang="ja-JP" altLang="ja-JP" dirty="0"/>
              <a:t>Chu et al. (2025)</a:t>
            </a:r>
            <a:r>
              <a:rPr lang="en-US" altLang="ja-JP" baseline="30000" dirty="0"/>
              <a:t>4</a:t>
            </a:r>
            <a:r>
              <a:rPr lang="ja-JP" altLang="ja-JP" dirty="0"/>
              <a:t>：SFTとRL</a:t>
            </a:r>
            <a:r>
              <a:rPr lang="en-US" altLang="ja-JP" dirty="0"/>
              <a:t>(</a:t>
            </a:r>
            <a:r>
              <a:rPr lang="ja-JP" altLang="en-US" dirty="0"/>
              <a:t>教師ありファインチューニングではない別の学習手法</a:t>
            </a:r>
            <a:r>
              <a:rPr lang="en-US" altLang="ja-JP" dirty="0"/>
              <a:t>)</a:t>
            </a:r>
            <a:r>
              <a:rPr lang="ja-JP" altLang="ja-JP" dirty="0"/>
              <a:t>の汎化能力を比較し、SFTが学習データを記憶する傾向を示した研究</a:t>
            </a:r>
            <a:endParaRPr lang="en-US" altLang="ja-JP" baseline="30000" dirty="0"/>
          </a:p>
          <a:p>
            <a:pPr lvl="1"/>
            <a:r>
              <a:rPr lang="ja-JP" altLang="ja-JP" dirty="0"/>
              <a:t>SFT</a:t>
            </a:r>
            <a:r>
              <a:rPr lang="ja-JP" altLang="en-US" dirty="0"/>
              <a:t>による学習</a:t>
            </a:r>
            <a:r>
              <a:rPr lang="ja-JP" altLang="ja-JP" dirty="0"/>
              <a:t>は</a:t>
            </a:r>
            <a:r>
              <a:rPr lang="ja-JP" altLang="en-US" dirty="0"/>
              <a:t>未知の問題に対しては効果は限定的</a:t>
            </a:r>
            <a:endParaRPr lang="en-US" altLang="ja-JP" dirty="0"/>
          </a:p>
          <a:p>
            <a:pPr lvl="1"/>
            <a:endParaRPr lang="en-US" altLang="ja-JP" dirty="0"/>
          </a:p>
          <a:p>
            <a:r>
              <a:rPr lang="en-US" altLang="ja-JP" dirty="0"/>
              <a:t>Ren et al. (2026)</a:t>
            </a:r>
            <a:r>
              <a:rPr lang="en-US" altLang="ja-JP" baseline="30000" dirty="0"/>
              <a:t>5</a:t>
            </a:r>
            <a:r>
              <a:rPr lang="ja-JP" altLang="en-US"/>
              <a:t>：</a:t>
            </a:r>
            <a:r>
              <a:rPr lang="en-US" altLang="ja-JP" dirty="0"/>
              <a:t>SFT</a:t>
            </a:r>
            <a:r>
              <a:rPr lang="ja-JP" altLang="en-US" dirty="0"/>
              <a:t>の汎化能力を分析し、最適化・学習データ・モデル能力などの条件によって汎化性能が変化することを示した研究</a:t>
            </a:r>
            <a:endParaRPr lang="en-US" altLang="ja-JP" baseline="30000" dirty="0"/>
          </a:p>
          <a:p>
            <a:pPr lvl="1"/>
            <a:r>
              <a:rPr lang="ja-JP" altLang="en-US" dirty="0"/>
              <a:t>条件によっては</a:t>
            </a:r>
            <a:r>
              <a:rPr lang="en-US" altLang="ja-JP" dirty="0"/>
              <a:t>SFT</a:t>
            </a:r>
            <a:r>
              <a:rPr lang="ja-JP" altLang="en-US" dirty="0"/>
              <a:t>による学習でも、汎化性能は向上する</a:t>
            </a:r>
            <a:endParaRPr lang="en-US" altLang="ja-JP" dirty="0"/>
          </a:p>
          <a:p>
            <a:pPr lvl="1"/>
            <a:endParaRPr kumimoji="1" lang="ja-JP" altLang="en-US" dirty="0"/>
          </a:p>
        </p:txBody>
      </p:sp>
      <p:sp>
        <p:nvSpPr>
          <p:cNvPr id="8" name="スライド番号プレースホルダー 7">
            <a:extLst>
              <a:ext uri="{FF2B5EF4-FFF2-40B4-BE49-F238E27FC236}">
                <a16:creationId xmlns:a16="http://schemas.microsoft.com/office/drawing/2014/main" id="{D062BAA2-568C-F449-CED1-D2702F507E00}"/>
              </a:ext>
            </a:extLst>
          </p:cNvPr>
          <p:cNvSpPr>
            <a:spLocks noGrp="1"/>
          </p:cNvSpPr>
          <p:nvPr>
            <p:ph type="sldNum" sz="quarter" idx="12"/>
          </p:nvPr>
        </p:nvSpPr>
        <p:spPr/>
        <p:txBody>
          <a:bodyPr/>
          <a:lstStyle/>
          <a:p>
            <a:fld id="{10649E7B-FC1B-418B-9B6A-00859DB1DEE8}" type="slidenum">
              <a:rPr kumimoji="1" lang="ja-JP" altLang="en-US" smtClean="0"/>
              <a:t>6</a:t>
            </a:fld>
            <a:endParaRPr kumimoji="1" lang="ja-JP" altLang="en-US"/>
          </a:p>
        </p:txBody>
      </p:sp>
      <p:sp>
        <p:nvSpPr>
          <p:cNvPr id="9" name="フッター プレースホルダー 8">
            <a:extLst>
              <a:ext uri="{FF2B5EF4-FFF2-40B4-BE49-F238E27FC236}">
                <a16:creationId xmlns:a16="http://schemas.microsoft.com/office/drawing/2014/main" id="{5C030DF3-D23A-EEA0-AF9D-6A8E7204086A}"/>
              </a:ext>
            </a:extLst>
          </p:cNvPr>
          <p:cNvSpPr>
            <a:spLocks noGrp="1"/>
          </p:cNvSpPr>
          <p:nvPr>
            <p:ph type="ftr" sz="quarter" idx="11"/>
          </p:nvPr>
        </p:nvSpPr>
        <p:spPr>
          <a:xfrm>
            <a:off x="838200" y="6356350"/>
            <a:ext cx="11090564" cy="365125"/>
          </a:xfrm>
        </p:spPr>
        <p:txBody>
          <a:bodyPr/>
          <a:lstStyle/>
          <a:p>
            <a:r>
              <a:rPr lang="en-US" altLang="ja-JP" dirty="0"/>
              <a:t>4.  </a:t>
            </a:r>
            <a:r>
              <a:rPr lang="ja-JP" altLang="ja-JP" dirty="0"/>
              <a:t>Chu et al. (2025). “SFT Memorizes, RL Generalizes”</a:t>
            </a:r>
            <a:endParaRPr lang="en-US" altLang="ja-JP" dirty="0"/>
          </a:p>
          <a:p>
            <a:r>
              <a:rPr kumimoji="1" lang="en-US" altLang="ja-JP" dirty="0"/>
              <a:t>5.  Ren et al. (2026). “Rethinking Generalization in Reasoning SFT”</a:t>
            </a:r>
            <a:endParaRPr kumimoji="1" lang="ja-JP" altLang="en-US" dirty="0"/>
          </a:p>
        </p:txBody>
      </p:sp>
    </p:spTree>
    <p:extLst>
      <p:ext uri="{BB962C8B-B14F-4D97-AF65-F5344CB8AC3E}">
        <p14:creationId xmlns:p14="http://schemas.microsoft.com/office/powerpoint/2010/main" val="9073106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4C5A37-DF08-9679-9678-677D04235E7C}"/>
              </a:ext>
            </a:extLst>
          </p:cNvPr>
          <p:cNvSpPr>
            <a:spLocks noGrp="1"/>
          </p:cNvSpPr>
          <p:nvPr>
            <p:ph type="title"/>
          </p:nvPr>
        </p:nvSpPr>
        <p:spPr/>
        <p:txBody>
          <a:bodyPr/>
          <a:lstStyle/>
          <a:p>
            <a:r>
              <a:rPr kumimoji="1" lang="ja-JP" altLang="en-US" dirty="0"/>
              <a:t>先行研究からわかること</a:t>
            </a:r>
          </a:p>
        </p:txBody>
      </p:sp>
      <p:sp>
        <p:nvSpPr>
          <p:cNvPr id="3" name="コンテンツ プレースホルダー 2">
            <a:extLst>
              <a:ext uri="{FF2B5EF4-FFF2-40B4-BE49-F238E27FC236}">
                <a16:creationId xmlns:a16="http://schemas.microsoft.com/office/drawing/2014/main" id="{DA5C64A8-528A-F371-E231-619767ACAB31}"/>
              </a:ext>
            </a:extLst>
          </p:cNvPr>
          <p:cNvSpPr>
            <a:spLocks noGrp="1"/>
          </p:cNvSpPr>
          <p:nvPr>
            <p:ph idx="1"/>
          </p:nvPr>
        </p:nvSpPr>
        <p:spPr>
          <a:xfrm>
            <a:off x="838200" y="1825625"/>
            <a:ext cx="10515600" cy="4875884"/>
          </a:xfrm>
        </p:spPr>
        <p:txBody>
          <a:bodyPr>
            <a:normAutofit/>
          </a:bodyPr>
          <a:lstStyle/>
          <a:p>
            <a:r>
              <a:rPr kumimoji="1" lang="ja-JP" altLang="en-US" dirty="0"/>
              <a:t>先行研究では、</a:t>
            </a:r>
            <a:r>
              <a:rPr kumimoji="1" lang="en-US" altLang="ja-JP" dirty="0"/>
              <a:t>SFT</a:t>
            </a:r>
            <a:r>
              <a:rPr kumimoji="1" lang="ja-JP" altLang="en-US" dirty="0"/>
              <a:t>による未知の問題への汎化は限定的であることや、その成否が学習条件に依存することが示されている</a:t>
            </a:r>
            <a:endParaRPr kumimoji="1" lang="en-US" altLang="ja-JP" dirty="0"/>
          </a:p>
          <a:p>
            <a:endParaRPr kumimoji="1" lang="en-US" altLang="ja-JP" dirty="0"/>
          </a:p>
          <a:p>
            <a:r>
              <a:rPr kumimoji="1" lang="ja-JP" altLang="en-US" dirty="0"/>
              <a:t>しかし、正解率の比較だけでは、モデルが問題解決のどの段階でつまずいているのか分からない</a:t>
            </a:r>
            <a:endParaRPr kumimoji="1" lang="en-US" altLang="ja-JP" dirty="0"/>
          </a:p>
          <a:p>
            <a:endParaRPr kumimoji="1" lang="en-US" altLang="ja-JP" dirty="0"/>
          </a:p>
          <a:p>
            <a:r>
              <a:rPr kumimoji="1" lang="ja-JP" altLang="en-US" dirty="0"/>
              <a:t>また、</a:t>
            </a:r>
            <a:r>
              <a:rPr lang="ja-JP" altLang="en-US" dirty="0"/>
              <a:t>未知の問題</a:t>
            </a:r>
            <a:r>
              <a:rPr kumimoji="1" lang="ja-JP" altLang="en-US" dirty="0"/>
              <a:t>では「何を未知とするか」によって評価される汎化能力が異なる</a:t>
            </a:r>
            <a:endParaRPr kumimoji="1" lang="en-US" altLang="ja-JP" dirty="0"/>
          </a:p>
        </p:txBody>
      </p:sp>
      <p:sp>
        <p:nvSpPr>
          <p:cNvPr id="7" name="スライド番号プレースホルダー 6">
            <a:extLst>
              <a:ext uri="{FF2B5EF4-FFF2-40B4-BE49-F238E27FC236}">
                <a16:creationId xmlns:a16="http://schemas.microsoft.com/office/drawing/2014/main" id="{840381B9-E1D0-E8C8-0E15-866A737B83C4}"/>
              </a:ext>
            </a:extLst>
          </p:cNvPr>
          <p:cNvSpPr>
            <a:spLocks noGrp="1"/>
          </p:cNvSpPr>
          <p:nvPr>
            <p:ph type="sldNum" sz="quarter" idx="12"/>
          </p:nvPr>
        </p:nvSpPr>
        <p:spPr/>
        <p:txBody>
          <a:bodyPr/>
          <a:lstStyle/>
          <a:p>
            <a:fld id="{10649E7B-FC1B-418B-9B6A-00859DB1DEE8}" type="slidenum">
              <a:rPr kumimoji="1" lang="ja-JP" altLang="en-US" smtClean="0"/>
              <a:t>7</a:t>
            </a:fld>
            <a:endParaRPr kumimoji="1" lang="ja-JP" altLang="en-US"/>
          </a:p>
        </p:txBody>
      </p:sp>
    </p:spTree>
    <p:extLst>
      <p:ext uri="{BB962C8B-B14F-4D97-AF65-F5344CB8AC3E}">
        <p14:creationId xmlns:p14="http://schemas.microsoft.com/office/powerpoint/2010/main" val="6812777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94C3FE-9FF7-0E63-C193-4232B100FB60}"/>
              </a:ext>
            </a:extLst>
          </p:cNvPr>
          <p:cNvSpPr>
            <a:spLocks noGrp="1"/>
          </p:cNvSpPr>
          <p:nvPr>
            <p:ph type="title"/>
          </p:nvPr>
        </p:nvSpPr>
        <p:spPr/>
        <p:txBody>
          <a:bodyPr/>
          <a:lstStyle/>
          <a:p>
            <a:r>
              <a:rPr lang="ja-JP" altLang="en-US"/>
              <a:t>問題関心</a:t>
            </a:r>
            <a:endParaRPr kumimoji="1" lang="ja-JP" altLang="en-US" dirty="0"/>
          </a:p>
        </p:txBody>
      </p:sp>
      <p:sp>
        <p:nvSpPr>
          <p:cNvPr id="3" name="コンテンツ プレースホルダー 2">
            <a:extLst>
              <a:ext uri="{FF2B5EF4-FFF2-40B4-BE49-F238E27FC236}">
                <a16:creationId xmlns:a16="http://schemas.microsoft.com/office/drawing/2014/main" id="{63F28E97-97A1-FF2F-E803-FC05B850ED40}"/>
              </a:ext>
            </a:extLst>
          </p:cNvPr>
          <p:cNvSpPr>
            <a:spLocks noGrp="1"/>
          </p:cNvSpPr>
          <p:nvPr>
            <p:ph idx="1"/>
          </p:nvPr>
        </p:nvSpPr>
        <p:spPr>
          <a:xfrm>
            <a:off x="838200" y="1690688"/>
            <a:ext cx="10515600" cy="4973999"/>
          </a:xfrm>
        </p:spPr>
        <p:txBody>
          <a:bodyPr>
            <a:normAutofit/>
          </a:bodyPr>
          <a:lstStyle/>
          <a:p>
            <a:r>
              <a:rPr lang="ja-JP" altLang="en-US"/>
              <a:t>本研究</a:t>
            </a:r>
            <a:r>
              <a:rPr lang="ja-JP" altLang="en-US" dirty="0"/>
              <a:t>では、 「何を未知とするか」を明確に設定した問題を用いて、</a:t>
            </a:r>
            <a:r>
              <a:rPr lang="en-US" altLang="ja-JP" dirty="0"/>
              <a:t>SFT</a:t>
            </a:r>
            <a:r>
              <a:rPr lang="ja-JP" altLang="en-US" dirty="0"/>
              <a:t>によって獲得される能力を分析する</a:t>
            </a:r>
            <a:endParaRPr lang="en-US" altLang="ja-JP" dirty="0"/>
          </a:p>
          <a:p>
            <a:r>
              <a:rPr lang="ja-JP" altLang="en-US" dirty="0"/>
              <a:t>既知の要素を新たに組み合わせた未知の問題への汎化が、研究されている</a:t>
            </a:r>
            <a:endParaRPr lang="en-US" altLang="ja-JP" dirty="0"/>
          </a:p>
          <a:p>
            <a:pPr lvl="1"/>
            <a:r>
              <a:rPr lang="ja-JP" altLang="en-US" dirty="0"/>
              <a:t>「</a:t>
            </a:r>
            <a:r>
              <a:rPr lang="ja-JP" altLang="ja-JP" dirty="0"/>
              <a:t>既知の単純な処理から、それらを組み合わせた複雑な処理への汎化は、</a:t>
            </a:r>
            <a:r>
              <a:rPr lang="ja-JP" altLang="ja-JP"/>
              <a:t>LLMの汎化</a:t>
            </a:r>
            <a:r>
              <a:rPr lang="ja-JP" altLang="ja-JP" dirty="0"/>
              <a:t>の重要な側面である</a:t>
            </a:r>
            <a:r>
              <a:rPr lang="ja-JP" altLang="en-US" dirty="0"/>
              <a:t>」</a:t>
            </a:r>
            <a:r>
              <a:rPr lang="en-US" altLang="ja-JP" baseline="30000" dirty="0"/>
              <a:t>6</a:t>
            </a:r>
          </a:p>
          <a:p>
            <a:r>
              <a:rPr lang="ja-JP" altLang="en-US" dirty="0"/>
              <a:t>そこで、個々の処理は学習済みとし、処理の組み合わせのみを未知とする</a:t>
            </a:r>
            <a:endParaRPr lang="en-US" altLang="ja-JP" dirty="0"/>
          </a:p>
          <a:p>
            <a:r>
              <a:rPr lang="en-US" altLang="ja-JP" dirty="0"/>
              <a:t>C</a:t>
            </a:r>
            <a:r>
              <a:rPr lang="ja-JP" altLang="ja-JP" dirty="0"/>
              <a:t>ompositional </a:t>
            </a:r>
            <a:r>
              <a:rPr lang="en-US" altLang="ja-JP" dirty="0"/>
              <a:t>G</a:t>
            </a:r>
            <a:r>
              <a:rPr lang="ja-JP" altLang="ja-JP" dirty="0"/>
              <a:t>eneralization</a:t>
            </a:r>
            <a:endParaRPr lang="en-US" altLang="ja-JP" dirty="0"/>
          </a:p>
          <a:p>
            <a:pPr lvl="1"/>
            <a:r>
              <a:rPr lang="ja-JP" altLang="ja-JP" dirty="0"/>
              <a:t>既知の構成要素を未知の組み合わせで利用する能力</a:t>
            </a:r>
            <a:endParaRPr lang="ja-JP" altLang="en-US" dirty="0"/>
          </a:p>
          <a:p>
            <a:endParaRPr kumimoji="1" lang="ja-JP" altLang="en-US" dirty="0"/>
          </a:p>
        </p:txBody>
      </p:sp>
      <p:sp>
        <p:nvSpPr>
          <p:cNvPr id="7" name="スライド番号プレースホルダー 6">
            <a:extLst>
              <a:ext uri="{FF2B5EF4-FFF2-40B4-BE49-F238E27FC236}">
                <a16:creationId xmlns:a16="http://schemas.microsoft.com/office/drawing/2014/main" id="{C15F63CA-2E0A-92A9-B6CB-9B6B33283112}"/>
              </a:ext>
            </a:extLst>
          </p:cNvPr>
          <p:cNvSpPr>
            <a:spLocks noGrp="1"/>
          </p:cNvSpPr>
          <p:nvPr>
            <p:ph type="sldNum" sz="quarter" idx="12"/>
          </p:nvPr>
        </p:nvSpPr>
        <p:spPr/>
        <p:txBody>
          <a:bodyPr/>
          <a:lstStyle/>
          <a:p>
            <a:fld id="{10649E7B-FC1B-418B-9B6A-00859DB1DEE8}" type="slidenum">
              <a:rPr kumimoji="1" lang="ja-JP" altLang="en-US" smtClean="0"/>
              <a:t>8</a:t>
            </a:fld>
            <a:endParaRPr kumimoji="1" lang="ja-JP" altLang="en-US"/>
          </a:p>
        </p:txBody>
      </p:sp>
      <p:sp>
        <p:nvSpPr>
          <p:cNvPr id="8" name="フッター プレースホルダー 7">
            <a:extLst>
              <a:ext uri="{FF2B5EF4-FFF2-40B4-BE49-F238E27FC236}">
                <a16:creationId xmlns:a16="http://schemas.microsoft.com/office/drawing/2014/main" id="{A2370C04-5D16-8D22-97BE-759091EE577F}"/>
              </a:ext>
            </a:extLst>
          </p:cNvPr>
          <p:cNvSpPr>
            <a:spLocks noGrp="1"/>
          </p:cNvSpPr>
          <p:nvPr>
            <p:ph type="ftr" sz="quarter" idx="11"/>
          </p:nvPr>
        </p:nvSpPr>
        <p:spPr>
          <a:xfrm>
            <a:off x="1" y="6356350"/>
            <a:ext cx="12192000" cy="365125"/>
          </a:xfrm>
        </p:spPr>
        <p:txBody>
          <a:bodyPr/>
          <a:lstStyle/>
          <a:p>
            <a:r>
              <a:rPr lang="en-US" altLang="ja-JP" dirty="0"/>
              <a:t>6</a:t>
            </a:r>
            <a:r>
              <a:rPr kumimoji="1" lang="en-US" altLang="ja-JP" dirty="0"/>
              <a:t>.  </a:t>
            </a:r>
            <a:r>
              <a:rPr lang="ja-JP" altLang="ja-JP" dirty="0"/>
              <a:t>Yang et al. (2024). “Exploring Compositional Generalization of Large Language Models”</a:t>
            </a:r>
            <a:endParaRPr kumimoji="1" lang="ja-JP" altLang="en-US" dirty="0"/>
          </a:p>
        </p:txBody>
      </p:sp>
    </p:spTree>
    <p:extLst>
      <p:ext uri="{BB962C8B-B14F-4D97-AF65-F5344CB8AC3E}">
        <p14:creationId xmlns:p14="http://schemas.microsoft.com/office/powerpoint/2010/main" val="28601768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4F728-2D26-69A4-7107-A2F170611FC0}"/>
              </a:ext>
            </a:extLst>
          </p:cNvPr>
          <p:cNvSpPr>
            <a:spLocks noGrp="1"/>
          </p:cNvSpPr>
          <p:nvPr>
            <p:ph type="title"/>
          </p:nvPr>
        </p:nvSpPr>
        <p:spPr/>
        <p:txBody>
          <a:bodyPr/>
          <a:lstStyle/>
          <a:p>
            <a:r>
              <a:rPr lang="en-US" altLang="ja-JP" dirty="0"/>
              <a:t>C</a:t>
            </a:r>
            <a:r>
              <a:rPr lang="ja-JP" altLang="ja-JP" dirty="0"/>
              <a:t>ompositional </a:t>
            </a:r>
            <a:r>
              <a:rPr lang="en-US" altLang="ja-JP" dirty="0"/>
              <a:t>G</a:t>
            </a:r>
            <a:r>
              <a:rPr lang="ja-JP" altLang="ja-JP" dirty="0"/>
              <a:t>eneralization</a:t>
            </a:r>
            <a:r>
              <a:rPr lang="ja-JP" altLang="en-US" dirty="0"/>
              <a:t>の先行研究</a:t>
            </a:r>
            <a:endParaRPr kumimoji="1" lang="ja-JP" altLang="en-US" dirty="0"/>
          </a:p>
        </p:txBody>
      </p:sp>
      <p:sp>
        <p:nvSpPr>
          <p:cNvPr id="3" name="コンテンツ プレースホルダー 2">
            <a:extLst>
              <a:ext uri="{FF2B5EF4-FFF2-40B4-BE49-F238E27FC236}">
                <a16:creationId xmlns:a16="http://schemas.microsoft.com/office/drawing/2014/main" id="{2911E6D9-D9A3-89D9-A9E8-946C2DED5D31}"/>
              </a:ext>
            </a:extLst>
          </p:cNvPr>
          <p:cNvSpPr>
            <a:spLocks noGrp="1"/>
          </p:cNvSpPr>
          <p:nvPr>
            <p:ph idx="1"/>
          </p:nvPr>
        </p:nvSpPr>
        <p:spPr/>
        <p:txBody>
          <a:bodyPr/>
          <a:lstStyle/>
          <a:p>
            <a:r>
              <a:rPr kumimoji="1" lang="en-US" altLang="ja-JP" dirty="0"/>
              <a:t>Yang et al. (2024)</a:t>
            </a:r>
            <a:r>
              <a:rPr kumimoji="1" lang="en-US" altLang="ja-JP" baseline="30000" dirty="0"/>
              <a:t>6</a:t>
            </a:r>
            <a:r>
              <a:rPr kumimoji="1" lang="ja-JP" altLang="en-US" dirty="0"/>
              <a:t>：複数の単純な指示からなる複雑な指示に、</a:t>
            </a:r>
            <a:r>
              <a:rPr kumimoji="1" lang="en-US" altLang="ja-JP" dirty="0"/>
              <a:t>LLM</a:t>
            </a:r>
            <a:r>
              <a:rPr kumimoji="1" lang="ja-JP" altLang="en-US" dirty="0"/>
              <a:t>がどの程度汎化できるかを</a:t>
            </a:r>
            <a:r>
              <a:rPr kumimoji="1" lang="en-US" altLang="ja-JP" dirty="0"/>
              <a:t>SFT</a:t>
            </a:r>
            <a:r>
              <a:rPr kumimoji="1" lang="ja-JP" altLang="en-US" dirty="0"/>
              <a:t>によって検証した研究。</a:t>
            </a:r>
            <a:endParaRPr kumimoji="1" lang="en-US" altLang="ja-JP" dirty="0"/>
          </a:p>
          <a:p>
            <a:endParaRPr kumimoji="1" lang="en-US" altLang="ja-JP" dirty="0"/>
          </a:p>
          <a:p>
            <a:r>
              <a:rPr kumimoji="1" lang="en-US" altLang="ja-JP" dirty="0"/>
              <a:t>Hayati et al. (2025)</a:t>
            </a:r>
            <a:r>
              <a:rPr kumimoji="1" lang="en-US" altLang="ja-JP" baseline="30000" dirty="0"/>
              <a:t>7</a:t>
            </a:r>
            <a:r>
              <a:rPr kumimoji="1" lang="ja-JP" altLang="en-US" dirty="0"/>
              <a:t>：複数の処理を</a:t>
            </a:r>
            <a:r>
              <a:rPr lang="ja-JP" altLang="en-US" dirty="0"/>
              <a:t>組み合わせた</a:t>
            </a:r>
            <a:r>
              <a:rPr kumimoji="1" lang="ja-JP" altLang="en-US" dirty="0"/>
              <a:t>問題を</a:t>
            </a:r>
            <a:r>
              <a:rPr kumimoji="1" lang="en-US" altLang="ja-JP" dirty="0"/>
              <a:t>SFT</a:t>
            </a:r>
            <a:r>
              <a:rPr kumimoji="1" lang="ja-JP" altLang="en-US" dirty="0"/>
              <a:t>し、学習時よりも長い未知の処理への汎化を検証</a:t>
            </a:r>
          </a:p>
        </p:txBody>
      </p:sp>
      <p:sp>
        <p:nvSpPr>
          <p:cNvPr id="7" name="スライド番号プレースホルダー 6">
            <a:extLst>
              <a:ext uri="{FF2B5EF4-FFF2-40B4-BE49-F238E27FC236}">
                <a16:creationId xmlns:a16="http://schemas.microsoft.com/office/drawing/2014/main" id="{2B1821E7-7C8C-2831-B55A-1D57515001BF}"/>
              </a:ext>
            </a:extLst>
          </p:cNvPr>
          <p:cNvSpPr>
            <a:spLocks noGrp="1"/>
          </p:cNvSpPr>
          <p:nvPr>
            <p:ph type="sldNum" sz="quarter" idx="12"/>
          </p:nvPr>
        </p:nvSpPr>
        <p:spPr/>
        <p:txBody>
          <a:bodyPr/>
          <a:lstStyle/>
          <a:p>
            <a:fld id="{10649E7B-FC1B-418B-9B6A-00859DB1DEE8}" type="slidenum">
              <a:rPr kumimoji="1" lang="ja-JP" altLang="en-US" smtClean="0"/>
              <a:t>9</a:t>
            </a:fld>
            <a:endParaRPr kumimoji="1" lang="ja-JP" altLang="en-US"/>
          </a:p>
        </p:txBody>
      </p:sp>
      <p:sp>
        <p:nvSpPr>
          <p:cNvPr id="8" name="フッター プレースホルダー 7">
            <a:extLst>
              <a:ext uri="{FF2B5EF4-FFF2-40B4-BE49-F238E27FC236}">
                <a16:creationId xmlns:a16="http://schemas.microsoft.com/office/drawing/2014/main" id="{A5405178-DE17-ACF4-EDCB-AF4B078DBF09}"/>
              </a:ext>
            </a:extLst>
          </p:cNvPr>
          <p:cNvSpPr>
            <a:spLocks noGrp="1"/>
          </p:cNvSpPr>
          <p:nvPr>
            <p:ph type="ftr" sz="quarter" idx="11"/>
          </p:nvPr>
        </p:nvSpPr>
        <p:spPr>
          <a:xfrm>
            <a:off x="491836" y="5798128"/>
            <a:ext cx="11208328" cy="923348"/>
          </a:xfrm>
        </p:spPr>
        <p:txBody>
          <a:bodyPr/>
          <a:lstStyle/>
          <a:p>
            <a:r>
              <a:rPr lang="en-US" altLang="ja-JP" dirty="0"/>
              <a:t>7</a:t>
            </a:r>
            <a:r>
              <a:rPr kumimoji="1" lang="en-US" altLang="ja-JP" dirty="0"/>
              <a:t>.  </a:t>
            </a:r>
            <a:r>
              <a:rPr kumimoji="1" lang="en-US" altLang="ja-JP" dirty="0" err="1"/>
              <a:t>Hayati</a:t>
            </a:r>
            <a:r>
              <a:rPr kumimoji="1" lang="en-US" altLang="ja-JP" dirty="0"/>
              <a:t> et al. (2025). “Chain-of-Instructions: Compositional Instruction Tuning on Large Language Models”</a:t>
            </a:r>
            <a:endParaRPr kumimoji="1" lang="ja-JP" altLang="en-US" dirty="0"/>
          </a:p>
        </p:txBody>
      </p:sp>
    </p:spTree>
    <p:extLst>
      <p:ext uri="{BB962C8B-B14F-4D97-AF65-F5344CB8AC3E}">
        <p14:creationId xmlns:p14="http://schemas.microsoft.com/office/powerpoint/2010/main" val="24814843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AF9F41A-CE18-5F18-591A-BB45A6876FDF}"/>
              </a:ext>
            </a:extLst>
          </p:cNvPr>
          <p:cNvSpPr>
            <a:spLocks noGrp="1"/>
          </p:cNvSpPr>
          <p:nvPr>
            <p:ph type="title"/>
          </p:nvPr>
        </p:nvSpPr>
        <p:spPr/>
        <p:txBody>
          <a:bodyPr/>
          <a:lstStyle/>
          <a:p>
            <a:r>
              <a:rPr kumimoji="1" lang="ja-JP" altLang="en-US" dirty="0"/>
              <a:t>研究目的</a:t>
            </a:r>
          </a:p>
        </p:txBody>
      </p:sp>
      <p:sp>
        <p:nvSpPr>
          <p:cNvPr id="3" name="コンテンツ プレースホルダー 2">
            <a:extLst>
              <a:ext uri="{FF2B5EF4-FFF2-40B4-BE49-F238E27FC236}">
                <a16:creationId xmlns:a16="http://schemas.microsoft.com/office/drawing/2014/main" id="{465C095D-EFF2-D632-7E45-9AAFEB2241B8}"/>
              </a:ext>
            </a:extLst>
          </p:cNvPr>
          <p:cNvSpPr>
            <a:spLocks noGrp="1"/>
          </p:cNvSpPr>
          <p:nvPr>
            <p:ph idx="1"/>
          </p:nvPr>
        </p:nvSpPr>
        <p:spPr/>
        <p:txBody>
          <a:bodyPr/>
          <a:lstStyle/>
          <a:p>
            <a:r>
              <a:rPr kumimoji="1" lang="en-US" altLang="ja-JP" dirty="0"/>
              <a:t>RQ1</a:t>
            </a:r>
            <a:r>
              <a:rPr kumimoji="1" lang="ja-JP" altLang="en-US" dirty="0"/>
              <a:t>：</a:t>
            </a:r>
            <a:r>
              <a:rPr kumimoji="1" lang="en-US" altLang="ja-JP" dirty="0"/>
              <a:t>SFT</a:t>
            </a:r>
            <a:r>
              <a:rPr kumimoji="1" lang="ja-JP" altLang="en-US" dirty="0"/>
              <a:t>によって、既知の処理を新しい組み合わせで利用する問題解決能力は獲得されるのか？</a:t>
            </a:r>
            <a:endParaRPr kumimoji="1" lang="en-US" altLang="ja-JP" dirty="0"/>
          </a:p>
          <a:p>
            <a:endParaRPr kumimoji="1" lang="en-US" altLang="ja-JP" dirty="0"/>
          </a:p>
          <a:p>
            <a:r>
              <a:rPr kumimoji="1" lang="en-US" altLang="ja-JP" dirty="0"/>
              <a:t>RQ2</a:t>
            </a:r>
            <a:r>
              <a:rPr kumimoji="1" lang="ja-JP" altLang="en-US" dirty="0"/>
              <a:t>：</a:t>
            </a:r>
            <a:r>
              <a:rPr kumimoji="1" lang="en-US" altLang="ja-JP" dirty="0"/>
              <a:t>SFT</a:t>
            </a:r>
            <a:r>
              <a:rPr kumimoji="1" lang="ja-JP" altLang="en-US" dirty="0"/>
              <a:t>における教師</a:t>
            </a:r>
            <a:r>
              <a:rPr lang="ja-JP" altLang="en-US" dirty="0"/>
              <a:t>データ</a:t>
            </a:r>
            <a:r>
              <a:rPr kumimoji="1" lang="ja-JP" altLang="en-US" dirty="0"/>
              <a:t>の違いは、この問題解決能力の獲得にどのような影響を与えるのか？</a:t>
            </a:r>
            <a:endParaRPr kumimoji="1" lang="en-US" altLang="ja-JP" dirty="0"/>
          </a:p>
        </p:txBody>
      </p:sp>
      <p:sp>
        <p:nvSpPr>
          <p:cNvPr id="7" name="スライド番号プレースホルダー 6">
            <a:extLst>
              <a:ext uri="{FF2B5EF4-FFF2-40B4-BE49-F238E27FC236}">
                <a16:creationId xmlns:a16="http://schemas.microsoft.com/office/drawing/2014/main" id="{A95ABCF3-37CD-9944-1EC4-60D6EFC8CF3E}"/>
              </a:ext>
            </a:extLst>
          </p:cNvPr>
          <p:cNvSpPr>
            <a:spLocks noGrp="1"/>
          </p:cNvSpPr>
          <p:nvPr>
            <p:ph type="sldNum" sz="quarter" idx="12"/>
          </p:nvPr>
        </p:nvSpPr>
        <p:spPr/>
        <p:txBody>
          <a:bodyPr/>
          <a:lstStyle/>
          <a:p>
            <a:fld id="{10649E7B-FC1B-418B-9B6A-00859DB1DEE8}" type="slidenum">
              <a:rPr kumimoji="1" lang="ja-JP" altLang="en-US" smtClean="0"/>
              <a:t>10</a:t>
            </a:fld>
            <a:endParaRPr kumimoji="1" lang="ja-JP" altLang="en-US"/>
          </a:p>
        </p:txBody>
      </p:sp>
    </p:spTree>
    <p:extLst>
      <p:ext uri="{BB962C8B-B14F-4D97-AF65-F5344CB8AC3E}">
        <p14:creationId xmlns:p14="http://schemas.microsoft.com/office/powerpoint/2010/main" val="18798587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F7C706-F151-66C5-6360-899F3CA26FE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72948C0-A09B-B3CA-4C95-4CFBD5653C77}"/>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3F89F93E-EDCD-1507-01D7-719895B455B8}"/>
              </a:ext>
            </a:extLst>
          </p:cNvPr>
          <p:cNvSpPr>
            <a:spLocks noGrp="1"/>
          </p:cNvSpPr>
          <p:nvPr>
            <p:ph idx="1"/>
          </p:nvPr>
        </p:nvSpPr>
        <p:spPr/>
        <p:txBody>
          <a:bodyPr/>
          <a:lstStyle/>
          <a:p>
            <a:r>
              <a:rPr kumimoji="1" lang="ja-JP" altLang="en-US" dirty="0"/>
              <a:t>研究背景</a:t>
            </a:r>
            <a:endParaRPr kumimoji="1" lang="en-US" altLang="ja-JP" dirty="0"/>
          </a:p>
          <a:p>
            <a:r>
              <a:rPr lang="ja-JP" altLang="en-US" dirty="0">
                <a:solidFill>
                  <a:srgbClr val="FF0000"/>
                </a:solidFill>
              </a:rPr>
              <a:t>研究方法</a:t>
            </a:r>
            <a:endParaRPr lang="en-US" altLang="ja-JP" dirty="0">
              <a:solidFill>
                <a:srgbClr val="FF0000"/>
              </a:solidFill>
            </a:endParaRPr>
          </a:p>
          <a:p>
            <a:r>
              <a:rPr kumimoji="1" lang="ja-JP" altLang="en-US" dirty="0"/>
              <a:t>問題解決</a:t>
            </a:r>
            <a:r>
              <a:rPr lang="ja-JP" altLang="en-US" dirty="0"/>
              <a:t>能力の評価実験</a:t>
            </a:r>
            <a:endParaRPr lang="en-US" altLang="ja-JP" dirty="0"/>
          </a:p>
          <a:p>
            <a:r>
              <a:rPr kumimoji="1" lang="ja-JP" altLang="en-US" dirty="0"/>
              <a:t>分析と考察</a:t>
            </a:r>
          </a:p>
        </p:txBody>
      </p:sp>
      <p:sp>
        <p:nvSpPr>
          <p:cNvPr id="7" name="スライド番号プレースホルダー 6">
            <a:extLst>
              <a:ext uri="{FF2B5EF4-FFF2-40B4-BE49-F238E27FC236}">
                <a16:creationId xmlns:a16="http://schemas.microsoft.com/office/drawing/2014/main" id="{2729DF3B-155E-F4CB-FFB2-E2D94119F0E7}"/>
              </a:ext>
            </a:extLst>
          </p:cNvPr>
          <p:cNvSpPr>
            <a:spLocks noGrp="1"/>
          </p:cNvSpPr>
          <p:nvPr>
            <p:ph type="sldNum" sz="quarter" idx="12"/>
          </p:nvPr>
        </p:nvSpPr>
        <p:spPr/>
        <p:txBody>
          <a:bodyPr/>
          <a:lstStyle/>
          <a:p>
            <a:fld id="{10649E7B-FC1B-418B-9B6A-00859DB1DEE8}" type="slidenum">
              <a:rPr kumimoji="1" lang="ja-JP" altLang="en-US" smtClean="0"/>
              <a:t>11</a:t>
            </a:fld>
            <a:endParaRPr kumimoji="1" lang="ja-JP" altLang="en-US"/>
          </a:p>
        </p:txBody>
      </p:sp>
    </p:spTree>
    <p:extLst>
      <p:ext uri="{BB962C8B-B14F-4D97-AF65-F5344CB8AC3E}">
        <p14:creationId xmlns:p14="http://schemas.microsoft.com/office/powerpoint/2010/main" val="29696845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DE48A5-51DF-1103-CD84-1F3F7F2DDB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5E9F082-E720-6B8B-D9D8-A0A29F4E413E}"/>
              </a:ext>
            </a:extLst>
          </p:cNvPr>
          <p:cNvSpPr>
            <a:spLocks noGrp="1"/>
          </p:cNvSpPr>
          <p:nvPr>
            <p:ph type="title"/>
          </p:nvPr>
        </p:nvSpPr>
        <p:spPr/>
        <p:txBody>
          <a:bodyPr/>
          <a:lstStyle/>
          <a:p>
            <a:r>
              <a:rPr kumimoji="1" lang="ja-JP" altLang="en-US" dirty="0"/>
              <a:t>研究方法</a:t>
            </a:r>
          </a:p>
        </p:txBody>
      </p:sp>
      <p:sp>
        <p:nvSpPr>
          <p:cNvPr id="4" name="四角形: 角を丸くする 3">
            <a:extLst>
              <a:ext uri="{FF2B5EF4-FFF2-40B4-BE49-F238E27FC236}">
                <a16:creationId xmlns:a16="http://schemas.microsoft.com/office/drawing/2014/main" id="{F7FDC776-FDFD-E4B6-7B21-0A453E67D7C8}"/>
              </a:ext>
            </a:extLst>
          </p:cNvPr>
          <p:cNvSpPr/>
          <p:nvPr/>
        </p:nvSpPr>
        <p:spPr>
          <a:xfrm>
            <a:off x="838200" y="1920879"/>
            <a:ext cx="3037772" cy="416082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学習データ</a:t>
            </a:r>
            <a:endParaRPr kumimoji="1" lang="en-US" altLang="ja-JP" dirty="0"/>
          </a:p>
          <a:p>
            <a:pPr algn="ctr"/>
            <a:endParaRPr kumimoji="1" lang="en-US" altLang="ja-JP" dirty="0"/>
          </a:p>
          <a:p>
            <a:pPr algn="ctr"/>
            <a:r>
              <a:rPr kumimoji="1" lang="ja-JP" altLang="en-US" dirty="0"/>
              <a:t>問題文と答えのセット</a:t>
            </a:r>
            <a:endParaRPr kumimoji="1" lang="en-US" altLang="ja-JP" dirty="0"/>
          </a:p>
        </p:txBody>
      </p:sp>
      <p:sp>
        <p:nvSpPr>
          <p:cNvPr id="5" name="四角形: 角を丸くする 4">
            <a:extLst>
              <a:ext uri="{FF2B5EF4-FFF2-40B4-BE49-F238E27FC236}">
                <a16:creationId xmlns:a16="http://schemas.microsoft.com/office/drawing/2014/main" id="{A7288DEC-552F-D51A-4FD8-CB7B740D9EAE}"/>
              </a:ext>
            </a:extLst>
          </p:cNvPr>
          <p:cNvSpPr/>
          <p:nvPr/>
        </p:nvSpPr>
        <p:spPr>
          <a:xfrm>
            <a:off x="4603707" y="2915058"/>
            <a:ext cx="2984585" cy="2172467"/>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kumimoji="1" lang="en-US" altLang="ja-JP" dirty="0"/>
              <a:t>LLM</a:t>
            </a:r>
            <a:br>
              <a:rPr kumimoji="1" lang="en-US" altLang="ja-JP" dirty="0"/>
            </a:br>
            <a:r>
              <a:rPr kumimoji="1" lang="ja-JP" altLang="en-US" dirty="0"/>
              <a:t>（事前学習済みモデル）</a:t>
            </a:r>
          </a:p>
        </p:txBody>
      </p:sp>
      <p:sp>
        <p:nvSpPr>
          <p:cNvPr id="6" name="四角形: 角を丸くする 5">
            <a:extLst>
              <a:ext uri="{FF2B5EF4-FFF2-40B4-BE49-F238E27FC236}">
                <a16:creationId xmlns:a16="http://schemas.microsoft.com/office/drawing/2014/main" id="{4608D463-A703-9549-F869-917F5D091DB0}"/>
              </a:ext>
            </a:extLst>
          </p:cNvPr>
          <p:cNvSpPr/>
          <p:nvPr/>
        </p:nvSpPr>
        <p:spPr>
          <a:xfrm>
            <a:off x="8316028" y="1920879"/>
            <a:ext cx="3037772" cy="4160827"/>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ja-JP" altLang="en-US" dirty="0"/>
              <a:t>テスト用のデータ</a:t>
            </a:r>
            <a:endParaRPr lang="en-US" altLang="ja-JP" dirty="0"/>
          </a:p>
          <a:p>
            <a:endParaRPr lang="en-US" altLang="ja-JP" dirty="0"/>
          </a:p>
          <a:p>
            <a:pPr algn="ctr"/>
            <a:r>
              <a:rPr kumimoji="1" lang="ja-JP" altLang="en-US" dirty="0"/>
              <a:t>モデルの出力と</a:t>
            </a:r>
            <a:endParaRPr kumimoji="1" lang="en-US" altLang="ja-JP" dirty="0"/>
          </a:p>
          <a:p>
            <a:pPr algn="ctr"/>
            <a:r>
              <a:rPr kumimoji="1" lang="ja-JP" altLang="en-US" dirty="0"/>
              <a:t>答え合わせする</a:t>
            </a:r>
          </a:p>
        </p:txBody>
      </p:sp>
      <p:sp>
        <p:nvSpPr>
          <p:cNvPr id="7" name="矢印: 右 6">
            <a:extLst>
              <a:ext uri="{FF2B5EF4-FFF2-40B4-BE49-F238E27FC236}">
                <a16:creationId xmlns:a16="http://schemas.microsoft.com/office/drawing/2014/main" id="{BC9374AF-6B6A-0138-23DE-A69334A25228}"/>
              </a:ext>
            </a:extLst>
          </p:cNvPr>
          <p:cNvSpPr/>
          <p:nvPr/>
        </p:nvSpPr>
        <p:spPr>
          <a:xfrm>
            <a:off x="4068773"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5BEE9FC5-3C61-1AE4-8F90-ECF171AE5471}"/>
              </a:ext>
            </a:extLst>
          </p:cNvPr>
          <p:cNvSpPr/>
          <p:nvPr/>
        </p:nvSpPr>
        <p:spPr>
          <a:xfrm>
            <a:off x="7748874"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E0E3275A-AE5D-09BB-0752-49B39B2F21EE}"/>
              </a:ext>
            </a:extLst>
          </p:cNvPr>
          <p:cNvSpPr>
            <a:spLocks noGrp="1"/>
          </p:cNvSpPr>
          <p:nvPr>
            <p:ph type="sldNum" sz="quarter" idx="12"/>
          </p:nvPr>
        </p:nvSpPr>
        <p:spPr/>
        <p:txBody>
          <a:bodyPr/>
          <a:lstStyle/>
          <a:p>
            <a:fld id="{10649E7B-FC1B-418B-9B6A-00859DB1DEE8}" type="slidenum">
              <a:rPr kumimoji="1" lang="ja-JP" altLang="en-US" smtClean="0"/>
              <a:t>12</a:t>
            </a:fld>
            <a:endParaRPr kumimoji="1" lang="ja-JP" altLang="en-US"/>
          </a:p>
        </p:txBody>
      </p:sp>
    </p:spTree>
    <p:extLst>
      <p:ext uri="{BB962C8B-B14F-4D97-AF65-F5344CB8AC3E}">
        <p14:creationId xmlns:p14="http://schemas.microsoft.com/office/powerpoint/2010/main" val="2590322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4159078-9777-B9BE-B85D-6D6A24A8EE8A}"/>
              </a:ext>
            </a:extLst>
          </p:cNvPr>
          <p:cNvSpPr>
            <a:spLocks noGrp="1"/>
          </p:cNvSpPr>
          <p:nvPr>
            <p:ph type="title"/>
          </p:nvPr>
        </p:nvSpPr>
        <p:spPr>
          <a:xfrm>
            <a:off x="838200" y="0"/>
            <a:ext cx="5181600" cy="1325563"/>
          </a:xfrm>
        </p:spPr>
        <p:txBody>
          <a:bodyPr/>
          <a:lstStyle/>
          <a:p>
            <a:r>
              <a:rPr lang="ja-JP" altLang="en-US" dirty="0"/>
              <a:t>問題</a:t>
            </a:r>
            <a:endParaRPr kumimoji="1" lang="ja-JP" altLang="en-US" dirty="0"/>
          </a:p>
        </p:txBody>
      </p:sp>
      <p:sp>
        <p:nvSpPr>
          <p:cNvPr id="3" name="コンテンツ プレースホルダー 2">
            <a:extLst>
              <a:ext uri="{FF2B5EF4-FFF2-40B4-BE49-F238E27FC236}">
                <a16:creationId xmlns:a16="http://schemas.microsoft.com/office/drawing/2014/main" id="{F22A9014-66C6-931E-E737-0DA1AD96F0E1}"/>
              </a:ext>
            </a:extLst>
          </p:cNvPr>
          <p:cNvSpPr>
            <a:spLocks noGrp="1"/>
          </p:cNvSpPr>
          <p:nvPr>
            <p:ph sz="half" idx="1"/>
          </p:nvPr>
        </p:nvSpPr>
        <p:spPr>
          <a:xfrm>
            <a:off x="838200" y="1037139"/>
            <a:ext cx="5181600" cy="5820862"/>
          </a:xfrm>
        </p:spPr>
        <p:txBody>
          <a:bodyPr>
            <a:normAutofit fontScale="55000" lnSpcReduction="20000"/>
          </a:bodyPr>
          <a:lstStyle/>
          <a:p>
            <a:pPr marL="0" indent="0">
              <a:buNone/>
            </a:pPr>
            <a:r>
              <a:rPr lang="en-US" altLang="ja-JP" dirty="0"/>
              <a:t>Infer the transformation rule from examples.</a:t>
            </a:r>
          </a:p>
          <a:p>
            <a:pPr marL="0" indent="0">
              <a:buNone/>
            </a:pPr>
            <a:r>
              <a:rPr lang="en-US" altLang="ja-JP" dirty="0"/>
              <a:t>Output the final array.        </a:t>
            </a:r>
          </a:p>
          <a:p>
            <a:pPr marL="0" indent="0">
              <a:buNone/>
            </a:pPr>
            <a:endParaRPr lang="en-US" altLang="ja-JP" dirty="0"/>
          </a:p>
          <a:p>
            <a:pPr marL="0" indent="0">
              <a:buNone/>
            </a:pPr>
            <a:r>
              <a:rPr lang="en-US" altLang="ja-JP" dirty="0"/>
              <a:t>Example 1</a:t>
            </a:r>
          </a:p>
          <a:p>
            <a:pPr marL="0" indent="0">
              <a:buNone/>
            </a:pPr>
            <a:r>
              <a:rPr lang="en-US" altLang="ja-JP" dirty="0"/>
              <a:t>Input:</a:t>
            </a:r>
          </a:p>
          <a:p>
            <a:pPr marL="0" indent="0">
              <a:buNone/>
            </a:pPr>
            <a:r>
              <a:rPr lang="en-US" altLang="ja-JP" dirty="0"/>
              <a:t>[1, 0, 4, 3, 3, 2, 1, 8, 1, 9]</a:t>
            </a:r>
          </a:p>
          <a:p>
            <a:pPr marL="0" indent="0">
              <a:buNone/>
            </a:pPr>
            <a:r>
              <a:rPr lang="en-US" altLang="ja-JP" dirty="0"/>
              <a:t>Output:</a:t>
            </a:r>
          </a:p>
          <a:p>
            <a:pPr marL="0" indent="0">
              <a:buNone/>
            </a:pPr>
            <a:r>
              <a:rPr lang="en-US" altLang="ja-JP" dirty="0"/>
              <a:t>[9, 1, 8, 1, 2, 3, 3, 4, 0, 1]</a:t>
            </a:r>
          </a:p>
          <a:p>
            <a:pPr marL="0" indent="0">
              <a:buNone/>
            </a:pPr>
            <a:endParaRPr lang="en-US" altLang="ja-JP" dirty="0"/>
          </a:p>
          <a:p>
            <a:pPr marL="0" indent="0">
              <a:buNone/>
            </a:pPr>
            <a:r>
              <a:rPr lang="en-US" altLang="ja-JP" dirty="0"/>
              <a:t>Example 2</a:t>
            </a:r>
          </a:p>
          <a:p>
            <a:pPr marL="0" indent="0">
              <a:buNone/>
            </a:pPr>
            <a:r>
              <a:rPr lang="en-US" altLang="ja-JP" dirty="0"/>
              <a:t>Input:</a:t>
            </a:r>
          </a:p>
          <a:p>
            <a:pPr marL="0" indent="0">
              <a:buNone/>
            </a:pPr>
            <a:r>
              <a:rPr lang="en-US" altLang="ja-JP" dirty="0"/>
              <a:t>[0, 0, 1, 3, 3, 8, 9, 0]</a:t>
            </a:r>
          </a:p>
          <a:p>
            <a:pPr marL="0" indent="0">
              <a:buNone/>
            </a:pPr>
            <a:r>
              <a:rPr lang="en-US" altLang="ja-JP" dirty="0"/>
              <a:t>Output:</a:t>
            </a:r>
          </a:p>
          <a:p>
            <a:pPr marL="0" indent="0">
              <a:buNone/>
            </a:pPr>
            <a:r>
              <a:rPr lang="en-US" altLang="ja-JP" dirty="0"/>
              <a:t>[0, 9, 8, 3, 3, 1, 0, 0]</a:t>
            </a:r>
          </a:p>
          <a:p>
            <a:pPr marL="0" indent="0">
              <a:buNone/>
            </a:pPr>
            <a:endParaRPr lang="en-US" altLang="ja-JP" dirty="0"/>
          </a:p>
          <a:p>
            <a:pPr marL="0" indent="0">
              <a:buNone/>
            </a:pPr>
            <a:r>
              <a:rPr lang="en-US" altLang="ja-JP" dirty="0"/>
              <a:t>Query</a:t>
            </a:r>
          </a:p>
          <a:p>
            <a:pPr marL="0" indent="0">
              <a:buNone/>
            </a:pPr>
            <a:r>
              <a:rPr lang="en-US" altLang="ja-JP" dirty="0"/>
              <a:t>Input:</a:t>
            </a:r>
          </a:p>
          <a:p>
            <a:pPr marL="0" indent="0">
              <a:buNone/>
            </a:pPr>
            <a:r>
              <a:rPr lang="en-US" altLang="ja-JP" dirty="0"/>
              <a:t>[1, 8, 4, 9, 5, 9, 3, 1]</a:t>
            </a:r>
          </a:p>
          <a:p>
            <a:pPr marL="0" indent="0">
              <a:buNone/>
            </a:pPr>
            <a:r>
              <a:rPr lang="en-US" altLang="ja-JP" dirty="0"/>
              <a:t>Output:</a:t>
            </a:r>
            <a:endParaRPr lang="ja-JP" altLang="en-US" dirty="0"/>
          </a:p>
          <a:p>
            <a:endParaRPr kumimoji="1" lang="ja-JP" altLang="en-US" dirty="0"/>
          </a:p>
        </p:txBody>
      </p:sp>
      <p:sp>
        <p:nvSpPr>
          <p:cNvPr id="4" name="コンテンツ プレースホルダー 3">
            <a:extLst>
              <a:ext uri="{FF2B5EF4-FFF2-40B4-BE49-F238E27FC236}">
                <a16:creationId xmlns:a16="http://schemas.microsoft.com/office/drawing/2014/main" id="{24ED5CC6-E2E2-3D6E-55BB-7ACFC48074F9}"/>
              </a:ext>
            </a:extLst>
          </p:cNvPr>
          <p:cNvSpPr>
            <a:spLocks noGrp="1"/>
          </p:cNvSpPr>
          <p:nvPr>
            <p:ph sz="half" idx="2"/>
          </p:nvPr>
        </p:nvSpPr>
        <p:spPr/>
        <p:txBody>
          <a:bodyPr>
            <a:normAutofit fontScale="55000" lnSpcReduction="20000"/>
          </a:bodyPr>
          <a:lstStyle/>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r>
              <a:rPr lang="en-US" altLang="ja-JP" dirty="0"/>
              <a:t>[1, 3, 9, 5, 9, 4, 8, 1]</a:t>
            </a:r>
            <a:endParaRPr kumimoji="1" lang="ja-JP" altLang="en-US" dirty="0"/>
          </a:p>
        </p:txBody>
      </p:sp>
      <p:sp>
        <p:nvSpPr>
          <p:cNvPr id="5" name="タイトル 1">
            <a:extLst>
              <a:ext uri="{FF2B5EF4-FFF2-40B4-BE49-F238E27FC236}">
                <a16:creationId xmlns:a16="http://schemas.microsoft.com/office/drawing/2014/main" id="{C6332D2D-80E8-0A8C-7E50-7908C9D64052}"/>
              </a:ext>
            </a:extLst>
          </p:cNvPr>
          <p:cNvSpPr txBox="1">
            <a:spLocks/>
          </p:cNvSpPr>
          <p:nvPr/>
        </p:nvSpPr>
        <p:spPr>
          <a:xfrm>
            <a:off x="6096000" y="-1"/>
            <a:ext cx="5181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dirty="0"/>
              <a:t>正解</a:t>
            </a:r>
          </a:p>
        </p:txBody>
      </p:sp>
      <p:sp>
        <p:nvSpPr>
          <p:cNvPr id="6" name="四角形: 角を丸くする 5">
            <a:extLst>
              <a:ext uri="{FF2B5EF4-FFF2-40B4-BE49-F238E27FC236}">
                <a16:creationId xmlns:a16="http://schemas.microsoft.com/office/drawing/2014/main" id="{5338B3B1-66F1-3BCE-532F-283855FA6EA4}"/>
              </a:ext>
            </a:extLst>
          </p:cNvPr>
          <p:cNvSpPr/>
          <p:nvPr/>
        </p:nvSpPr>
        <p:spPr>
          <a:xfrm>
            <a:off x="533911" y="865306"/>
            <a:ext cx="5124323" cy="5756423"/>
          </a:xfrm>
          <a:prstGeom prst="round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00344297-29CE-0E05-618B-09F2B9153E7B}"/>
              </a:ext>
            </a:extLst>
          </p:cNvPr>
          <p:cNvSpPr/>
          <p:nvPr/>
        </p:nvSpPr>
        <p:spPr>
          <a:xfrm>
            <a:off x="7536129" y="3429000"/>
            <a:ext cx="2442491" cy="1050946"/>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C1144DF9-FE90-6675-B8E5-CA11C506E70F}"/>
              </a:ext>
            </a:extLst>
          </p:cNvPr>
          <p:cNvSpPr>
            <a:spLocks noGrp="1"/>
          </p:cNvSpPr>
          <p:nvPr>
            <p:ph type="sldNum" sz="quarter" idx="12"/>
          </p:nvPr>
        </p:nvSpPr>
        <p:spPr/>
        <p:txBody>
          <a:bodyPr/>
          <a:lstStyle/>
          <a:p>
            <a:fld id="{10649E7B-FC1B-418B-9B6A-00859DB1DEE8}" type="slidenum">
              <a:rPr kumimoji="1" lang="ja-JP" altLang="en-US" smtClean="0"/>
              <a:t>13</a:t>
            </a:fld>
            <a:endParaRPr kumimoji="1" lang="ja-JP" altLang="en-US"/>
          </a:p>
        </p:txBody>
      </p:sp>
    </p:spTree>
    <p:extLst>
      <p:ext uri="{BB962C8B-B14F-4D97-AF65-F5344CB8AC3E}">
        <p14:creationId xmlns:p14="http://schemas.microsoft.com/office/powerpoint/2010/main" val="29385513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3D6291-311D-07BF-081B-C1426265B489}"/>
              </a:ext>
            </a:extLst>
          </p:cNvPr>
          <p:cNvSpPr>
            <a:spLocks noGrp="1"/>
          </p:cNvSpPr>
          <p:nvPr>
            <p:ph type="title"/>
          </p:nvPr>
        </p:nvSpPr>
        <p:spPr/>
        <p:txBody>
          <a:bodyPr/>
          <a:lstStyle/>
          <a:p>
            <a:r>
              <a:rPr kumimoji="1" lang="ja-JP" altLang="en-US" dirty="0"/>
              <a:t>仕組み</a:t>
            </a:r>
          </a:p>
        </p:txBody>
      </p:sp>
      <p:sp>
        <p:nvSpPr>
          <p:cNvPr id="4" name="四角形: 角を丸くする 3">
            <a:extLst>
              <a:ext uri="{FF2B5EF4-FFF2-40B4-BE49-F238E27FC236}">
                <a16:creationId xmlns:a16="http://schemas.microsoft.com/office/drawing/2014/main" id="{2EB4B975-79F6-253E-CC70-63033A61F435}"/>
              </a:ext>
            </a:extLst>
          </p:cNvPr>
          <p:cNvSpPr/>
          <p:nvPr/>
        </p:nvSpPr>
        <p:spPr>
          <a:xfrm>
            <a:off x="3485766" y="147286"/>
            <a:ext cx="5302293" cy="6474443"/>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dirty="0"/>
              <a:t>Infer the transformation rule from examples.</a:t>
            </a:r>
          </a:p>
          <a:p>
            <a:r>
              <a:rPr lang="en-US" altLang="ja-JP" dirty="0"/>
              <a:t>Output the final array.        </a:t>
            </a:r>
          </a:p>
          <a:p>
            <a:endParaRPr lang="en-US" altLang="ja-JP" dirty="0"/>
          </a:p>
          <a:p>
            <a:r>
              <a:rPr lang="en-US" altLang="ja-JP" dirty="0"/>
              <a:t>Example 1</a:t>
            </a:r>
          </a:p>
          <a:p>
            <a:r>
              <a:rPr lang="en-US" altLang="ja-JP" dirty="0"/>
              <a:t>Input:</a:t>
            </a:r>
          </a:p>
          <a:p>
            <a:r>
              <a:rPr lang="en-US" altLang="ja-JP" dirty="0"/>
              <a:t>[1, 0, 4, 3, 3, 2, 1, 8, 1, 9]</a:t>
            </a:r>
          </a:p>
          <a:p>
            <a:r>
              <a:rPr lang="en-US" altLang="ja-JP" dirty="0"/>
              <a:t>Output:</a:t>
            </a:r>
          </a:p>
          <a:p>
            <a:r>
              <a:rPr lang="en-US" altLang="ja-JP" dirty="0"/>
              <a:t>[9, 1, 8, 1, 2, 3, 3, 4, 0, 1]</a:t>
            </a:r>
          </a:p>
          <a:p>
            <a:endParaRPr lang="en-US" altLang="ja-JP" dirty="0"/>
          </a:p>
          <a:p>
            <a:r>
              <a:rPr lang="en-US" altLang="ja-JP" dirty="0"/>
              <a:t>Example 2</a:t>
            </a:r>
          </a:p>
          <a:p>
            <a:r>
              <a:rPr lang="en-US" altLang="ja-JP" dirty="0"/>
              <a:t>Input:</a:t>
            </a:r>
          </a:p>
          <a:p>
            <a:r>
              <a:rPr lang="en-US" altLang="ja-JP" dirty="0"/>
              <a:t>[0, 0, 1, 3, 3, 8, 9, 0]</a:t>
            </a:r>
          </a:p>
          <a:p>
            <a:r>
              <a:rPr lang="en-US" altLang="ja-JP" dirty="0"/>
              <a:t>Output:</a:t>
            </a:r>
          </a:p>
          <a:p>
            <a:r>
              <a:rPr lang="en-US" altLang="ja-JP" dirty="0"/>
              <a:t>[0, 9, 8, 3, 3, 1, 0, 0]</a:t>
            </a:r>
          </a:p>
          <a:p>
            <a:endParaRPr lang="en-US" altLang="ja-JP" dirty="0"/>
          </a:p>
          <a:p>
            <a:r>
              <a:rPr lang="en-US" altLang="ja-JP" dirty="0"/>
              <a:t>Query</a:t>
            </a:r>
          </a:p>
          <a:p>
            <a:r>
              <a:rPr lang="en-US" altLang="ja-JP" dirty="0"/>
              <a:t>Input:</a:t>
            </a:r>
          </a:p>
          <a:p>
            <a:r>
              <a:rPr lang="en-US" altLang="ja-JP" dirty="0"/>
              <a:t>[1, 8, 4, 9, 5, 9, 3, 1]</a:t>
            </a:r>
          </a:p>
          <a:p>
            <a:r>
              <a:rPr lang="en-US" altLang="ja-JP" dirty="0"/>
              <a:t>Output:</a:t>
            </a:r>
            <a:endParaRPr lang="ja-JP" altLang="en-US" dirty="0"/>
          </a:p>
          <a:p>
            <a:r>
              <a:rPr lang="en-US" altLang="ja-JP" dirty="0"/>
              <a:t>[1, 3, 9, 5, 9, 4, 8, 1]</a:t>
            </a:r>
            <a:endParaRPr lang="ja-JP" altLang="en-US" dirty="0"/>
          </a:p>
          <a:p>
            <a:pPr algn="ctr"/>
            <a:endParaRPr kumimoji="1" lang="ja-JP" altLang="en-US" dirty="0"/>
          </a:p>
        </p:txBody>
      </p:sp>
      <p:sp>
        <p:nvSpPr>
          <p:cNvPr id="5" name="矢印: 左カーブ 4">
            <a:extLst>
              <a:ext uri="{FF2B5EF4-FFF2-40B4-BE49-F238E27FC236}">
                <a16:creationId xmlns:a16="http://schemas.microsoft.com/office/drawing/2014/main" id="{3175BB34-C118-2EC4-30F5-22D33BFC6CD8}"/>
              </a:ext>
            </a:extLst>
          </p:cNvPr>
          <p:cNvSpPr/>
          <p:nvPr/>
        </p:nvSpPr>
        <p:spPr>
          <a:xfrm>
            <a:off x="6505128" y="2233836"/>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7" name="矢印: 左カーブ 6">
            <a:extLst>
              <a:ext uri="{FF2B5EF4-FFF2-40B4-BE49-F238E27FC236}">
                <a16:creationId xmlns:a16="http://schemas.microsoft.com/office/drawing/2014/main" id="{39E13BFF-6AED-FE84-CE76-479D4CA99904}"/>
              </a:ext>
            </a:extLst>
          </p:cNvPr>
          <p:cNvSpPr/>
          <p:nvPr/>
        </p:nvSpPr>
        <p:spPr>
          <a:xfrm>
            <a:off x="5955873" y="3779315"/>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 name="矢印: 左カーブ 8">
            <a:extLst>
              <a:ext uri="{FF2B5EF4-FFF2-40B4-BE49-F238E27FC236}">
                <a16:creationId xmlns:a16="http://schemas.microsoft.com/office/drawing/2014/main" id="{E4A9C987-E5C2-5488-211D-E1793284FD6D}"/>
              </a:ext>
            </a:extLst>
          </p:cNvPr>
          <p:cNvSpPr/>
          <p:nvPr/>
        </p:nvSpPr>
        <p:spPr>
          <a:xfrm>
            <a:off x="5955872" y="5478217"/>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0" name="テキスト ボックス 9">
            <a:extLst>
              <a:ext uri="{FF2B5EF4-FFF2-40B4-BE49-F238E27FC236}">
                <a16:creationId xmlns:a16="http://schemas.microsoft.com/office/drawing/2014/main" id="{AD407649-AC4E-716B-0BE8-B2A0F4D7A601}"/>
              </a:ext>
            </a:extLst>
          </p:cNvPr>
          <p:cNvSpPr txBox="1"/>
          <p:nvPr/>
        </p:nvSpPr>
        <p:spPr>
          <a:xfrm>
            <a:off x="6916301" y="2159215"/>
            <a:ext cx="1350121" cy="646331"/>
          </a:xfrm>
          <a:prstGeom prst="rect">
            <a:avLst/>
          </a:prstGeom>
          <a:noFill/>
        </p:spPr>
        <p:txBody>
          <a:bodyPr wrap="square" rtlCol="0">
            <a:spAutoFit/>
          </a:bodyPr>
          <a:lstStyle/>
          <a:p>
            <a:r>
              <a:rPr kumimoji="1" lang="ja-JP" altLang="en-US" dirty="0"/>
              <a:t>順番を逆にするだけ</a:t>
            </a:r>
          </a:p>
        </p:txBody>
      </p:sp>
      <p:sp>
        <p:nvSpPr>
          <p:cNvPr id="11" name="テキスト ボックス 10">
            <a:extLst>
              <a:ext uri="{FF2B5EF4-FFF2-40B4-BE49-F238E27FC236}">
                <a16:creationId xmlns:a16="http://schemas.microsoft.com/office/drawing/2014/main" id="{F196734B-EA22-1139-9F59-2D5A8376FAFF}"/>
              </a:ext>
            </a:extLst>
          </p:cNvPr>
          <p:cNvSpPr txBox="1"/>
          <p:nvPr/>
        </p:nvSpPr>
        <p:spPr>
          <a:xfrm>
            <a:off x="1023586" y="5652141"/>
            <a:ext cx="2276795" cy="646331"/>
          </a:xfrm>
          <a:prstGeom prst="rect">
            <a:avLst/>
          </a:prstGeom>
          <a:noFill/>
        </p:spPr>
        <p:txBody>
          <a:bodyPr wrap="square" rtlCol="0">
            <a:spAutoFit/>
          </a:bodyPr>
          <a:lstStyle/>
          <a:p>
            <a:r>
              <a:rPr kumimoji="1" lang="en-US" altLang="ja-JP" dirty="0"/>
              <a:t>※</a:t>
            </a:r>
            <a:r>
              <a:rPr kumimoji="1" lang="ja-JP" altLang="en-US" dirty="0"/>
              <a:t>実際は５つの例を使います</a:t>
            </a:r>
          </a:p>
        </p:txBody>
      </p:sp>
      <p:sp>
        <p:nvSpPr>
          <p:cNvPr id="12" name="スライド番号プレースホルダー 11">
            <a:extLst>
              <a:ext uri="{FF2B5EF4-FFF2-40B4-BE49-F238E27FC236}">
                <a16:creationId xmlns:a16="http://schemas.microsoft.com/office/drawing/2014/main" id="{3771BADB-5335-E51D-48A8-03D3623986BF}"/>
              </a:ext>
            </a:extLst>
          </p:cNvPr>
          <p:cNvSpPr>
            <a:spLocks noGrp="1"/>
          </p:cNvSpPr>
          <p:nvPr>
            <p:ph type="sldNum" sz="quarter" idx="12"/>
          </p:nvPr>
        </p:nvSpPr>
        <p:spPr/>
        <p:txBody>
          <a:bodyPr/>
          <a:lstStyle/>
          <a:p>
            <a:fld id="{10649E7B-FC1B-418B-9B6A-00859DB1DEE8}" type="slidenum">
              <a:rPr kumimoji="1" lang="ja-JP" altLang="en-US" smtClean="0"/>
              <a:t>14</a:t>
            </a:fld>
            <a:endParaRPr kumimoji="1" lang="ja-JP" altLang="en-US"/>
          </a:p>
        </p:txBody>
      </p:sp>
    </p:spTree>
    <p:extLst>
      <p:ext uri="{BB962C8B-B14F-4D97-AF65-F5344CB8AC3E}">
        <p14:creationId xmlns:p14="http://schemas.microsoft.com/office/powerpoint/2010/main" val="35628382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CC8AAF-7604-12E7-DBED-A8AA0EF9AEA0}"/>
              </a:ext>
            </a:extLst>
          </p:cNvPr>
          <p:cNvSpPr>
            <a:spLocks noGrp="1"/>
          </p:cNvSpPr>
          <p:nvPr>
            <p:ph type="title"/>
          </p:nvPr>
        </p:nvSpPr>
        <p:spPr/>
        <p:txBody>
          <a:bodyPr/>
          <a:lstStyle/>
          <a:p>
            <a:r>
              <a:rPr kumimoji="1" lang="ja-JP" altLang="en-US" dirty="0"/>
              <a:t>研究方法</a:t>
            </a:r>
          </a:p>
        </p:txBody>
      </p:sp>
      <p:sp>
        <p:nvSpPr>
          <p:cNvPr id="3" name="コンテンツ プレースホルダー 2">
            <a:extLst>
              <a:ext uri="{FF2B5EF4-FFF2-40B4-BE49-F238E27FC236}">
                <a16:creationId xmlns:a16="http://schemas.microsoft.com/office/drawing/2014/main" id="{517FACB3-A2E9-BE9D-58F6-CAA1767CCA75}"/>
              </a:ext>
            </a:extLst>
          </p:cNvPr>
          <p:cNvSpPr>
            <a:spLocks noGrp="1"/>
          </p:cNvSpPr>
          <p:nvPr>
            <p:ph idx="1"/>
          </p:nvPr>
        </p:nvSpPr>
        <p:spPr/>
        <p:txBody>
          <a:bodyPr/>
          <a:lstStyle/>
          <a:p>
            <a:r>
              <a:rPr lang="ja-JP" altLang="en-US" dirty="0"/>
              <a:t>前述</a:t>
            </a:r>
            <a:r>
              <a:rPr kumimoji="1" lang="ja-JP" altLang="en-US" dirty="0"/>
              <a:t>のような簡単な処理を２０種類用意</a:t>
            </a:r>
            <a:endParaRPr kumimoji="1" lang="en-US" altLang="ja-JP" dirty="0"/>
          </a:p>
          <a:p>
            <a:endParaRPr kumimoji="1" lang="en-US" altLang="ja-JP" dirty="0"/>
          </a:p>
          <a:p>
            <a:r>
              <a:rPr lang="ja-JP" altLang="en-US" dirty="0"/>
              <a:t>問題を作るときは、簡単な処理単体とそれらのうち</a:t>
            </a:r>
            <a:r>
              <a:rPr lang="en-US" altLang="ja-JP" dirty="0"/>
              <a:t>2</a:t>
            </a:r>
            <a:r>
              <a:rPr lang="ja-JP" altLang="en-US" dirty="0"/>
              <a:t>つをくみあわせたもの</a:t>
            </a:r>
            <a:endParaRPr lang="en-US" altLang="ja-JP" dirty="0"/>
          </a:p>
          <a:p>
            <a:endParaRPr lang="en-US" altLang="ja-JP" dirty="0"/>
          </a:p>
          <a:p>
            <a:r>
              <a:rPr kumimoji="1" lang="ja-JP" altLang="en-US" dirty="0"/>
              <a:t>全部を組み合わせるのではなく、実際には処理単体の</a:t>
            </a:r>
            <a:r>
              <a:rPr kumimoji="1" lang="en-US" altLang="ja-JP" dirty="0"/>
              <a:t>20</a:t>
            </a:r>
            <a:r>
              <a:rPr kumimoji="1" lang="ja-JP" altLang="en-US" dirty="0"/>
              <a:t>種類と、組み合わせた処理を</a:t>
            </a:r>
            <a:r>
              <a:rPr kumimoji="1" lang="en-US" altLang="ja-JP" dirty="0"/>
              <a:t>5</a:t>
            </a:r>
            <a:r>
              <a:rPr lang="en-US" altLang="ja-JP" dirty="0"/>
              <a:t>2</a:t>
            </a:r>
            <a:r>
              <a:rPr kumimoji="1" lang="ja-JP" altLang="en-US" dirty="0"/>
              <a:t>種類用意</a:t>
            </a:r>
            <a:endParaRPr kumimoji="1" lang="en-US" altLang="ja-JP" dirty="0"/>
          </a:p>
          <a:p>
            <a:endParaRPr lang="en-US" altLang="ja-JP" dirty="0"/>
          </a:p>
          <a:p>
            <a:r>
              <a:rPr lang="ja-JP" altLang="en-US" dirty="0"/>
              <a:t>全体で</a:t>
            </a:r>
            <a:r>
              <a:rPr lang="en-US" altLang="ja-JP" dirty="0"/>
              <a:t>72</a:t>
            </a:r>
            <a:r>
              <a:rPr lang="ja-JP" altLang="en-US" dirty="0"/>
              <a:t>種類のルール</a:t>
            </a:r>
            <a:endParaRPr kumimoji="1" lang="ja-JP" altLang="en-US" dirty="0"/>
          </a:p>
        </p:txBody>
      </p:sp>
      <p:sp>
        <p:nvSpPr>
          <p:cNvPr id="7" name="スライド番号プレースホルダー 6">
            <a:extLst>
              <a:ext uri="{FF2B5EF4-FFF2-40B4-BE49-F238E27FC236}">
                <a16:creationId xmlns:a16="http://schemas.microsoft.com/office/drawing/2014/main" id="{5661278E-6E6F-0F9A-13E9-DB8B232991DB}"/>
              </a:ext>
            </a:extLst>
          </p:cNvPr>
          <p:cNvSpPr>
            <a:spLocks noGrp="1"/>
          </p:cNvSpPr>
          <p:nvPr>
            <p:ph type="sldNum" sz="quarter" idx="12"/>
          </p:nvPr>
        </p:nvSpPr>
        <p:spPr/>
        <p:txBody>
          <a:bodyPr/>
          <a:lstStyle/>
          <a:p>
            <a:fld id="{10649E7B-FC1B-418B-9B6A-00859DB1DEE8}" type="slidenum">
              <a:rPr kumimoji="1" lang="ja-JP" altLang="en-US" smtClean="0"/>
              <a:t>15</a:t>
            </a:fld>
            <a:endParaRPr kumimoji="1" lang="ja-JP" altLang="en-US"/>
          </a:p>
        </p:txBody>
      </p:sp>
    </p:spTree>
    <p:extLst>
      <p:ext uri="{BB962C8B-B14F-4D97-AF65-F5344CB8AC3E}">
        <p14:creationId xmlns:p14="http://schemas.microsoft.com/office/powerpoint/2010/main" val="2795965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28B54E-846A-CC68-EF4C-091F126A1397}"/>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8ED1B3E0-B287-0E7B-D024-A0EE97C8BF53}"/>
              </a:ext>
            </a:extLst>
          </p:cNvPr>
          <p:cNvSpPr>
            <a:spLocks noGrp="1"/>
          </p:cNvSpPr>
          <p:nvPr>
            <p:ph idx="1"/>
          </p:nvPr>
        </p:nvSpPr>
        <p:spPr/>
        <p:txBody>
          <a:bodyPr/>
          <a:lstStyle/>
          <a:p>
            <a:r>
              <a:rPr kumimoji="1" lang="ja-JP" altLang="en-US" dirty="0"/>
              <a:t>訓練用のデータ</a:t>
            </a:r>
            <a:endParaRPr kumimoji="1" lang="en-US" altLang="ja-JP" dirty="0"/>
          </a:p>
          <a:p>
            <a:pPr lvl="1"/>
            <a:r>
              <a:rPr lang="ja-JP" altLang="en-US" dirty="0"/>
              <a:t>問題文と答えだけのセット</a:t>
            </a:r>
            <a:endParaRPr lang="en-US" altLang="ja-JP" dirty="0"/>
          </a:p>
          <a:p>
            <a:pPr lvl="1"/>
            <a:r>
              <a:rPr kumimoji="1" lang="ja-JP" altLang="en-US" dirty="0"/>
              <a:t>処理の過程を答えの部分に含めたもの</a:t>
            </a:r>
          </a:p>
        </p:txBody>
      </p:sp>
      <p:sp>
        <p:nvSpPr>
          <p:cNvPr id="7" name="スライド番号プレースホルダー 6">
            <a:extLst>
              <a:ext uri="{FF2B5EF4-FFF2-40B4-BE49-F238E27FC236}">
                <a16:creationId xmlns:a16="http://schemas.microsoft.com/office/drawing/2014/main" id="{18721A68-7548-9ECB-9266-57577E546E2E}"/>
              </a:ext>
            </a:extLst>
          </p:cNvPr>
          <p:cNvSpPr>
            <a:spLocks noGrp="1"/>
          </p:cNvSpPr>
          <p:nvPr>
            <p:ph type="sldNum" sz="quarter" idx="12"/>
          </p:nvPr>
        </p:nvSpPr>
        <p:spPr/>
        <p:txBody>
          <a:bodyPr/>
          <a:lstStyle/>
          <a:p>
            <a:fld id="{10649E7B-FC1B-418B-9B6A-00859DB1DEE8}" type="slidenum">
              <a:rPr kumimoji="1" lang="ja-JP" altLang="en-US" smtClean="0"/>
              <a:t>16</a:t>
            </a:fld>
            <a:endParaRPr kumimoji="1" lang="ja-JP" altLang="en-US"/>
          </a:p>
        </p:txBody>
      </p:sp>
    </p:spTree>
    <p:extLst>
      <p:ext uri="{BB962C8B-B14F-4D97-AF65-F5344CB8AC3E}">
        <p14:creationId xmlns:p14="http://schemas.microsoft.com/office/powerpoint/2010/main" val="4797392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3DBF9F7-35B9-7859-A281-38155B7BF201}"/>
              </a:ext>
            </a:extLst>
          </p:cNvPr>
          <p:cNvSpPr>
            <a:spLocks noGrp="1"/>
          </p:cNvSpPr>
          <p:nvPr>
            <p:ph type="title"/>
          </p:nvPr>
        </p:nvSpPr>
        <p:spPr>
          <a:xfrm>
            <a:off x="838201" y="-178127"/>
            <a:ext cx="10515600" cy="1325563"/>
          </a:xfrm>
        </p:spPr>
        <p:txBody>
          <a:bodyPr/>
          <a:lstStyle/>
          <a:p>
            <a:r>
              <a:rPr lang="ja-JP" altLang="en-US" dirty="0"/>
              <a:t>処理の過程を答えの部分に含めたもの</a:t>
            </a:r>
            <a:endParaRPr kumimoji="1" lang="ja-JP" altLang="en-US" dirty="0"/>
          </a:p>
        </p:txBody>
      </p:sp>
      <p:sp>
        <p:nvSpPr>
          <p:cNvPr id="4" name="四角形: 角を丸くする 3">
            <a:extLst>
              <a:ext uri="{FF2B5EF4-FFF2-40B4-BE49-F238E27FC236}">
                <a16:creationId xmlns:a16="http://schemas.microsoft.com/office/drawing/2014/main" id="{9FA464A1-DC7E-EF42-D016-35B9CEA99DFE}"/>
              </a:ext>
            </a:extLst>
          </p:cNvPr>
          <p:cNvSpPr/>
          <p:nvPr/>
        </p:nvSpPr>
        <p:spPr>
          <a:xfrm>
            <a:off x="724157" y="724155"/>
            <a:ext cx="5005675" cy="6057133"/>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kumimoji="1" lang="en-US" altLang="ja-JP" dirty="0"/>
              <a:t>Infer the transformation rule from examples.</a:t>
            </a:r>
          </a:p>
          <a:p>
            <a:r>
              <a:rPr kumimoji="1" lang="en-US" altLang="ja-JP" dirty="0"/>
              <a:t>Output the final array.</a:t>
            </a:r>
          </a:p>
          <a:p>
            <a:r>
              <a:rPr kumimoji="1" lang="en-US" altLang="ja-JP" dirty="0"/>
              <a:t>        </a:t>
            </a:r>
          </a:p>
          <a:p>
            <a:r>
              <a:rPr kumimoji="1" lang="en-US" altLang="ja-JP" dirty="0"/>
              <a:t>Example 1</a:t>
            </a:r>
          </a:p>
          <a:p>
            <a:r>
              <a:rPr kumimoji="1" lang="en-US" altLang="ja-JP" dirty="0"/>
              <a:t>Input:</a:t>
            </a:r>
          </a:p>
          <a:p>
            <a:r>
              <a:rPr kumimoji="1" lang="en-US" altLang="ja-JP" dirty="0"/>
              <a:t>[8, 9, 1, 4, 4]</a:t>
            </a:r>
          </a:p>
          <a:p>
            <a:r>
              <a:rPr kumimoji="1" lang="en-US" altLang="ja-JP" dirty="0"/>
              <a:t>Output:</a:t>
            </a:r>
          </a:p>
          <a:p>
            <a:r>
              <a:rPr kumimoji="1" lang="en-US" altLang="ja-JP" dirty="0"/>
              <a:t>[5, 5, 2, 10, 9]</a:t>
            </a:r>
          </a:p>
          <a:p>
            <a:endParaRPr kumimoji="1" lang="en-US" altLang="ja-JP" dirty="0"/>
          </a:p>
          <a:p>
            <a:r>
              <a:rPr kumimoji="1" lang="en-US" altLang="ja-JP" dirty="0"/>
              <a:t>Example 2</a:t>
            </a:r>
          </a:p>
          <a:p>
            <a:r>
              <a:rPr kumimoji="1" lang="en-US" altLang="ja-JP" dirty="0"/>
              <a:t>Input:</a:t>
            </a:r>
          </a:p>
          <a:p>
            <a:r>
              <a:rPr kumimoji="1" lang="en-US" altLang="ja-JP" dirty="0"/>
              <a:t>[4, 7, 3, 3, 6, 4, 4, 6]</a:t>
            </a:r>
          </a:p>
          <a:p>
            <a:r>
              <a:rPr kumimoji="1" lang="en-US" altLang="ja-JP" dirty="0"/>
              <a:t>Output:</a:t>
            </a:r>
          </a:p>
          <a:p>
            <a:r>
              <a:rPr kumimoji="1" lang="en-US" altLang="ja-JP" dirty="0"/>
              <a:t>[7, 5, 5, 7, 4, 4, 8, 5]</a:t>
            </a:r>
          </a:p>
          <a:p>
            <a:endParaRPr kumimoji="1" lang="en-US" altLang="ja-JP" dirty="0"/>
          </a:p>
          <a:p>
            <a:r>
              <a:rPr kumimoji="1" lang="en-US" altLang="ja-JP" dirty="0"/>
              <a:t>Query</a:t>
            </a:r>
          </a:p>
          <a:p>
            <a:r>
              <a:rPr kumimoji="1" lang="en-US" altLang="ja-JP" dirty="0"/>
              <a:t>Input:</a:t>
            </a:r>
          </a:p>
          <a:p>
            <a:r>
              <a:rPr kumimoji="1" lang="en-US" altLang="ja-JP" dirty="0"/>
              <a:t>[9, 6, 0, 8, 8, 4, 0, 1, 9]</a:t>
            </a:r>
          </a:p>
          <a:p>
            <a:r>
              <a:rPr kumimoji="1" lang="en-US" altLang="ja-JP" dirty="0"/>
              <a:t>Output:</a:t>
            </a:r>
          </a:p>
        </p:txBody>
      </p:sp>
      <p:sp>
        <p:nvSpPr>
          <p:cNvPr id="5" name="四角形: 角を丸くする 4">
            <a:extLst>
              <a:ext uri="{FF2B5EF4-FFF2-40B4-BE49-F238E27FC236}">
                <a16:creationId xmlns:a16="http://schemas.microsoft.com/office/drawing/2014/main" id="{F56C9E3A-7088-6F5B-FBB2-648AAB1FCC28}"/>
              </a:ext>
            </a:extLst>
          </p:cNvPr>
          <p:cNvSpPr/>
          <p:nvPr/>
        </p:nvSpPr>
        <p:spPr>
          <a:xfrm>
            <a:off x="6462169" y="724155"/>
            <a:ext cx="5005675" cy="6057133"/>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r>
              <a:rPr kumimoji="1" lang="en-US" altLang="ja-JP" dirty="0"/>
              <a:t>Example 1:</a:t>
            </a:r>
          </a:p>
          <a:p>
            <a:r>
              <a:rPr kumimoji="1" lang="en-US" altLang="ja-JP" dirty="0"/>
              <a:t>Input: [8, 9, 1, 4, 4]</a:t>
            </a:r>
          </a:p>
          <a:p>
            <a:r>
              <a:rPr kumimoji="1" lang="en-US" altLang="ja-JP" dirty="0"/>
              <a:t>Step 1 (reverse): [4, 4, 1, 9, 8]</a:t>
            </a:r>
          </a:p>
          <a:p>
            <a:r>
              <a:rPr kumimoji="1" lang="en-US" altLang="ja-JP" dirty="0"/>
              <a:t>Step 2 (add_1): [5, 5, 2, 10, 9]</a:t>
            </a:r>
          </a:p>
          <a:p>
            <a:r>
              <a:rPr kumimoji="1" lang="en-US" altLang="ja-JP" dirty="0"/>
              <a:t>Output: [5, 5, 2, 10, 9]</a:t>
            </a:r>
          </a:p>
          <a:p>
            <a:endParaRPr kumimoji="1" lang="en-US" altLang="ja-JP" dirty="0"/>
          </a:p>
          <a:p>
            <a:r>
              <a:rPr kumimoji="1" lang="en-US" altLang="ja-JP" dirty="0"/>
              <a:t>Example 2:</a:t>
            </a:r>
          </a:p>
          <a:p>
            <a:r>
              <a:rPr kumimoji="1" lang="en-US" altLang="ja-JP" dirty="0"/>
              <a:t>Input: [4, 7, 3, 3, 6, 4, 4, 6]</a:t>
            </a:r>
          </a:p>
          <a:p>
            <a:r>
              <a:rPr kumimoji="1" lang="en-US" altLang="ja-JP" dirty="0"/>
              <a:t>Step 1 (reverse): [6, 4, 4, 6, 3, 3, 7, 4]</a:t>
            </a:r>
          </a:p>
          <a:p>
            <a:r>
              <a:rPr kumimoji="1" lang="en-US" altLang="ja-JP" dirty="0"/>
              <a:t>Step 2 (add_1): [7, 5, 5, 7, 4, 4, 8, 5]</a:t>
            </a:r>
          </a:p>
          <a:p>
            <a:r>
              <a:rPr kumimoji="1" lang="en-US" altLang="ja-JP" dirty="0"/>
              <a:t>Output: [7, 5, 5, 7, 4, 4, 8, 5]</a:t>
            </a:r>
          </a:p>
          <a:p>
            <a:endParaRPr kumimoji="1" lang="en-US" altLang="ja-JP" dirty="0"/>
          </a:p>
          <a:p>
            <a:r>
              <a:rPr kumimoji="1" lang="en-US" altLang="ja-JP" dirty="0"/>
              <a:t>Query :</a:t>
            </a:r>
          </a:p>
          <a:p>
            <a:r>
              <a:rPr kumimoji="1" lang="en-US" altLang="ja-JP" dirty="0"/>
              <a:t>Input: [9, 6, 0, 8, 8, 4, 0, 1, 9]</a:t>
            </a:r>
          </a:p>
          <a:p>
            <a:r>
              <a:rPr kumimoji="1" lang="en-US" altLang="ja-JP" dirty="0"/>
              <a:t>Step 1 (reverse): [9, 1, 0, 4, 8, 8, 0, 6, 9]</a:t>
            </a:r>
          </a:p>
          <a:p>
            <a:r>
              <a:rPr kumimoji="1" lang="en-US" altLang="ja-JP" dirty="0"/>
              <a:t>Step 2 (add_1): [10, 2, 1, 5, 9, 9, 1, 7, 10]</a:t>
            </a:r>
          </a:p>
          <a:p>
            <a:r>
              <a:rPr kumimoji="1" lang="en-US" altLang="ja-JP" dirty="0"/>
              <a:t>Final Answer: [10, 2, 1, 5, 9, 9, 1, 7, 10]</a:t>
            </a:r>
            <a:endParaRPr kumimoji="1" lang="ja-JP" altLang="en-US" dirty="0"/>
          </a:p>
        </p:txBody>
      </p:sp>
      <p:sp>
        <p:nvSpPr>
          <p:cNvPr id="6" name="テキスト ボックス 5">
            <a:extLst>
              <a:ext uri="{FF2B5EF4-FFF2-40B4-BE49-F238E27FC236}">
                <a16:creationId xmlns:a16="http://schemas.microsoft.com/office/drawing/2014/main" id="{A8AC5A71-80A7-A81E-9053-6CD5BF01C61F}"/>
              </a:ext>
            </a:extLst>
          </p:cNvPr>
          <p:cNvSpPr txBox="1"/>
          <p:nvPr/>
        </p:nvSpPr>
        <p:spPr>
          <a:xfrm>
            <a:off x="5588169" y="1914717"/>
            <a:ext cx="738664" cy="3590094"/>
          </a:xfrm>
          <a:prstGeom prst="rect">
            <a:avLst/>
          </a:prstGeom>
          <a:noFill/>
        </p:spPr>
        <p:txBody>
          <a:bodyPr vert="eaVert" wrap="square" rtlCol="0">
            <a:spAutoFit/>
          </a:bodyPr>
          <a:lstStyle/>
          <a:p>
            <a:r>
              <a:rPr lang="en-US" altLang="ja-JP" dirty="0"/>
              <a:t>※</a:t>
            </a:r>
            <a:r>
              <a:rPr lang="ja-JP" altLang="en-US" dirty="0"/>
              <a:t>実際は５つの例を使います</a:t>
            </a:r>
          </a:p>
          <a:p>
            <a:endParaRPr kumimoji="1" lang="ja-JP" altLang="en-US" dirty="0"/>
          </a:p>
        </p:txBody>
      </p:sp>
      <p:sp>
        <p:nvSpPr>
          <p:cNvPr id="9" name="スライド番号プレースホルダー 8">
            <a:extLst>
              <a:ext uri="{FF2B5EF4-FFF2-40B4-BE49-F238E27FC236}">
                <a16:creationId xmlns:a16="http://schemas.microsoft.com/office/drawing/2014/main" id="{DEBC53A1-4340-00B3-3815-E19B445A14A5}"/>
              </a:ext>
            </a:extLst>
          </p:cNvPr>
          <p:cNvSpPr>
            <a:spLocks noGrp="1"/>
          </p:cNvSpPr>
          <p:nvPr>
            <p:ph type="sldNum" sz="quarter" idx="12"/>
          </p:nvPr>
        </p:nvSpPr>
        <p:spPr/>
        <p:txBody>
          <a:bodyPr/>
          <a:lstStyle/>
          <a:p>
            <a:fld id="{10649E7B-FC1B-418B-9B6A-00859DB1DEE8}" type="slidenum">
              <a:rPr kumimoji="1" lang="ja-JP" altLang="en-US" smtClean="0"/>
              <a:t>17</a:t>
            </a:fld>
            <a:endParaRPr kumimoji="1" lang="ja-JP" altLang="en-US"/>
          </a:p>
        </p:txBody>
      </p:sp>
    </p:spTree>
    <p:extLst>
      <p:ext uri="{BB962C8B-B14F-4D97-AF65-F5344CB8AC3E}">
        <p14:creationId xmlns:p14="http://schemas.microsoft.com/office/powerpoint/2010/main" val="11862731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3048C-70BD-AB72-5FB4-3A7298ECB6AE}"/>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7CB49918-B0B8-12D5-AAC6-AB76E3C6E15B}"/>
              </a:ext>
            </a:extLst>
          </p:cNvPr>
          <p:cNvSpPr>
            <a:spLocks noGrp="1"/>
          </p:cNvSpPr>
          <p:nvPr>
            <p:ph idx="1"/>
          </p:nvPr>
        </p:nvSpPr>
        <p:spPr/>
        <p:txBody>
          <a:bodyPr/>
          <a:lstStyle/>
          <a:p>
            <a:r>
              <a:rPr lang="ja-JP" altLang="en-US" dirty="0"/>
              <a:t>訓練用のデータその</a:t>
            </a:r>
            <a:r>
              <a:rPr lang="en-US" altLang="ja-JP" dirty="0"/>
              <a:t>1</a:t>
            </a:r>
          </a:p>
          <a:p>
            <a:pPr lvl="1"/>
            <a:r>
              <a:rPr lang="ja-JP" altLang="en-US" dirty="0"/>
              <a:t>問題文と答えだけ</a:t>
            </a:r>
            <a:r>
              <a:rPr lang="ja-JP" altLang="en-US"/>
              <a:t>のセット</a:t>
            </a:r>
            <a:endParaRPr lang="ja-JP" altLang="en-US" dirty="0"/>
          </a:p>
          <a:p>
            <a:pPr lvl="1"/>
            <a:r>
              <a:rPr kumimoji="1" lang="ja-JP" altLang="en-US" dirty="0"/>
              <a:t>ルールの種類は全部で</a:t>
            </a:r>
            <a:r>
              <a:rPr kumimoji="1" lang="en-US" altLang="ja-JP" dirty="0"/>
              <a:t>72</a:t>
            </a:r>
            <a:r>
              <a:rPr kumimoji="1" lang="ja-JP" altLang="en-US" dirty="0"/>
              <a:t>種類</a:t>
            </a:r>
            <a:endParaRPr kumimoji="1" lang="en-US" altLang="ja-JP" dirty="0"/>
          </a:p>
          <a:p>
            <a:pPr lvl="1"/>
            <a:r>
              <a:rPr lang="en-US" altLang="ja-JP" dirty="0"/>
              <a:t>1</a:t>
            </a:r>
            <a:r>
              <a:rPr lang="ja-JP" altLang="en-US" dirty="0"/>
              <a:t>つのルールにつき</a:t>
            </a:r>
            <a:r>
              <a:rPr lang="en-US" altLang="ja-JP" dirty="0"/>
              <a:t>50</a:t>
            </a:r>
            <a:r>
              <a:rPr lang="ja-JP" altLang="en-US" dirty="0"/>
              <a:t>問</a:t>
            </a:r>
            <a:endParaRPr lang="en-US" altLang="ja-JP" dirty="0"/>
          </a:p>
          <a:p>
            <a:pPr lvl="1"/>
            <a:r>
              <a:rPr kumimoji="1" lang="ja-JP" altLang="en-US" dirty="0"/>
              <a:t>全部で</a:t>
            </a:r>
            <a:r>
              <a:rPr kumimoji="1" lang="en-US" altLang="ja-JP" dirty="0"/>
              <a:t>3600</a:t>
            </a:r>
            <a:r>
              <a:rPr kumimoji="1" lang="ja-JP" altLang="en-US" dirty="0"/>
              <a:t>問</a:t>
            </a:r>
            <a:endParaRPr kumimoji="1" lang="en-US" altLang="ja-JP" dirty="0"/>
          </a:p>
          <a:p>
            <a:r>
              <a:rPr lang="ja-JP" altLang="en-US" dirty="0"/>
              <a:t>訓練用のデータその</a:t>
            </a:r>
            <a:r>
              <a:rPr lang="en-US" altLang="ja-JP" dirty="0"/>
              <a:t>2</a:t>
            </a:r>
          </a:p>
          <a:p>
            <a:pPr lvl="1"/>
            <a:r>
              <a:rPr lang="ja-JP" altLang="en-US" dirty="0"/>
              <a:t>処理の過程を答えの部分に含めたもの</a:t>
            </a:r>
            <a:endParaRPr lang="en-US" altLang="ja-JP" dirty="0"/>
          </a:p>
          <a:p>
            <a:pPr lvl="1"/>
            <a:r>
              <a:rPr kumimoji="1" lang="ja-JP" altLang="en-US" dirty="0">
                <a:solidFill>
                  <a:srgbClr val="FF0000"/>
                </a:solidFill>
              </a:rPr>
              <a:t>あとは全部同じ</a:t>
            </a:r>
            <a:endParaRPr kumimoji="1" lang="en-US" altLang="ja-JP" dirty="0">
              <a:solidFill>
                <a:srgbClr val="FF0000"/>
              </a:solidFill>
            </a:endParaRPr>
          </a:p>
          <a:p>
            <a:pPr lvl="1"/>
            <a:endParaRPr kumimoji="1" lang="ja-JP" altLang="en-US" dirty="0"/>
          </a:p>
        </p:txBody>
      </p:sp>
      <p:sp>
        <p:nvSpPr>
          <p:cNvPr id="7" name="スライド番号プレースホルダー 6">
            <a:extLst>
              <a:ext uri="{FF2B5EF4-FFF2-40B4-BE49-F238E27FC236}">
                <a16:creationId xmlns:a16="http://schemas.microsoft.com/office/drawing/2014/main" id="{7854548C-5AEC-242E-9B89-31DA1338A7CE}"/>
              </a:ext>
            </a:extLst>
          </p:cNvPr>
          <p:cNvSpPr>
            <a:spLocks noGrp="1"/>
          </p:cNvSpPr>
          <p:nvPr>
            <p:ph type="sldNum" sz="quarter" idx="12"/>
          </p:nvPr>
        </p:nvSpPr>
        <p:spPr/>
        <p:txBody>
          <a:bodyPr/>
          <a:lstStyle/>
          <a:p>
            <a:fld id="{10649E7B-FC1B-418B-9B6A-00859DB1DEE8}" type="slidenum">
              <a:rPr kumimoji="1" lang="ja-JP" altLang="en-US" smtClean="0"/>
              <a:t>18</a:t>
            </a:fld>
            <a:endParaRPr kumimoji="1" lang="ja-JP" altLang="en-US"/>
          </a:p>
        </p:txBody>
      </p:sp>
    </p:spTree>
    <p:extLst>
      <p:ext uri="{BB962C8B-B14F-4D97-AF65-F5344CB8AC3E}">
        <p14:creationId xmlns:p14="http://schemas.microsoft.com/office/powerpoint/2010/main" val="6308043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AD7FEA-0EC6-FE23-7CBE-8C7C467BED68}"/>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82228218-5065-32B3-ABA3-14BE6C48839D}"/>
              </a:ext>
            </a:extLst>
          </p:cNvPr>
          <p:cNvSpPr>
            <a:spLocks noGrp="1"/>
          </p:cNvSpPr>
          <p:nvPr>
            <p:ph idx="1"/>
          </p:nvPr>
        </p:nvSpPr>
        <p:spPr/>
        <p:txBody>
          <a:bodyPr>
            <a:normAutofit/>
          </a:bodyPr>
          <a:lstStyle/>
          <a:p>
            <a:r>
              <a:rPr lang="ja-JP" altLang="en-US" dirty="0"/>
              <a:t>テストデータその</a:t>
            </a:r>
            <a:r>
              <a:rPr lang="en-US" altLang="ja-JP" dirty="0"/>
              <a:t>1</a:t>
            </a:r>
          </a:p>
          <a:p>
            <a:pPr lvl="1"/>
            <a:r>
              <a:rPr lang="ja-JP" altLang="en-US" dirty="0"/>
              <a:t>訓練用のデータの問題と同じ処理単体と同じ組み合わせで</a:t>
            </a:r>
            <a:r>
              <a:rPr lang="en-US" altLang="ja-JP" dirty="0"/>
              <a:t>10</a:t>
            </a:r>
            <a:r>
              <a:rPr lang="ja-JP" altLang="en-US" dirty="0"/>
              <a:t>問ずつ</a:t>
            </a:r>
            <a:endParaRPr lang="en-US" altLang="ja-JP" dirty="0"/>
          </a:p>
          <a:p>
            <a:pPr lvl="1"/>
            <a:r>
              <a:rPr lang="ja-JP" altLang="en-US" dirty="0"/>
              <a:t>全部で</a:t>
            </a:r>
            <a:r>
              <a:rPr lang="en-US" altLang="ja-JP" dirty="0"/>
              <a:t>720</a:t>
            </a:r>
            <a:r>
              <a:rPr lang="ja-JP" altLang="en-US" dirty="0"/>
              <a:t>問</a:t>
            </a:r>
            <a:endParaRPr lang="en-US" altLang="ja-JP" dirty="0"/>
          </a:p>
          <a:p>
            <a:r>
              <a:rPr lang="ja-JP" altLang="en-US" dirty="0"/>
              <a:t>テストデータその</a:t>
            </a:r>
            <a:r>
              <a:rPr lang="en-US" altLang="ja-JP" dirty="0"/>
              <a:t>2</a:t>
            </a:r>
          </a:p>
          <a:p>
            <a:pPr lvl="1"/>
            <a:r>
              <a:rPr lang="ja-JP" altLang="ja-JP" dirty="0"/>
              <a:t>処理単体としては同じだけど</a:t>
            </a:r>
            <a:r>
              <a:rPr lang="ja-JP" altLang="en-US" dirty="0"/>
              <a:t>訓練用のデータでは出なかった組み合わせを</a:t>
            </a:r>
            <a:r>
              <a:rPr lang="en-US" altLang="ja-JP" dirty="0"/>
              <a:t>10</a:t>
            </a:r>
            <a:r>
              <a:rPr lang="ja-JP" altLang="en-US" dirty="0"/>
              <a:t>問ずつ</a:t>
            </a:r>
            <a:endParaRPr lang="en-US" altLang="ja-JP" dirty="0"/>
          </a:p>
          <a:p>
            <a:pPr lvl="1"/>
            <a:r>
              <a:rPr lang="ja-JP" altLang="en-US" dirty="0"/>
              <a:t>ルールの種類は</a:t>
            </a:r>
            <a:r>
              <a:rPr lang="en-US" altLang="ja-JP" dirty="0"/>
              <a:t>48</a:t>
            </a:r>
            <a:r>
              <a:rPr lang="ja-JP" altLang="en-US" dirty="0"/>
              <a:t>種類</a:t>
            </a:r>
            <a:endParaRPr lang="en-US" altLang="ja-JP" dirty="0"/>
          </a:p>
          <a:p>
            <a:pPr lvl="1"/>
            <a:r>
              <a:rPr lang="ja-JP" altLang="en-US" dirty="0"/>
              <a:t>全部の問題が</a:t>
            </a:r>
            <a:r>
              <a:rPr lang="en-US" altLang="ja-JP" dirty="0"/>
              <a:t>2</a:t>
            </a:r>
            <a:r>
              <a:rPr lang="ja-JP" altLang="en-US" dirty="0"/>
              <a:t>つの処理の組み合わせ</a:t>
            </a:r>
            <a:endParaRPr lang="en-US" altLang="ja-JP" dirty="0"/>
          </a:p>
          <a:p>
            <a:pPr lvl="1"/>
            <a:r>
              <a:rPr lang="ja-JP" altLang="en-US" dirty="0">
                <a:solidFill>
                  <a:srgbClr val="FF0000"/>
                </a:solidFill>
              </a:rPr>
              <a:t>全部で</a:t>
            </a:r>
            <a:r>
              <a:rPr lang="en-US" altLang="ja-JP" dirty="0">
                <a:solidFill>
                  <a:srgbClr val="FF0000"/>
                </a:solidFill>
              </a:rPr>
              <a:t>480</a:t>
            </a:r>
            <a:r>
              <a:rPr lang="ja-JP" altLang="en-US" dirty="0">
                <a:solidFill>
                  <a:srgbClr val="FF0000"/>
                </a:solidFill>
              </a:rPr>
              <a:t>問</a:t>
            </a:r>
            <a:endParaRPr lang="en-US" altLang="ja-JP" dirty="0">
              <a:solidFill>
                <a:srgbClr val="FF0000"/>
              </a:solidFill>
            </a:endParaRPr>
          </a:p>
          <a:p>
            <a:endParaRPr kumimoji="1" lang="ja-JP" altLang="en-US" dirty="0"/>
          </a:p>
        </p:txBody>
      </p:sp>
      <p:sp>
        <p:nvSpPr>
          <p:cNvPr id="7" name="スライド番号プレースホルダー 6">
            <a:extLst>
              <a:ext uri="{FF2B5EF4-FFF2-40B4-BE49-F238E27FC236}">
                <a16:creationId xmlns:a16="http://schemas.microsoft.com/office/drawing/2014/main" id="{FAF1A290-0D02-0678-26FA-CBBE52D54C4F}"/>
              </a:ext>
            </a:extLst>
          </p:cNvPr>
          <p:cNvSpPr>
            <a:spLocks noGrp="1"/>
          </p:cNvSpPr>
          <p:nvPr>
            <p:ph type="sldNum" sz="quarter" idx="12"/>
          </p:nvPr>
        </p:nvSpPr>
        <p:spPr/>
        <p:txBody>
          <a:bodyPr/>
          <a:lstStyle/>
          <a:p>
            <a:fld id="{10649E7B-FC1B-418B-9B6A-00859DB1DEE8}" type="slidenum">
              <a:rPr kumimoji="1" lang="ja-JP" altLang="en-US" smtClean="0"/>
              <a:t>19</a:t>
            </a:fld>
            <a:endParaRPr kumimoji="1" lang="ja-JP" altLang="en-US"/>
          </a:p>
        </p:txBody>
      </p:sp>
    </p:spTree>
    <p:extLst>
      <p:ext uri="{BB962C8B-B14F-4D97-AF65-F5344CB8AC3E}">
        <p14:creationId xmlns:p14="http://schemas.microsoft.com/office/powerpoint/2010/main" val="19572651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16D31E-A5EE-23C4-F54C-70F14FF6C2DA}"/>
              </a:ext>
            </a:extLst>
          </p:cNvPr>
          <p:cNvSpPr>
            <a:spLocks noGrp="1"/>
          </p:cNvSpPr>
          <p:nvPr>
            <p:ph type="title"/>
          </p:nvPr>
        </p:nvSpPr>
        <p:spPr/>
        <p:txBody>
          <a:bodyPr/>
          <a:lstStyle/>
          <a:p>
            <a:r>
              <a:rPr kumimoji="1" lang="ja-JP" altLang="en-US" dirty="0"/>
              <a:t>研究方法</a:t>
            </a:r>
            <a:r>
              <a:rPr kumimoji="1" lang="en-US" altLang="ja-JP" dirty="0"/>
              <a:t>(</a:t>
            </a:r>
            <a:r>
              <a:rPr kumimoji="1" lang="ja-JP" altLang="en-US" dirty="0"/>
              <a:t>モデルと学習手法</a:t>
            </a:r>
            <a:r>
              <a:rPr kumimoji="1" lang="en-US" altLang="ja-JP" dirty="0"/>
              <a:t>)</a:t>
            </a:r>
            <a:endParaRPr kumimoji="1" lang="ja-JP" altLang="en-US" dirty="0"/>
          </a:p>
        </p:txBody>
      </p:sp>
      <p:sp>
        <p:nvSpPr>
          <p:cNvPr id="3" name="コンテンツ プレースホルダー 2">
            <a:extLst>
              <a:ext uri="{FF2B5EF4-FFF2-40B4-BE49-F238E27FC236}">
                <a16:creationId xmlns:a16="http://schemas.microsoft.com/office/drawing/2014/main" id="{00BCF77C-138A-4D71-F231-909965A04834}"/>
              </a:ext>
            </a:extLst>
          </p:cNvPr>
          <p:cNvSpPr>
            <a:spLocks noGrp="1"/>
          </p:cNvSpPr>
          <p:nvPr>
            <p:ph idx="1"/>
          </p:nvPr>
        </p:nvSpPr>
        <p:spPr>
          <a:xfrm>
            <a:off x="838200" y="1825625"/>
            <a:ext cx="10515600" cy="4581312"/>
          </a:xfrm>
        </p:spPr>
        <p:txBody>
          <a:bodyPr>
            <a:normAutofit/>
          </a:bodyPr>
          <a:lstStyle/>
          <a:p>
            <a:r>
              <a:rPr lang="en-US" altLang="ja-JP" dirty="0"/>
              <a:t>Qwen3-4b</a:t>
            </a:r>
            <a:r>
              <a:rPr lang="en-US" altLang="ja-JP" baseline="30000" dirty="0"/>
              <a:t>8</a:t>
            </a:r>
            <a:r>
              <a:rPr lang="en-US" altLang="ja-JP" dirty="0"/>
              <a:t>(</a:t>
            </a:r>
            <a:r>
              <a:rPr lang="ja-JP" altLang="en-US" dirty="0"/>
              <a:t>使用するモデル</a:t>
            </a:r>
            <a:r>
              <a:rPr lang="en-US" altLang="ja-JP" dirty="0"/>
              <a:t>)</a:t>
            </a:r>
          </a:p>
          <a:p>
            <a:pPr lvl="1"/>
            <a:r>
              <a:rPr lang="en-US" altLang="ja-JP" dirty="0"/>
              <a:t>4B</a:t>
            </a:r>
            <a:r>
              <a:rPr lang="ja-JP" altLang="en-US" dirty="0"/>
              <a:t>パラメータの比較的小規模な</a:t>
            </a:r>
            <a:r>
              <a:rPr lang="en-US" altLang="ja-JP" dirty="0"/>
              <a:t>LLM </a:t>
            </a:r>
          </a:p>
          <a:p>
            <a:pPr lvl="1"/>
            <a:r>
              <a:rPr lang="ja-JP" altLang="en-US" dirty="0"/>
              <a:t>推論・問題解決能力を持つモデル </a:t>
            </a:r>
          </a:p>
          <a:p>
            <a:pPr lvl="1"/>
            <a:r>
              <a:rPr lang="ja-JP" altLang="en-US" dirty="0"/>
              <a:t>追加学習を用いた近年の研究でも採用されている </a:t>
            </a:r>
          </a:p>
          <a:p>
            <a:pPr lvl="3"/>
            <a:r>
              <a:rPr lang="ja-JP" altLang="en-US" dirty="0">
                <a:solidFill>
                  <a:srgbClr val="FF0000"/>
                </a:solidFill>
              </a:rPr>
              <a:t>引用</a:t>
            </a:r>
            <a:endParaRPr lang="en-US" altLang="ja-JP" dirty="0">
              <a:solidFill>
                <a:srgbClr val="FF0000"/>
              </a:solidFill>
            </a:endParaRPr>
          </a:p>
          <a:p>
            <a:pPr lvl="3"/>
            <a:r>
              <a:rPr lang="ja-JP" altLang="en-US" dirty="0">
                <a:solidFill>
                  <a:srgbClr val="FF0000"/>
                </a:solidFill>
              </a:rPr>
              <a:t>引用</a:t>
            </a:r>
            <a:endParaRPr lang="en-US" altLang="ja-JP" dirty="0">
              <a:solidFill>
                <a:srgbClr val="FF0000"/>
              </a:solidFill>
            </a:endParaRPr>
          </a:p>
          <a:p>
            <a:endParaRPr lang="en-US" altLang="ja-JP" dirty="0"/>
          </a:p>
          <a:p>
            <a:r>
              <a:rPr lang="en-US" altLang="ja-JP" dirty="0"/>
              <a:t>LoRA</a:t>
            </a:r>
            <a:r>
              <a:rPr lang="en-US" altLang="ja-JP" baseline="30000" dirty="0"/>
              <a:t>9</a:t>
            </a:r>
            <a:r>
              <a:rPr lang="ja-JP" altLang="en-US" dirty="0"/>
              <a:t>（</a:t>
            </a:r>
            <a:r>
              <a:rPr lang="en-US" altLang="ja-JP" dirty="0"/>
              <a:t>Low-Rank Adaptation</a:t>
            </a:r>
            <a:r>
              <a:rPr lang="ja-JP" altLang="en-US" dirty="0"/>
              <a:t>）</a:t>
            </a:r>
            <a:r>
              <a:rPr lang="en-US" altLang="ja-JP" dirty="0"/>
              <a:t>(</a:t>
            </a:r>
            <a:r>
              <a:rPr lang="ja-JP" altLang="en-US" dirty="0"/>
              <a:t>学習手法</a:t>
            </a:r>
            <a:r>
              <a:rPr lang="en-US" altLang="ja-JP" dirty="0"/>
              <a:t>)</a:t>
            </a:r>
            <a:endParaRPr lang="ja-JP" altLang="en-US" dirty="0"/>
          </a:p>
          <a:p>
            <a:pPr lvl="1"/>
            <a:r>
              <a:rPr lang="ja-JP" altLang="en-US" dirty="0"/>
              <a:t>ベースモデルのパラメータを固定 </a:t>
            </a:r>
          </a:p>
          <a:p>
            <a:pPr lvl="1"/>
            <a:r>
              <a:rPr lang="ja-JP" altLang="en-US" dirty="0"/>
              <a:t>追加した小規模なパラメータのみを学習 </a:t>
            </a:r>
          </a:p>
          <a:p>
            <a:pPr lvl="1"/>
            <a:r>
              <a:rPr lang="ja-JP" altLang="en-US" dirty="0"/>
              <a:t>計算資源を抑えながら追加学習が可能 </a:t>
            </a:r>
          </a:p>
        </p:txBody>
      </p:sp>
      <p:sp>
        <p:nvSpPr>
          <p:cNvPr id="7" name="スライド番号プレースホルダー 6">
            <a:extLst>
              <a:ext uri="{FF2B5EF4-FFF2-40B4-BE49-F238E27FC236}">
                <a16:creationId xmlns:a16="http://schemas.microsoft.com/office/drawing/2014/main" id="{3DEBCE74-92D5-17FD-334F-EECEFCD9655F}"/>
              </a:ext>
            </a:extLst>
          </p:cNvPr>
          <p:cNvSpPr>
            <a:spLocks noGrp="1"/>
          </p:cNvSpPr>
          <p:nvPr>
            <p:ph type="sldNum" sz="quarter" idx="12"/>
          </p:nvPr>
        </p:nvSpPr>
        <p:spPr/>
        <p:txBody>
          <a:bodyPr/>
          <a:lstStyle/>
          <a:p>
            <a:fld id="{10649E7B-FC1B-418B-9B6A-00859DB1DEE8}" type="slidenum">
              <a:rPr kumimoji="1" lang="ja-JP" altLang="en-US" smtClean="0"/>
              <a:t>20</a:t>
            </a:fld>
            <a:endParaRPr kumimoji="1" lang="ja-JP" altLang="en-US"/>
          </a:p>
        </p:txBody>
      </p:sp>
      <p:sp>
        <p:nvSpPr>
          <p:cNvPr id="8" name="フッター プレースホルダー 7">
            <a:extLst>
              <a:ext uri="{FF2B5EF4-FFF2-40B4-BE49-F238E27FC236}">
                <a16:creationId xmlns:a16="http://schemas.microsoft.com/office/drawing/2014/main" id="{BBDD8DBE-9470-9F25-8BED-23FBFA421258}"/>
              </a:ext>
            </a:extLst>
          </p:cNvPr>
          <p:cNvSpPr>
            <a:spLocks noGrp="1"/>
          </p:cNvSpPr>
          <p:nvPr>
            <p:ph type="ftr" sz="quarter" idx="11"/>
          </p:nvPr>
        </p:nvSpPr>
        <p:spPr>
          <a:xfrm>
            <a:off x="1115291" y="6356350"/>
            <a:ext cx="9961418" cy="365125"/>
          </a:xfrm>
        </p:spPr>
        <p:txBody>
          <a:bodyPr/>
          <a:lstStyle/>
          <a:p>
            <a:r>
              <a:rPr lang="en-US" altLang="ja-JP" dirty="0"/>
              <a:t>8.  </a:t>
            </a:r>
            <a:r>
              <a:rPr lang="ja-JP" altLang="ja-JP" dirty="0"/>
              <a:t>Yang et al. (2025). “Qwen3 Technical Report”</a:t>
            </a:r>
            <a:endParaRPr lang="en-US" altLang="ja-JP" dirty="0"/>
          </a:p>
          <a:p>
            <a:r>
              <a:rPr lang="en-US" altLang="ja-JP" dirty="0"/>
              <a:t>9.  </a:t>
            </a:r>
            <a:r>
              <a:rPr lang="ja-JP" altLang="ja-JP" dirty="0"/>
              <a:t>Hu et al. (2021). “LoRA: Low-Rank Adaptation of Large Language Models”</a:t>
            </a:r>
            <a:endParaRPr kumimoji="1" lang="ja-JP" altLang="en-US" dirty="0"/>
          </a:p>
        </p:txBody>
      </p:sp>
    </p:spTree>
    <p:extLst>
      <p:ext uri="{BB962C8B-B14F-4D97-AF65-F5344CB8AC3E}">
        <p14:creationId xmlns:p14="http://schemas.microsoft.com/office/powerpoint/2010/main" val="27066317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9C3507-C858-E7FB-8C2B-B137888B6CBE}"/>
              </a:ext>
            </a:extLst>
          </p:cNvPr>
          <p:cNvSpPr>
            <a:spLocks noGrp="1"/>
          </p:cNvSpPr>
          <p:nvPr>
            <p:ph type="title"/>
          </p:nvPr>
        </p:nvSpPr>
        <p:spPr/>
        <p:txBody>
          <a:bodyPr/>
          <a:lstStyle/>
          <a:p>
            <a:r>
              <a:rPr kumimoji="1" lang="ja-JP" altLang="en-US" dirty="0"/>
              <a:t>研究方法</a:t>
            </a:r>
          </a:p>
        </p:txBody>
      </p:sp>
      <p:sp>
        <p:nvSpPr>
          <p:cNvPr id="3" name="コンテンツ プレースホルダー 2">
            <a:extLst>
              <a:ext uri="{FF2B5EF4-FFF2-40B4-BE49-F238E27FC236}">
                <a16:creationId xmlns:a16="http://schemas.microsoft.com/office/drawing/2014/main" id="{7DCF728F-7A8E-D155-9908-5D10C399EBDA}"/>
              </a:ext>
            </a:extLst>
          </p:cNvPr>
          <p:cNvSpPr>
            <a:spLocks noGrp="1"/>
          </p:cNvSpPr>
          <p:nvPr>
            <p:ph idx="1"/>
          </p:nvPr>
        </p:nvSpPr>
        <p:spPr/>
        <p:txBody>
          <a:bodyPr/>
          <a:lstStyle/>
          <a:p>
            <a:r>
              <a:rPr kumimoji="1" lang="ja-JP" altLang="en-US" dirty="0"/>
              <a:t>テスト用の問題を解くモデル</a:t>
            </a:r>
            <a:endParaRPr kumimoji="1" lang="en-US" altLang="ja-JP" dirty="0"/>
          </a:p>
          <a:p>
            <a:pPr lvl="1"/>
            <a:r>
              <a:rPr kumimoji="1" lang="ja-JP" altLang="en-US" dirty="0"/>
              <a:t>追加の学習を行わず、</a:t>
            </a:r>
            <a:r>
              <a:rPr lang="ja-JP" altLang="en-US" dirty="0"/>
              <a:t>ベースモデルをそのまま使う</a:t>
            </a:r>
            <a:endParaRPr kumimoji="1" lang="en-US" altLang="ja-JP" dirty="0"/>
          </a:p>
          <a:p>
            <a:pPr lvl="1"/>
            <a:r>
              <a:rPr lang="ja-JP" altLang="en-US" dirty="0"/>
              <a:t>問題文と答えのみを用いて調整した</a:t>
            </a:r>
            <a:r>
              <a:rPr lang="en-US" altLang="ja-JP" dirty="0" err="1"/>
              <a:t>LoRA</a:t>
            </a:r>
            <a:r>
              <a:rPr lang="ja-JP" altLang="en-US" dirty="0"/>
              <a:t>を適用したモデル</a:t>
            </a:r>
            <a:endParaRPr lang="en-US" altLang="ja-JP" dirty="0"/>
          </a:p>
          <a:p>
            <a:pPr lvl="1"/>
            <a:r>
              <a:rPr kumimoji="1" lang="ja-JP" altLang="en-US" dirty="0"/>
              <a:t>問題文と処理の過程と答えを用いて調整した</a:t>
            </a:r>
            <a:r>
              <a:rPr kumimoji="1" lang="en-US" altLang="ja-JP" dirty="0" err="1"/>
              <a:t>LoRA</a:t>
            </a:r>
            <a:r>
              <a:rPr kumimoji="1" lang="ja-JP" altLang="en-US" dirty="0"/>
              <a:t>を適用したモデル</a:t>
            </a:r>
          </a:p>
        </p:txBody>
      </p:sp>
      <p:sp>
        <p:nvSpPr>
          <p:cNvPr id="7" name="スライド番号プレースホルダー 6">
            <a:extLst>
              <a:ext uri="{FF2B5EF4-FFF2-40B4-BE49-F238E27FC236}">
                <a16:creationId xmlns:a16="http://schemas.microsoft.com/office/drawing/2014/main" id="{53AF5688-701B-92A6-35E7-48E50D62A7E0}"/>
              </a:ext>
            </a:extLst>
          </p:cNvPr>
          <p:cNvSpPr>
            <a:spLocks noGrp="1"/>
          </p:cNvSpPr>
          <p:nvPr>
            <p:ph type="sldNum" sz="quarter" idx="12"/>
          </p:nvPr>
        </p:nvSpPr>
        <p:spPr/>
        <p:txBody>
          <a:bodyPr/>
          <a:lstStyle/>
          <a:p>
            <a:fld id="{10649E7B-FC1B-418B-9B6A-00859DB1DEE8}" type="slidenum">
              <a:rPr kumimoji="1" lang="ja-JP" altLang="en-US" smtClean="0"/>
              <a:t>21</a:t>
            </a:fld>
            <a:endParaRPr kumimoji="1" lang="ja-JP" altLang="en-US"/>
          </a:p>
        </p:txBody>
      </p:sp>
    </p:spTree>
    <p:extLst>
      <p:ext uri="{BB962C8B-B14F-4D97-AF65-F5344CB8AC3E}">
        <p14:creationId xmlns:p14="http://schemas.microsoft.com/office/powerpoint/2010/main" val="22740113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B61B6-66A2-0A58-BB76-B2A30AD074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05C5D35-FB9C-551A-D458-E59CEE1628CB}"/>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C90A61F5-BD53-6DE3-9CA6-96621426DFA4}"/>
              </a:ext>
            </a:extLst>
          </p:cNvPr>
          <p:cNvSpPr>
            <a:spLocks noGrp="1"/>
          </p:cNvSpPr>
          <p:nvPr>
            <p:ph idx="1"/>
          </p:nvPr>
        </p:nvSpPr>
        <p:spPr/>
        <p:txBody>
          <a:bodyPr/>
          <a:lstStyle/>
          <a:p>
            <a:r>
              <a:rPr kumimoji="1" lang="ja-JP" altLang="en-US" dirty="0"/>
              <a:t>研究背景</a:t>
            </a:r>
            <a:endParaRPr kumimoji="1" lang="en-US" altLang="ja-JP" dirty="0"/>
          </a:p>
          <a:p>
            <a:r>
              <a:rPr lang="ja-JP" altLang="en-US" dirty="0"/>
              <a:t>研究方法</a:t>
            </a:r>
            <a:endParaRPr lang="en-US" altLang="ja-JP" dirty="0"/>
          </a:p>
          <a:p>
            <a:r>
              <a:rPr kumimoji="1" lang="ja-JP" altLang="en-US" dirty="0">
                <a:solidFill>
                  <a:srgbClr val="FF0000"/>
                </a:solidFill>
              </a:rPr>
              <a:t>問題解決</a:t>
            </a:r>
            <a:r>
              <a:rPr lang="ja-JP" altLang="en-US" dirty="0">
                <a:solidFill>
                  <a:srgbClr val="FF0000"/>
                </a:solidFill>
              </a:rPr>
              <a:t>能力の評価実験</a:t>
            </a:r>
            <a:endParaRPr lang="en-US" altLang="ja-JP" dirty="0">
              <a:solidFill>
                <a:srgbClr val="FF0000"/>
              </a:solidFill>
            </a:endParaRPr>
          </a:p>
          <a:p>
            <a:r>
              <a:rPr kumimoji="1" lang="ja-JP" altLang="en-US" dirty="0"/>
              <a:t>分析と考察</a:t>
            </a:r>
          </a:p>
        </p:txBody>
      </p:sp>
      <p:sp>
        <p:nvSpPr>
          <p:cNvPr id="7" name="スライド番号プレースホルダー 6">
            <a:extLst>
              <a:ext uri="{FF2B5EF4-FFF2-40B4-BE49-F238E27FC236}">
                <a16:creationId xmlns:a16="http://schemas.microsoft.com/office/drawing/2014/main" id="{A928F3DB-D95F-4508-8B9A-EB5087C3C212}"/>
              </a:ext>
            </a:extLst>
          </p:cNvPr>
          <p:cNvSpPr>
            <a:spLocks noGrp="1"/>
          </p:cNvSpPr>
          <p:nvPr>
            <p:ph type="sldNum" sz="quarter" idx="12"/>
          </p:nvPr>
        </p:nvSpPr>
        <p:spPr/>
        <p:txBody>
          <a:bodyPr/>
          <a:lstStyle/>
          <a:p>
            <a:fld id="{10649E7B-FC1B-418B-9B6A-00859DB1DEE8}" type="slidenum">
              <a:rPr kumimoji="1" lang="ja-JP" altLang="en-US" smtClean="0"/>
              <a:t>22</a:t>
            </a:fld>
            <a:endParaRPr kumimoji="1" lang="ja-JP" altLang="en-US"/>
          </a:p>
        </p:txBody>
      </p:sp>
    </p:spTree>
    <p:extLst>
      <p:ext uri="{BB962C8B-B14F-4D97-AF65-F5344CB8AC3E}">
        <p14:creationId xmlns:p14="http://schemas.microsoft.com/office/powerpoint/2010/main" val="13915128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EF2B9B9-5A20-1DA4-20B2-6EDE1D38AF2B}"/>
              </a:ext>
            </a:extLst>
          </p:cNvPr>
          <p:cNvSpPr>
            <a:spLocks noGrp="1"/>
          </p:cNvSpPr>
          <p:nvPr>
            <p:ph type="title"/>
          </p:nvPr>
        </p:nvSpPr>
        <p:spPr/>
        <p:txBody>
          <a:bodyPr/>
          <a:lstStyle/>
          <a:p>
            <a:r>
              <a:rPr lang="ja-JP" altLang="en-US" dirty="0"/>
              <a:t>問題解決能力の評価実験</a:t>
            </a:r>
            <a:r>
              <a:rPr lang="en-US" altLang="ja-JP" dirty="0">
                <a:solidFill>
                  <a:srgbClr val="FF0000"/>
                </a:solidFill>
              </a:rPr>
              <a:t>(</a:t>
            </a:r>
            <a:r>
              <a:rPr lang="ja-JP" altLang="en-US" dirty="0">
                <a:solidFill>
                  <a:srgbClr val="FF0000"/>
                </a:solidFill>
              </a:rPr>
              <a:t>やり直し中</a:t>
            </a:r>
            <a:r>
              <a:rPr lang="en-US" altLang="ja-JP" dirty="0">
                <a:solidFill>
                  <a:srgbClr val="FF0000"/>
                </a:solidFill>
              </a:rPr>
              <a:t>)</a:t>
            </a:r>
            <a:endParaRPr kumimoji="1" lang="ja-JP" altLang="en-US" dirty="0">
              <a:solidFill>
                <a:srgbClr val="FF0000"/>
              </a:solidFill>
            </a:endParaRPr>
          </a:p>
        </p:txBody>
      </p:sp>
      <p:sp>
        <p:nvSpPr>
          <p:cNvPr id="3" name="コンテンツ プレースホルダー 2">
            <a:extLst>
              <a:ext uri="{FF2B5EF4-FFF2-40B4-BE49-F238E27FC236}">
                <a16:creationId xmlns:a16="http://schemas.microsoft.com/office/drawing/2014/main" id="{1B65EE80-A1F3-CD84-8EC6-F7B443DA312F}"/>
              </a:ext>
            </a:extLst>
          </p:cNvPr>
          <p:cNvSpPr>
            <a:spLocks noGrp="1"/>
          </p:cNvSpPr>
          <p:nvPr>
            <p:ph idx="1"/>
          </p:nvPr>
        </p:nvSpPr>
        <p:spPr>
          <a:xfrm>
            <a:off x="838200" y="1825625"/>
            <a:ext cx="10515600" cy="4108881"/>
          </a:xfrm>
        </p:spPr>
        <p:txBody>
          <a:bodyPr/>
          <a:lstStyle/>
          <a:p>
            <a:pPr marL="0" indent="0">
              <a:buNone/>
            </a:pPr>
            <a:endParaRPr kumimoji="1" lang="ja-JP" altLang="en-US" dirty="0"/>
          </a:p>
        </p:txBody>
      </p:sp>
      <p:sp>
        <p:nvSpPr>
          <p:cNvPr id="7" name="スライド番号プレースホルダー 6">
            <a:extLst>
              <a:ext uri="{FF2B5EF4-FFF2-40B4-BE49-F238E27FC236}">
                <a16:creationId xmlns:a16="http://schemas.microsoft.com/office/drawing/2014/main" id="{4B57D73E-58AB-D751-B9BF-FC3CAB7D00B3}"/>
              </a:ext>
            </a:extLst>
          </p:cNvPr>
          <p:cNvSpPr>
            <a:spLocks noGrp="1"/>
          </p:cNvSpPr>
          <p:nvPr>
            <p:ph type="sldNum" sz="quarter" idx="12"/>
          </p:nvPr>
        </p:nvSpPr>
        <p:spPr/>
        <p:txBody>
          <a:bodyPr/>
          <a:lstStyle/>
          <a:p>
            <a:fld id="{10649E7B-FC1B-418B-9B6A-00859DB1DEE8}" type="slidenum">
              <a:rPr kumimoji="1" lang="ja-JP" altLang="en-US" smtClean="0"/>
              <a:t>23</a:t>
            </a:fld>
            <a:endParaRPr kumimoji="1" lang="ja-JP" altLang="en-US"/>
          </a:p>
        </p:txBody>
      </p:sp>
      <p:graphicFrame>
        <p:nvGraphicFramePr>
          <p:cNvPr id="8" name="表 7">
            <a:extLst>
              <a:ext uri="{FF2B5EF4-FFF2-40B4-BE49-F238E27FC236}">
                <a16:creationId xmlns:a16="http://schemas.microsoft.com/office/drawing/2014/main" id="{C3857E26-20FC-DDF3-7A9A-B61AE700B84D}"/>
              </a:ext>
            </a:extLst>
          </p:cNvPr>
          <p:cNvGraphicFramePr>
            <a:graphicFrameLocks noGrp="1"/>
          </p:cNvGraphicFramePr>
          <p:nvPr>
            <p:extLst>
              <p:ext uri="{D42A27DB-BD31-4B8C-83A1-F6EECF244321}">
                <p14:modId xmlns:p14="http://schemas.microsoft.com/office/powerpoint/2010/main" val="565062704"/>
              </p:ext>
            </p:extLst>
          </p:nvPr>
        </p:nvGraphicFramePr>
        <p:xfrm>
          <a:off x="838200" y="1583169"/>
          <a:ext cx="10515600" cy="4351337"/>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577893348"/>
                    </a:ext>
                  </a:extLst>
                </a:gridCol>
                <a:gridCol w="2628900">
                  <a:extLst>
                    <a:ext uri="{9D8B030D-6E8A-4147-A177-3AD203B41FA5}">
                      <a16:colId xmlns:a16="http://schemas.microsoft.com/office/drawing/2014/main" val="2053877159"/>
                    </a:ext>
                  </a:extLst>
                </a:gridCol>
                <a:gridCol w="2628900">
                  <a:extLst>
                    <a:ext uri="{9D8B030D-6E8A-4147-A177-3AD203B41FA5}">
                      <a16:colId xmlns:a16="http://schemas.microsoft.com/office/drawing/2014/main" val="2672482506"/>
                    </a:ext>
                  </a:extLst>
                </a:gridCol>
                <a:gridCol w="2628900">
                  <a:extLst>
                    <a:ext uri="{9D8B030D-6E8A-4147-A177-3AD203B41FA5}">
                      <a16:colId xmlns:a16="http://schemas.microsoft.com/office/drawing/2014/main" val="1596151943"/>
                    </a:ext>
                  </a:extLst>
                </a:gridCol>
              </a:tblGrid>
              <a:tr h="1811409">
                <a:tc>
                  <a:txBody>
                    <a:bodyPr/>
                    <a:lstStyle/>
                    <a:p>
                      <a:pPr algn="ctr"/>
                      <a:endParaRPr kumimoji="1" lang="ja-JP" altLang="en-US" sz="2100" dirty="0"/>
                    </a:p>
                  </a:txBody>
                  <a:tcPr anchor="ctr"/>
                </a:tc>
                <a:tc>
                  <a:txBody>
                    <a:bodyPr/>
                    <a:lstStyle/>
                    <a:p>
                      <a:pPr algn="ctr"/>
                      <a:r>
                        <a:rPr kumimoji="1" lang="ja-JP" altLang="en-US" sz="2100" dirty="0"/>
                        <a:t>ベースモデル</a:t>
                      </a:r>
                    </a:p>
                  </a:txBody>
                  <a:tcPr anchor="ctr"/>
                </a:tc>
                <a:tc>
                  <a:txBody>
                    <a:bodyPr/>
                    <a:lstStyle/>
                    <a:p>
                      <a:pPr algn="ctr"/>
                      <a:r>
                        <a:rPr kumimoji="1" lang="ja-JP" altLang="en-US" sz="2100" dirty="0"/>
                        <a:t>答えのみ</a:t>
                      </a:r>
                      <a:r>
                        <a:rPr kumimoji="1" lang="en-US" altLang="ja-JP" sz="2100" dirty="0"/>
                        <a:t>SFT</a:t>
                      </a:r>
                      <a:endParaRPr kumimoji="1" lang="ja-JP" altLang="en-US" sz="2100" dirty="0"/>
                    </a:p>
                  </a:txBody>
                  <a:tcPr anchor="ctr"/>
                </a:tc>
                <a:tc>
                  <a:txBody>
                    <a:bodyPr/>
                    <a:lstStyle/>
                    <a:p>
                      <a:pPr algn="ctr"/>
                      <a:r>
                        <a:rPr lang="ja-JP" altLang="ja-JP" sz="2100" dirty="0"/>
                        <a:t>答え＋処理過程SFT</a:t>
                      </a:r>
                      <a:endParaRPr kumimoji="1" lang="ja-JP" altLang="en-US" sz="2100" dirty="0"/>
                    </a:p>
                  </a:txBody>
                  <a:tcPr anchor="ctr"/>
                </a:tc>
                <a:extLst>
                  <a:ext uri="{0D108BD9-81ED-4DB2-BD59-A6C34878D82A}">
                    <a16:rowId xmlns:a16="http://schemas.microsoft.com/office/drawing/2014/main" val="3196805259"/>
                  </a:ext>
                </a:extLst>
              </a:tr>
              <a:tr h="126996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100" dirty="0"/>
                        <a:t>テストデータその</a:t>
                      </a:r>
                      <a:r>
                        <a:rPr lang="en-US" altLang="ja-JP" sz="2100" dirty="0"/>
                        <a:t>1</a:t>
                      </a:r>
                    </a:p>
                  </a:txBody>
                  <a:tcPr anchor="ctr"/>
                </a:tc>
                <a:tc>
                  <a:txBody>
                    <a:bodyPr/>
                    <a:lstStyle/>
                    <a:p>
                      <a:pPr algn="ctr"/>
                      <a:r>
                        <a:rPr kumimoji="1" lang="en-US" altLang="ja-JP" sz="2100" dirty="0"/>
                        <a:t>277/680</a:t>
                      </a:r>
                    </a:p>
                    <a:p>
                      <a:pPr algn="ctr"/>
                      <a:r>
                        <a:rPr kumimoji="1" lang="ja-JP" altLang="en-US" sz="2100" dirty="0"/>
                        <a:t>約</a:t>
                      </a:r>
                      <a:r>
                        <a:rPr kumimoji="1" lang="en-US" altLang="ja-JP" sz="2100" dirty="0"/>
                        <a:t>40</a:t>
                      </a:r>
                      <a:r>
                        <a:rPr kumimoji="1" lang="ja-JP" altLang="en-US" sz="2100" dirty="0"/>
                        <a:t>％</a:t>
                      </a:r>
                    </a:p>
                  </a:txBody>
                  <a:tcPr anchor="ctr"/>
                </a:tc>
                <a:tc>
                  <a:txBody>
                    <a:bodyPr/>
                    <a:lstStyle/>
                    <a:p>
                      <a:pPr algn="ctr"/>
                      <a:r>
                        <a:rPr kumimoji="1" lang="en-US" altLang="ja-JP" sz="2100" dirty="0"/>
                        <a:t>484/680</a:t>
                      </a:r>
                    </a:p>
                    <a:p>
                      <a:pPr algn="ctr"/>
                      <a:r>
                        <a:rPr kumimoji="1" lang="ja-JP" altLang="en-US" sz="2100" dirty="0"/>
                        <a:t>約</a:t>
                      </a:r>
                      <a:r>
                        <a:rPr kumimoji="1" lang="en-US" altLang="ja-JP" sz="2100" dirty="0"/>
                        <a:t>71</a:t>
                      </a:r>
                      <a:r>
                        <a:rPr kumimoji="1" lang="ja-JP" altLang="en-US" sz="2100" dirty="0"/>
                        <a:t>％</a:t>
                      </a:r>
                    </a:p>
                  </a:txBody>
                  <a:tcPr anchor="ctr"/>
                </a:tc>
                <a:tc>
                  <a:txBody>
                    <a:bodyPr/>
                    <a:lstStyle/>
                    <a:p>
                      <a:pPr algn="ctr"/>
                      <a:r>
                        <a:rPr kumimoji="1" lang="ja-JP" altLang="ja-JP" sz="2100" b="0" i="0" kern="1200" dirty="0">
                          <a:solidFill>
                            <a:schemeClr val="dk1"/>
                          </a:solidFill>
                          <a:effectLst/>
                          <a:latin typeface="+mn-lt"/>
                          <a:ea typeface="+mn-ea"/>
                          <a:cs typeface="+mn-cs"/>
                        </a:rPr>
                        <a:t>548</a:t>
                      </a:r>
                      <a:r>
                        <a:rPr kumimoji="1" lang="en-US" altLang="ja-JP" sz="2100" b="0" i="0" kern="1200" dirty="0">
                          <a:solidFill>
                            <a:schemeClr val="dk1"/>
                          </a:solidFill>
                          <a:effectLst/>
                          <a:latin typeface="+mn-lt"/>
                          <a:ea typeface="+mn-ea"/>
                          <a:cs typeface="+mn-cs"/>
                        </a:rPr>
                        <a:t>/680</a:t>
                      </a:r>
                    </a:p>
                    <a:p>
                      <a:pPr algn="ctr"/>
                      <a:r>
                        <a:rPr kumimoji="1" lang="ja-JP" altLang="en-US" sz="2100" b="0" i="0" kern="1200" dirty="0">
                          <a:solidFill>
                            <a:schemeClr val="dk1"/>
                          </a:solidFill>
                          <a:effectLst/>
                          <a:latin typeface="+mn-lt"/>
                          <a:ea typeface="+mn-ea"/>
                          <a:cs typeface="+mn-cs"/>
                        </a:rPr>
                        <a:t>約</a:t>
                      </a:r>
                      <a:r>
                        <a:rPr kumimoji="1" lang="en-US" altLang="ja-JP" sz="2100" b="0" i="0" kern="1200" dirty="0">
                          <a:solidFill>
                            <a:schemeClr val="dk1"/>
                          </a:solidFill>
                          <a:effectLst/>
                          <a:latin typeface="+mn-lt"/>
                          <a:ea typeface="+mn-ea"/>
                          <a:cs typeface="+mn-cs"/>
                        </a:rPr>
                        <a:t>80</a:t>
                      </a:r>
                      <a:r>
                        <a:rPr kumimoji="1" lang="ja-JP" altLang="en-US" sz="2100" b="0" i="0" kern="1200" dirty="0">
                          <a:solidFill>
                            <a:schemeClr val="dk1"/>
                          </a:solidFill>
                          <a:effectLst/>
                          <a:latin typeface="+mn-lt"/>
                          <a:ea typeface="+mn-ea"/>
                          <a:cs typeface="+mn-cs"/>
                        </a:rPr>
                        <a:t>％</a:t>
                      </a:r>
                      <a:endParaRPr kumimoji="1" lang="ja-JP" altLang="en-US" sz="2100" dirty="0"/>
                    </a:p>
                  </a:txBody>
                  <a:tcPr anchor="ctr"/>
                </a:tc>
                <a:extLst>
                  <a:ext uri="{0D108BD9-81ED-4DB2-BD59-A6C34878D82A}">
                    <a16:rowId xmlns:a16="http://schemas.microsoft.com/office/drawing/2014/main" val="2722267845"/>
                  </a:ext>
                </a:extLst>
              </a:tr>
              <a:tr h="126996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100" dirty="0"/>
                        <a:t>テストデータその</a:t>
                      </a:r>
                      <a:r>
                        <a:rPr lang="en-US" altLang="ja-JP" sz="2100" dirty="0"/>
                        <a:t>2</a:t>
                      </a:r>
                    </a:p>
                  </a:txBody>
                  <a:tcPr anchor="ctr"/>
                </a:tc>
                <a:tc>
                  <a:txBody>
                    <a:bodyPr/>
                    <a:lstStyle/>
                    <a:p>
                      <a:pPr algn="ctr"/>
                      <a:r>
                        <a:rPr kumimoji="1" lang="ja-JP" altLang="ja-JP" sz="2100" b="0" i="0" kern="1200" dirty="0">
                          <a:solidFill>
                            <a:schemeClr val="dk1"/>
                          </a:solidFill>
                          <a:effectLst/>
                          <a:latin typeface="+mn-lt"/>
                          <a:ea typeface="+mn-ea"/>
                          <a:cs typeface="+mn-cs"/>
                        </a:rPr>
                        <a:t>67</a:t>
                      </a:r>
                      <a:r>
                        <a:rPr kumimoji="1" lang="en-US" altLang="ja-JP" sz="2100" dirty="0"/>
                        <a:t>/480</a:t>
                      </a:r>
                    </a:p>
                    <a:p>
                      <a:pPr algn="ctr"/>
                      <a:r>
                        <a:rPr kumimoji="1" lang="ja-JP" altLang="en-US" sz="2100" dirty="0"/>
                        <a:t>約</a:t>
                      </a:r>
                      <a:r>
                        <a:rPr kumimoji="1" lang="en-US" altLang="ja-JP" sz="2100" dirty="0"/>
                        <a:t>13</a:t>
                      </a:r>
                      <a:r>
                        <a:rPr kumimoji="1" lang="ja-JP" altLang="en-US" sz="2100" dirty="0"/>
                        <a:t>％</a:t>
                      </a:r>
                    </a:p>
                  </a:txBody>
                  <a:tcPr anchor="ctr"/>
                </a:tc>
                <a:tc>
                  <a:txBody>
                    <a:bodyPr/>
                    <a:lstStyle/>
                    <a:p>
                      <a:pPr algn="ctr"/>
                      <a:r>
                        <a:rPr kumimoji="1" lang="en-US" altLang="ja-JP" sz="2100" dirty="0"/>
                        <a:t>201/480</a:t>
                      </a:r>
                    </a:p>
                    <a:p>
                      <a:pPr algn="ctr"/>
                      <a:r>
                        <a:rPr kumimoji="1" lang="ja-JP" altLang="en-US" sz="2100" dirty="0"/>
                        <a:t>約</a:t>
                      </a:r>
                      <a:r>
                        <a:rPr kumimoji="1" lang="en-US" altLang="ja-JP" sz="2100" dirty="0"/>
                        <a:t>41</a:t>
                      </a:r>
                      <a:r>
                        <a:rPr kumimoji="1" lang="ja-JP" altLang="en-US" sz="2100" dirty="0"/>
                        <a:t>％</a:t>
                      </a:r>
                    </a:p>
                  </a:txBody>
                  <a:tcPr anchor="ctr"/>
                </a:tc>
                <a:tc>
                  <a:txBody>
                    <a:bodyPr/>
                    <a:lstStyle/>
                    <a:p>
                      <a:pPr algn="ctr"/>
                      <a:r>
                        <a:rPr kumimoji="1" lang="ja-JP" altLang="ja-JP" sz="2100" b="0" i="0" kern="1200" dirty="0">
                          <a:solidFill>
                            <a:schemeClr val="dk1"/>
                          </a:solidFill>
                          <a:effectLst/>
                          <a:latin typeface="+mn-lt"/>
                          <a:ea typeface="+mn-ea"/>
                          <a:cs typeface="+mn-cs"/>
                        </a:rPr>
                        <a:t>98</a:t>
                      </a:r>
                      <a:r>
                        <a:rPr kumimoji="1" lang="en-US" altLang="ja-JP" sz="2100" b="0" i="0" kern="1200" dirty="0">
                          <a:solidFill>
                            <a:schemeClr val="dk1"/>
                          </a:solidFill>
                          <a:effectLst/>
                          <a:latin typeface="+mn-lt"/>
                          <a:ea typeface="+mn-ea"/>
                          <a:cs typeface="+mn-cs"/>
                        </a:rPr>
                        <a:t>/480</a:t>
                      </a:r>
                    </a:p>
                    <a:p>
                      <a:pPr algn="ctr"/>
                      <a:r>
                        <a:rPr kumimoji="1" lang="ja-JP" altLang="en-US" sz="2100" b="0" i="0" kern="1200" dirty="0">
                          <a:solidFill>
                            <a:schemeClr val="dk1"/>
                          </a:solidFill>
                          <a:effectLst/>
                          <a:latin typeface="+mn-lt"/>
                          <a:ea typeface="+mn-ea"/>
                          <a:cs typeface="+mn-cs"/>
                        </a:rPr>
                        <a:t>約</a:t>
                      </a:r>
                      <a:r>
                        <a:rPr kumimoji="1" lang="en-US" altLang="ja-JP" sz="2100" b="0" i="0" kern="1200" dirty="0">
                          <a:solidFill>
                            <a:schemeClr val="dk1"/>
                          </a:solidFill>
                          <a:effectLst/>
                          <a:latin typeface="+mn-lt"/>
                          <a:ea typeface="+mn-ea"/>
                          <a:cs typeface="+mn-cs"/>
                        </a:rPr>
                        <a:t>20</a:t>
                      </a:r>
                      <a:r>
                        <a:rPr kumimoji="1" lang="ja-JP" altLang="en-US" sz="2100" b="0" i="0" kern="1200" dirty="0">
                          <a:solidFill>
                            <a:schemeClr val="dk1"/>
                          </a:solidFill>
                          <a:effectLst/>
                          <a:latin typeface="+mn-lt"/>
                          <a:ea typeface="+mn-ea"/>
                          <a:cs typeface="+mn-cs"/>
                        </a:rPr>
                        <a:t>％</a:t>
                      </a:r>
                      <a:endParaRPr kumimoji="1" lang="ja-JP" altLang="en-US" sz="2100" dirty="0"/>
                    </a:p>
                  </a:txBody>
                  <a:tcPr anchor="ctr"/>
                </a:tc>
                <a:extLst>
                  <a:ext uri="{0D108BD9-81ED-4DB2-BD59-A6C34878D82A}">
                    <a16:rowId xmlns:a16="http://schemas.microsoft.com/office/drawing/2014/main" val="2618271811"/>
                  </a:ext>
                </a:extLst>
              </a:tr>
            </a:tbl>
          </a:graphicData>
        </a:graphic>
      </p:graphicFrame>
      <p:sp>
        <p:nvSpPr>
          <p:cNvPr id="9" name="テキスト ボックス 8">
            <a:extLst>
              <a:ext uri="{FF2B5EF4-FFF2-40B4-BE49-F238E27FC236}">
                <a16:creationId xmlns:a16="http://schemas.microsoft.com/office/drawing/2014/main" id="{A6C7B1B2-2AA4-0DEF-7433-FF0399B47C9B}"/>
              </a:ext>
            </a:extLst>
          </p:cNvPr>
          <p:cNvSpPr txBox="1"/>
          <p:nvPr/>
        </p:nvSpPr>
        <p:spPr>
          <a:xfrm>
            <a:off x="928255" y="6077247"/>
            <a:ext cx="9985663" cy="923330"/>
          </a:xfrm>
          <a:prstGeom prst="rect">
            <a:avLst/>
          </a:prstGeom>
          <a:noFill/>
        </p:spPr>
        <p:txBody>
          <a:bodyPr wrap="square" rtlCol="0">
            <a:spAutoFit/>
          </a:bodyPr>
          <a:lstStyle/>
          <a:p>
            <a:r>
              <a:rPr kumimoji="1" lang="ja-JP" altLang="en-US" dirty="0"/>
              <a:t>テストデータその</a:t>
            </a:r>
            <a:r>
              <a:rPr kumimoji="1" lang="en-US" altLang="ja-JP" dirty="0"/>
              <a:t>1</a:t>
            </a:r>
            <a:r>
              <a:rPr kumimoji="1" lang="ja-JP" altLang="en-US" dirty="0"/>
              <a:t>：</a:t>
            </a:r>
            <a:r>
              <a:rPr lang="ja-JP" altLang="en-US" dirty="0"/>
              <a:t>訓練用のデータの問題と同じルール</a:t>
            </a:r>
            <a:endParaRPr lang="en-US" altLang="ja-JP" dirty="0"/>
          </a:p>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a:p>
            <a:endParaRPr kumimoji="1" lang="ja-JP" altLang="en-US" dirty="0"/>
          </a:p>
        </p:txBody>
      </p:sp>
    </p:spTree>
    <p:extLst>
      <p:ext uri="{BB962C8B-B14F-4D97-AF65-F5344CB8AC3E}">
        <p14:creationId xmlns:p14="http://schemas.microsoft.com/office/powerpoint/2010/main" val="215690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17FC67-421D-54F2-1BEE-EAE5769FFEF2}"/>
              </a:ext>
            </a:extLst>
          </p:cNvPr>
          <p:cNvSpPr>
            <a:spLocks noGrp="1"/>
          </p:cNvSpPr>
          <p:nvPr>
            <p:ph type="title"/>
          </p:nvPr>
        </p:nvSpPr>
        <p:spPr>
          <a:xfrm>
            <a:off x="838200" y="0"/>
            <a:ext cx="10515600" cy="1325563"/>
          </a:xfrm>
        </p:spPr>
        <p:txBody>
          <a:bodyPr/>
          <a:lstStyle/>
          <a:p>
            <a:r>
              <a:rPr lang="ja-JP" altLang="en-US" dirty="0"/>
              <a:t>ベースモデルの正解例の問題</a:t>
            </a:r>
            <a:endParaRPr kumimoji="1" lang="ja-JP" altLang="en-US" dirty="0"/>
          </a:p>
        </p:txBody>
      </p:sp>
      <p:sp>
        <p:nvSpPr>
          <p:cNvPr id="4" name="スライド番号プレースホルダー 3">
            <a:extLst>
              <a:ext uri="{FF2B5EF4-FFF2-40B4-BE49-F238E27FC236}">
                <a16:creationId xmlns:a16="http://schemas.microsoft.com/office/drawing/2014/main" id="{67DF5970-CA74-5E3E-9472-A3480A45816E}"/>
              </a:ext>
            </a:extLst>
          </p:cNvPr>
          <p:cNvSpPr>
            <a:spLocks noGrp="1"/>
          </p:cNvSpPr>
          <p:nvPr>
            <p:ph type="sldNum" sz="quarter" idx="12"/>
          </p:nvPr>
        </p:nvSpPr>
        <p:spPr/>
        <p:txBody>
          <a:bodyPr/>
          <a:lstStyle/>
          <a:p>
            <a:fld id="{10649E7B-FC1B-418B-9B6A-00859DB1DEE8}" type="slidenum">
              <a:rPr kumimoji="1" lang="ja-JP" altLang="en-US" smtClean="0"/>
              <a:t>24</a:t>
            </a:fld>
            <a:endParaRPr kumimoji="1" lang="ja-JP" altLang="en-US"/>
          </a:p>
        </p:txBody>
      </p:sp>
      <p:sp>
        <p:nvSpPr>
          <p:cNvPr id="5" name="四角形: 角を丸くする 4">
            <a:extLst>
              <a:ext uri="{FF2B5EF4-FFF2-40B4-BE49-F238E27FC236}">
                <a16:creationId xmlns:a16="http://schemas.microsoft.com/office/drawing/2014/main" id="{DCE6EC87-0E8C-1552-8219-28686FF52C57}"/>
              </a:ext>
            </a:extLst>
          </p:cNvPr>
          <p:cNvSpPr/>
          <p:nvPr/>
        </p:nvSpPr>
        <p:spPr>
          <a:xfrm>
            <a:off x="1067823" y="914400"/>
            <a:ext cx="4559726" cy="5854615"/>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dirty="0"/>
              <a:t>Infer the transformation rule from examples.</a:t>
            </a:r>
          </a:p>
          <a:p>
            <a:r>
              <a:rPr lang="en-US" altLang="ja-JP" dirty="0"/>
              <a:t>Output the final array.</a:t>
            </a:r>
          </a:p>
          <a:p>
            <a:r>
              <a:rPr lang="en-US" altLang="ja-JP" dirty="0"/>
              <a:t>        </a:t>
            </a:r>
          </a:p>
          <a:p>
            <a:r>
              <a:rPr lang="en-US" altLang="ja-JP" dirty="0"/>
              <a:t>Example 1</a:t>
            </a:r>
          </a:p>
          <a:p>
            <a:r>
              <a:rPr lang="en-US" altLang="ja-JP" dirty="0"/>
              <a:t>Input:</a:t>
            </a:r>
          </a:p>
          <a:p>
            <a:r>
              <a:rPr lang="en-US" altLang="ja-JP" dirty="0"/>
              <a:t>[6, 0, 4, 8, 7, 6, 4, 7]</a:t>
            </a:r>
          </a:p>
          <a:p>
            <a:r>
              <a:rPr lang="en-US" altLang="ja-JP" dirty="0"/>
              <a:t>Output:</a:t>
            </a:r>
          </a:p>
          <a:p>
            <a:r>
              <a:rPr lang="en-US" altLang="ja-JP" dirty="0"/>
              <a:t>[7, 4, 6, 7, 8, 4, 0, 6]</a:t>
            </a:r>
          </a:p>
          <a:p>
            <a:endParaRPr lang="en-US" altLang="ja-JP" dirty="0"/>
          </a:p>
          <a:p>
            <a:r>
              <a:rPr lang="en-US" altLang="ja-JP" dirty="0"/>
              <a:t>Example 2</a:t>
            </a:r>
          </a:p>
          <a:p>
            <a:r>
              <a:rPr lang="en-US" altLang="ja-JP" dirty="0"/>
              <a:t>Input:</a:t>
            </a:r>
          </a:p>
          <a:p>
            <a:r>
              <a:rPr lang="en-US" altLang="ja-JP" dirty="0"/>
              <a:t>[9, 3, 8, 2, 4, 2, 1]</a:t>
            </a:r>
          </a:p>
          <a:p>
            <a:r>
              <a:rPr lang="en-US" altLang="ja-JP" dirty="0"/>
              <a:t>Output:</a:t>
            </a:r>
          </a:p>
          <a:p>
            <a:r>
              <a:rPr lang="en-US" altLang="ja-JP" dirty="0"/>
              <a:t>[1, 2, 4, 2, 8, 3, 9]</a:t>
            </a:r>
          </a:p>
          <a:p>
            <a:endParaRPr lang="en-US" altLang="ja-JP" dirty="0"/>
          </a:p>
          <a:p>
            <a:r>
              <a:rPr lang="en-US" altLang="ja-JP" dirty="0"/>
              <a:t>Query</a:t>
            </a:r>
          </a:p>
          <a:p>
            <a:r>
              <a:rPr lang="en-US" altLang="ja-JP" dirty="0"/>
              <a:t>Input:</a:t>
            </a:r>
          </a:p>
          <a:p>
            <a:r>
              <a:rPr lang="en-US" altLang="ja-JP" dirty="0"/>
              <a:t>[3, 5, 1, 3, 9, 3, 3]</a:t>
            </a:r>
          </a:p>
          <a:p>
            <a:r>
              <a:rPr lang="en-US" altLang="ja-JP" dirty="0"/>
              <a:t>Output:</a:t>
            </a:r>
            <a:endParaRPr kumimoji="1" lang="ja-JP" altLang="en-US" dirty="0"/>
          </a:p>
        </p:txBody>
      </p:sp>
      <p:sp>
        <p:nvSpPr>
          <p:cNvPr id="7" name="テキスト ボックス 6">
            <a:extLst>
              <a:ext uri="{FF2B5EF4-FFF2-40B4-BE49-F238E27FC236}">
                <a16:creationId xmlns:a16="http://schemas.microsoft.com/office/drawing/2014/main" id="{9B9394B9-EE7C-858C-2C50-C763EF0E113C}"/>
              </a:ext>
            </a:extLst>
          </p:cNvPr>
          <p:cNvSpPr txBox="1"/>
          <p:nvPr/>
        </p:nvSpPr>
        <p:spPr>
          <a:xfrm>
            <a:off x="284202" y="2164231"/>
            <a:ext cx="553998" cy="2246769"/>
          </a:xfrm>
          <a:prstGeom prst="rect">
            <a:avLst/>
          </a:prstGeom>
          <a:noFill/>
        </p:spPr>
        <p:txBody>
          <a:bodyPr vert="eaVert" wrap="none" rtlCol="0">
            <a:spAutoFit/>
          </a:bodyPr>
          <a:lstStyle/>
          <a:p>
            <a:r>
              <a:rPr lang="ja-JP" altLang="en-US" sz="2400" dirty="0"/>
              <a:t>実際は５つの例</a:t>
            </a:r>
            <a:endParaRPr kumimoji="1" lang="ja-JP" altLang="en-US" sz="2400" dirty="0"/>
          </a:p>
        </p:txBody>
      </p:sp>
      <p:sp>
        <p:nvSpPr>
          <p:cNvPr id="8" name="四角形: 角を丸くする 7">
            <a:extLst>
              <a:ext uri="{FF2B5EF4-FFF2-40B4-BE49-F238E27FC236}">
                <a16:creationId xmlns:a16="http://schemas.microsoft.com/office/drawing/2014/main" id="{2B9D890B-89F7-CBC7-9B86-42F1877A7722}"/>
              </a:ext>
            </a:extLst>
          </p:cNvPr>
          <p:cNvSpPr/>
          <p:nvPr/>
        </p:nvSpPr>
        <p:spPr>
          <a:xfrm>
            <a:off x="7597497" y="1919319"/>
            <a:ext cx="3375302" cy="2025181"/>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ja-JP" dirty="0"/>
              <a:t>[3, 3, 9, 3, 1, 5, 3]</a:t>
            </a:r>
            <a:endParaRPr kumimoji="1" lang="ja-JP" altLang="en-US" dirty="0"/>
          </a:p>
        </p:txBody>
      </p:sp>
      <p:sp>
        <p:nvSpPr>
          <p:cNvPr id="10" name="矢印: 左カーブ 9">
            <a:extLst>
              <a:ext uri="{FF2B5EF4-FFF2-40B4-BE49-F238E27FC236}">
                <a16:creationId xmlns:a16="http://schemas.microsoft.com/office/drawing/2014/main" id="{6FF7EF7A-7A8B-BD1A-C030-4D6D6641F2B3}"/>
              </a:ext>
            </a:extLst>
          </p:cNvPr>
          <p:cNvSpPr/>
          <p:nvPr/>
        </p:nvSpPr>
        <p:spPr>
          <a:xfrm>
            <a:off x="3520287" y="2931910"/>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12" name="矢印: 左カーブ 11">
            <a:extLst>
              <a:ext uri="{FF2B5EF4-FFF2-40B4-BE49-F238E27FC236}">
                <a16:creationId xmlns:a16="http://schemas.microsoft.com/office/drawing/2014/main" id="{AC798DC6-884E-FF5D-84E5-F759FA0ED399}"/>
              </a:ext>
            </a:extLst>
          </p:cNvPr>
          <p:cNvSpPr/>
          <p:nvPr/>
        </p:nvSpPr>
        <p:spPr>
          <a:xfrm>
            <a:off x="3209607" y="4579445"/>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3" name="テキスト ボックス 12">
            <a:extLst>
              <a:ext uri="{FF2B5EF4-FFF2-40B4-BE49-F238E27FC236}">
                <a16:creationId xmlns:a16="http://schemas.microsoft.com/office/drawing/2014/main" id="{CC544791-FC46-B4BC-1376-E7B9BFD7CB0A}"/>
              </a:ext>
            </a:extLst>
          </p:cNvPr>
          <p:cNvSpPr txBox="1"/>
          <p:nvPr/>
        </p:nvSpPr>
        <p:spPr>
          <a:xfrm>
            <a:off x="3940663" y="2825950"/>
            <a:ext cx="1224315" cy="646331"/>
          </a:xfrm>
          <a:prstGeom prst="rect">
            <a:avLst/>
          </a:prstGeom>
          <a:noFill/>
        </p:spPr>
        <p:txBody>
          <a:bodyPr wrap="square" rtlCol="0">
            <a:spAutoFit/>
          </a:bodyPr>
          <a:lstStyle/>
          <a:p>
            <a:r>
              <a:rPr kumimoji="1" lang="ja-JP" altLang="en-US" dirty="0"/>
              <a:t>順番を</a:t>
            </a:r>
            <a:endParaRPr kumimoji="1" lang="en-US" altLang="ja-JP" dirty="0"/>
          </a:p>
          <a:p>
            <a:r>
              <a:rPr kumimoji="1" lang="ja-JP" altLang="en-US" dirty="0"/>
              <a:t>逆にする</a:t>
            </a:r>
          </a:p>
        </p:txBody>
      </p:sp>
      <p:sp>
        <p:nvSpPr>
          <p:cNvPr id="15" name="テキスト ボックス 14">
            <a:extLst>
              <a:ext uri="{FF2B5EF4-FFF2-40B4-BE49-F238E27FC236}">
                <a16:creationId xmlns:a16="http://schemas.microsoft.com/office/drawing/2014/main" id="{1EF93AEF-924B-788A-5EFB-C92CCE1E1A2C}"/>
              </a:ext>
            </a:extLst>
          </p:cNvPr>
          <p:cNvSpPr txBox="1"/>
          <p:nvPr/>
        </p:nvSpPr>
        <p:spPr>
          <a:xfrm>
            <a:off x="6781097" y="5156315"/>
            <a:ext cx="5008102" cy="461665"/>
          </a:xfrm>
          <a:prstGeom prst="rect">
            <a:avLst/>
          </a:prstGeom>
          <a:noFill/>
        </p:spPr>
        <p:txBody>
          <a:bodyPr wrap="none" rtlCol="0">
            <a:spAutoFit/>
          </a:bodyPr>
          <a:lstStyle/>
          <a:p>
            <a:r>
              <a:rPr kumimoji="1" lang="ja-JP" altLang="en-US" sz="2400" dirty="0"/>
              <a:t>このルールの問題は</a:t>
            </a:r>
            <a:r>
              <a:rPr kumimoji="1" lang="en-US" altLang="ja-JP" sz="2400" dirty="0"/>
              <a:t>10</a:t>
            </a:r>
            <a:r>
              <a:rPr kumimoji="1" lang="ja-JP" altLang="en-US" sz="2400" dirty="0"/>
              <a:t>問中</a:t>
            </a:r>
            <a:r>
              <a:rPr kumimoji="1" lang="en-US" altLang="ja-JP" sz="2400" dirty="0"/>
              <a:t>9</a:t>
            </a:r>
            <a:r>
              <a:rPr kumimoji="1" lang="ja-JP" altLang="en-US" sz="2400" dirty="0"/>
              <a:t>問正解</a:t>
            </a:r>
          </a:p>
        </p:txBody>
      </p:sp>
    </p:spTree>
    <p:extLst>
      <p:ext uri="{BB962C8B-B14F-4D97-AF65-F5344CB8AC3E}">
        <p14:creationId xmlns:p14="http://schemas.microsoft.com/office/powerpoint/2010/main" val="2384802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412D798-2BBE-E6E3-EEA4-1903AE2CF90D}"/>
              </a:ext>
            </a:extLst>
          </p:cNvPr>
          <p:cNvSpPr>
            <a:spLocks noGrp="1"/>
          </p:cNvSpPr>
          <p:nvPr>
            <p:ph type="title"/>
          </p:nvPr>
        </p:nvSpPr>
        <p:spPr/>
        <p:txBody>
          <a:bodyPr/>
          <a:lstStyle/>
          <a:p>
            <a:r>
              <a:rPr kumimoji="1" lang="ja-JP" altLang="en-US" dirty="0"/>
              <a:t>ベースモデルの正解例の出力</a:t>
            </a:r>
          </a:p>
        </p:txBody>
      </p:sp>
      <p:sp>
        <p:nvSpPr>
          <p:cNvPr id="3" name="コンテンツ プレースホルダー 2">
            <a:extLst>
              <a:ext uri="{FF2B5EF4-FFF2-40B4-BE49-F238E27FC236}">
                <a16:creationId xmlns:a16="http://schemas.microsoft.com/office/drawing/2014/main" id="{D3122936-81E7-B1CF-7E17-E8438BA044A4}"/>
              </a:ext>
            </a:extLst>
          </p:cNvPr>
          <p:cNvSpPr>
            <a:spLocks noGrp="1"/>
          </p:cNvSpPr>
          <p:nvPr>
            <p:ph sz="half" idx="1"/>
          </p:nvPr>
        </p:nvSpPr>
        <p:spPr>
          <a:xfrm>
            <a:off x="513455" y="1825625"/>
            <a:ext cx="5506345" cy="4351338"/>
          </a:xfrm>
        </p:spPr>
        <p:txBody>
          <a:bodyPr/>
          <a:lstStyle/>
          <a:p>
            <a:r>
              <a:rPr kumimoji="1" lang="ja-JP" altLang="en-US" dirty="0"/>
              <a:t>推論の過程を要約したもの</a:t>
            </a:r>
            <a:endParaRPr kumimoji="1" lang="en-US" altLang="ja-JP" dirty="0"/>
          </a:p>
          <a:p>
            <a:pPr lvl="1"/>
            <a:r>
              <a:rPr kumimoji="1" lang="ja-JP" altLang="en-US" dirty="0"/>
              <a:t>入出力例を比較し、数字の列の要素の位置関係を確認</a:t>
            </a:r>
            <a:endParaRPr kumimoji="1" lang="en-US" altLang="ja-JP" dirty="0"/>
          </a:p>
          <a:p>
            <a:pPr lvl="1"/>
            <a:r>
              <a:rPr kumimoji="1" lang="en-US" altLang="ja-JP" dirty="0"/>
              <a:t>Example 1</a:t>
            </a:r>
            <a:r>
              <a:rPr kumimoji="1" lang="ja-JP" altLang="en-US" dirty="0"/>
              <a:t>～</a:t>
            </a:r>
            <a:r>
              <a:rPr kumimoji="1" lang="en-US" altLang="ja-JP" dirty="0"/>
              <a:t>5</a:t>
            </a:r>
            <a:r>
              <a:rPr kumimoji="1" lang="ja-JP" altLang="en-US" dirty="0"/>
              <a:t>について、すべて入力配列の反転で出力されていることを確認</a:t>
            </a:r>
            <a:endParaRPr kumimoji="1" lang="en-US" altLang="ja-JP" dirty="0"/>
          </a:p>
          <a:p>
            <a:pPr lvl="1"/>
            <a:r>
              <a:rPr lang="ja-JP" altLang="ja-JP" dirty="0"/>
              <a:t>変換ルールを判断</a:t>
            </a:r>
            <a:endParaRPr lang="en-US" altLang="ja-JP" dirty="0"/>
          </a:p>
          <a:p>
            <a:pPr lvl="1"/>
            <a:r>
              <a:rPr kumimoji="1" lang="en-US" altLang="ja-JP" dirty="0"/>
              <a:t>Query</a:t>
            </a:r>
            <a:r>
              <a:rPr lang="ja-JP" altLang="en-US" dirty="0"/>
              <a:t>の数字の列にルール</a:t>
            </a:r>
            <a:r>
              <a:rPr kumimoji="1" lang="ja-JP" altLang="en-US" dirty="0"/>
              <a:t>を適用</a:t>
            </a:r>
            <a:endParaRPr kumimoji="1" lang="en-US" altLang="ja-JP" dirty="0"/>
          </a:p>
          <a:p>
            <a:pPr lvl="1"/>
            <a:r>
              <a:rPr lang="ja-JP" altLang="en-US" dirty="0"/>
              <a:t>これは要約したものなので本来はもっと長くて人間っぽい</a:t>
            </a:r>
            <a:endParaRPr kumimoji="1" lang="ja-JP" altLang="en-US" dirty="0"/>
          </a:p>
        </p:txBody>
      </p:sp>
      <p:sp>
        <p:nvSpPr>
          <p:cNvPr id="4" name="コンテンツ プレースホルダー 3">
            <a:extLst>
              <a:ext uri="{FF2B5EF4-FFF2-40B4-BE49-F238E27FC236}">
                <a16:creationId xmlns:a16="http://schemas.microsoft.com/office/drawing/2014/main" id="{57821E49-1694-C7B2-EB7A-2B2AF23CFB5D}"/>
              </a:ext>
            </a:extLst>
          </p:cNvPr>
          <p:cNvSpPr>
            <a:spLocks noGrp="1"/>
          </p:cNvSpPr>
          <p:nvPr>
            <p:ph sz="half" idx="2"/>
          </p:nvPr>
        </p:nvSpPr>
        <p:spPr/>
        <p:txBody>
          <a:bodyPr/>
          <a:lstStyle/>
          <a:p>
            <a:r>
              <a:rPr kumimoji="1" lang="ja-JP" altLang="en-US" dirty="0"/>
              <a:t>最終的な回答</a:t>
            </a:r>
          </a:p>
        </p:txBody>
      </p:sp>
      <p:sp>
        <p:nvSpPr>
          <p:cNvPr id="5" name="スライド番号プレースホルダー 4">
            <a:extLst>
              <a:ext uri="{FF2B5EF4-FFF2-40B4-BE49-F238E27FC236}">
                <a16:creationId xmlns:a16="http://schemas.microsoft.com/office/drawing/2014/main" id="{A1236A5F-946F-ED10-78D1-F3130C3C9978}"/>
              </a:ext>
            </a:extLst>
          </p:cNvPr>
          <p:cNvSpPr>
            <a:spLocks noGrp="1"/>
          </p:cNvSpPr>
          <p:nvPr>
            <p:ph type="sldNum" sz="quarter" idx="12"/>
          </p:nvPr>
        </p:nvSpPr>
        <p:spPr/>
        <p:txBody>
          <a:bodyPr/>
          <a:lstStyle/>
          <a:p>
            <a:fld id="{10649E7B-FC1B-418B-9B6A-00859DB1DEE8}" type="slidenum">
              <a:rPr kumimoji="1" lang="ja-JP" altLang="en-US" smtClean="0"/>
              <a:t>25</a:t>
            </a:fld>
            <a:endParaRPr kumimoji="1" lang="ja-JP" altLang="en-US"/>
          </a:p>
        </p:txBody>
      </p:sp>
      <p:sp>
        <p:nvSpPr>
          <p:cNvPr id="6" name="四角形: 角を丸くする 5">
            <a:extLst>
              <a:ext uri="{FF2B5EF4-FFF2-40B4-BE49-F238E27FC236}">
                <a16:creationId xmlns:a16="http://schemas.microsoft.com/office/drawing/2014/main" id="{58790FD5-3AC8-2E2B-DE89-52E22E6F82BF}"/>
              </a:ext>
            </a:extLst>
          </p:cNvPr>
          <p:cNvSpPr/>
          <p:nvPr/>
        </p:nvSpPr>
        <p:spPr>
          <a:xfrm>
            <a:off x="6321020" y="2460902"/>
            <a:ext cx="5357525" cy="3895448"/>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r>
              <a:rPr lang="en-US" altLang="ja-JP" dirty="0"/>
              <a:t>The transformation rule appears to be reversing the input array. </a:t>
            </a:r>
          </a:p>
          <a:p>
            <a:endParaRPr lang="en-US" altLang="ja-JP" dirty="0"/>
          </a:p>
          <a:p>
            <a:r>
              <a:rPr lang="en-US" altLang="ja-JP" dirty="0"/>
              <a:t>For the input `[3, 5, 1, 3, 9, 3, 3]`, reversing the elements gives:</a:t>
            </a:r>
          </a:p>
          <a:p>
            <a:endParaRPr lang="en-US" altLang="ja-JP" dirty="0"/>
          </a:p>
          <a:p>
            <a:r>
              <a:rPr lang="en-US" altLang="ja-JP" dirty="0"/>
              <a:t>**Output:**  </a:t>
            </a:r>
          </a:p>
          <a:p>
            <a:r>
              <a:rPr lang="en-US" altLang="ja-JP" dirty="0"/>
              <a:t>[3, 3, 9, 3, 1, 5, 3]  </a:t>
            </a:r>
          </a:p>
          <a:p>
            <a:endParaRPr lang="en-US" altLang="ja-JP" dirty="0"/>
          </a:p>
          <a:p>
            <a:r>
              <a:rPr lang="en-US" altLang="ja-JP" dirty="0"/>
              <a:t>**Final Answer:**  </a:t>
            </a:r>
          </a:p>
          <a:p>
            <a:r>
              <a:rPr lang="en-US" altLang="ja-JP" dirty="0"/>
              <a:t>[3, 3, 9, 3, 1, 5, 3]</a:t>
            </a:r>
            <a:endParaRPr kumimoji="1" lang="ja-JP" altLang="en-US" dirty="0"/>
          </a:p>
        </p:txBody>
      </p:sp>
    </p:spTree>
    <p:extLst>
      <p:ext uri="{BB962C8B-B14F-4D97-AF65-F5344CB8AC3E}">
        <p14:creationId xmlns:p14="http://schemas.microsoft.com/office/powerpoint/2010/main" val="234568321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68B1F-2F1B-312A-5FED-07643F9A680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FA2410C-9B82-C206-0B16-F0A798FEFCA0}"/>
              </a:ext>
            </a:extLst>
          </p:cNvPr>
          <p:cNvSpPr>
            <a:spLocks noGrp="1"/>
          </p:cNvSpPr>
          <p:nvPr>
            <p:ph type="title"/>
          </p:nvPr>
        </p:nvSpPr>
        <p:spPr>
          <a:xfrm>
            <a:off x="838200" y="0"/>
            <a:ext cx="10515600" cy="1325563"/>
          </a:xfrm>
        </p:spPr>
        <p:txBody>
          <a:bodyPr/>
          <a:lstStyle/>
          <a:p>
            <a:r>
              <a:rPr lang="ja-JP" altLang="en-US" dirty="0"/>
              <a:t>ベースモデルの失敗例の問題</a:t>
            </a:r>
            <a:endParaRPr kumimoji="1" lang="ja-JP" altLang="en-US" dirty="0"/>
          </a:p>
        </p:txBody>
      </p:sp>
      <p:sp>
        <p:nvSpPr>
          <p:cNvPr id="4" name="スライド番号プレースホルダー 3">
            <a:extLst>
              <a:ext uri="{FF2B5EF4-FFF2-40B4-BE49-F238E27FC236}">
                <a16:creationId xmlns:a16="http://schemas.microsoft.com/office/drawing/2014/main" id="{F8619CE9-C287-0A52-9774-EB5D9EEA3E7B}"/>
              </a:ext>
            </a:extLst>
          </p:cNvPr>
          <p:cNvSpPr>
            <a:spLocks noGrp="1"/>
          </p:cNvSpPr>
          <p:nvPr>
            <p:ph type="sldNum" sz="quarter" idx="12"/>
          </p:nvPr>
        </p:nvSpPr>
        <p:spPr/>
        <p:txBody>
          <a:bodyPr/>
          <a:lstStyle/>
          <a:p>
            <a:fld id="{10649E7B-FC1B-418B-9B6A-00859DB1DEE8}" type="slidenum">
              <a:rPr kumimoji="1" lang="ja-JP" altLang="en-US" smtClean="0"/>
              <a:t>26</a:t>
            </a:fld>
            <a:endParaRPr kumimoji="1" lang="ja-JP" altLang="en-US"/>
          </a:p>
        </p:txBody>
      </p:sp>
      <p:sp>
        <p:nvSpPr>
          <p:cNvPr id="5" name="四角形: 角を丸くする 4">
            <a:extLst>
              <a:ext uri="{FF2B5EF4-FFF2-40B4-BE49-F238E27FC236}">
                <a16:creationId xmlns:a16="http://schemas.microsoft.com/office/drawing/2014/main" id="{89275AA3-6EF3-6356-1372-08F09AA55C1C}"/>
              </a:ext>
            </a:extLst>
          </p:cNvPr>
          <p:cNvSpPr/>
          <p:nvPr/>
        </p:nvSpPr>
        <p:spPr>
          <a:xfrm>
            <a:off x="1067823" y="914400"/>
            <a:ext cx="4559726" cy="5854615"/>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dirty="0"/>
              <a:t>Infer the transformation rule from examples.</a:t>
            </a:r>
          </a:p>
          <a:p>
            <a:r>
              <a:rPr lang="en-US" altLang="ja-JP" dirty="0"/>
              <a:t>Output the final array.</a:t>
            </a:r>
          </a:p>
          <a:p>
            <a:r>
              <a:rPr lang="en-US" altLang="ja-JP" dirty="0"/>
              <a:t>        </a:t>
            </a:r>
          </a:p>
          <a:p>
            <a:r>
              <a:rPr lang="en-US" altLang="ja-JP" dirty="0"/>
              <a:t>Example 1</a:t>
            </a:r>
          </a:p>
          <a:p>
            <a:r>
              <a:rPr lang="en-US" altLang="ja-JP" dirty="0"/>
              <a:t>Input:</a:t>
            </a:r>
          </a:p>
          <a:p>
            <a:r>
              <a:rPr lang="en-US" altLang="ja-JP" dirty="0"/>
              <a:t>[4, 5, 8, 0, 7, 3, 0, 2, 1]</a:t>
            </a:r>
          </a:p>
          <a:p>
            <a:r>
              <a:rPr lang="en-US" altLang="ja-JP" dirty="0"/>
              <a:t>Output:</a:t>
            </a:r>
          </a:p>
          <a:p>
            <a:r>
              <a:rPr lang="en-US" altLang="ja-JP" dirty="0"/>
              <a:t>[1, 2, 0, 3, 7, 0, 8, 5, 4]</a:t>
            </a:r>
          </a:p>
          <a:p>
            <a:endParaRPr lang="en-US" altLang="ja-JP" dirty="0"/>
          </a:p>
          <a:p>
            <a:r>
              <a:rPr lang="en-US" altLang="ja-JP" dirty="0"/>
              <a:t>Example 2</a:t>
            </a:r>
          </a:p>
          <a:p>
            <a:r>
              <a:rPr lang="en-US" altLang="ja-JP" dirty="0"/>
              <a:t>Input:</a:t>
            </a:r>
          </a:p>
          <a:p>
            <a:r>
              <a:rPr lang="en-US" altLang="ja-JP" dirty="0"/>
              <a:t>[7, 3, 6, 8, 1, 9, 3]</a:t>
            </a:r>
          </a:p>
          <a:p>
            <a:r>
              <a:rPr lang="en-US" altLang="ja-JP" dirty="0"/>
              <a:t>Output:</a:t>
            </a:r>
          </a:p>
          <a:p>
            <a:r>
              <a:rPr lang="en-US" altLang="ja-JP" dirty="0"/>
              <a:t>[3, 9, 1, 8, 6, 3, 7]</a:t>
            </a:r>
          </a:p>
          <a:p>
            <a:endParaRPr lang="en-US" altLang="ja-JP" dirty="0"/>
          </a:p>
          <a:p>
            <a:r>
              <a:rPr lang="en-US" altLang="ja-JP" dirty="0"/>
              <a:t>Query</a:t>
            </a:r>
          </a:p>
          <a:p>
            <a:r>
              <a:rPr lang="en-US" altLang="ja-JP" dirty="0"/>
              <a:t>Input:</a:t>
            </a:r>
          </a:p>
          <a:p>
            <a:r>
              <a:rPr lang="en-US" altLang="ja-JP" dirty="0"/>
              <a:t>[5, 3, 8, 3, 2, 3, 6]</a:t>
            </a:r>
          </a:p>
          <a:p>
            <a:r>
              <a:rPr lang="en-US" altLang="ja-JP" dirty="0"/>
              <a:t>Output:</a:t>
            </a:r>
            <a:endParaRPr kumimoji="1" lang="ja-JP" altLang="en-US" dirty="0"/>
          </a:p>
        </p:txBody>
      </p:sp>
      <p:sp>
        <p:nvSpPr>
          <p:cNvPr id="7" name="テキスト ボックス 6">
            <a:extLst>
              <a:ext uri="{FF2B5EF4-FFF2-40B4-BE49-F238E27FC236}">
                <a16:creationId xmlns:a16="http://schemas.microsoft.com/office/drawing/2014/main" id="{5E8CD76C-7B51-C504-1F58-E7C8DEAD41F3}"/>
              </a:ext>
            </a:extLst>
          </p:cNvPr>
          <p:cNvSpPr txBox="1"/>
          <p:nvPr/>
        </p:nvSpPr>
        <p:spPr>
          <a:xfrm>
            <a:off x="284202" y="2164231"/>
            <a:ext cx="553998" cy="2246769"/>
          </a:xfrm>
          <a:prstGeom prst="rect">
            <a:avLst/>
          </a:prstGeom>
          <a:noFill/>
        </p:spPr>
        <p:txBody>
          <a:bodyPr vert="eaVert" wrap="none" rtlCol="0">
            <a:spAutoFit/>
          </a:bodyPr>
          <a:lstStyle/>
          <a:p>
            <a:r>
              <a:rPr lang="ja-JP" altLang="en-US" sz="2400" dirty="0"/>
              <a:t>実際は５つの例</a:t>
            </a:r>
            <a:endParaRPr kumimoji="1" lang="ja-JP" altLang="en-US" sz="2400" dirty="0"/>
          </a:p>
        </p:txBody>
      </p:sp>
      <p:sp>
        <p:nvSpPr>
          <p:cNvPr id="8" name="四角形: 角を丸くする 7">
            <a:extLst>
              <a:ext uri="{FF2B5EF4-FFF2-40B4-BE49-F238E27FC236}">
                <a16:creationId xmlns:a16="http://schemas.microsoft.com/office/drawing/2014/main" id="{D3919A50-C0BE-99B6-36CD-302F20A8B1C7}"/>
              </a:ext>
            </a:extLst>
          </p:cNvPr>
          <p:cNvSpPr/>
          <p:nvPr/>
        </p:nvSpPr>
        <p:spPr>
          <a:xfrm>
            <a:off x="7572950" y="2902760"/>
            <a:ext cx="3375302" cy="2025181"/>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ja-JP" dirty="0"/>
              <a:t>[6, 3, 2, 3, 8, 3, 5]</a:t>
            </a:r>
            <a:endParaRPr kumimoji="1" lang="ja-JP" altLang="en-US" dirty="0"/>
          </a:p>
        </p:txBody>
      </p:sp>
      <p:sp>
        <p:nvSpPr>
          <p:cNvPr id="10" name="矢印: 左カーブ 9">
            <a:extLst>
              <a:ext uri="{FF2B5EF4-FFF2-40B4-BE49-F238E27FC236}">
                <a16:creationId xmlns:a16="http://schemas.microsoft.com/office/drawing/2014/main" id="{94D615A8-F578-36A2-94AB-69D07F3F2AF3}"/>
              </a:ext>
            </a:extLst>
          </p:cNvPr>
          <p:cNvSpPr/>
          <p:nvPr/>
        </p:nvSpPr>
        <p:spPr>
          <a:xfrm>
            <a:off x="3717177" y="2919636"/>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12" name="矢印: 左カーブ 11">
            <a:extLst>
              <a:ext uri="{FF2B5EF4-FFF2-40B4-BE49-F238E27FC236}">
                <a16:creationId xmlns:a16="http://schemas.microsoft.com/office/drawing/2014/main" id="{1C430DC6-FF89-E17C-4556-7A923DCAB7FE}"/>
              </a:ext>
            </a:extLst>
          </p:cNvPr>
          <p:cNvSpPr/>
          <p:nvPr/>
        </p:nvSpPr>
        <p:spPr>
          <a:xfrm>
            <a:off x="3209607" y="4579445"/>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3" name="テキスト ボックス 12">
            <a:extLst>
              <a:ext uri="{FF2B5EF4-FFF2-40B4-BE49-F238E27FC236}">
                <a16:creationId xmlns:a16="http://schemas.microsoft.com/office/drawing/2014/main" id="{6B0BB685-D41D-BD05-3DE8-8719B15289CE}"/>
              </a:ext>
            </a:extLst>
          </p:cNvPr>
          <p:cNvSpPr txBox="1"/>
          <p:nvPr/>
        </p:nvSpPr>
        <p:spPr>
          <a:xfrm>
            <a:off x="4149318" y="2845015"/>
            <a:ext cx="1224315" cy="646331"/>
          </a:xfrm>
          <a:prstGeom prst="rect">
            <a:avLst/>
          </a:prstGeom>
          <a:noFill/>
        </p:spPr>
        <p:txBody>
          <a:bodyPr wrap="square" rtlCol="0">
            <a:spAutoFit/>
          </a:bodyPr>
          <a:lstStyle/>
          <a:p>
            <a:r>
              <a:rPr kumimoji="1" lang="ja-JP" altLang="en-US" dirty="0"/>
              <a:t>順番を</a:t>
            </a:r>
            <a:endParaRPr kumimoji="1" lang="en-US" altLang="ja-JP" dirty="0"/>
          </a:p>
          <a:p>
            <a:r>
              <a:rPr kumimoji="1" lang="ja-JP" altLang="en-US" dirty="0"/>
              <a:t>逆にする</a:t>
            </a:r>
          </a:p>
        </p:txBody>
      </p:sp>
    </p:spTree>
    <p:extLst>
      <p:ext uri="{BB962C8B-B14F-4D97-AF65-F5344CB8AC3E}">
        <p14:creationId xmlns:p14="http://schemas.microsoft.com/office/powerpoint/2010/main" val="3500516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A6EFDDD-24EA-533A-EA8C-44F3C2BC1330}"/>
              </a:ext>
            </a:extLst>
          </p:cNvPr>
          <p:cNvSpPr>
            <a:spLocks noGrp="1"/>
          </p:cNvSpPr>
          <p:nvPr>
            <p:ph type="title"/>
          </p:nvPr>
        </p:nvSpPr>
        <p:spPr/>
        <p:txBody>
          <a:bodyPr/>
          <a:lstStyle/>
          <a:p>
            <a:r>
              <a:rPr kumimoji="1" lang="ja-JP" altLang="en-US" dirty="0"/>
              <a:t>ベースモデルの失敗例の出力</a:t>
            </a:r>
          </a:p>
        </p:txBody>
      </p:sp>
      <p:sp>
        <p:nvSpPr>
          <p:cNvPr id="3" name="コンテンツ プレースホルダー 2">
            <a:extLst>
              <a:ext uri="{FF2B5EF4-FFF2-40B4-BE49-F238E27FC236}">
                <a16:creationId xmlns:a16="http://schemas.microsoft.com/office/drawing/2014/main" id="{03F8DA47-42F0-9BA5-A0F2-8569EC45224C}"/>
              </a:ext>
            </a:extLst>
          </p:cNvPr>
          <p:cNvSpPr>
            <a:spLocks noGrp="1"/>
          </p:cNvSpPr>
          <p:nvPr>
            <p:ph idx="1"/>
          </p:nvPr>
        </p:nvSpPr>
        <p:spPr/>
        <p:txBody>
          <a:bodyPr/>
          <a:lstStyle/>
          <a:p>
            <a:r>
              <a:rPr lang="ja-JP" altLang="en-US" dirty="0"/>
              <a:t>推論の過程を要約したもの</a:t>
            </a:r>
            <a:endParaRPr lang="en-US" altLang="ja-JP" dirty="0"/>
          </a:p>
          <a:p>
            <a:pPr lvl="1"/>
            <a:r>
              <a:rPr lang="ja-JP" altLang="ja-JP" dirty="0"/>
              <a:t>Example 1から出力の要素位置を確認</a:t>
            </a:r>
            <a:endParaRPr lang="en-US" altLang="ja-JP" dirty="0"/>
          </a:p>
          <a:p>
            <a:pPr lvl="1"/>
            <a:r>
              <a:rPr lang="ja-JP" altLang="en-US" dirty="0"/>
              <a:t>「順序を逆にするルール」</a:t>
            </a:r>
            <a:r>
              <a:rPr kumimoji="1" lang="ja-JP" altLang="en-US" dirty="0"/>
              <a:t>の可能性を検討するが、途中で否定 </a:t>
            </a:r>
          </a:p>
          <a:p>
            <a:pPr lvl="1"/>
            <a:r>
              <a:rPr kumimoji="1" lang="en-US" altLang="ja-JP" dirty="0"/>
              <a:t>Example 2</a:t>
            </a:r>
            <a:r>
              <a:rPr kumimoji="1" lang="ja-JP" altLang="en-US" dirty="0"/>
              <a:t>以降について、要素の位置関係を繰り返し検討 </a:t>
            </a:r>
          </a:p>
          <a:p>
            <a:pPr lvl="1"/>
            <a:r>
              <a:rPr kumimoji="1" lang="ja-JP" altLang="en-US" dirty="0"/>
              <a:t>明確なルールを特定できないまま推論が長大化</a:t>
            </a:r>
            <a:endParaRPr kumimoji="1" lang="en-US" altLang="ja-JP" dirty="0"/>
          </a:p>
          <a:p>
            <a:pPr lvl="2"/>
            <a:r>
              <a:rPr lang="ja-JP" altLang="en-US" dirty="0"/>
              <a:t>ただ当てはまりそうなルールを提示するだけで、検証はしなくなってしまった。</a:t>
            </a:r>
            <a:endParaRPr lang="en-US" altLang="ja-JP" dirty="0"/>
          </a:p>
          <a:p>
            <a:pPr lvl="2"/>
            <a:r>
              <a:rPr lang="ja-JP" altLang="en-US" dirty="0"/>
              <a:t>トークンの上限まで</a:t>
            </a:r>
            <a:r>
              <a:rPr kumimoji="1" lang="ja-JP" altLang="en-US" dirty="0"/>
              <a:t>ひたすらルールを提示し続ける</a:t>
            </a:r>
          </a:p>
          <a:p>
            <a:pPr lvl="1"/>
            <a:r>
              <a:rPr kumimoji="1" lang="ja-JP" altLang="en-US" dirty="0"/>
              <a:t>最終的な変換ルール・出力を正しく導出できず</a:t>
            </a:r>
          </a:p>
          <a:p>
            <a:pPr lvl="1"/>
            <a:endParaRPr kumimoji="1" lang="ja-JP" altLang="en-US" dirty="0"/>
          </a:p>
        </p:txBody>
      </p:sp>
      <p:sp>
        <p:nvSpPr>
          <p:cNvPr id="4" name="スライド番号プレースホルダー 3">
            <a:extLst>
              <a:ext uri="{FF2B5EF4-FFF2-40B4-BE49-F238E27FC236}">
                <a16:creationId xmlns:a16="http://schemas.microsoft.com/office/drawing/2014/main" id="{11297AEC-7158-508A-7075-1BAD72FE4A54}"/>
              </a:ext>
            </a:extLst>
          </p:cNvPr>
          <p:cNvSpPr>
            <a:spLocks noGrp="1"/>
          </p:cNvSpPr>
          <p:nvPr>
            <p:ph type="sldNum" sz="quarter" idx="12"/>
          </p:nvPr>
        </p:nvSpPr>
        <p:spPr/>
        <p:txBody>
          <a:bodyPr/>
          <a:lstStyle/>
          <a:p>
            <a:fld id="{10649E7B-FC1B-418B-9B6A-00859DB1DEE8}" type="slidenum">
              <a:rPr kumimoji="1" lang="ja-JP" altLang="en-US" smtClean="0"/>
              <a:t>27</a:t>
            </a:fld>
            <a:endParaRPr kumimoji="1" lang="ja-JP" altLang="en-US"/>
          </a:p>
        </p:txBody>
      </p:sp>
    </p:spTree>
    <p:extLst>
      <p:ext uri="{BB962C8B-B14F-4D97-AF65-F5344CB8AC3E}">
        <p14:creationId xmlns:p14="http://schemas.microsoft.com/office/powerpoint/2010/main" val="9290416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AE27B61-4FBB-E994-7E1C-334C4CEDA5D8}"/>
              </a:ext>
            </a:extLst>
          </p:cNvPr>
          <p:cNvSpPr>
            <a:spLocks noGrp="1"/>
          </p:cNvSpPr>
          <p:nvPr>
            <p:ph type="title"/>
          </p:nvPr>
        </p:nvSpPr>
        <p:spPr/>
        <p:txBody>
          <a:bodyPr/>
          <a:lstStyle/>
          <a:p>
            <a:r>
              <a:rPr kumimoji="1" lang="ja-JP" altLang="en-US" dirty="0"/>
              <a:t>ベースモデルの結果の詳細</a:t>
            </a:r>
          </a:p>
        </p:txBody>
      </p:sp>
      <p:graphicFrame>
        <p:nvGraphicFramePr>
          <p:cNvPr id="5" name="コンテンツ プレースホルダー 4">
            <a:extLst>
              <a:ext uri="{FF2B5EF4-FFF2-40B4-BE49-F238E27FC236}">
                <a16:creationId xmlns:a16="http://schemas.microsoft.com/office/drawing/2014/main" id="{7279F166-B80C-B875-0450-B896BED83A73}"/>
              </a:ext>
            </a:extLst>
          </p:cNvPr>
          <p:cNvGraphicFramePr>
            <a:graphicFrameLocks noGrp="1"/>
          </p:cNvGraphicFramePr>
          <p:nvPr>
            <p:ph idx="1"/>
            <p:extLst>
              <p:ext uri="{D42A27DB-BD31-4B8C-83A1-F6EECF244321}">
                <p14:modId xmlns:p14="http://schemas.microsoft.com/office/powerpoint/2010/main" val="2570504440"/>
              </p:ext>
            </p:extLst>
          </p:nvPr>
        </p:nvGraphicFramePr>
        <p:xfrm>
          <a:off x="1748752" y="1969791"/>
          <a:ext cx="8344668" cy="1583901"/>
        </p:xfrm>
        <a:graphic>
          <a:graphicData uri="http://schemas.openxmlformats.org/drawingml/2006/table">
            <a:tbl>
              <a:tblPr firstRow="1" bandRow="1">
                <a:tableStyleId>{5C22544A-7EE6-4342-B048-85BDC9FD1C3A}</a:tableStyleId>
              </a:tblPr>
              <a:tblGrid>
                <a:gridCol w="2781556">
                  <a:extLst>
                    <a:ext uri="{9D8B030D-6E8A-4147-A177-3AD203B41FA5}">
                      <a16:colId xmlns:a16="http://schemas.microsoft.com/office/drawing/2014/main" val="2394308489"/>
                    </a:ext>
                  </a:extLst>
                </a:gridCol>
                <a:gridCol w="2781556">
                  <a:extLst>
                    <a:ext uri="{9D8B030D-6E8A-4147-A177-3AD203B41FA5}">
                      <a16:colId xmlns:a16="http://schemas.microsoft.com/office/drawing/2014/main" val="867807463"/>
                    </a:ext>
                  </a:extLst>
                </a:gridCol>
                <a:gridCol w="2781556">
                  <a:extLst>
                    <a:ext uri="{9D8B030D-6E8A-4147-A177-3AD203B41FA5}">
                      <a16:colId xmlns:a16="http://schemas.microsoft.com/office/drawing/2014/main" val="2499767942"/>
                    </a:ext>
                  </a:extLst>
                </a:gridCol>
              </a:tblGrid>
              <a:tr h="943821">
                <a:tc>
                  <a:txBody>
                    <a:bodyPr/>
                    <a:lstStyle/>
                    <a:p>
                      <a:pPr algn="ctr"/>
                      <a:endParaRPr kumimoji="1" lang="ja-JP" altLang="en-US" dirty="0"/>
                    </a:p>
                  </a:txBody>
                  <a:tcPr anchor="ctr"/>
                </a:tc>
                <a:tc>
                  <a:txBody>
                    <a:bodyPr/>
                    <a:lstStyle/>
                    <a:p>
                      <a:pPr algn="ctr"/>
                      <a:r>
                        <a:rPr kumimoji="1" lang="ja-JP" altLang="en-US" dirty="0"/>
                        <a:t>処理単体</a:t>
                      </a:r>
                    </a:p>
                  </a:txBody>
                  <a:tcPr anchor="ctr"/>
                </a:tc>
                <a:tc>
                  <a:txBody>
                    <a:bodyPr/>
                    <a:lstStyle/>
                    <a:p>
                      <a:pPr algn="ctr"/>
                      <a:r>
                        <a:rPr kumimoji="1" lang="ja-JP" altLang="en-US" dirty="0"/>
                        <a:t>２つの処理の組み合わせ</a:t>
                      </a:r>
                    </a:p>
                  </a:txBody>
                  <a:tcPr anchor="ctr"/>
                </a:tc>
                <a:extLst>
                  <a:ext uri="{0D108BD9-81ED-4DB2-BD59-A6C34878D82A}">
                    <a16:rowId xmlns:a16="http://schemas.microsoft.com/office/drawing/2014/main" val="2407331181"/>
                  </a:ext>
                </a:extLst>
              </a:tr>
              <a:tr h="546817">
                <a:tc>
                  <a:txBody>
                    <a:bodyPr/>
                    <a:lstStyle/>
                    <a:p>
                      <a:pPr algn="ctr"/>
                      <a:r>
                        <a:rPr kumimoji="1" lang="ja-JP" altLang="en-US" dirty="0"/>
                        <a:t>テストデータその</a:t>
                      </a:r>
                      <a:r>
                        <a:rPr kumimoji="1" lang="en-US" altLang="ja-JP" dirty="0"/>
                        <a:t>1</a:t>
                      </a:r>
                      <a:endParaRPr kumimoji="1" lang="ja-JP" altLang="en-US" dirty="0"/>
                    </a:p>
                  </a:txBody>
                  <a:tcPr anchor="ctr"/>
                </a:tc>
                <a:tc>
                  <a:txBody>
                    <a:bodyPr/>
                    <a:lstStyle/>
                    <a:p>
                      <a:pPr algn="ctr"/>
                      <a:r>
                        <a:rPr kumimoji="1" lang="en-US" altLang="zh-TW" dirty="0"/>
                        <a:t>205/</a:t>
                      </a:r>
                      <a:r>
                        <a:rPr kumimoji="1" lang="ja-JP" altLang="ja-JP" sz="1800" b="0" i="0" kern="1200" dirty="0">
                          <a:solidFill>
                            <a:schemeClr val="dk1"/>
                          </a:solidFill>
                          <a:effectLst/>
                          <a:latin typeface="+mn-lt"/>
                          <a:ea typeface="+mn-ea"/>
                          <a:cs typeface="+mn-cs"/>
                        </a:rPr>
                        <a:t>240</a:t>
                      </a:r>
                      <a:endParaRPr kumimoji="1" lang="en-US" altLang="ja-JP" sz="1800" b="0" i="0" kern="1200" dirty="0">
                        <a:solidFill>
                          <a:schemeClr val="dk1"/>
                        </a:solidFill>
                        <a:effectLst/>
                        <a:latin typeface="+mn-lt"/>
                        <a:ea typeface="+mn-ea"/>
                        <a:cs typeface="+mn-cs"/>
                      </a:endParaRPr>
                    </a:p>
                    <a:p>
                      <a:pPr algn="ctr"/>
                      <a:r>
                        <a:rPr kumimoji="1" lang="en-US" altLang="ja-JP" sz="1800" b="0" i="0" kern="1200" dirty="0">
                          <a:solidFill>
                            <a:schemeClr val="dk1"/>
                          </a:solidFill>
                          <a:effectLst/>
                          <a:latin typeface="+mn-lt"/>
                          <a:ea typeface="+mn-ea"/>
                          <a:cs typeface="+mn-cs"/>
                        </a:rPr>
                        <a:t>85.4%</a:t>
                      </a:r>
                      <a:endParaRPr kumimoji="1" lang="ja-JP" altLang="en-US" dirty="0"/>
                    </a:p>
                  </a:txBody>
                  <a:tcPr anchor="ctr"/>
                </a:tc>
                <a:tc>
                  <a:txBody>
                    <a:bodyPr/>
                    <a:lstStyle/>
                    <a:p>
                      <a:pPr algn="ctr"/>
                      <a:r>
                        <a:rPr kumimoji="1" lang="en-US" altLang="zh-TW" dirty="0"/>
                        <a:t>106/480</a:t>
                      </a:r>
                    </a:p>
                    <a:p>
                      <a:pPr algn="ctr"/>
                      <a:r>
                        <a:rPr kumimoji="1" lang="en-US" altLang="ja-JP" dirty="0"/>
                        <a:t>22.0%</a:t>
                      </a:r>
                      <a:endParaRPr kumimoji="1" lang="ja-JP" altLang="en-US" dirty="0"/>
                    </a:p>
                  </a:txBody>
                  <a:tcPr anchor="ctr"/>
                </a:tc>
                <a:extLst>
                  <a:ext uri="{0D108BD9-81ED-4DB2-BD59-A6C34878D82A}">
                    <a16:rowId xmlns:a16="http://schemas.microsoft.com/office/drawing/2014/main" val="4205910191"/>
                  </a:ext>
                </a:extLst>
              </a:tr>
            </a:tbl>
          </a:graphicData>
        </a:graphic>
      </p:graphicFrame>
      <p:sp>
        <p:nvSpPr>
          <p:cNvPr id="4" name="スライド番号プレースホルダー 3">
            <a:extLst>
              <a:ext uri="{FF2B5EF4-FFF2-40B4-BE49-F238E27FC236}">
                <a16:creationId xmlns:a16="http://schemas.microsoft.com/office/drawing/2014/main" id="{F799C344-A712-0077-0E44-1C8A0DE565D2}"/>
              </a:ext>
            </a:extLst>
          </p:cNvPr>
          <p:cNvSpPr>
            <a:spLocks noGrp="1"/>
          </p:cNvSpPr>
          <p:nvPr>
            <p:ph type="sldNum" sz="quarter" idx="12"/>
          </p:nvPr>
        </p:nvSpPr>
        <p:spPr/>
        <p:txBody>
          <a:bodyPr/>
          <a:lstStyle/>
          <a:p>
            <a:fld id="{10649E7B-FC1B-418B-9B6A-00859DB1DEE8}" type="slidenum">
              <a:rPr kumimoji="1" lang="ja-JP" altLang="en-US" smtClean="0"/>
              <a:t>28</a:t>
            </a:fld>
            <a:endParaRPr kumimoji="1" lang="ja-JP" altLang="en-US"/>
          </a:p>
        </p:txBody>
      </p:sp>
      <p:sp>
        <p:nvSpPr>
          <p:cNvPr id="7" name="テキスト ボックス 6">
            <a:extLst>
              <a:ext uri="{FF2B5EF4-FFF2-40B4-BE49-F238E27FC236}">
                <a16:creationId xmlns:a16="http://schemas.microsoft.com/office/drawing/2014/main" id="{D6C6A9B0-C16C-55CF-DF0C-E86F564BC0B6}"/>
              </a:ext>
            </a:extLst>
          </p:cNvPr>
          <p:cNvSpPr txBox="1"/>
          <p:nvPr/>
        </p:nvSpPr>
        <p:spPr>
          <a:xfrm>
            <a:off x="928255" y="6077247"/>
            <a:ext cx="9985663" cy="369332"/>
          </a:xfrm>
          <a:prstGeom prst="rect">
            <a:avLst/>
          </a:prstGeom>
          <a:noFill/>
        </p:spPr>
        <p:txBody>
          <a:bodyPr wrap="square" rtlCol="0">
            <a:spAutoFit/>
          </a:bodyPr>
          <a:lstStyle/>
          <a:p>
            <a:r>
              <a:rPr kumimoji="1" lang="ja-JP" altLang="en-US" dirty="0"/>
              <a:t>テストデータその</a:t>
            </a:r>
            <a:r>
              <a:rPr kumimoji="1" lang="en-US" altLang="ja-JP" dirty="0"/>
              <a:t>1</a:t>
            </a:r>
            <a:r>
              <a:rPr kumimoji="1" lang="ja-JP" altLang="en-US" dirty="0"/>
              <a:t>：</a:t>
            </a:r>
            <a:r>
              <a:rPr lang="ja-JP" altLang="en-US" dirty="0"/>
              <a:t>訓練用のデータの問題と同じルール</a:t>
            </a:r>
            <a:endParaRPr lang="en-US" altLang="ja-JP" dirty="0"/>
          </a:p>
        </p:txBody>
      </p:sp>
    </p:spTree>
    <p:extLst>
      <p:ext uri="{BB962C8B-B14F-4D97-AF65-F5344CB8AC3E}">
        <p14:creationId xmlns:p14="http://schemas.microsoft.com/office/powerpoint/2010/main" val="9851110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6273-9E38-5836-589B-FAF95A51CD0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4D9EB27-D3BF-D4DC-3B0F-F4FCA1A7C969}"/>
              </a:ext>
            </a:extLst>
          </p:cNvPr>
          <p:cNvSpPr>
            <a:spLocks noGrp="1"/>
          </p:cNvSpPr>
          <p:nvPr>
            <p:ph type="title"/>
          </p:nvPr>
        </p:nvSpPr>
        <p:spPr/>
        <p:txBody>
          <a:bodyPr/>
          <a:lstStyle/>
          <a:p>
            <a:r>
              <a:rPr kumimoji="1" lang="ja-JP" altLang="en-US" dirty="0"/>
              <a:t>答えのみの</a:t>
            </a:r>
            <a:r>
              <a:rPr kumimoji="1" lang="en-US" altLang="ja-JP" dirty="0"/>
              <a:t>SFT</a:t>
            </a:r>
            <a:r>
              <a:rPr kumimoji="1" lang="ja-JP" altLang="en-US" dirty="0"/>
              <a:t>の結果の詳細</a:t>
            </a:r>
          </a:p>
        </p:txBody>
      </p:sp>
      <p:graphicFrame>
        <p:nvGraphicFramePr>
          <p:cNvPr id="5" name="コンテンツ プレースホルダー 4">
            <a:extLst>
              <a:ext uri="{FF2B5EF4-FFF2-40B4-BE49-F238E27FC236}">
                <a16:creationId xmlns:a16="http://schemas.microsoft.com/office/drawing/2014/main" id="{21C72F0C-AA25-C794-74FD-87765DB20E6C}"/>
              </a:ext>
            </a:extLst>
          </p:cNvPr>
          <p:cNvGraphicFramePr>
            <a:graphicFrameLocks noGrp="1"/>
          </p:cNvGraphicFramePr>
          <p:nvPr>
            <p:ph idx="1"/>
            <p:extLst>
              <p:ext uri="{D42A27DB-BD31-4B8C-83A1-F6EECF244321}">
                <p14:modId xmlns:p14="http://schemas.microsoft.com/office/powerpoint/2010/main" val="3379968431"/>
              </p:ext>
            </p:extLst>
          </p:nvPr>
        </p:nvGraphicFramePr>
        <p:xfrm>
          <a:off x="1748752" y="1969791"/>
          <a:ext cx="8344668" cy="1583901"/>
        </p:xfrm>
        <a:graphic>
          <a:graphicData uri="http://schemas.openxmlformats.org/drawingml/2006/table">
            <a:tbl>
              <a:tblPr firstRow="1" bandRow="1">
                <a:tableStyleId>{5C22544A-7EE6-4342-B048-85BDC9FD1C3A}</a:tableStyleId>
              </a:tblPr>
              <a:tblGrid>
                <a:gridCol w="2781556">
                  <a:extLst>
                    <a:ext uri="{9D8B030D-6E8A-4147-A177-3AD203B41FA5}">
                      <a16:colId xmlns:a16="http://schemas.microsoft.com/office/drawing/2014/main" val="2394308489"/>
                    </a:ext>
                  </a:extLst>
                </a:gridCol>
                <a:gridCol w="2781556">
                  <a:extLst>
                    <a:ext uri="{9D8B030D-6E8A-4147-A177-3AD203B41FA5}">
                      <a16:colId xmlns:a16="http://schemas.microsoft.com/office/drawing/2014/main" val="867807463"/>
                    </a:ext>
                  </a:extLst>
                </a:gridCol>
                <a:gridCol w="2781556">
                  <a:extLst>
                    <a:ext uri="{9D8B030D-6E8A-4147-A177-3AD203B41FA5}">
                      <a16:colId xmlns:a16="http://schemas.microsoft.com/office/drawing/2014/main" val="2499767942"/>
                    </a:ext>
                  </a:extLst>
                </a:gridCol>
              </a:tblGrid>
              <a:tr h="943821">
                <a:tc>
                  <a:txBody>
                    <a:bodyPr/>
                    <a:lstStyle/>
                    <a:p>
                      <a:pPr algn="ctr"/>
                      <a:endParaRPr kumimoji="1" lang="ja-JP" altLang="en-US" dirty="0"/>
                    </a:p>
                  </a:txBody>
                  <a:tcPr anchor="ctr"/>
                </a:tc>
                <a:tc>
                  <a:txBody>
                    <a:bodyPr/>
                    <a:lstStyle/>
                    <a:p>
                      <a:pPr algn="ctr"/>
                      <a:r>
                        <a:rPr kumimoji="1" lang="ja-JP" altLang="en-US" dirty="0"/>
                        <a:t>処理単体</a:t>
                      </a:r>
                    </a:p>
                  </a:txBody>
                  <a:tcPr anchor="ctr"/>
                </a:tc>
                <a:tc>
                  <a:txBody>
                    <a:bodyPr/>
                    <a:lstStyle/>
                    <a:p>
                      <a:pPr algn="ctr"/>
                      <a:r>
                        <a:rPr kumimoji="1" lang="ja-JP" altLang="en-US" dirty="0"/>
                        <a:t>２つの処理の組み合わせ</a:t>
                      </a:r>
                    </a:p>
                  </a:txBody>
                  <a:tcPr anchor="ctr"/>
                </a:tc>
                <a:extLst>
                  <a:ext uri="{0D108BD9-81ED-4DB2-BD59-A6C34878D82A}">
                    <a16:rowId xmlns:a16="http://schemas.microsoft.com/office/drawing/2014/main" val="2407331181"/>
                  </a:ext>
                </a:extLst>
              </a:tr>
              <a:tr h="546817">
                <a:tc>
                  <a:txBody>
                    <a:bodyPr/>
                    <a:lstStyle/>
                    <a:p>
                      <a:pPr algn="ctr"/>
                      <a:r>
                        <a:rPr kumimoji="1" lang="ja-JP" altLang="en-US" dirty="0"/>
                        <a:t>テストデータその</a:t>
                      </a:r>
                      <a:r>
                        <a:rPr kumimoji="1" lang="en-US" altLang="ja-JP" dirty="0"/>
                        <a:t>1</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208</a:t>
                      </a:r>
                      <a:r>
                        <a:rPr kumimoji="1" lang="en-US" altLang="zh-TW" dirty="0"/>
                        <a:t>/</a:t>
                      </a:r>
                      <a:r>
                        <a:rPr kumimoji="1" lang="ja-JP" altLang="ja-JP" sz="1800" b="0" i="0" kern="1200" dirty="0">
                          <a:solidFill>
                            <a:schemeClr val="dk1"/>
                          </a:solidFill>
                          <a:effectLst/>
                          <a:latin typeface="+mn-lt"/>
                          <a:ea typeface="+mn-ea"/>
                          <a:cs typeface="+mn-cs"/>
                        </a:rPr>
                        <a:t>240</a:t>
                      </a:r>
                      <a:endParaRPr kumimoji="1" lang="en-US" altLang="ja-JP" sz="1800" b="0" i="0" kern="1200" dirty="0">
                        <a:solidFill>
                          <a:schemeClr val="dk1"/>
                        </a:solidFill>
                        <a:effectLst/>
                        <a:latin typeface="+mn-lt"/>
                        <a:ea typeface="+mn-ea"/>
                        <a:cs typeface="+mn-cs"/>
                      </a:endParaRPr>
                    </a:p>
                    <a:p>
                      <a:pPr algn="ctr"/>
                      <a:r>
                        <a:rPr kumimoji="1" lang="en-US" altLang="ja-JP" sz="1800" b="0" i="0" kern="1200" dirty="0">
                          <a:solidFill>
                            <a:schemeClr val="dk1"/>
                          </a:solidFill>
                          <a:effectLst/>
                          <a:latin typeface="+mn-lt"/>
                          <a:ea typeface="+mn-ea"/>
                          <a:cs typeface="+mn-cs"/>
                        </a:rPr>
                        <a:t>86.6%</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276</a:t>
                      </a:r>
                      <a:r>
                        <a:rPr kumimoji="1" lang="en-US" altLang="zh-TW" dirty="0"/>
                        <a:t>/480</a:t>
                      </a:r>
                    </a:p>
                    <a:p>
                      <a:pPr algn="ctr"/>
                      <a:r>
                        <a:rPr kumimoji="1" lang="en-US" altLang="ja-JP" dirty="0"/>
                        <a:t>62.7%</a:t>
                      </a:r>
                      <a:endParaRPr kumimoji="1" lang="ja-JP" altLang="en-US" dirty="0"/>
                    </a:p>
                  </a:txBody>
                  <a:tcPr anchor="ctr"/>
                </a:tc>
                <a:extLst>
                  <a:ext uri="{0D108BD9-81ED-4DB2-BD59-A6C34878D82A}">
                    <a16:rowId xmlns:a16="http://schemas.microsoft.com/office/drawing/2014/main" val="4205910191"/>
                  </a:ext>
                </a:extLst>
              </a:tr>
            </a:tbl>
          </a:graphicData>
        </a:graphic>
      </p:graphicFrame>
      <p:sp>
        <p:nvSpPr>
          <p:cNvPr id="4" name="スライド番号プレースホルダー 3">
            <a:extLst>
              <a:ext uri="{FF2B5EF4-FFF2-40B4-BE49-F238E27FC236}">
                <a16:creationId xmlns:a16="http://schemas.microsoft.com/office/drawing/2014/main" id="{C06F8090-52BC-B7F4-7C3F-F22AD41B5D03}"/>
              </a:ext>
            </a:extLst>
          </p:cNvPr>
          <p:cNvSpPr>
            <a:spLocks noGrp="1"/>
          </p:cNvSpPr>
          <p:nvPr>
            <p:ph type="sldNum" sz="quarter" idx="12"/>
          </p:nvPr>
        </p:nvSpPr>
        <p:spPr/>
        <p:txBody>
          <a:bodyPr/>
          <a:lstStyle/>
          <a:p>
            <a:fld id="{10649E7B-FC1B-418B-9B6A-00859DB1DEE8}" type="slidenum">
              <a:rPr kumimoji="1" lang="ja-JP" altLang="en-US" smtClean="0"/>
              <a:t>29</a:t>
            </a:fld>
            <a:endParaRPr kumimoji="1" lang="ja-JP" altLang="en-US"/>
          </a:p>
        </p:txBody>
      </p:sp>
      <p:sp>
        <p:nvSpPr>
          <p:cNvPr id="7" name="テキスト ボックス 6">
            <a:extLst>
              <a:ext uri="{FF2B5EF4-FFF2-40B4-BE49-F238E27FC236}">
                <a16:creationId xmlns:a16="http://schemas.microsoft.com/office/drawing/2014/main" id="{9D00563A-92EA-A4FF-316A-84B64C7B8BDC}"/>
              </a:ext>
            </a:extLst>
          </p:cNvPr>
          <p:cNvSpPr txBox="1"/>
          <p:nvPr/>
        </p:nvSpPr>
        <p:spPr>
          <a:xfrm>
            <a:off x="928255" y="6077247"/>
            <a:ext cx="9985663" cy="369332"/>
          </a:xfrm>
          <a:prstGeom prst="rect">
            <a:avLst/>
          </a:prstGeom>
          <a:noFill/>
        </p:spPr>
        <p:txBody>
          <a:bodyPr wrap="square" rtlCol="0">
            <a:spAutoFit/>
          </a:bodyPr>
          <a:lstStyle/>
          <a:p>
            <a:r>
              <a:rPr kumimoji="1" lang="ja-JP" altLang="en-US" dirty="0"/>
              <a:t>テストデータその</a:t>
            </a:r>
            <a:r>
              <a:rPr kumimoji="1" lang="en-US" altLang="ja-JP" dirty="0"/>
              <a:t>1</a:t>
            </a:r>
            <a:r>
              <a:rPr kumimoji="1" lang="ja-JP" altLang="en-US" dirty="0"/>
              <a:t>：</a:t>
            </a:r>
            <a:r>
              <a:rPr lang="ja-JP" altLang="en-US" dirty="0"/>
              <a:t>訓練用のデータの問題と同じルール</a:t>
            </a:r>
            <a:endParaRPr lang="en-US" altLang="ja-JP" dirty="0"/>
          </a:p>
        </p:txBody>
      </p:sp>
    </p:spTree>
    <p:extLst>
      <p:ext uri="{BB962C8B-B14F-4D97-AF65-F5344CB8AC3E}">
        <p14:creationId xmlns:p14="http://schemas.microsoft.com/office/powerpoint/2010/main" val="41251038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5C9D1E-0A8A-4BEF-5870-8915B22AD63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3B02451-6D6B-D759-81D3-43AA21AE2526}"/>
              </a:ext>
            </a:extLst>
          </p:cNvPr>
          <p:cNvSpPr>
            <a:spLocks noGrp="1"/>
          </p:cNvSpPr>
          <p:nvPr>
            <p:ph type="title"/>
          </p:nvPr>
        </p:nvSpPr>
        <p:spPr/>
        <p:txBody>
          <a:bodyPr/>
          <a:lstStyle/>
          <a:p>
            <a:r>
              <a:rPr kumimoji="1" lang="ja-JP" altLang="en-US" dirty="0"/>
              <a:t>答え＋処理過程の</a:t>
            </a:r>
            <a:r>
              <a:rPr kumimoji="1" lang="en-US" altLang="ja-JP" dirty="0"/>
              <a:t>SFT</a:t>
            </a:r>
            <a:r>
              <a:rPr kumimoji="1" lang="ja-JP" altLang="en-US" dirty="0"/>
              <a:t>の結果の詳細</a:t>
            </a:r>
          </a:p>
        </p:txBody>
      </p:sp>
      <p:graphicFrame>
        <p:nvGraphicFramePr>
          <p:cNvPr id="5" name="コンテンツ プレースホルダー 4">
            <a:extLst>
              <a:ext uri="{FF2B5EF4-FFF2-40B4-BE49-F238E27FC236}">
                <a16:creationId xmlns:a16="http://schemas.microsoft.com/office/drawing/2014/main" id="{526011ED-6CCB-5AB2-F23F-5AF06DBEE8BD}"/>
              </a:ext>
            </a:extLst>
          </p:cNvPr>
          <p:cNvGraphicFramePr>
            <a:graphicFrameLocks noGrp="1"/>
          </p:cNvGraphicFramePr>
          <p:nvPr>
            <p:ph idx="1"/>
            <p:extLst>
              <p:ext uri="{D42A27DB-BD31-4B8C-83A1-F6EECF244321}">
                <p14:modId xmlns:p14="http://schemas.microsoft.com/office/powerpoint/2010/main" val="283703905"/>
              </p:ext>
            </p:extLst>
          </p:nvPr>
        </p:nvGraphicFramePr>
        <p:xfrm>
          <a:off x="1748752" y="1969791"/>
          <a:ext cx="8344668" cy="1583901"/>
        </p:xfrm>
        <a:graphic>
          <a:graphicData uri="http://schemas.openxmlformats.org/drawingml/2006/table">
            <a:tbl>
              <a:tblPr firstRow="1" bandRow="1">
                <a:tableStyleId>{5C22544A-7EE6-4342-B048-85BDC9FD1C3A}</a:tableStyleId>
              </a:tblPr>
              <a:tblGrid>
                <a:gridCol w="2781556">
                  <a:extLst>
                    <a:ext uri="{9D8B030D-6E8A-4147-A177-3AD203B41FA5}">
                      <a16:colId xmlns:a16="http://schemas.microsoft.com/office/drawing/2014/main" val="2394308489"/>
                    </a:ext>
                  </a:extLst>
                </a:gridCol>
                <a:gridCol w="2781556">
                  <a:extLst>
                    <a:ext uri="{9D8B030D-6E8A-4147-A177-3AD203B41FA5}">
                      <a16:colId xmlns:a16="http://schemas.microsoft.com/office/drawing/2014/main" val="867807463"/>
                    </a:ext>
                  </a:extLst>
                </a:gridCol>
                <a:gridCol w="2781556">
                  <a:extLst>
                    <a:ext uri="{9D8B030D-6E8A-4147-A177-3AD203B41FA5}">
                      <a16:colId xmlns:a16="http://schemas.microsoft.com/office/drawing/2014/main" val="2499767942"/>
                    </a:ext>
                  </a:extLst>
                </a:gridCol>
              </a:tblGrid>
              <a:tr h="943821">
                <a:tc>
                  <a:txBody>
                    <a:bodyPr/>
                    <a:lstStyle/>
                    <a:p>
                      <a:endParaRPr kumimoji="1" lang="ja-JP" altLang="en-US" dirty="0"/>
                    </a:p>
                  </a:txBody>
                  <a:tcPr anchor="ctr"/>
                </a:tc>
                <a:tc>
                  <a:txBody>
                    <a:bodyPr/>
                    <a:lstStyle/>
                    <a:p>
                      <a:pPr algn="ctr"/>
                      <a:r>
                        <a:rPr kumimoji="1" lang="ja-JP" altLang="en-US" dirty="0"/>
                        <a:t>処理単体</a:t>
                      </a:r>
                    </a:p>
                  </a:txBody>
                  <a:tcPr anchor="ctr"/>
                </a:tc>
                <a:tc>
                  <a:txBody>
                    <a:bodyPr/>
                    <a:lstStyle/>
                    <a:p>
                      <a:pPr algn="ctr"/>
                      <a:r>
                        <a:rPr kumimoji="1" lang="ja-JP" altLang="en-US" dirty="0"/>
                        <a:t>２つの処理の組み合わせ</a:t>
                      </a:r>
                    </a:p>
                  </a:txBody>
                  <a:tcPr anchor="ctr"/>
                </a:tc>
                <a:extLst>
                  <a:ext uri="{0D108BD9-81ED-4DB2-BD59-A6C34878D82A}">
                    <a16:rowId xmlns:a16="http://schemas.microsoft.com/office/drawing/2014/main" val="2407331181"/>
                  </a:ext>
                </a:extLst>
              </a:tr>
              <a:tr h="546817">
                <a:tc>
                  <a:txBody>
                    <a:bodyPr/>
                    <a:lstStyle/>
                    <a:p>
                      <a:pPr algn="ctr"/>
                      <a:r>
                        <a:rPr kumimoji="1" lang="ja-JP" altLang="en-US" dirty="0"/>
                        <a:t>テストデータその</a:t>
                      </a:r>
                      <a:r>
                        <a:rPr kumimoji="1" lang="en-US" altLang="ja-JP" dirty="0"/>
                        <a:t>1</a:t>
                      </a:r>
                      <a:endParaRPr kumimoji="1" lang="ja-JP" altLang="en-US" dirty="0"/>
                    </a:p>
                  </a:txBody>
                  <a:tcPr anchor="ctr"/>
                </a:tc>
                <a:tc>
                  <a:txBody>
                    <a:bodyPr/>
                    <a:lstStyle/>
                    <a:p>
                      <a:pPr algn="ctr"/>
                      <a:r>
                        <a:rPr kumimoji="1" lang="en-US" altLang="ja-JP" sz="1800" b="0" i="0" kern="1200" dirty="0">
                          <a:solidFill>
                            <a:schemeClr val="dk1"/>
                          </a:solidFill>
                          <a:effectLst/>
                          <a:latin typeface="+mn-lt"/>
                          <a:ea typeface="+mn-ea"/>
                          <a:cs typeface="+mn-cs"/>
                        </a:rPr>
                        <a:t>201</a:t>
                      </a:r>
                      <a:r>
                        <a:rPr kumimoji="1" lang="en-US" altLang="zh-TW" dirty="0"/>
                        <a:t>/</a:t>
                      </a:r>
                      <a:r>
                        <a:rPr kumimoji="1" lang="ja-JP" altLang="ja-JP" sz="1800" b="0" i="0" kern="1200" dirty="0">
                          <a:solidFill>
                            <a:schemeClr val="dk1"/>
                          </a:solidFill>
                          <a:effectLst/>
                          <a:latin typeface="+mn-lt"/>
                          <a:ea typeface="+mn-ea"/>
                          <a:cs typeface="+mn-cs"/>
                        </a:rPr>
                        <a:t>240</a:t>
                      </a:r>
                      <a:endParaRPr kumimoji="1" lang="en-US" altLang="ja-JP" sz="1800" b="0" i="0" kern="1200" dirty="0">
                        <a:solidFill>
                          <a:schemeClr val="dk1"/>
                        </a:solidFill>
                        <a:effectLst/>
                        <a:latin typeface="+mn-lt"/>
                        <a:ea typeface="+mn-ea"/>
                        <a:cs typeface="+mn-cs"/>
                      </a:endParaRPr>
                    </a:p>
                    <a:p>
                      <a:pPr algn="ctr"/>
                      <a:r>
                        <a:rPr kumimoji="1" lang="en-US" altLang="ja-JP" sz="1800" b="0" i="0" kern="1200" dirty="0">
                          <a:solidFill>
                            <a:schemeClr val="dk1"/>
                          </a:solidFill>
                          <a:effectLst/>
                          <a:latin typeface="+mn-lt"/>
                          <a:ea typeface="+mn-ea"/>
                          <a:cs typeface="+mn-cs"/>
                        </a:rPr>
                        <a:t>83.7%</a:t>
                      </a:r>
                      <a:endParaRPr kumimoji="1" lang="ja-JP" altLang="en-US" dirty="0"/>
                    </a:p>
                  </a:txBody>
                  <a:tcPr anchor="ctr"/>
                </a:tc>
                <a:tc>
                  <a:txBody>
                    <a:bodyPr/>
                    <a:lstStyle/>
                    <a:p>
                      <a:pPr algn="ctr"/>
                      <a:r>
                        <a:rPr kumimoji="1" lang="en-US" altLang="ja-JP" sz="1800" b="0" i="0" kern="1200" dirty="0">
                          <a:solidFill>
                            <a:schemeClr val="dk1"/>
                          </a:solidFill>
                          <a:effectLst/>
                          <a:latin typeface="+mn-lt"/>
                          <a:ea typeface="+mn-ea"/>
                          <a:cs typeface="+mn-cs"/>
                        </a:rPr>
                        <a:t>362</a:t>
                      </a:r>
                      <a:r>
                        <a:rPr kumimoji="1" lang="en-US" altLang="zh-TW" dirty="0"/>
                        <a:t>/4</a:t>
                      </a:r>
                      <a:r>
                        <a:rPr kumimoji="1" lang="en-US" altLang="ja-JP" dirty="0"/>
                        <a:t>60</a:t>
                      </a:r>
                      <a:endParaRPr kumimoji="1" lang="en-US" altLang="zh-TW" dirty="0"/>
                    </a:p>
                    <a:p>
                      <a:pPr algn="ctr"/>
                      <a:r>
                        <a:rPr kumimoji="1" lang="en-US" altLang="ja-JP" dirty="0"/>
                        <a:t>78.6%</a:t>
                      </a:r>
                      <a:endParaRPr kumimoji="1" lang="ja-JP" altLang="en-US" dirty="0"/>
                    </a:p>
                  </a:txBody>
                  <a:tcPr anchor="ctr"/>
                </a:tc>
                <a:extLst>
                  <a:ext uri="{0D108BD9-81ED-4DB2-BD59-A6C34878D82A}">
                    <a16:rowId xmlns:a16="http://schemas.microsoft.com/office/drawing/2014/main" val="4205910191"/>
                  </a:ext>
                </a:extLst>
              </a:tr>
            </a:tbl>
          </a:graphicData>
        </a:graphic>
      </p:graphicFrame>
      <p:sp>
        <p:nvSpPr>
          <p:cNvPr id="4" name="スライド番号プレースホルダー 3">
            <a:extLst>
              <a:ext uri="{FF2B5EF4-FFF2-40B4-BE49-F238E27FC236}">
                <a16:creationId xmlns:a16="http://schemas.microsoft.com/office/drawing/2014/main" id="{B493540B-A119-3FD0-F87F-84C1545AECC5}"/>
              </a:ext>
            </a:extLst>
          </p:cNvPr>
          <p:cNvSpPr>
            <a:spLocks noGrp="1"/>
          </p:cNvSpPr>
          <p:nvPr>
            <p:ph type="sldNum" sz="quarter" idx="12"/>
          </p:nvPr>
        </p:nvSpPr>
        <p:spPr/>
        <p:txBody>
          <a:bodyPr/>
          <a:lstStyle/>
          <a:p>
            <a:fld id="{10649E7B-FC1B-418B-9B6A-00859DB1DEE8}" type="slidenum">
              <a:rPr kumimoji="1" lang="ja-JP" altLang="en-US" smtClean="0"/>
              <a:t>30</a:t>
            </a:fld>
            <a:endParaRPr kumimoji="1" lang="ja-JP" altLang="en-US"/>
          </a:p>
        </p:txBody>
      </p:sp>
      <p:sp>
        <p:nvSpPr>
          <p:cNvPr id="7" name="テキスト ボックス 6">
            <a:extLst>
              <a:ext uri="{FF2B5EF4-FFF2-40B4-BE49-F238E27FC236}">
                <a16:creationId xmlns:a16="http://schemas.microsoft.com/office/drawing/2014/main" id="{199EE5DD-4D38-045A-947D-B8B5063C9BBC}"/>
              </a:ext>
            </a:extLst>
          </p:cNvPr>
          <p:cNvSpPr txBox="1"/>
          <p:nvPr/>
        </p:nvSpPr>
        <p:spPr>
          <a:xfrm>
            <a:off x="928255" y="6077247"/>
            <a:ext cx="9985663" cy="369332"/>
          </a:xfrm>
          <a:prstGeom prst="rect">
            <a:avLst/>
          </a:prstGeom>
          <a:noFill/>
        </p:spPr>
        <p:txBody>
          <a:bodyPr wrap="square" rtlCol="0">
            <a:spAutoFit/>
          </a:bodyPr>
          <a:lstStyle/>
          <a:p>
            <a:r>
              <a:rPr kumimoji="1" lang="ja-JP" altLang="en-US" dirty="0"/>
              <a:t>テストデータその</a:t>
            </a:r>
            <a:r>
              <a:rPr kumimoji="1" lang="en-US" altLang="ja-JP" dirty="0"/>
              <a:t>1</a:t>
            </a:r>
            <a:r>
              <a:rPr kumimoji="1" lang="ja-JP" altLang="en-US" dirty="0"/>
              <a:t>：</a:t>
            </a:r>
            <a:r>
              <a:rPr lang="ja-JP" altLang="en-US" dirty="0"/>
              <a:t>訓練用のデータの問題と同じルール</a:t>
            </a:r>
            <a:endParaRPr lang="en-US" altLang="ja-JP" dirty="0"/>
          </a:p>
        </p:txBody>
      </p:sp>
    </p:spTree>
    <p:extLst>
      <p:ext uri="{BB962C8B-B14F-4D97-AF65-F5344CB8AC3E}">
        <p14:creationId xmlns:p14="http://schemas.microsoft.com/office/powerpoint/2010/main" val="30604013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6BEB3-1614-EE3B-8BD4-3419FE5DB78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90C79B-3332-C0C1-640A-AA6AA006F6ED}"/>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0190E8DC-BF4A-8564-B8AC-28209A35257F}"/>
              </a:ext>
            </a:extLst>
          </p:cNvPr>
          <p:cNvSpPr>
            <a:spLocks noGrp="1"/>
          </p:cNvSpPr>
          <p:nvPr>
            <p:ph idx="1"/>
          </p:nvPr>
        </p:nvSpPr>
        <p:spPr/>
        <p:txBody>
          <a:bodyPr/>
          <a:lstStyle/>
          <a:p>
            <a:r>
              <a:rPr kumimoji="1" lang="ja-JP" altLang="en-US" dirty="0"/>
              <a:t>研究背景</a:t>
            </a:r>
            <a:endParaRPr kumimoji="1" lang="en-US" altLang="ja-JP" dirty="0"/>
          </a:p>
          <a:p>
            <a:r>
              <a:rPr lang="ja-JP" altLang="en-US" dirty="0"/>
              <a:t>研究方法</a:t>
            </a:r>
            <a:endParaRPr lang="en-US" altLang="ja-JP" dirty="0"/>
          </a:p>
          <a:p>
            <a:r>
              <a:rPr kumimoji="1" lang="ja-JP" altLang="en-US" dirty="0"/>
              <a:t>問題解決</a:t>
            </a:r>
            <a:r>
              <a:rPr lang="ja-JP" altLang="en-US" dirty="0"/>
              <a:t>能力の評価実験</a:t>
            </a:r>
            <a:endParaRPr lang="en-US" altLang="ja-JP" dirty="0"/>
          </a:p>
          <a:p>
            <a:r>
              <a:rPr kumimoji="1" lang="ja-JP" altLang="en-US" dirty="0">
                <a:solidFill>
                  <a:srgbClr val="FF0000"/>
                </a:solidFill>
              </a:rPr>
              <a:t>分析と考察</a:t>
            </a:r>
          </a:p>
        </p:txBody>
      </p:sp>
      <p:sp>
        <p:nvSpPr>
          <p:cNvPr id="7" name="スライド番号プレースホルダー 6">
            <a:extLst>
              <a:ext uri="{FF2B5EF4-FFF2-40B4-BE49-F238E27FC236}">
                <a16:creationId xmlns:a16="http://schemas.microsoft.com/office/drawing/2014/main" id="{23B21B16-1017-7EDA-FE9B-9EB2C4AAD8C8}"/>
              </a:ext>
            </a:extLst>
          </p:cNvPr>
          <p:cNvSpPr>
            <a:spLocks noGrp="1"/>
          </p:cNvSpPr>
          <p:nvPr>
            <p:ph type="sldNum" sz="quarter" idx="12"/>
          </p:nvPr>
        </p:nvSpPr>
        <p:spPr/>
        <p:txBody>
          <a:bodyPr/>
          <a:lstStyle/>
          <a:p>
            <a:fld id="{10649E7B-FC1B-418B-9B6A-00859DB1DEE8}" type="slidenum">
              <a:rPr kumimoji="1" lang="ja-JP" altLang="en-US" smtClean="0"/>
              <a:t>31</a:t>
            </a:fld>
            <a:endParaRPr kumimoji="1" lang="ja-JP" altLang="en-US"/>
          </a:p>
        </p:txBody>
      </p:sp>
    </p:spTree>
    <p:extLst>
      <p:ext uri="{BB962C8B-B14F-4D97-AF65-F5344CB8AC3E}">
        <p14:creationId xmlns:p14="http://schemas.microsoft.com/office/powerpoint/2010/main" val="30635973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A9B0453-1EF8-57D9-240B-FEAF8876F59B}"/>
              </a:ext>
            </a:extLst>
          </p:cNvPr>
          <p:cNvSpPr>
            <a:spLocks noGrp="1"/>
          </p:cNvSpPr>
          <p:nvPr>
            <p:ph type="title"/>
          </p:nvPr>
        </p:nvSpPr>
        <p:spPr/>
        <p:txBody>
          <a:bodyPr/>
          <a:lstStyle/>
          <a:p>
            <a:r>
              <a:rPr kumimoji="1" lang="ja-JP" altLang="en-US" dirty="0"/>
              <a:t>ベースモデルの出力の分析</a:t>
            </a:r>
            <a:br>
              <a:rPr kumimoji="1" lang="en-US" altLang="ja-JP" dirty="0"/>
            </a:br>
            <a:r>
              <a:rPr kumimoji="1" lang="ja-JP" altLang="en-US" dirty="0"/>
              <a:t>（テストデータその１）</a:t>
            </a:r>
          </a:p>
        </p:txBody>
      </p:sp>
      <p:sp>
        <p:nvSpPr>
          <p:cNvPr id="4" name="スライド番号プレースホルダー 3">
            <a:extLst>
              <a:ext uri="{FF2B5EF4-FFF2-40B4-BE49-F238E27FC236}">
                <a16:creationId xmlns:a16="http://schemas.microsoft.com/office/drawing/2014/main" id="{80675089-58CE-2302-96C7-F9F1AF37D915}"/>
              </a:ext>
            </a:extLst>
          </p:cNvPr>
          <p:cNvSpPr>
            <a:spLocks noGrp="1"/>
          </p:cNvSpPr>
          <p:nvPr>
            <p:ph type="sldNum" sz="quarter" idx="12"/>
          </p:nvPr>
        </p:nvSpPr>
        <p:spPr/>
        <p:txBody>
          <a:bodyPr/>
          <a:lstStyle/>
          <a:p>
            <a:fld id="{10649E7B-FC1B-418B-9B6A-00859DB1DEE8}" type="slidenum">
              <a:rPr kumimoji="1" lang="ja-JP" altLang="en-US" smtClean="0"/>
              <a:t>32</a:t>
            </a:fld>
            <a:endParaRPr kumimoji="1" lang="ja-JP" altLang="en-US"/>
          </a:p>
        </p:txBody>
      </p:sp>
      <p:sp>
        <p:nvSpPr>
          <p:cNvPr id="6" name="テキスト ボックス 5">
            <a:extLst>
              <a:ext uri="{FF2B5EF4-FFF2-40B4-BE49-F238E27FC236}">
                <a16:creationId xmlns:a16="http://schemas.microsoft.com/office/drawing/2014/main" id="{96451853-0C40-454C-99E8-E13DF3D0CA32}"/>
              </a:ext>
            </a:extLst>
          </p:cNvPr>
          <p:cNvSpPr txBox="1"/>
          <p:nvPr/>
        </p:nvSpPr>
        <p:spPr>
          <a:xfrm>
            <a:off x="838200" y="6352143"/>
            <a:ext cx="6097022" cy="369332"/>
          </a:xfrm>
          <a:prstGeom prst="rect">
            <a:avLst/>
          </a:prstGeom>
          <a:noFill/>
        </p:spPr>
        <p:txBody>
          <a:bodyPr wrap="square">
            <a:spAutoFit/>
          </a:bodyPr>
          <a:lstStyle/>
          <a:p>
            <a:r>
              <a:rPr kumimoji="1" lang="ja-JP" altLang="en-US" sz="1800" dirty="0"/>
              <a:t>テストデータその</a:t>
            </a:r>
            <a:r>
              <a:rPr kumimoji="1" lang="en-US" altLang="ja-JP" sz="1800" dirty="0"/>
              <a:t>1</a:t>
            </a:r>
            <a:r>
              <a:rPr kumimoji="1" lang="ja-JP" altLang="en-US" sz="1800" dirty="0"/>
              <a:t>：</a:t>
            </a:r>
            <a:r>
              <a:rPr lang="ja-JP" altLang="en-US" sz="1800" dirty="0"/>
              <a:t>訓練用のデータの問題と同じルール</a:t>
            </a:r>
            <a:endParaRPr lang="en-US" altLang="ja-JP" sz="1800" dirty="0"/>
          </a:p>
        </p:txBody>
      </p:sp>
      <p:graphicFrame>
        <p:nvGraphicFramePr>
          <p:cNvPr id="7" name="コンテンツ プレースホルダー 4">
            <a:extLst>
              <a:ext uri="{FF2B5EF4-FFF2-40B4-BE49-F238E27FC236}">
                <a16:creationId xmlns:a16="http://schemas.microsoft.com/office/drawing/2014/main" id="{4444872A-93EF-B0DE-059C-7AA2D217D043}"/>
              </a:ext>
            </a:extLst>
          </p:cNvPr>
          <p:cNvGraphicFramePr>
            <a:graphicFrameLocks noGrp="1"/>
          </p:cNvGraphicFramePr>
          <p:nvPr>
            <p:ph idx="1"/>
            <p:extLst>
              <p:ext uri="{D42A27DB-BD31-4B8C-83A1-F6EECF244321}">
                <p14:modId xmlns:p14="http://schemas.microsoft.com/office/powerpoint/2010/main" val="117485199"/>
              </p:ext>
            </p:extLst>
          </p:nvPr>
        </p:nvGraphicFramePr>
        <p:xfrm>
          <a:off x="838200" y="1825625"/>
          <a:ext cx="10515597" cy="2777061"/>
        </p:xfrm>
        <a:graphic>
          <a:graphicData uri="http://schemas.openxmlformats.org/drawingml/2006/table">
            <a:tbl>
              <a:tblPr firstRow="1" bandRow="1">
                <a:tableStyleId>{5C22544A-7EE6-4342-B048-85BDC9FD1C3A}</a:tableStyleId>
              </a:tblPr>
              <a:tblGrid>
                <a:gridCol w="3505199">
                  <a:extLst>
                    <a:ext uri="{9D8B030D-6E8A-4147-A177-3AD203B41FA5}">
                      <a16:colId xmlns:a16="http://schemas.microsoft.com/office/drawing/2014/main" val="1400479776"/>
                    </a:ext>
                  </a:extLst>
                </a:gridCol>
                <a:gridCol w="3505199">
                  <a:extLst>
                    <a:ext uri="{9D8B030D-6E8A-4147-A177-3AD203B41FA5}">
                      <a16:colId xmlns:a16="http://schemas.microsoft.com/office/drawing/2014/main" val="2466992613"/>
                    </a:ext>
                  </a:extLst>
                </a:gridCol>
                <a:gridCol w="3505199">
                  <a:extLst>
                    <a:ext uri="{9D8B030D-6E8A-4147-A177-3AD203B41FA5}">
                      <a16:colId xmlns:a16="http://schemas.microsoft.com/office/drawing/2014/main" val="3550539996"/>
                    </a:ext>
                  </a:extLst>
                </a:gridCol>
              </a:tblGrid>
              <a:tr h="925687">
                <a:tc>
                  <a:txBody>
                    <a:bodyPr/>
                    <a:lstStyle/>
                    <a:p>
                      <a:pPr algn="ctr"/>
                      <a:endParaRPr kumimoji="1" lang="ja-JP" altLang="en-US" dirty="0"/>
                    </a:p>
                  </a:txBody>
                  <a:tcPr anchor="ctr"/>
                </a:tc>
                <a:tc>
                  <a:txBody>
                    <a:bodyPr/>
                    <a:lstStyle/>
                    <a:p>
                      <a:pPr algn="ctr"/>
                      <a:r>
                        <a:rPr kumimoji="1" lang="ja-JP" altLang="en-US" dirty="0"/>
                        <a:t>通常終了</a:t>
                      </a:r>
                    </a:p>
                  </a:txBody>
                  <a:tcPr anchor="ctr"/>
                </a:tc>
                <a:tc>
                  <a:txBody>
                    <a:bodyPr/>
                    <a:lstStyle/>
                    <a:p>
                      <a:pPr algn="ctr"/>
                      <a:r>
                        <a:rPr kumimoji="1" lang="ja-JP" altLang="en-US" dirty="0"/>
                        <a:t>トークン上限到達</a:t>
                      </a:r>
                      <a:r>
                        <a:rPr kumimoji="1" lang="en-US" altLang="ja-JP" dirty="0"/>
                        <a:t>(</a:t>
                      </a:r>
                      <a:r>
                        <a:rPr kumimoji="1" lang="ja-JP" altLang="en-US" dirty="0"/>
                        <a:t>上限は</a:t>
                      </a:r>
                      <a:r>
                        <a:rPr kumimoji="1" lang="en-US" altLang="ja-JP" dirty="0"/>
                        <a:t>8192)</a:t>
                      </a:r>
                      <a:endParaRPr kumimoji="1" lang="ja-JP" altLang="en-US" dirty="0"/>
                    </a:p>
                  </a:txBody>
                  <a:tcPr anchor="ctr"/>
                </a:tc>
                <a:extLst>
                  <a:ext uri="{0D108BD9-81ED-4DB2-BD59-A6C34878D82A}">
                    <a16:rowId xmlns:a16="http://schemas.microsoft.com/office/drawing/2014/main" val="275587262"/>
                  </a:ext>
                </a:extLst>
              </a:tr>
              <a:tr h="925687">
                <a:tc>
                  <a:txBody>
                    <a:bodyPr/>
                    <a:lstStyle/>
                    <a:p>
                      <a:pPr algn="ctr"/>
                      <a:r>
                        <a:rPr kumimoji="1" lang="ja-JP" altLang="en-US" dirty="0"/>
                        <a:t>正解</a:t>
                      </a:r>
                    </a:p>
                  </a:txBody>
                  <a:tcPr anchor="ctr"/>
                </a:tc>
                <a:tc>
                  <a:txBody>
                    <a:bodyPr/>
                    <a:lstStyle/>
                    <a:p>
                      <a:pPr algn="ctr"/>
                      <a:r>
                        <a:rPr kumimoji="1" lang="ja-JP" altLang="ja-JP" sz="1800" b="0" i="0" kern="1200" dirty="0">
                          <a:solidFill>
                            <a:schemeClr val="dk1"/>
                          </a:solidFill>
                          <a:effectLst/>
                          <a:latin typeface="+mn-lt"/>
                          <a:ea typeface="+mn-ea"/>
                          <a:cs typeface="+mn-cs"/>
                        </a:rPr>
                        <a:t>254</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13</a:t>
                      </a:r>
                      <a:endParaRPr kumimoji="1" lang="ja-JP" altLang="en-US" dirty="0"/>
                    </a:p>
                  </a:txBody>
                  <a:tcPr anchor="ctr"/>
                </a:tc>
                <a:extLst>
                  <a:ext uri="{0D108BD9-81ED-4DB2-BD59-A6C34878D82A}">
                    <a16:rowId xmlns:a16="http://schemas.microsoft.com/office/drawing/2014/main" val="3511778032"/>
                  </a:ext>
                </a:extLst>
              </a:tr>
              <a:tr h="925687">
                <a:tc>
                  <a:txBody>
                    <a:bodyPr/>
                    <a:lstStyle/>
                    <a:p>
                      <a:pPr algn="ctr"/>
                      <a:r>
                        <a:rPr kumimoji="1" lang="ja-JP" altLang="en-US" dirty="0"/>
                        <a:t>不正解</a:t>
                      </a:r>
                    </a:p>
                  </a:txBody>
                  <a:tcPr anchor="ctr"/>
                </a:tc>
                <a:tc>
                  <a:txBody>
                    <a:bodyPr/>
                    <a:lstStyle/>
                    <a:p>
                      <a:pPr algn="ctr"/>
                      <a:r>
                        <a:rPr kumimoji="1" lang="ja-JP" altLang="ja-JP" sz="1800" b="0" i="0" kern="1200" dirty="0">
                          <a:solidFill>
                            <a:schemeClr val="dk1"/>
                          </a:solidFill>
                          <a:effectLst/>
                          <a:latin typeface="+mn-lt"/>
                          <a:ea typeface="+mn-ea"/>
                          <a:cs typeface="+mn-cs"/>
                        </a:rPr>
                        <a:t>3</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430</a:t>
                      </a:r>
                      <a:endParaRPr kumimoji="1" lang="ja-JP" altLang="en-US" dirty="0"/>
                    </a:p>
                  </a:txBody>
                  <a:tcPr anchor="ctr"/>
                </a:tc>
                <a:extLst>
                  <a:ext uri="{0D108BD9-81ED-4DB2-BD59-A6C34878D82A}">
                    <a16:rowId xmlns:a16="http://schemas.microsoft.com/office/drawing/2014/main" val="2379152149"/>
                  </a:ext>
                </a:extLst>
              </a:tr>
            </a:tbl>
          </a:graphicData>
        </a:graphic>
      </p:graphicFrame>
    </p:spTree>
    <p:extLst>
      <p:ext uri="{BB962C8B-B14F-4D97-AF65-F5344CB8AC3E}">
        <p14:creationId xmlns:p14="http://schemas.microsoft.com/office/powerpoint/2010/main" val="277318321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6718C-5937-7369-22BF-F53104E169E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44FFD9B-0337-3592-34EF-4B5504396138}"/>
              </a:ext>
            </a:extLst>
          </p:cNvPr>
          <p:cNvSpPr>
            <a:spLocks noGrp="1"/>
          </p:cNvSpPr>
          <p:nvPr>
            <p:ph type="title"/>
          </p:nvPr>
        </p:nvSpPr>
        <p:spPr/>
        <p:txBody>
          <a:bodyPr/>
          <a:lstStyle/>
          <a:p>
            <a:r>
              <a:rPr kumimoji="1" lang="ja-JP" altLang="en-US" dirty="0"/>
              <a:t>ベースモデルの出力の分析</a:t>
            </a:r>
            <a:br>
              <a:rPr kumimoji="1" lang="en-US" altLang="ja-JP" dirty="0"/>
            </a:br>
            <a:r>
              <a:rPr kumimoji="1" lang="ja-JP" altLang="en-US" dirty="0"/>
              <a:t>（テストデータその</a:t>
            </a:r>
            <a:r>
              <a:rPr kumimoji="1" lang="en-US" altLang="ja-JP" dirty="0"/>
              <a:t>2</a:t>
            </a:r>
            <a:r>
              <a:rPr kumimoji="1" lang="ja-JP" altLang="en-US" dirty="0"/>
              <a:t>）</a:t>
            </a:r>
          </a:p>
        </p:txBody>
      </p:sp>
      <p:sp>
        <p:nvSpPr>
          <p:cNvPr id="4" name="スライド番号プレースホルダー 3">
            <a:extLst>
              <a:ext uri="{FF2B5EF4-FFF2-40B4-BE49-F238E27FC236}">
                <a16:creationId xmlns:a16="http://schemas.microsoft.com/office/drawing/2014/main" id="{DCC90AF0-E5A4-53A9-EC28-02CC6F9A0827}"/>
              </a:ext>
            </a:extLst>
          </p:cNvPr>
          <p:cNvSpPr>
            <a:spLocks noGrp="1"/>
          </p:cNvSpPr>
          <p:nvPr>
            <p:ph type="sldNum" sz="quarter" idx="12"/>
          </p:nvPr>
        </p:nvSpPr>
        <p:spPr/>
        <p:txBody>
          <a:bodyPr/>
          <a:lstStyle/>
          <a:p>
            <a:fld id="{10649E7B-FC1B-418B-9B6A-00859DB1DEE8}" type="slidenum">
              <a:rPr kumimoji="1" lang="ja-JP" altLang="en-US" smtClean="0"/>
              <a:t>33</a:t>
            </a:fld>
            <a:endParaRPr kumimoji="1" lang="ja-JP" altLang="en-US"/>
          </a:p>
        </p:txBody>
      </p:sp>
      <p:sp>
        <p:nvSpPr>
          <p:cNvPr id="6" name="テキスト ボックス 5">
            <a:extLst>
              <a:ext uri="{FF2B5EF4-FFF2-40B4-BE49-F238E27FC236}">
                <a16:creationId xmlns:a16="http://schemas.microsoft.com/office/drawing/2014/main" id="{E11B6A02-0542-22BC-72C8-BF5662A034F4}"/>
              </a:ext>
            </a:extLst>
          </p:cNvPr>
          <p:cNvSpPr txBox="1"/>
          <p:nvPr/>
        </p:nvSpPr>
        <p:spPr>
          <a:xfrm>
            <a:off x="838199" y="6352143"/>
            <a:ext cx="10005725" cy="369332"/>
          </a:xfrm>
          <a:prstGeom prst="rect">
            <a:avLst/>
          </a:prstGeom>
          <a:noFill/>
        </p:spPr>
        <p:txBody>
          <a:bodyPr wrap="square">
            <a:spAutoFit/>
          </a:bodyPr>
          <a:lstStyle/>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p:txBody>
      </p:sp>
      <p:graphicFrame>
        <p:nvGraphicFramePr>
          <p:cNvPr id="7" name="コンテンツ プレースホルダー 4">
            <a:extLst>
              <a:ext uri="{FF2B5EF4-FFF2-40B4-BE49-F238E27FC236}">
                <a16:creationId xmlns:a16="http://schemas.microsoft.com/office/drawing/2014/main" id="{E7FF6952-A4BE-D78E-1382-CD19DE733891}"/>
              </a:ext>
            </a:extLst>
          </p:cNvPr>
          <p:cNvGraphicFramePr>
            <a:graphicFrameLocks noGrp="1"/>
          </p:cNvGraphicFramePr>
          <p:nvPr>
            <p:ph idx="1"/>
            <p:extLst>
              <p:ext uri="{D42A27DB-BD31-4B8C-83A1-F6EECF244321}">
                <p14:modId xmlns:p14="http://schemas.microsoft.com/office/powerpoint/2010/main" val="3686343880"/>
              </p:ext>
            </p:extLst>
          </p:nvPr>
        </p:nvGraphicFramePr>
        <p:xfrm>
          <a:off x="838200" y="1825625"/>
          <a:ext cx="10515597" cy="2777061"/>
        </p:xfrm>
        <a:graphic>
          <a:graphicData uri="http://schemas.openxmlformats.org/drawingml/2006/table">
            <a:tbl>
              <a:tblPr firstRow="1" bandRow="1">
                <a:tableStyleId>{5C22544A-7EE6-4342-B048-85BDC9FD1C3A}</a:tableStyleId>
              </a:tblPr>
              <a:tblGrid>
                <a:gridCol w="3505199">
                  <a:extLst>
                    <a:ext uri="{9D8B030D-6E8A-4147-A177-3AD203B41FA5}">
                      <a16:colId xmlns:a16="http://schemas.microsoft.com/office/drawing/2014/main" val="1400479776"/>
                    </a:ext>
                  </a:extLst>
                </a:gridCol>
                <a:gridCol w="3505199">
                  <a:extLst>
                    <a:ext uri="{9D8B030D-6E8A-4147-A177-3AD203B41FA5}">
                      <a16:colId xmlns:a16="http://schemas.microsoft.com/office/drawing/2014/main" val="2466992613"/>
                    </a:ext>
                  </a:extLst>
                </a:gridCol>
                <a:gridCol w="3505199">
                  <a:extLst>
                    <a:ext uri="{9D8B030D-6E8A-4147-A177-3AD203B41FA5}">
                      <a16:colId xmlns:a16="http://schemas.microsoft.com/office/drawing/2014/main" val="3550539996"/>
                    </a:ext>
                  </a:extLst>
                </a:gridCol>
              </a:tblGrid>
              <a:tr h="925687">
                <a:tc>
                  <a:txBody>
                    <a:bodyPr/>
                    <a:lstStyle/>
                    <a:p>
                      <a:pPr algn="ctr"/>
                      <a:endParaRPr kumimoji="1" lang="ja-JP" altLang="en-US" dirty="0"/>
                    </a:p>
                  </a:txBody>
                  <a:tcPr anchor="ctr"/>
                </a:tc>
                <a:tc>
                  <a:txBody>
                    <a:bodyPr/>
                    <a:lstStyle/>
                    <a:p>
                      <a:pPr algn="ctr"/>
                      <a:r>
                        <a:rPr kumimoji="1" lang="ja-JP" altLang="en-US" dirty="0"/>
                        <a:t>通常終了</a:t>
                      </a:r>
                    </a:p>
                  </a:txBody>
                  <a:tcPr anchor="ctr"/>
                </a:tc>
                <a:tc>
                  <a:txBody>
                    <a:bodyPr/>
                    <a:lstStyle/>
                    <a:p>
                      <a:pPr algn="ctr"/>
                      <a:r>
                        <a:rPr kumimoji="1" lang="ja-JP" altLang="en-US" dirty="0"/>
                        <a:t>トークン上限到達</a:t>
                      </a:r>
                      <a:r>
                        <a:rPr kumimoji="1" lang="en-US" altLang="ja-JP" dirty="0"/>
                        <a:t>(</a:t>
                      </a:r>
                      <a:r>
                        <a:rPr kumimoji="1" lang="ja-JP" altLang="en-US" dirty="0"/>
                        <a:t>上限は</a:t>
                      </a:r>
                      <a:r>
                        <a:rPr kumimoji="1" lang="en-US" altLang="ja-JP" dirty="0"/>
                        <a:t>8192)</a:t>
                      </a:r>
                      <a:endParaRPr kumimoji="1" lang="ja-JP" altLang="en-US" dirty="0"/>
                    </a:p>
                  </a:txBody>
                  <a:tcPr anchor="ctr"/>
                </a:tc>
                <a:extLst>
                  <a:ext uri="{0D108BD9-81ED-4DB2-BD59-A6C34878D82A}">
                    <a16:rowId xmlns:a16="http://schemas.microsoft.com/office/drawing/2014/main" val="275587262"/>
                  </a:ext>
                </a:extLst>
              </a:tr>
              <a:tr h="925687">
                <a:tc>
                  <a:txBody>
                    <a:bodyPr/>
                    <a:lstStyle/>
                    <a:p>
                      <a:pPr algn="ctr"/>
                      <a:r>
                        <a:rPr kumimoji="1" lang="ja-JP" altLang="en-US" dirty="0"/>
                        <a:t>正解</a:t>
                      </a:r>
                    </a:p>
                  </a:txBody>
                  <a:tcPr anchor="ctr"/>
                </a:tc>
                <a:tc>
                  <a:txBody>
                    <a:bodyPr/>
                    <a:lstStyle/>
                    <a:p>
                      <a:pPr algn="ctr"/>
                      <a:r>
                        <a:rPr kumimoji="1" lang="en-US" altLang="ja-JP" dirty="0"/>
                        <a:t>38</a:t>
                      </a:r>
                      <a:endParaRPr kumimoji="1" lang="ja-JP" altLang="en-US" dirty="0"/>
                    </a:p>
                  </a:txBody>
                  <a:tcPr anchor="ctr"/>
                </a:tc>
                <a:tc>
                  <a:txBody>
                    <a:bodyPr/>
                    <a:lstStyle/>
                    <a:p>
                      <a:pPr algn="ctr"/>
                      <a:r>
                        <a:rPr kumimoji="1" lang="en-US" altLang="ja-JP" dirty="0"/>
                        <a:t>6</a:t>
                      </a:r>
                      <a:endParaRPr kumimoji="1" lang="ja-JP" altLang="en-US" dirty="0"/>
                    </a:p>
                  </a:txBody>
                  <a:tcPr anchor="ctr"/>
                </a:tc>
                <a:extLst>
                  <a:ext uri="{0D108BD9-81ED-4DB2-BD59-A6C34878D82A}">
                    <a16:rowId xmlns:a16="http://schemas.microsoft.com/office/drawing/2014/main" val="3511778032"/>
                  </a:ext>
                </a:extLst>
              </a:tr>
              <a:tr h="925687">
                <a:tc>
                  <a:txBody>
                    <a:bodyPr/>
                    <a:lstStyle/>
                    <a:p>
                      <a:pPr algn="ctr"/>
                      <a:r>
                        <a:rPr kumimoji="1" lang="ja-JP" altLang="en-US" dirty="0"/>
                        <a:t>不正解</a:t>
                      </a:r>
                    </a:p>
                  </a:txBody>
                  <a:tcPr anchor="ctr"/>
                </a:tc>
                <a:tc>
                  <a:txBody>
                    <a:bodyPr/>
                    <a:lstStyle/>
                    <a:p>
                      <a:pPr algn="ctr"/>
                      <a:r>
                        <a:rPr kumimoji="1" lang="en-US" altLang="ja-JP" sz="1800" b="0" i="0" kern="1200" dirty="0">
                          <a:solidFill>
                            <a:schemeClr val="dk1"/>
                          </a:solidFill>
                          <a:effectLst/>
                          <a:latin typeface="+mn-lt"/>
                          <a:ea typeface="+mn-ea"/>
                          <a:cs typeface="+mn-cs"/>
                        </a:rPr>
                        <a:t>1</a:t>
                      </a:r>
                      <a:endParaRPr kumimoji="1" lang="ja-JP" altLang="en-US" dirty="0"/>
                    </a:p>
                  </a:txBody>
                  <a:tcPr anchor="ctr"/>
                </a:tc>
                <a:tc>
                  <a:txBody>
                    <a:bodyPr/>
                    <a:lstStyle/>
                    <a:p>
                      <a:pPr algn="ctr"/>
                      <a:r>
                        <a:rPr kumimoji="1" lang="en-US" altLang="ja-JP" dirty="0"/>
                        <a:t>405</a:t>
                      </a:r>
                      <a:endParaRPr kumimoji="1" lang="ja-JP" altLang="en-US" dirty="0"/>
                    </a:p>
                  </a:txBody>
                  <a:tcPr anchor="ctr"/>
                </a:tc>
                <a:extLst>
                  <a:ext uri="{0D108BD9-81ED-4DB2-BD59-A6C34878D82A}">
                    <a16:rowId xmlns:a16="http://schemas.microsoft.com/office/drawing/2014/main" val="2379152149"/>
                  </a:ext>
                </a:extLst>
              </a:tr>
            </a:tbl>
          </a:graphicData>
        </a:graphic>
      </p:graphicFrame>
    </p:spTree>
    <p:extLst>
      <p:ext uri="{BB962C8B-B14F-4D97-AF65-F5344CB8AC3E}">
        <p14:creationId xmlns:p14="http://schemas.microsoft.com/office/powerpoint/2010/main" val="24944931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436C12-48D4-2A86-00EB-8D52E6418A26}"/>
              </a:ext>
            </a:extLst>
          </p:cNvPr>
          <p:cNvSpPr>
            <a:spLocks noGrp="1"/>
          </p:cNvSpPr>
          <p:nvPr>
            <p:ph type="title"/>
          </p:nvPr>
        </p:nvSpPr>
        <p:spPr/>
        <p:txBody>
          <a:bodyPr/>
          <a:lstStyle/>
          <a:p>
            <a:r>
              <a:rPr lang="ja-JP" altLang="en-US" dirty="0"/>
              <a:t>分析できること</a:t>
            </a:r>
            <a:endParaRPr kumimoji="1" lang="ja-JP" altLang="en-US" dirty="0"/>
          </a:p>
        </p:txBody>
      </p:sp>
      <p:sp>
        <p:nvSpPr>
          <p:cNvPr id="3" name="コンテンツ プレースホルダー 2">
            <a:extLst>
              <a:ext uri="{FF2B5EF4-FFF2-40B4-BE49-F238E27FC236}">
                <a16:creationId xmlns:a16="http://schemas.microsoft.com/office/drawing/2014/main" id="{BB68F986-9364-4C10-9454-A1FA20958982}"/>
              </a:ext>
            </a:extLst>
          </p:cNvPr>
          <p:cNvSpPr>
            <a:spLocks noGrp="1"/>
          </p:cNvSpPr>
          <p:nvPr>
            <p:ph idx="1"/>
          </p:nvPr>
        </p:nvSpPr>
        <p:spPr/>
        <p:txBody>
          <a:bodyPr/>
          <a:lstStyle/>
          <a:p>
            <a:r>
              <a:rPr kumimoji="1" lang="ja-JP" altLang="en-US" dirty="0"/>
              <a:t>ベースモデルの失敗要因：推論の長大化</a:t>
            </a:r>
            <a:endParaRPr kumimoji="1" lang="en-US" altLang="ja-JP" dirty="0"/>
          </a:p>
          <a:p>
            <a:r>
              <a:rPr kumimoji="1" lang="ja-JP" altLang="en-US" dirty="0"/>
              <a:t>推論過程を確認</a:t>
            </a:r>
            <a:endParaRPr kumimoji="1" lang="en-US" altLang="ja-JP" dirty="0"/>
          </a:p>
          <a:p>
            <a:pPr lvl="1"/>
            <a:r>
              <a:rPr lang="ja-JP" altLang="en-US" dirty="0"/>
              <a:t>トークンの上限に到達した</a:t>
            </a:r>
            <a:r>
              <a:rPr kumimoji="1" lang="ja-JP" altLang="en-US" dirty="0"/>
              <a:t>事例では、複数の仮説を繰り返し検討し、ルールを確定できないまま推論が長大化する傾向が見られた。</a:t>
            </a:r>
            <a:endParaRPr kumimoji="1" lang="en-US" altLang="ja-JP" dirty="0"/>
          </a:p>
          <a:p>
            <a:r>
              <a:rPr kumimoji="1" lang="ja-JP" altLang="en-US" dirty="0"/>
              <a:t>考察</a:t>
            </a:r>
            <a:endParaRPr kumimoji="1" lang="en-US" altLang="ja-JP" dirty="0"/>
          </a:p>
          <a:p>
            <a:pPr lvl="1"/>
            <a:r>
              <a:rPr kumimoji="1" lang="ja-JP" altLang="en-US" dirty="0"/>
              <a:t>ベースモデルでは、仮説を収束させることが困難であり、これが問題解決の失敗につながっている可能性がある。</a:t>
            </a:r>
          </a:p>
        </p:txBody>
      </p:sp>
      <p:sp>
        <p:nvSpPr>
          <p:cNvPr id="4" name="スライド番号プレースホルダー 3">
            <a:extLst>
              <a:ext uri="{FF2B5EF4-FFF2-40B4-BE49-F238E27FC236}">
                <a16:creationId xmlns:a16="http://schemas.microsoft.com/office/drawing/2014/main" id="{FCA3773B-7945-6BF7-F457-326DEE3F0C55}"/>
              </a:ext>
            </a:extLst>
          </p:cNvPr>
          <p:cNvSpPr>
            <a:spLocks noGrp="1"/>
          </p:cNvSpPr>
          <p:nvPr>
            <p:ph type="sldNum" sz="quarter" idx="12"/>
          </p:nvPr>
        </p:nvSpPr>
        <p:spPr/>
        <p:txBody>
          <a:bodyPr/>
          <a:lstStyle/>
          <a:p>
            <a:fld id="{10649E7B-FC1B-418B-9B6A-00859DB1DEE8}" type="slidenum">
              <a:rPr kumimoji="1" lang="ja-JP" altLang="en-US" smtClean="0"/>
              <a:t>34</a:t>
            </a:fld>
            <a:endParaRPr kumimoji="1" lang="ja-JP" altLang="en-US"/>
          </a:p>
        </p:txBody>
      </p:sp>
    </p:spTree>
    <p:extLst>
      <p:ext uri="{BB962C8B-B14F-4D97-AF65-F5344CB8AC3E}">
        <p14:creationId xmlns:p14="http://schemas.microsoft.com/office/powerpoint/2010/main" val="265558571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A892AD4-21A6-D69C-046C-02B50AC7DB0D}"/>
              </a:ext>
            </a:extLst>
          </p:cNvPr>
          <p:cNvSpPr>
            <a:spLocks noGrp="1"/>
          </p:cNvSpPr>
          <p:nvPr>
            <p:ph type="title"/>
          </p:nvPr>
        </p:nvSpPr>
        <p:spPr/>
        <p:txBody>
          <a:bodyPr/>
          <a:lstStyle/>
          <a:p>
            <a:r>
              <a:rPr kumimoji="1" lang="ja-JP" altLang="en-US" dirty="0"/>
              <a:t>ベースモデルの出力の分析</a:t>
            </a:r>
          </a:p>
        </p:txBody>
      </p:sp>
      <p:sp>
        <p:nvSpPr>
          <p:cNvPr id="4" name="スライド番号プレースホルダー 3">
            <a:extLst>
              <a:ext uri="{FF2B5EF4-FFF2-40B4-BE49-F238E27FC236}">
                <a16:creationId xmlns:a16="http://schemas.microsoft.com/office/drawing/2014/main" id="{FD1010AE-37CE-B821-DB04-8C3FEE321771}"/>
              </a:ext>
            </a:extLst>
          </p:cNvPr>
          <p:cNvSpPr>
            <a:spLocks noGrp="1"/>
          </p:cNvSpPr>
          <p:nvPr>
            <p:ph type="sldNum" sz="quarter" idx="12"/>
          </p:nvPr>
        </p:nvSpPr>
        <p:spPr/>
        <p:txBody>
          <a:bodyPr/>
          <a:lstStyle/>
          <a:p>
            <a:fld id="{10649E7B-FC1B-418B-9B6A-00859DB1DEE8}" type="slidenum">
              <a:rPr kumimoji="1" lang="ja-JP" altLang="en-US" smtClean="0"/>
              <a:t>35</a:t>
            </a:fld>
            <a:endParaRPr kumimoji="1" lang="ja-JP" altLang="en-US"/>
          </a:p>
        </p:txBody>
      </p:sp>
      <p:sp>
        <p:nvSpPr>
          <p:cNvPr id="8" name="テキスト ボックス 7">
            <a:extLst>
              <a:ext uri="{FF2B5EF4-FFF2-40B4-BE49-F238E27FC236}">
                <a16:creationId xmlns:a16="http://schemas.microsoft.com/office/drawing/2014/main" id="{85587719-75EA-F396-DC4F-55EB0A6BB458}"/>
              </a:ext>
            </a:extLst>
          </p:cNvPr>
          <p:cNvSpPr txBox="1"/>
          <p:nvPr/>
        </p:nvSpPr>
        <p:spPr>
          <a:xfrm>
            <a:off x="838200" y="6352143"/>
            <a:ext cx="6097022" cy="369332"/>
          </a:xfrm>
          <a:prstGeom prst="rect">
            <a:avLst/>
          </a:prstGeom>
          <a:noFill/>
        </p:spPr>
        <p:txBody>
          <a:bodyPr wrap="square">
            <a:spAutoFit/>
          </a:bodyPr>
          <a:lstStyle/>
          <a:p>
            <a:r>
              <a:rPr kumimoji="1" lang="ja-JP" altLang="en-US" sz="1800" dirty="0"/>
              <a:t>テストデータその</a:t>
            </a:r>
            <a:r>
              <a:rPr kumimoji="1" lang="en-US" altLang="ja-JP" sz="1800" dirty="0"/>
              <a:t>1</a:t>
            </a:r>
            <a:r>
              <a:rPr kumimoji="1" lang="ja-JP" altLang="en-US" sz="1800" dirty="0"/>
              <a:t>：</a:t>
            </a:r>
            <a:r>
              <a:rPr lang="ja-JP" altLang="en-US" sz="1800" dirty="0"/>
              <a:t>訓練用のデータの問題と同じルール</a:t>
            </a:r>
            <a:endParaRPr lang="en-US" altLang="ja-JP" sz="1800" dirty="0"/>
          </a:p>
        </p:txBody>
      </p:sp>
      <p:graphicFrame>
        <p:nvGraphicFramePr>
          <p:cNvPr id="11" name="コンテンツ プレースホルダー 4">
            <a:extLst>
              <a:ext uri="{FF2B5EF4-FFF2-40B4-BE49-F238E27FC236}">
                <a16:creationId xmlns:a16="http://schemas.microsoft.com/office/drawing/2014/main" id="{B3D7523E-F6C9-1793-DB90-72E87124726E}"/>
              </a:ext>
            </a:extLst>
          </p:cNvPr>
          <p:cNvGraphicFramePr>
            <a:graphicFrameLocks/>
          </p:cNvGraphicFramePr>
          <p:nvPr>
            <p:extLst>
              <p:ext uri="{D42A27DB-BD31-4B8C-83A1-F6EECF244321}">
                <p14:modId xmlns:p14="http://schemas.microsoft.com/office/powerpoint/2010/main" val="3356973427"/>
              </p:ext>
            </p:extLst>
          </p:nvPr>
        </p:nvGraphicFramePr>
        <p:xfrm>
          <a:off x="1468390" y="1811398"/>
          <a:ext cx="9255219" cy="1638975"/>
        </p:xfrm>
        <a:graphic>
          <a:graphicData uri="http://schemas.openxmlformats.org/drawingml/2006/table">
            <a:tbl>
              <a:tblPr firstRow="1" bandRow="1">
                <a:tableStyleId>{5C22544A-7EE6-4342-B048-85BDC9FD1C3A}</a:tableStyleId>
              </a:tblPr>
              <a:tblGrid>
                <a:gridCol w="3085073">
                  <a:extLst>
                    <a:ext uri="{9D8B030D-6E8A-4147-A177-3AD203B41FA5}">
                      <a16:colId xmlns:a16="http://schemas.microsoft.com/office/drawing/2014/main" val="2394308489"/>
                    </a:ext>
                  </a:extLst>
                </a:gridCol>
                <a:gridCol w="3085073">
                  <a:extLst>
                    <a:ext uri="{9D8B030D-6E8A-4147-A177-3AD203B41FA5}">
                      <a16:colId xmlns:a16="http://schemas.microsoft.com/office/drawing/2014/main" val="867807463"/>
                    </a:ext>
                  </a:extLst>
                </a:gridCol>
                <a:gridCol w="3085073">
                  <a:extLst>
                    <a:ext uri="{9D8B030D-6E8A-4147-A177-3AD203B41FA5}">
                      <a16:colId xmlns:a16="http://schemas.microsoft.com/office/drawing/2014/main" val="2499767942"/>
                    </a:ext>
                  </a:extLst>
                </a:gridCol>
              </a:tblGrid>
              <a:tr h="940635">
                <a:tc>
                  <a:txBody>
                    <a:bodyPr/>
                    <a:lstStyle/>
                    <a:p>
                      <a:pPr algn="ctr"/>
                      <a:endParaRPr kumimoji="1" lang="ja-JP" altLang="en-US" dirty="0"/>
                    </a:p>
                  </a:txBody>
                  <a:tcPr anchor="ctr"/>
                </a:tc>
                <a:tc>
                  <a:txBody>
                    <a:bodyPr/>
                    <a:lstStyle/>
                    <a:p>
                      <a:pPr algn="ctr"/>
                      <a:r>
                        <a:rPr kumimoji="1" lang="ja-JP" altLang="en-US" dirty="0"/>
                        <a:t>処理単体</a:t>
                      </a:r>
                    </a:p>
                  </a:txBody>
                  <a:tcPr anchor="ctr"/>
                </a:tc>
                <a:tc>
                  <a:txBody>
                    <a:bodyPr/>
                    <a:lstStyle/>
                    <a:p>
                      <a:pPr algn="ctr"/>
                      <a:r>
                        <a:rPr kumimoji="1" lang="ja-JP" altLang="en-US" dirty="0"/>
                        <a:t>２つの処理の組み合わせ</a:t>
                      </a:r>
                    </a:p>
                  </a:txBody>
                  <a:tcPr anchor="ctr"/>
                </a:tc>
                <a:extLst>
                  <a:ext uri="{0D108BD9-81ED-4DB2-BD59-A6C34878D82A}">
                    <a16:rowId xmlns:a16="http://schemas.microsoft.com/office/drawing/2014/main" val="2407331181"/>
                  </a:ext>
                </a:extLst>
              </a:tr>
              <a:tr h="698340">
                <a:tc>
                  <a:txBody>
                    <a:bodyPr/>
                    <a:lstStyle/>
                    <a:p>
                      <a:pPr algn="ctr"/>
                      <a:r>
                        <a:rPr kumimoji="1" lang="ja-JP" altLang="en-US" dirty="0"/>
                        <a:t>テストデータその</a:t>
                      </a:r>
                      <a:r>
                        <a:rPr kumimoji="1" lang="en-US" altLang="ja-JP" dirty="0"/>
                        <a:t>1</a:t>
                      </a:r>
                      <a:endParaRPr kumimoji="1" lang="ja-JP" altLang="en-US" dirty="0"/>
                    </a:p>
                  </a:txBody>
                  <a:tcPr anchor="ctr"/>
                </a:tc>
                <a:tc>
                  <a:txBody>
                    <a:bodyPr/>
                    <a:lstStyle/>
                    <a:p>
                      <a:pPr algn="ctr"/>
                      <a:r>
                        <a:rPr kumimoji="1" lang="en-US" altLang="zh-TW" dirty="0"/>
                        <a:t>205/</a:t>
                      </a:r>
                      <a:r>
                        <a:rPr kumimoji="1" lang="ja-JP" altLang="ja-JP" sz="1800" b="0" i="0" kern="1200" dirty="0">
                          <a:solidFill>
                            <a:schemeClr val="dk1"/>
                          </a:solidFill>
                          <a:effectLst/>
                          <a:latin typeface="+mn-lt"/>
                          <a:ea typeface="+mn-ea"/>
                          <a:cs typeface="+mn-cs"/>
                        </a:rPr>
                        <a:t>240</a:t>
                      </a:r>
                      <a:endParaRPr kumimoji="1" lang="en-US" altLang="ja-JP" sz="1800" b="0" i="0" kern="1200" dirty="0">
                        <a:solidFill>
                          <a:schemeClr val="dk1"/>
                        </a:solidFill>
                        <a:effectLst/>
                        <a:latin typeface="+mn-lt"/>
                        <a:ea typeface="+mn-ea"/>
                        <a:cs typeface="+mn-cs"/>
                      </a:endParaRPr>
                    </a:p>
                    <a:p>
                      <a:pPr algn="ctr"/>
                      <a:r>
                        <a:rPr kumimoji="1" lang="en-US" altLang="ja-JP" sz="1800" b="0" i="0" kern="1200" dirty="0">
                          <a:solidFill>
                            <a:schemeClr val="dk1"/>
                          </a:solidFill>
                          <a:effectLst/>
                          <a:latin typeface="+mn-lt"/>
                          <a:ea typeface="+mn-ea"/>
                          <a:cs typeface="+mn-cs"/>
                        </a:rPr>
                        <a:t>85.4%</a:t>
                      </a:r>
                      <a:endParaRPr kumimoji="1" lang="ja-JP" altLang="en-US" dirty="0"/>
                    </a:p>
                  </a:txBody>
                  <a:tcPr anchor="ctr"/>
                </a:tc>
                <a:tc>
                  <a:txBody>
                    <a:bodyPr/>
                    <a:lstStyle/>
                    <a:p>
                      <a:pPr algn="ctr"/>
                      <a:r>
                        <a:rPr kumimoji="1" lang="en-US" altLang="zh-TW" dirty="0"/>
                        <a:t>106/480</a:t>
                      </a:r>
                    </a:p>
                    <a:p>
                      <a:pPr algn="ctr"/>
                      <a:r>
                        <a:rPr kumimoji="1" lang="en-US" altLang="ja-JP" dirty="0"/>
                        <a:t>22.0%</a:t>
                      </a:r>
                      <a:endParaRPr kumimoji="1" lang="ja-JP" altLang="en-US" dirty="0"/>
                    </a:p>
                  </a:txBody>
                  <a:tcPr anchor="ctr"/>
                </a:tc>
                <a:extLst>
                  <a:ext uri="{0D108BD9-81ED-4DB2-BD59-A6C34878D82A}">
                    <a16:rowId xmlns:a16="http://schemas.microsoft.com/office/drawing/2014/main" val="4205910191"/>
                  </a:ext>
                </a:extLst>
              </a:tr>
            </a:tbl>
          </a:graphicData>
        </a:graphic>
      </p:graphicFrame>
    </p:spTree>
    <p:extLst>
      <p:ext uri="{BB962C8B-B14F-4D97-AF65-F5344CB8AC3E}">
        <p14:creationId xmlns:p14="http://schemas.microsoft.com/office/powerpoint/2010/main" val="139512596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7A74595-3729-BE4C-1B0E-489A7DAD46E5}"/>
              </a:ext>
            </a:extLst>
          </p:cNvPr>
          <p:cNvSpPr>
            <a:spLocks noGrp="1"/>
          </p:cNvSpPr>
          <p:nvPr>
            <p:ph type="title"/>
          </p:nvPr>
        </p:nvSpPr>
        <p:spPr/>
        <p:txBody>
          <a:bodyPr/>
          <a:lstStyle/>
          <a:p>
            <a:r>
              <a:rPr kumimoji="1" lang="ja-JP" altLang="en-US" dirty="0"/>
              <a:t>分析できること</a:t>
            </a:r>
          </a:p>
        </p:txBody>
      </p:sp>
      <p:sp>
        <p:nvSpPr>
          <p:cNvPr id="3" name="コンテンツ プレースホルダー 2">
            <a:extLst>
              <a:ext uri="{FF2B5EF4-FFF2-40B4-BE49-F238E27FC236}">
                <a16:creationId xmlns:a16="http://schemas.microsoft.com/office/drawing/2014/main" id="{10CCD66B-AA9B-F603-4BF5-3E4F7592D178}"/>
              </a:ext>
            </a:extLst>
          </p:cNvPr>
          <p:cNvSpPr>
            <a:spLocks noGrp="1"/>
          </p:cNvSpPr>
          <p:nvPr>
            <p:ph idx="1"/>
          </p:nvPr>
        </p:nvSpPr>
        <p:spPr/>
        <p:txBody>
          <a:bodyPr/>
          <a:lstStyle/>
          <a:p>
            <a:r>
              <a:rPr kumimoji="1" lang="ja-JP" altLang="en-US" dirty="0"/>
              <a:t>ベースモデルは、単一の変換処理を推定・適用する問題と比較して、複数の処理を組み合わせる問題で性能が低下する</a:t>
            </a:r>
            <a:endParaRPr kumimoji="1" lang="en-US" altLang="ja-JP" dirty="0"/>
          </a:p>
          <a:p>
            <a:endParaRPr lang="en-US" altLang="ja-JP" dirty="0"/>
          </a:p>
          <a:p>
            <a:r>
              <a:rPr kumimoji="1" lang="ja-JP" altLang="en-US" dirty="0"/>
              <a:t>同じ処理を含む問題について、単体では解けているのに、その処理を組み合わせると解けなくなるケース</a:t>
            </a:r>
            <a:endParaRPr kumimoji="1" lang="en-US" altLang="ja-JP" dirty="0"/>
          </a:p>
          <a:p>
            <a:endParaRPr lang="en-US" altLang="ja-JP" dirty="0"/>
          </a:p>
          <a:p>
            <a:r>
              <a:rPr kumimoji="1" lang="ja-JP" altLang="en-US" dirty="0"/>
              <a:t>個々の処理そのものを実行する能力はあるが、複数の処理を組み合わせて実行することには困難がある</a:t>
            </a:r>
          </a:p>
        </p:txBody>
      </p:sp>
      <p:sp>
        <p:nvSpPr>
          <p:cNvPr id="4" name="スライド番号プレースホルダー 3">
            <a:extLst>
              <a:ext uri="{FF2B5EF4-FFF2-40B4-BE49-F238E27FC236}">
                <a16:creationId xmlns:a16="http://schemas.microsoft.com/office/drawing/2014/main" id="{BB84D93F-4B8A-764B-C52C-7C8E7D359836}"/>
              </a:ext>
            </a:extLst>
          </p:cNvPr>
          <p:cNvSpPr>
            <a:spLocks noGrp="1"/>
          </p:cNvSpPr>
          <p:nvPr>
            <p:ph type="sldNum" sz="quarter" idx="12"/>
          </p:nvPr>
        </p:nvSpPr>
        <p:spPr/>
        <p:txBody>
          <a:bodyPr/>
          <a:lstStyle/>
          <a:p>
            <a:fld id="{10649E7B-FC1B-418B-9B6A-00859DB1DEE8}" type="slidenum">
              <a:rPr kumimoji="1" lang="ja-JP" altLang="en-US" smtClean="0"/>
              <a:t>36</a:t>
            </a:fld>
            <a:endParaRPr kumimoji="1" lang="ja-JP" altLang="en-US"/>
          </a:p>
        </p:txBody>
      </p:sp>
    </p:spTree>
    <p:extLst>
      <p:ext uri="{BB962C8B-B14F-4D97-AF65-F5344CB8AC3E}">
        <p14:creationId xmlns:p14="http://schemas.microsoft.com/office/powerpoint/2010/main" val="967541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08FE1EB-3637-0234-65CB-C7797291FA6D}"/>
              </a:ext>
            </a:extLst>
          </p:cNvPr>
          <p:cNvSpPr>
            <a:spLocks noGrp="1"/>
          </p:cNvSpPr>
          <p:nvPr>
            <p:ph type="title"/>
          </p:nvPr>
        </p:nvSpPr>
        <p:spPr/>
        <p:txBody>
          <a:bodyPr/>
          <a:lstStyle/>
          <a:p>
            <a:r>
              <a:rPr kumimoji="1" lang="ja-JP" altLang="en-US" dirty="0"/>
              <a:t>答えのみの</a:t>
            </a:r>
            <a:r>
              <a:rPr kumimoji="1" lang="en-US" altLang="ja-JP" dirty="0"/>
              <a:t>SFT</a:t>
            </a:r>
            <a:r>
              <a:rPr kumimoji="1" lang="ja-JP" altLang="en-US" dirty="0"/>
              <a:t>の分析</a:t>
            </a:r>
          </a:p>
        </p:txBody>
      </p:sp>
      <p:sp>
        <p:nvSpPr>
          <p:cNvPr id="3" name="コンテンツ プレースホルダー 2">
            <a:extLst>
              <a:ext uri="{FF2B5EF4-FFF2-40B4-BE49-F238E27FC236}">
                <a16:creationId xmlns:a16="http://schemas.microsoft.com/office/drawing/2014/main" id="{68D21EFB-AF50-0045-DB21-55C62FD98317}"/>
              </a:ext>
            </a:extLst>
          </p:cNvPr>
          <p:cNvSpPr>
            <a:spLocks noGrp="1"/>
          </p:cNvSpPr>
          <p:nvPr>
            <p:ph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C6CA538-DED6-8ACF-9DB4-13C855ACD8FD}"/>
              </a:ext>
            </a:extLst>
          </p:cNvPr>
          <p:cNvSpPr>
            <a:spLocks noGrp="1"/>
          </p:cNvSpPr>
          <p:nvPr>
            <p:ph type="sldNum" sz="quarter" idx="12"/>
          </p:nvPr>
        </p:nvSpPr>
        <p:spPr/>
        <p:txBody>
          <a:bodyPr/>
          <a:lstStyle/>
          <a:p>
            <a:fld id="{10649E7B-FC1B-418B-9B6A-00859DB1DEE8}" type="slidenum">
              <a:rPr kumimoji="1" lang="ja-JP" altLang="en-US" smtClean="0"/>
              <a:t>37</a:t>
            </a:fld>
            <a:endParaRPr kumimoji="1" lang="ja-JP" altLang="en-US"/>
          </a:p>
        </p:txBody>
      </p:sp>
      <p:graphicFrame>
        <p:nvGraphicFramePr>
          <p:cNvPr id="6" name="表 5">
            <a:extLst>
              <a:ext uri="{FF2B5EF4-FFF2-40B4-BE49-F238E27FC236}">
                <a16:creationId xmlns:a16="http://schemas.microsoft.com/office/drawing/2014/main" id="{3A78D084-DC3E-2D90-A751-9C56E958BFE0}"/>
              </a:ext>
            </a:extLst>
          </p:cNvPr>
          <p:cNvGraphicFramePr>
            <a:graphicFrameLocks noGrp="1"/>
          </p:cNvGraphicFramePr>
          <p:nvPr>
            <p:extLst>
              <p:ext uri="{D42A27DB-BD31-4B8C-83A1-F6EECF244321}">
                <p14:modId xmlns:p14="http://schemas.microsoft.com/office/powerpoint/2010/main" val="3879682956"/>
              </p:ext>
            </p:extLst>
          </p:nvPr>
        </p:nvGraphicFramePr>
        <p:xfrm>
          <a:off x="838200" y="1583169"/>
          <a:ext cx="10515600" cy="4351337"/>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577893348"/>
                    </a:ext>
                  </a:extLst>
                </a:gridCol>
                <a:gridCol w="2628900">
                  <a:extLst>
                    <a:ext uri="{9D8B030D-6E8A-4147-A177-3AD203B41FA5}">
                      <a16:colId xmlns:a16="http://schemas.microsoft.com/office/drawing/2014/main" val="2053877159"/>
                    </a:ext>
                  </a:extLst>
                </a:gridCol>
                <a:gridCol w="2628900">
                  <a:extLst>
                    <a:ext uri="{9D8B030D-6E8A-4147-A177-3AD203B41FA5}">
                      <a16:colId xmlns:a16="http://schemas.microsoft.com/office/drawing/2014/main" val="2672482506"/>
                    </a:ext>
                  </a:extLst>
                </a:gridCol>
                <a:gridCol w="2628900">
                  <a:extLst>
                    <a:ext uri="{9D8B030D-6E8A-4147-A177-3AD203B41FA5}">
                      <a16:colId xmlns:a16="http://schemas.microsoft.com/office/drawing/2014/main" val="1596151943"/>
                    </a:ext>
                  </a:extLst>
                </a:gridCol>
              </a:tblGrid>
              <a:tr h="1811409">
                <a:tc>
                  <a:txBody>
                    <a:bodyPr/>
                    <a:lstStyle/>
                    <a:p>
                      <a:pPr algn="ctr"/>
                      <a:endParaRPr kumimoji="1" lang="ja-JP" altLang="en-US" sz="2100" dirty="0"/>
                    </a:p>
                  </a:txBody>
                  <a:tcPr anchor="ctr"/>
                </a:tc>
                <a:tc>
                  <a:txBody>
                    <a:bodyPr/>
                    <a:lstStyle/>
                    <a:p>
                      <a:pPr algn="ctr"/>
                      <a:r>
                        <a:rPr kumimoji="1" lang="ja-JP" altLang="en-US" sz="2100" dirty="0"/>
                        <a:t>ベースモデル</a:t>
                      </a:r>
                    </a:p>
                  </a:txBody>
                  <a:tcPr anchor="ctr"/>
                </a:tc>
                <a:tc>
                  <a:txBody>
                    <a:bodyPr/>
                    <a:lstStyle/>
                    <a:p>
                      <a:pPr algn="ctr"/>
                      <a:r>
                        <a:rPr kumimoji="1" lang="ja-JP" altLang="en-US" sz="2100" dirty="0"/>
                        <a:t>答えのみ</a:t>
                      </a:r>
                      <a:r>
                        <a:rPr kumimoji="1" lang="en-US" altLang="ja-JP" sz="2100" dirty="0"/>
                        <a:t>SFT</a:t>
                      </a:r>
                      <a:endParaRPr kumimoji="1" lang="ja-JP" altLang="en-US" sz="2100" dirty="0"/>
                    </a:p>
                  </a:txBody>
                  <a:tcPr anchor="ctr"/>
                </a:tc>
                <a:tc>
                  <a:txBody>
                    <a:bodyPr/>
                    <a:lstStyle/>
                    <a:p>
                      <a:pPr algn="ctr"/>
                      <a:r>
                        <a:rPr lang="ja-JP" altLang="ja-JP" sz="2100" dirty="0"/>
                        <a:t>答え＋処理過程SFT</a:t>
                      </a:r>
                      <a:endParaRPr kumimoji="1" lang="ja-JP" altLang="en-US" sz="2100" dirty="0"/>
                    </a:p>
                  </a:txBody>
                  <a:tcPr anchor="ctr"/>
                </a:tc>
                <a:extLst>
                  <a:ext uri="{0D108BD9-81ED-4DB2-BD59-A6C34878D82A}">
                    <a16:rowId xmlns:a16="http://schemas.microsoft.com/office/drawing/2014/main" val="3196805259"/>
                  </a:ext>
                </a:extLst>
              </a:tr>
              <a:tr h="126996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100" dirty="0"/>
                        <a:t>テストデータその</a:t>
                      </a:r>
                      <a:r>
                        <a:rPr lang="en-US" altLang="ja-JP" sz="2100" dirty="0"/>
                        <a:t>1</a:t>
                      </a:r>
                    </a:p>
                  </a:txBody>
                  <a:tcPr anchor="ctr"/>
                </a:tc>
                <a:tc>
                  <a:txBody>
                    <a:bodyPr/>
                    <a:lstStyle/>
                    <a:p>
                      <a:pPr algn="ctr"/>
                      <a:r>
                        <a:rPr kumimoji="1" lang="en-US" altLang="ja-JP" sz="2100" dirty="0"/>
                        <a:t>277/680</a:t>
                      </a:r>
                    </a:p>
                    <a:p>
                      <a:pPr algn="ctr"/>
                      <a:r>
                        <a:rPr kumimoji="1" lang="ja-JP" altLang="en-US" sz="2100" dirty="0"/>
                        <a:t>約</a:t>
                      </a:r>
                      <a:r>
                        <a:rPr kumimoji="1" lang="en-US" altLang="ja-JP" sz="2100" dirty="0"/>
                        <a:t>40</a:t>
                      </a:r>
                      <a:r>
                        <a:rPr kumimoji="1" lang="ja-JP" altLang="en-US" sz="2100" dirty="0"/>
                        <a:t>％</a:t>
                      </a:r>
                    </a:p>
                  </a:txBody>
                  <a:tcPr anchor="ctr"/>
                </a:tc>
                <a:tc>
                  <a:txBody>
                    <a:bodyPr/>
                    <a:lstStyle/>
                    <a:p>
                      <a:pPr algn="ctr"/>
                      <a:r>
                        <a:rPr kumimoji="1" lang="en-US" altLang="ja-JP" sz="2100" dirty="0"/>
                        <a:t>484/680</a:t>
                      </a:r>
                    </a:p>
                    <a:p>
                      <a:pPr algn="ctr"/>
                      <a:r>
                        <a:rPr kumimoji="1" lang="ja-JP" altLang="en-US" sz="2100" dirty="0"/>
                        <a:t>約</a:t>
                      </a:r>
                      <a:r>
                        <a:rPr kumimoji="1" lang="en-US" altLang="ja-JP" sz="2100" dirty="0"/>
                        <a:t>71</a:t>
                      </a:r>
                      <a:r>
                        <a:rPr kumimoji="1" lang="ja-JP" altLang="en-US" sz="2100" dirty="0"/>
                        <a:t>％</a:t>
                      </a:r>
                    </a:p>
                  </a:txBody>
                  <a:tcPr anchor="ctr"/>
                </a:tc>
                <a:tc>
                  <a:txBody>
                    <a:bodyPr/>
                    <a:lstStyle/>
                    <a:p>
                      <a:pPr algn="ctr"/>
                      <a:r>
                        <a:rPr kumimoji="1" lang="ja-JP" altLang="ja-JP" sz="2100" b="0" i="0" kern="1200" dirty="0">
                          <a:solidFill>
                            <a:schemeClr val="dk1"/>
                          </a:solidFill>
                          <a:effectLst/>
                          <a:latin typeface="+mn-lt"/>
                          <a:ea typeface="+mn-ea"/>
                          <a:cs typeface="+mn-cs"/>
                        </a:rPr>
                        <a:t>548</a:t>
                      </a:r>
                      <a:r>
                        <a:rPr kumimoji="1" lang="en-US" altLang="ja-JP" sz="2100" b="0" i="0" kern="1200" dirty="0">
                          <a:solidFill>
                            <a:schemeClr val="dk1"/>
                          </a:solidFill>
                          <a:effectLst/>
                          <a:latin typeface="+mn-lt"/>
                          <a:ea typeface="+mn-ea"/>
                          <a:cs typeface="+mn-cs"/>
                        </a:rPr>
                        <a:t>/680</a:t>
                      </a:r>
                    </a:p>
                    <a:p>
                      <a:pPr algn="ctr"/>
                      <a:r>
                        <a:rPr kumimoji="1" lang="ja-JP" altLang="en-US" sz="2100" b="0" i="0" kern="1200" dirty="0">
                          <a:solidFill>
                            <a:schemeClr val="dk1"/>
                          </a:solidFill>
                          <a:effectLst/>
                          <a:latin typeface="+mn-lt"/>
                          <a:ea typeface="+mn-ea"/>
                          <a:cs typeface="+mn-cs"/>
                        </a:rPr>
                        <a:t>約</a:t>
                      </a:r>
                      <a:r>
                        <a:rPr kumimoji="1" lang="en-US" altLang="ja-JP" sz="2100" b="0" i="0" kern="1200" dirty="0">
                          <a:solidFill>
                            <a:schemeClr val="dk1"/>
                          </a:solidFill>
                          <a:effectLst/>
                          <a:latin typeface="+mn-lt"/>
                          <a:ea typeface="+mn-ea"/>
                          <a:cs typeface="+mn-cs"/>
                        </a:rPr>
                        <a:t>80</a:t>
                      </a:r>
                      <a:r>
                        <a:rPr kumimoji="1" lang="ja-JP" altLang="en-US" sz="2100" b="0" i="0" kern="1200" dirty="0">
                          <a:solidFill>
                            <a:schemeClr val="dk1"/>
                          </a:solidFill>
                          <a:effectLst/>
                          <a:latin typeface="+mn-lt"/>
                          <a:ea typeface="+mn-ea"/>
                          <a:cs typeface="+mn-cs"/>
                        </a:rPr>
                        <a:t>％</a:t>
                      </a:r>
                      <a:endParaRPr kumimoji="1" lang="ja-JP" altLang="en-US" sz="2100" dirty="0"/>
                    </a:p>
                  </a:txBody>
                  <a:tcPr anchor="ctr"/>
                </a:tc>
                <a:extLst>
                  <a:ext uri="{0D108BD9-81ED-4DB2-BD59-A6C34878D82A}">
                    <a16:rowId xmlns:a16="http://schemas.microsoft.com/office/drawing/2014/main" val="2722267845"/>
                  </a:ext>
                </a:extLst>
              </a:tr>
              <a:tr h="126996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100" dirty="0"/>
                        <a:t>テストデータその</a:t>
                      </a:r>
                      <a:r>
                        <a:rPr lang="en-US" altLang="ja-JP" sz="2100" dirty="0"/>
                        <a:t>2</a:t>
                      </a:r>
                    </a:p>
                  </a:txBody>
                  <a:tcPr anchor="ctr"/>
                </a:tc>
                <a:tc>
                  <a:txBody>
                    <a:bodyPr/>
                    <a:lstStyle/>
                    <a:p>
                      <a:pPr algn="ctr"/>
                      <a:r>
                        <a:rPr kumimoji="1" lang="ja-JP" altLang="ja-JP" sz="2100" b="0" i="0" kern="1200" dirty="0">
                          <a:solidFill>
                            <a:schemeClr val="dk1"/>
                          </a:solidFill>
                          <a:effectLst/>
                          <a:latin typeface="+mn-lt"/>
                          <a:ea typeface="+mn-ea"/>
                          <a:cs typeface="+mn-cs"/>
                        </a:rPr>
                        <a:t>67</a:t>
                      </a:r>
                      <a:r>
                        <a:rPr kumimoji="1" lang="en-US" altLang="ja-JP" sz="2100" dirty="0"/>
                        <a:t>/480</a:t>
                      </a:r>
                    </a:p>
                    <a:p>
                      <a:pPr algn="ctr"/>
                      <a:r>
                        <a:rPr kumimoji="1" lang="ja-JP" altLang="en-US" sz="2100" dirty="0"/>
                        <a:t>約</a:t>
                      </a:r>
                      <a:r>
                        <a:rPr kumimoji="1" lang="en-US" altLang="ja-JP" sz="2100" dirty="0"/>
                        <a:t>13</a:t>
                      </a:r>
                      <a:r>
                        <a:rPr kumimoji="1" lang="ja-JP" altLang="en-US" sz="2100" dirty="0"/>
                        <a:t>％</a:t>
                      </a:r>
                    </a:p>
                  </a:txBody>
                  <a:tcPr anchor="ctr"/>
                </a:tc>
                <a:tc>
                  <a:txBody>
                    <a:bodyPr/>
                    <a:lstStyle/>
                    <a:p>
                      <a:pPr algn="ctr"/>
                      <a:r>
                        <a:rPr kumimoji="1" lang="en-US" altLang="ja-JP" sz="2100" dirty="0"/>
                        <a:t>201/480</a:t>
                      </a:r>
                    </a:p>
                    <a:p>
                      <a:pPr algn="ctr"/>
                      <a:r>
                        <a:rPr kumimoji="1" lang="ja-JP" altLang="en-US" sz="2100" dirty="0"/>
                        <a:t>約</a:t>
                      </a:r>
                      <a:r>
                        <a:rPr kumimoji="1" lang="en-US" altLang="ja-JP" sz="2100" dirty="0"/>
                        <a:t>41</a:t>
                      </a:r>
                      <a:r>
                        <a:rPr kumimoji="1" lang="ja-JP" altLang="en-US" sz="2100" dirty="0"/>
                        <a:t>％</a:t>
                      </a:r>
                    </a:p>
                  </a:txBody>
                  <a:tcPr anchor="ctr"/>
                </a:tc>
                <a:tc>
                  <a:txBody>
                    <a:bodyPr/>
                    <a:lstStyle/>
                    <a:p>
                      <a:pPr algn="ctr"/>
                      <a:r>
                        <a:rPr kumimoji="1" lang="ja-JP" altLang="ja-JP" sz="2100" b="0" i="0" kern="1200" dirty="0">
                          <a:solidFill>
                            <a:schemeClr val="dk1"/>
                          </a:solidFill>
                          <a:effectLst/>
                          <a:latin typeface="+mn-lt"/>
                          <a:ea typeface="+mn-ea"/>
                          <a:cs typeface="+mn-cs"/>
                        </a:rPr>
                        <a:t>98</a:t>
                      </a:r>
                      <a:r>
                        <a:rPr kumimoji="1" lang="en-US" altLang="ja-JP" sz="2100" b="0" i="0" kern="1200" dirty="0">
                          <a:solidFill>
                            <a:schemeClr val="dk1"/>
                          </a:solidFill>
                          <a:effectLst/>
                          <a:latin typeface="+mn-lt"/>
                          <a:ea typeface="+mn-ea"/>
                          <a:cs typeface="+mn-cs"/>
                        </a:rPr>
                        <a:t>/480</a:t>
                      </a:r>
                    </a:p>
                    <a:p>
                      <a:pPr algn="ctr"/>
                      <a:r>
                        <a:rPr kumimoji="1" lang="ja-JP" altLang="en-US" sz="2100" b="0" i="0" kern="1200" dirty="0">
                          <a:solidFill>
                            <a:schemeClr val="dk1"/>
                          </a:solidFill>
                          <a:effectLst/>
                          <a:latin typeface="+mn-lt"/>
                          <a:ea typeface="+mn-ea"/>
                          <a:cs typeface="+mn-cs"/>
                        </a:rPr>
                        <a:t>約</a:t>
                      </a:r>
                      <a:r>
                        <a:rPr kumimoji="1" lang="en-US" altLang="ja-JP" sz="2100" b="0" i="0" kern="1200" dirty="0">
                          <a:solidFill>
                            <a:schemeClr val="dk1"/>
                          </a:solidFill>
                          <a:effectLst/>
                          <a:latin typeface="+mn-lt"/>
                          <a:ea typeface="+mn-ea"/>
                          <a:cs typeface="+mn-cs"/>
                        </a:rPr>
                        <a:t>20</a:t>
                      </a:r>
                      <a:r>
                        <a:rPr kumimoji="1" lang="ja-JP" altLang="en-US" sz="2100" b="0" i="0" kern="1200" dirty="0">
                          <a:solidFill>
                            <a:schemeClr val="dk1"/>
                          </a:solidFill>
                          <a:effectLst/>
                          <a:latin typeface="+mn-lt"/>
                          <a:ea typeface="+mn-ea"/>
                          <a:cs typeface="+mn-cs"/>
                        </a:rPr>
                        <a:t>％</a:t>
                      </a:r>
                      <a:endParaRPr kumimoji="1" lang="ja-JP" altLang="en-US" sz="2100" dirty="0"/>
                    </a:p>
                  </a:txBody>
                  <a:tcPr anchor="ctr"/>
                </a:tc>
                <a:extLst>
                  <a:ext uri="{0D108BD9-81ED-4DB2-BD59-A6C34878D82A}">
                    <a16:rowId xmlns:a16="http://schemas.microsoft.com/office/drawing/2014/main" val="2618271811"/>
                  </a:ext>
                </a:extLst>
              </a:tr>
            </a:tbl>
          </a:graphicData>
        </a:graphic>
      </p:graphicFrame>
    </p:spTree>
    <p:extLst>
      <p:ext uri="{BB962C8B-B14F-4D97-AF65-F5344CB8AC3E}">
        <p14:creationId xmlns:p14="http://schemas.microsoft.com/office/powerpoint/2010/main" val="557172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D563CB8-538E-9EF2-043E-56B0C385C19E}"/>
              </a:ext>
            </a:extLst>
          </p:cNvPr>
          <p:cNvSpPr>
            <a:spLocks noGrp="1"/>
          </p:cNvSpPr>
          <p:nvPr>
            <p:ph type="title"/>
          </p:nvPr>
        </p:nvSpPr>
        <p:spPr/>
        <p:txBody>
          <a:bodyPr/>
          <a:lstStyle/>
          <a:p>
            <a:r>
              <a:rPr kumimoji="1" lang="ja-JP" altLang="en-US" dirty="0"/>
              <a:t>分析できること</a:t>
            </a:r>
          </a:p>
        </p:txBody>
      </p:sp>
      <p:sp>
        <p:nvSpPr>
          <p:cNvPr id="3" name="コンテンツ プレースホルダー 2">
            <a:extLst>
              <a:ext uri="{FF2B5EF4-FFF2-40B4-BE49-F238E27FC236}">
                <a16:creationId xmlns:a16="http://schemas.microsoft.com/office/drawing/2014/main" id="{C5A069E9-49F2-A50A-C2B1-0932A202A91D}"/>
              </a:ext>
            </a:extLst>
          </p:cNvPr>
          <p:cNvSpPr>
            <a:spLocks noGrp="1"/>
          </p:cNvSpPr>
          <p:nvPr>
            <p:ph idx="1"/>
          </p:nvPr>
        </p:nvSpPr>
        <p:spPr/>
        <p:txBody>
          <a:bodyPr/>
          <a:lstStyle/>
          <a:p>
            <a:r>
              <a:rPr kumimoji="1" lang="ja-JP" altLang="en-US" dirty="0"/>
              <a:t>答えのみを学習させることで、</a:t>
            </a:r>
            <a:r>
              <a:rPr lang="ja-JP" altLang="en-US" dirty="0"/>
              <a:t>テストデータその</a:t>
            </a:r>
            <a:r>
              <a:rPr lang="en-US" altLang="ja-JP" dirty="0"/>
              <a:t>1</a:t>
            </a:r>
            <a:r>
              <a:rPr kumimoji="1" lang="ja-JP" altLang="en-US" dirty="0"/>
              <a:t>だけでなく</a:t>
            </a:r>
            <a:r>
              <a:rPr lang="ja-JP" altLang="en-US" dirty="0"/>
              <a:t>テストデータその</a:t>
            </a:r>
            <a:r>
              <a:rPr lang="en-US" altLang="ja-JP" dirty="0"/>
              <a:t>2</a:t>
            </a:r>
            <a:r>
              <a:rPr kumimoji="1" lang="ja-JP" altLang="en-US" dirty="0"/>
              <a:t>の正解率も大きく向上した</a:t>
            </a:r>
          </a:p>
        </p:txBody>
      </p:sp>
      <p:sp>
        <p:nvSpPr>
          <p:cNvPr id="4" name="スライド番号プレースホルダー 3">
            <a:extLst>
              <a:ext uri="{FF2B5EF4-FFF2-40B4-BE49-F238E27FC236}">
                <a16:creationId xmlns:a16="http://schemas.microsoft.com/office/drawing/2014/main" id="{0CF76C9C-540E-E99B-E311-B25D00ED33DB}"/>
              </a:ext>
            </a:extLst>
          </p:cNvPr>
          <p:cNvSpPr>
            <a:spLocks noGrp="1"/>
          </p:cNvSpPr>
          <p:nvPr>
            <p:ph type="sldNum" sz="quarter" idx="12"/>
          </p:nvPr>
        </p:nvSpPr>
        <p:spPr/>
        <p:txBody>
          <a:bodyPr/>
          <a:lstStyle/>
          <a:p>
            <a:fld id="{10649E7B-FC1B-418B-9B6A-00859DB1DEE8}" type="slidenum">
              <a:rPr kumimoji="1" lang="ja-JP" altLang="en-US" smtClean="0"/>
              <a:t>38</a:t>
            </a:fld>
            <a:endParaRPr kumimoji="1" lang="ja-JP" altLang="en-US"/>
          </a:p>
        </p:txBody>
      </p:sp>
    </p:spTree>
    <p:extLst>
      <p:ext uri="{BB962C8B-B14F-4D97-AF65-F5344CB8AC3E}">
        <p14:creationId xmlns:p14="http://schemas.microsoft.com/office/powerpoint/2010/main" val="386564983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B530C0-CBA9-CB0C-EB02-3E71ACC86F6F}"/>
              </a:ext>
            </a:extLst>
          </p:cNvPr>
          <p:cNvSpPr>
            <a:spLocks noGrp="1"/>
          </p:cNvSpPr>
          <p:nvPr>
            <p:ph type="title"/>
          </p:nvPr>
        </p:nvSpPr>
        <p:spPr/>
        <p:txBody>
          <a:bodyPr/>
          <a:lstStyle/>
          <a:p>
            <a:r>
              <a:rPr kumimoji="1" lang="ja-JP" altLang="en-US" dirty="0"/>
              <a:t>テストデータその</a:t>
            </a:r>
            <a:r>
              <a:rPr kumimoji="1" lang="en-US" altLang="ja-JP" dirty="0"/>
              <a:t>1</a:t>
            </a:r>
            <a:r>
              <a:rPr kumimoji="1" lang="ja-JP" altLang="en-US" dirty="0"/>
              <a:t>に対しての</a:t>
            </a:r>
            <a:br>
              <a:rPr kumimoji="1" lang="en-US" altLang="ja-JP" dirty="0"/>
            </a:br>
            <a:r>
              <a:rPr kumimoji="1" lang="ja-JP" altLang="en-US" dirty="0"/>
              <a:t>各モデルの出力</a:t>
            </a:r>
          </a:p>
        </p:txBody>
      </p:sp>
      <p:sp>
        <p:nvSpPr>
          <p:cNvPr id="4" name="スライド番号プレースホルダー 3">
            <a:extLst>
              <a:ext uri="{FF2B5EF4-FFF2-40B4-BE49-F238E27FC236}">
                <a16:creationId xmlns:a16="http://schemas.microsoft.com/office/drawing/2014/main" id="{3A62CC01-8D68-BD66-E9E8-6B18B13C20DE}"/>
              </a:ext>
            </a:extLst>
          </p:cNvPr>
          <p:cNvSpPr>
            <a:spLocks noGrp="1"/>
          </p:cNvSpPr>
          <p:nvPr>
            <p:ph type="sldNum" sz="quarter" idx="12"/>
          </p:nvPr>
        </p:nvSpPr>
        <p:spPr/>
        <p:txBody>
          <a:bodyPr/>
          <a:lstStyle/>
          <a:p>
            <a:fld id="{10649E7B-FC1B-418B-9B6A-00859DB1DEE8}" type="slidenum">
              <a:rPr kumimoji="1" lang="ja-JP" altLang="en-US" smtClean="0"/>
              <a:t>39</a:t>
            </a:fld>
            <a:endParaRPr kumimoji="1" lang="ja-JP" altLang="en-US"/>
          </a:p>
        </p:txBody>
      </p:sp>
      <p:sp>
        <p:nvSpPr>
          <p:cNvPr id="7" name="テキスト ボックス 6">
            <a:extLst>
              <a:ext uri="{FF2B5EF4-FFF2-40B4-BE49-F238E27FC236}">
                <a16:creationId xmlns:a16="http://schemas.microsoft.com/office/drawing/2014/main" id="{7EDA49D0-BA3F-4234-44C2-F8FF08D326A4}"/>
              </a:ext>
            </a:extLst>
          </p:cNvPr>
          <p:cNvSpPr txBox="1"/>
          <p:nvPr/>
        </p:nvSpPr>
        <p:spPr>
          <a:xfrm>
            <a:off x="838200" y="6352143"/>
            <a:ext cx="6097022" cy="369332"/>
          </a:xfrm>
          <a:prstGeom prst="rect">
            <a:avLst/>
          </a:prstGeom>
          <a:noFill/>
        </p:spPr>
        <p:txBody>
          <a:bodyPr wrap="square">
            <a:spAutoFit/>
          </a:bodyPr>
          <a:lstStyle/>
          <a:p>
            <a:r>
              <a:rPr kumimoji="1" lang="ja-JP" altLang="en-US" sz="1800" dirty="0"/>
              <a:t>テストデータその</a:t>
            </a:r>
            <a:r>
              <a:rPr kumimoji="1" lang="en-US" altLang="ja-JP" sz="1800" dirty="0"/>
              <a:t>1</a:t>
            </a:r>
            <a:r>
              <a:rPr kumimoji="1" lang="ja-JP" altLang="en-US" sz="1800" dirty="0"/>
              <a:t>：</a:t>
            </a:r>
            <a:r>
              <a:rPr lang="ja-JP" altLang="en-US" sz="1800" dirty="0"/>
              <a:t>訓練用のデータの問題と同じルール</a:t>
            </a:r>
            <a:endParaRPr lang="en-US" altLang="ja-JP" sz="1800" dirty="0"/>
          </a:p>
        </p:txBody>
      </p:sp>
      <p:graphicFrame>
        <p:nvGraphicFramePr>
          <p:cNvPr id="10" name="コンテンツ プレースホルダー 9">
            <a:extLst>
              <a:ext uri="{FF2B5EF4-FFF2-40B4-BE49-F238E27FC236}">
                <a16:creationId xmlns:a16="http://schemas.microsoft.com/office/drawing/2014/main" id="{1BE589D7-8141-2098-F5A7-E7D28D92037F}"/>
              </a:ext>
            </a:extLst>
          </p:cNvPr>
          <p:cNvGraphicFramePr>
            <a:graphicFrameLocks noGrp="1"/>
          </p:cNvGraphicFramePr>
          <p:nvPr>
            <p:ph idx="1"/>
            <p:extLst>
              <p:ext uri="{D42A27DB-BD31-4B8C-83A1-F6EECF244321}">
                <p14:modId xmlns:p14="http://schemas.microsoft.com/office/powerpoint/2010/main" val="2930662736"/>
              </p:ext>
            </p:extLst>
          </p:nvPr>
        </p:nvGraphicFramePr>
        <p:xfrm>
          <a:off x="618806" y="1825624"/>
          <a:ext cx="10954388" cy="3746694"/>
        </p:xfrm>
        <a:graphic>
          <a:graphicData uri="http://schemas.openxmlformats.org/drawingml/2006/table">
            <a:tbl>
              <a:tblPr firstRow="1" bandRow="1">
                <a:tableStyleId>{5C22544A-7EE6-4342-B048-85BDC9FD1C3A}</a:tableStyleId>
              </a:tblPr>
              <a:tblGrid>
                <a:gridCol w="2738597">
                  <a:extLst>
                    <a:ext uri="{9D8B030D-6E8A-4147-A177-3AD203B41FA5}">
                      <a16:colId xmlns:a16="http://schemas.microsoft.com/office/drawing/2014/main" val="1237701002"/>
                    </a:ext>
                  </a:extLst>
                </a:gridCol>
                <a:gridCol w="2738597">
                  <a:extLst>
                    <a:ext uri="{9D8B030D-6E8A-4147-A177-3AD203B41FA5}">
                      <a16:colId xmlns:a16="http://schemas.microsoft.com/office/drawing/2014/main" val="736347099"/>
                    </a:ext>
                  </a:extLst>
                </a:gridCol>
                <a:gridCol w="2738597">
                  <a:extLst>
                    <a:ext uri="{9D8B030D-6E8A-4147-A177-3AD203B41FA5}">
                      <a16:colId xmlns:a16="http://schemas.microsoft.com/office/drawing/2014/main" val="2868542704"/>
                    </a:ext>
                  </a:extLst>
                </a:gridCol>
                <a:gridCol w="2738597">
                  <a:extLst>
                    <a:ext uri="{9D8B030D-6E8A-4147-A177-3AD203B41FA5}">
                      <a16:colId xmlns:a16="http://schemas.microsoft.com/office/drawing/2014/main" val="2140889208"/>
                    </a:ext>
                  </a:extLst>
                </a:gridCol>
              </a:tblGrid>
              <a:tr h="1248898">
                <a:tc>
                  <a:txBody>
                    <a:bodyPr/>
                    <a:lstStyle/>
                    <a:p>
                      <a:pPr algn="ctr"/>
                      <a:endParaRPr kumimoji="1" lang="ja-JP" altLang="en-US"/>
                    </a:p>
                  </a:txBody>
                  <a:tcPr anchor="ctr"/>
                </a:tc>
                <a:tc>
                  <a:txBody>
                    <a:bodyPr/>
                    <a:lstStyle/>
                    <a:p>
                      <a:pPr algn="ctr"/>
                      <a:r>
                        <a:rPr kumimoji="1" lang="ja-JP" altLang="en-US" dirty="0"/>
                        <a:t>ベースモデル</a:t>
                      </a:r>
                    </a:p>
                  </a:txBody>
                  <a:tcPr anchor="ctr"/>
                </a:tc>
                <a:tc>
                  <a:txBody>
                    <a:bodyPr/>
                    <a:lstStyle/>
                    <a:p>
                      <a:pPr algn="ctr"/>
                      <a:r>
                        <a:rPr kumimoji="1" lang="ja-JP" altLang="en-US" dirty="0"/>
                        <a:t>答えのみの</a:t>
                      </a:r>
                      <a:r>
                        <a:rPr kumimoji="1" lang="en-US" altLang="ja-JP" dirty="0"/>
                        <a:t>SFT</a:t>
                      </a:r>
                      <a:endParaRPr kumimoji="1" lang="ja-JP" altLang="en-US" dirty="0"/>
                    </a:p>
                  </a:txBody>
                  <a:tcPr anchor="ctr"/>
                </a:tc>
                <a:tc>
                  <a:txBody>
                    <a:bodyPr/>
                    <a:lstStyle/>
                    <a:p>
                      <a:pPr algn="ctr"/>
                      <a:r>
                        <a:rPr kumimoji="1" lang="ja-JP" altLang="en-US" dirty="0"/>
                        <a:t>答え＋処理過程の</a:t>
                      </a:r>
                      <a:r>
                        <a:rPr kumimoji="1" lang="en-US" altLang="ja-JP" dirty="0"/>
                        <a:t>SFT</a:t>
                      </a:r>
                      <a:endParaRPr kumimoji="1" lang="ja-JP" altLang="en-US" dirty="0"/>
                    </a:p>
                  </a:txBody>
                  <a:tcPr anchor="ctr"/>
                </a:tc>
                <a:extLst>
                  <a:ext uri="{0D108BD9-81ED-4DB2-BD59-A6C34878D82A}">
                    <a16:rowId xmlns:a16="http://schemas.microsoft.com/office/drawing/2014/main" val="2128046640"/>
                  </a:ext>
                </a:extLst>
              </a:tr>
              <a:tr h="1248898">
                <a:tc>
                  <a:txBody>
                    <a:bodyPr/>
                    <a:lstStyle/>
                    <a:p>
                      <a:pPr algn="ctr"/>
                      <a:r>
                        <a:rPr kumimoji="1" lang="ja-JP" altLang="en-US" dirty="0"/>
                        <a:t>処理単体</a:t>
                      </a:r>
                    </a:p>
                  </a:txBody>
                  <a:tcPr anchor="ctr"/>
                </a:tc>
                <a:tc>
                  <a:txBody>
                    <a:bodyPr/>
                    <a:lstStyle/>
                    <a:p>
                      <a:pPr algn="ctr"/>
                      <a:r>
                        <a:rPr kumimoji="1" lang="en-US" altLang="zh-TW" dirty="0"/>
                        <a:t>205/</a:t>
                      </a:r>
                      <a:r>
                        <a:rPr kumimoji="1" lang="ja-JP" altLang="ja-JP" sz="1800" b="0" i="0" kern="1200" dirty="0">
                          <a:solidFill>
                            <a:schemeClr val="dk1"/>
                          </a:solidFill>
                          <a:effectLst/>
                          <a:latin typeface="+mn-lt"/>
                          <a:ea typeface="+mn-ea"/>
                          <a:cs typeface="+mn-cs"/>
                        </a:rPr>
                        <a:t>240</a:t>
                      </a:r>
                      <a:endParaRPr kumimoji="1" lang="en-US" altLang="ja-JP" sz="1800" b="0" i="0" kern="1200" dirty="0">
                        <a:solidFill>
                          <a:schemeClr val="dk1"/>
                        </a:solidFill>
                        <a:effectLst/>
                        <a:latin typeface="+mn-lt"/>
                        <a:ea typeface="+mn-ea"/>
                        <a:cs typeface="+mn-cs"/>
                      </a:endParaRPr>
                    </a:p>
                    <a:p>
                      <a:pPr algn="ctr"/>
                      <a:r>
                        <a:rPr kumimoji="1" lang="en-US" altLang="ja-JP" sz="1800" b="0" i="0" kern="1200" dirty="0">
                          <a:solidFill>
                            <a:schemeClr val="dk1"/>
                          </a:solidFill>
                          <a:effectLst/>
                          <a:latin typeface="+mn-lt"/>
                          <a:ea typeface="+mn-ea"/>
                          <a:cs typeface="+mn-cs"/>
                        </a:rPr>
                        <a:t>85.4%</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208</a:t>
                      </a:r>
                      <a:r>
                        <a:rPr kumimoji="1" lang="en-US" altLang="zh-TW" dirty="0"/>
                        <a:t>/</a:t>
                      </a:r>
                      <a:r>
                        <a:rPr kumimoji="1" lang="ja-JP" altLang="ja-JP" sz="1800" b="0" i="0" kern="1200" dirty="0">
                          <a:solidFill>
                            <a:schemeClr val="dk1"/>
                          </a:solidFill>
                          <a:effectLst/>
                          <a:latin typeface="+mn-lt"/>
                          <a:ea typeface="+mn-ea"/>
                          <a:cs typeface="+mn-cs"/>
                        </a:rPr>
                        <a:t>240</a:t>
                      </a:r>
                      <a:endParaRPr kumimoji="1" lang="en-US" altLang="ja-JP" sz="1800" b="0" i="0" kern="1200" dirty="0">
                        <a:solidFill>
                          <a:schemeClr val="dk1"/>
                        </a:solidFill>
                        <a:effectLst/>
                        <a:latin typeface="+mn-lt"/>
                        <a:ea typeface="+mn-ea"/>
                        <a:cs typeface="+mn-cs"/>
                      </a:endParaRPr>
                    </a:p>
                    <a:p>
                      <a:pPr algn="ctr"/>
                      <a:r>
                        <a:rPr kumimoji="1" lang="en-US" altLang="ja-JP" sz="1800" b="0" i="0" kern="1200" dirty="0">
                          <a:solidFill>
                            <a:schemeClr val="dk1"/>
                          </a:solidFill>
                          <a:effectLst/>
                          <a:latin typeface="+mn-lt"/>
                          <a:ea typeface="+mn-ea"/>
                          <a:cs typeface="+mn-cs"/>
                        </a:rPr>
                        <a:t>86.6%</a:t>
                      </a:r>
                      <a:endParaRPr kumimoji="1" lang="ja-JP" altLang="en-US" dirty="0"/>
                    </a:p>
                  </a:txBody>
                  <a:tcPr anchor="ctr"/>
                </a:tc>
                <a:tc>
                  <a:txBody>
                    <a:bodyPr/>
                    <a:lstStyle/>
                    <a:p>
                      <a:pPr algn="ctr"/>
                      <a:r>
                        <a:rPr kumimoji="1" lang="en-US" altLang="ja-JP" sz="1800" b="0" i="0" kern="1200" dirty="0">
                          <a:solidFill>
                            <a:schemeClr val="dk1"/>
                          </a:solidFill>
                          <a:effectLst/>
                          <a:latin typeface="+mn-lt"/>
                          <a:ea typeface="+mn-ea"/>
                          <a:cs typeface="+mn-cs"/>
                        </a:rPr>
                        <a:t>201</a:t>
                      </a:r>
                      <a:r>
                        <a:rPr kumimoji="1" lang="en-US" altLang="zh-TW" dirty="0"/>
                        <a:t>/</a:t>
                      </a:r>
                      <a:r>
                        <a:rPr kumimoji="1" lang="ja-JP" altLang="ja-JP" sz="1800" b="0" i="0" kern="1200" dirty="0">
                          <a:solidFill>
                            <a:schemeClr val="dk1"/>
                          </a:solidFill>
                          <a:effectLst/>
                          <a:latin typeface="+mn-lt"/>
                          <a:ea typeface="+mn-ea"/>
                          <a:cs typeface="+mn-cs"/>
                        </a:rPr>
                        <a:t>240</a:t>
                      </a:r>
                      <a:endParaRPr kumimoji="1" lang="en-US" altLang="ja-JP" sz="1800" b="0" i="0" kern="1200" dirty="0">
                        <a:solidFill>
                          <a:schemeClr val="dk1"/>
                        </a:solidFill>
                        <a:effectLst/>
                        <a:latin typeface="+mn-lt"/>
                        <a:ea typeface="+mn-ea"/>
                        <a:cs typeface="+mn-cs"/>
                      </a:endParaRPr>
                    </a:p>
                    <a:p>
                      <a:pPr algn="ctr"/>
                      <a:r>
                        <a:rPr kumimoji="1" lang="en-US" altLang="ja-JP" sz="1800" b="0" i="0" kern="1200" dirty="0">
                          <a:solidFill>
                            <a:schemeClr val="dk1"/>
                          </a:solidFill>
                          <a:effectLst/>
                          <a:latin typeface="+mn-lt"/>
                          <a:ea typeface="+mn-ea"/>
                          <a:cs typeface="+mn-cs"/>
                        </a:rPr>
                        <a:t>83.7%</a:t>
                      </a:r>
                      <a:endParaRPr kumimoji="1" lang="ja-JP" altLang="en-US" dirty="0"/>
                    </a:p>
                  </a:txBody>
                  <a:tcPr anchor="ctr"/>
                </a:tc>
                <a:extLst>
                  <a:ext uri="{0D108BD9-81ED-4DB2-BD59-A6C34878D82A}">
                    <a16:rowId xmlns:a16="http://schemas.microsoft.com/office/drawing/2014/main" val="677950247"/>
                  </a:ext>
                </a:extLst>
              </a:tr>
              <a:tr h="124889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dirty="0"/>
                        <a:t>２つの処理の組み合わせ</a:t>
                      </a:r>
                    </a:p>
                    <a:p>
                      <a:pPr algn="ctr"/>
                      <a:endParaRPr kumimoji="1" lang="ja-JP" altLang="en-US" dirty="0"/>
                    </a:p>
                  </a:txBody>
                  <a:tcPr anchor="ctr"/>
                </a:tc>
                <a:tc>
                  <a:txBody>
                    <a:bodyPr/>
                    <a:lstStyle/>
                    <a:p>
                      <a:pPr algn="ctr"/>
                      <a:r>
                        <a:rPr kumimoji="1" lang="en-US" altLang="zh-TW" dirty="0"/>
                        <a:t>106/480</a:t>
                      </a:r>
                    </a:p>
                    <a:p>
                      <a:pPr algn="ctr"/>
                      <a:r>
                        <a:rPr kumimoji="1" lang="en-US" altLang="ja-JP" dirty="0"/>
                        <a:t>22.0%</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276</a:t>
                      </a:r>
                      <a:r>
                        <a:rPr kumimoji="1" lang="en-US" altLang="zh-TW" dirty="0"/>
                        <a:t>/480</a:t>
                      </a:r>
                    </a:p>
                    <a:p>
                      <a:pPr algn="ctr"/>
                      <a:r>
                        <a:rPr kumimoji="1" lang="en-US" altLang="ja-JP" dirty="0"/>
                        <a:t>62.7%</a:t>
                      </a:r>
                      <a:endParaRPr kumimoji="1" lang="ja-JP" altLang="en-US" dirty="0"/>
                    </a:p>
                  </a:txBody>
                  <a:tcPr anchor="ctr"/>
                </a:tc>
                <a:tc>
                  <a:txBody>
                    <a:bodyPr/>
                    <a:lstStyle/>
                    <a:p>
                      <a:pPr algn="ctr"/>
                      <a:r>
                        <a:rPr kumimoji="1" lang="en-US" altLang="ja-JP" sz="1800" b="0" i="0" kern="1200" dirty="0">
                          <a:solidFill>
                            <a:schemeClr val="dk1"/>
                          </a:solidFill>
                          <a:effectLst/>
                          <a:latin typeface="+mn-lt"/>
                          <a:ea typeface="+mn-ea"/>
                          <a:cs typeface="+mn-cs"/>
                        </a:rPr>
                        <a:t>362</a:t>
                      </a:r>
                      <a:r>
                        <a:rPr kumimoji="1" lang="en-US" altLang="zh-TW" dirty="0"/>
                        <a:t>/4</a:t>
                      </a:r>
                      <a:r>
                        <a:rPr kumimoji="1" lang="en-US" altLang="ja-JP" dirty="0"/>
                        <a:t>60</a:t>
                      </a:r>
                      <a:endParaRPr kumimoji="1" lang="en-US" altLang="zh-TW" dirty="0"/>
                    </a:p>
                    <a:p>
                      <a:pPr algn="ctr"/>
                      <a:r>
                        <a:rPr kumimoji="1" lang="en-US" altLang="ja-JP" dirty="0"/>
                        <a:t>78.6%</a:t>
                      </a:r>
                      <a:endParaRPr kumimoji="1" lang="ja-JP" altLang="en-US" dirty="0"/>
                    </a:p>
                  </a:txBody>
                  <a:tcPr anchor="ctr"/>
                </a:tc>
                <a:extLst>
                  <a:ext uri="{0D108BD9-81ED-4DB2-BD59-A6C34878D82A}">
                    <a16:rowId xmlns:a16="http://schemas.microsoft.com/office/drawing/2014/main" val="3114305922"/>
                  </a:ext>
                </a:extLst>
              </a:tr>
            </a:tbl>
          </a:graphicData>
        </a:graphic>
      </p:graphicFrame>
    </p:spTree>
    <p:extLst>
      <p:ext uri="{BB962C8B-B14F-4D97-AF65-F5344CB8AC3E}">
        <p14:creationId xmlns:p14="http://schemas.microsoft.com/office/powerpoint/2010/main" val="41982884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5E95172-AF67-7C88-98C7-A10247FEBCA5}"/>
              </a:ext>
            </a:extLst>
          </p:cNvPr>
          <p:cNvSpPr>
            <a:spLocks noGrp="1"/>
          </p:cNvSpPr>
          <p:nvPr>
            <p:ph type="title"/>
          </p:nvPr>
        </p:nvSpPr>
        <p:spPr/>
        <p:txBody>
          <a:bodyPr/>
          <a:lstStyle/>
          <a:p>
            <a:r>
              <a:rPr kumimoji="1" lang="ja-JP" altLang="en-US" dirty="0"/>
              <a:t>分析できること</a:t>
            </a:r>
          </a:p>
        </p:txBody>
      </p:sp>
      <p:sp>
        <p:nvSpPr>
          <p:cNvPr id="3" name="コンテンツ プレースホルダー 2">
            <a:extLst>
              <a:ext uri="{FF2B5EF4-FFF2-40B4-BE49-F238E27FC236}">
                <a16:creationId xmlns:a16="http://schemas.microsoft.com/office/drawing/2014/main" id="{CA6CE885-8DBC-E747-9845-225A2B15BC22}"/>
              </a:ext>
            </a:extLst>
          </p:cNvPr>
          <p:cNvSpPr>
            <a:spLocks noGrp="1"/>
          </p:cNvSpPr>
          <p:nvPr>
            <p:ph idx="1"/>
          </p:nvPr>
        </p:nvSpPr>
        <p:spPr/>
        <p:txBody>
          <a:bodyPr/>
          <a:lstStyle/>
          <a:p>
            <a:r>
              <a:rPr kumimoji="1" lang="ja-JP" altLang="en-US" dirty="0"/>
              <a:t>処理単体では学習なしのベースモデルでも解ける。追加で学習を行ってももとから解ける問題は解けるし、解けない問題は解けない</a:t>
            </a:r>
          </a:p>
        </p:txBody>
      </p:sp>
      <p:sp>
        <p:nvSpPr>
          <p:cNvPr id="4" name="スライド番号プレースホルダー 3">
            <a:extLst>
              <a:ext uri="{FF2B5EF4-FFF2-40B4-BE49-F238E27FC236}">
                <a16:creationId xmlns:a16="http://schemas.microsoft.com/office/drawing/2014/main" id="{038C309C-91F2-5131-F793-FDA8527EFF37}"/>
              </a:ext>
            </a:extLst>
          </p:cNvPr>
          <p:cNvSpPr>
            <a:spLocks noGrp="1"/>
          </p:cNvSpPr>
          <p:nvPr>
            <p:ph type="sldNum" sz="quarter" idx="12"/>
          </p:nvPr>
        </p:nvSpPr>
        <p:spPr/>
        <p:txBody>
          <a:bodyPr/>
          <a:lstStyle/>
          <a:p>
            <a:fld id="{10649E7B-FC1B-418B-9B6A-00859DB1DEE8}" type="slidenum">
              <a:rPr kumimoji="1" lang="ja-JP" altLang="en-US" smtClean="0"/>
              <a:t>40</a:t>
            </a:fld>
            <a:endParaRPr kumimoji="1" lang="ja-JP" altLang="en-US"/>
          </a:p>
        </p:txBody>
      </p:sp>
    </p:spTree>
    <p:extLst>
      <p:ext uri="{BB962C8B-B14F-4D97-AF65-F5344CB8AC3E}">
        <p14:creationId xmlns:p14="http://schemas.microsoft.com/office/powerpoint/2010/main" val="10512379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07106D-5D22-8081-FEBC-F96763DAFB84}"/>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6F05C153-5D87-DE5B-7B0D-11F581868F08}"/>
              </a:ext>
            </a:extLst>
          </p:cNvPr>
          <p:cNvSpPr>
            <a:spLocks noGrp="1"/>
          </p:cNvSpPr>
          <p:nvPr>
            <p:ph idx="1"/>
          </p:nvPr>
        </p:nvSpPr>
        <p:spPr/>
        <p:txBody>
          <a:bodyPr/>
          <a:lstStyle/>
          <a:p>
            <a:r>
              <a:rPr kumimoji="1" lang="en-US" altLang="ja-JP" dirty="0"/>
              <a:t>2</a:t>
            </a:r>
            <a:r>
              <a:rPr kumimoji="1" lang="ja-JP" altLang="en-US" dirty="0"/>
              <a:t>つの処理を組み合わせた問題の中には、処理の順番は関係ないものもある。</a:t>
            </a:r>
            <a:endParaRPr kumimoji="1" lang="en-US" altLang="ja-JP" dirty="0"/>
          </a:p>
          <a:p>
            <a:endParaRPr lang="en-US" altLang="ja-JP" dirty="0"/>
          </a:p>
          <a:p>
            <a:r>
              <a:rPr kumimoji="1" lang="ja-JP" altLang="en-US" dirty="0"/>
              <a:t>教師データを作成する際には、順番が関係ない処理過程については、</a:t>
            </a:r>
            <a:r>
              <a:rPr kumimoji="1" lang="en-US" altLang="ja-JP" dirty="0"/>
              <a:t>2</a:t>
            </a:r>
            <a:r>
              <a:rPr kumimoji="1" lang="ja-JP" altLang="en-US" dirty="0"/>
              <a:t>通りある中のどちらか一方だけを選んで作成</a:t>
            </a:r>
          </a:p>
        </p:txBody>
      </p:sp>
      <p:sp>
        <p:nvSpPr>
          <p:cNvPr id="4" name="スライド番号プレースホルダー 3">
            <a:extLst>
              <a:ext uri="{FF2B5EF4-FFF2-40B4-BE49-F238E27FC236}">
                <a16:creationId xmlns:a16="http://schemas.microsoft.com/office/drawing/2014/main" id="{8E7D758F-266B-8C57-317F-EB0CB8E96F16}"/>
              </a:ext>
            </a:extLst>
          </p:cNvPr>
          <p:cNvSpPr>
            <a:spLocks noGrp="1"/>
          </p:cNvSpPr>
          <p:nvPr>
            <p:ph type="sldNum" sz="quarter" idx="12"/>
          </p:nvPr>
        </p:nvSpPr>
        <p:spPr/>
        <p:txBody>
          <a:bodyPr/>
          <a:lstStyle/>
          <a:p>
            <a:fld id="{10649E7B-FC1B-418B-9B6A-00859DB1DEE8}" type="slidenum">
              <a:rPr kumimoji="1" lang="ja-JP" altLang="en-US" smtClean="0"/>
              <a:t>41</a:t>
            </a:fld>
            <a:endParaRPr kumimoji="1" lang="ja-JP" altLang="en-US"/>
          </a:p>
        </p:txBody>
      </p:sp>
    </p:spTree>
    <p:extLst>
      <p:ext uri="{BB962C8B-B14F-4D97-AF65-F5344CB8AC3E}">
        <p14:creationId xmlns:p14="http://schemas.microsoft.com/office/powerpoint/2010/main" val="253835978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C6D295F-C2E3-63D1-257D-C480C24560FE}"/>
              </a:ext>
            </a:extLst>
          </p:cNvPr>
          <p:cNvSpPr>
            <a:spLocks noGrp="1"/>
          </p:cNvSpPr>
          <p:nvPr>
            <p:ph type="title"/>
          </p:nvPr>
        </p:nvSpPr>
        <p:spPr>
          <a:xfrm>
            <a:off x="838200" y="18255"/>
            <a:ext cx="10515600" cy="1325563"/>
          </a:xfrm>
        </p:spPr>
        <p:txBody>
          <a:bodyPr/>
          <a:lstStyle/>
          <a:p>
            <a:r>
              <a:rPr kumimoji="1" lang="ja-JP" altLang="en-US" dirty="0"/>
              <a:t>答え＋処理過程の</a:t>
            </a:r>
            <a:r>
              <a:rPr kumimoji="1" lang="en-US" altLang="ja-JP" dirty="0"/>
              <a:t>SFT</a:t>
            </a:r>
            <a:r>
              <a:rPr kumimoji="1" lang="ja-JP" altLang="en-US" dirty="0"/>
              <a:t>の分析</a:t>
            </a:r>
          </a:p>
        </p:txBody>
      </p:sp>
      <p:sp>
        <p:nvSpPr>
          <p:cNvPr id="4" name="スライド番号プレースホルダー 3">
            <a:extLst>
              <a:ext uri="{FF2B5EF4-FFF2-40B4-BE49-F238E27FC236}">
                <a16:creationId xmlns:a16="http://schemas.microsoft.com/office/drawing/2014/main" id="{471933A0-AA2D-72FD-C0A8-95535660B21A}"/>
              </a:ext>
            </a:extLst>
          </p:cNvPr>
          <p:cNvSpPr>
            <a:spLocks noGrp="1"/>
          </p:cNvSpPr>
          <p:nvPr>
            <p:ph type="sldNum" sz="quarter" idx="12"/>
          </p:nvPr>
        </p:nvSpPr>
        <p:spPr/>
        <p:txBody>
          <a:bodyPr/>
          <a:lstStyle/>
          <a:p>
            <a:fld id="{10649E7B-FC1B-418B-9B6A-00859DB1DEE8}" type="slidenum">
              <a:rPr kumimoji="1" lang="ja-JP" altLang="en-US" smtClean="0"/>
              <a:t>42</a:t>
            </a:fld>
            <a:endParaRPr kumimoji="1" lang="ja-JP" altLang="en-US"/>
          </a:p>
        </p:txBody>
      </p:sp>
      <p:sp>
        <p:nvSpPr>
          <p:cNvPr id="5" name="四角形: 角を丸くする 4">
            <a:extLst>
              <a:ext uri="{FF2B5EF4-FFF2-40B4-BE49-F238E27FC236}">
                <a16:creationId xmlns:a16="http://schemas.microsoft.com/office/drawing/2014/main" id="{9107CE5A-FCD2-4705-7479-C800FE5915B9}"/>
              </a:ext>
            </a:extLst>
          </p:cNvPr>
          <p:cNvSpPr/>
          <p:nvPr/>
        </p:nvSpPr>
        <p:spPr>
          <a:xfrm>
            <a:off x="1000317" y="975769"/>
            <a:ext cx="4394029" cy="5817793"/>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r>
              <a:rPr kumimoji="1" lang="en-US" altLang="ja-JP" dirty="0"/>
              <a:t>Example 1:</a:t>
            </a:r>
          </a:p>
          <a:p>
            <a:r>
              <a:rPr kumimoji="1" lang="en-US" altLang="ja-JP" dirty="0"/>
              <a:t>Input: [6, 9, 3, 8, 2, 1, 3, 8, 1, 7]</a:t>
            </a:r>
          </a:p>
          <a:p>
            <a:r>
              <a:rPr kumimoji="1" lang="en-US" altLang="ja-JP" dirty="0"/>
              <a:t>Step 1 (reverse): [7, 1, 8, 3, 1, 2, 8, 3, 9, 6]</a:t>
            </a:r>
          </a:p>
          <a:p>
            <a:r>
              <a:rPr kumimoji="1" lang="en-US" altLang="ja-JP" dirty="0"/>
              <a:t>Step 2 (add_1): [8, 2, 9, 4, 2, 3, 9, 4, 10, 7]</a:t>
            </a:r>
          </a:p>
          <a:p>
            <a:r>
              <a:rPr kumimoji="1" lang="en-US" altLang="ja-JP" dirty="0"/>
              <a:t>Output: [8, 2, 9, 4, 2, 3, 9, 4, 10, 7]</a:t>
            </a:r>
          </a:p>
          <a:p>
            <a:endParaRPr kumimoji="1" lang="en-US" altLang="ja-JP" dirty="0"/>
          </a:p>
          <a:p>
            <a:r>
              <a:rPr kumimoji="1" lang="en-US" altLang="ja-JP" dirty="0"/>
              <a:t>Example 2:</a:t>
            </a:r>
          </a:p>
          <a:p>
            <a:r>
              <a:rPr kumimoji="1" lang="en-US" altLang="ja-JP" dirty="0"/>
              <a:t>Input: [0, 7, 8, 0, 8]</a:t>
            </a:r>
          </a:p>
          <a:p>
            <a:r>
              <a:rPr kumimoji="1" lang="en-US" altLang="ja-JP" dirty="0"/>
              <a:t>Step 1 (reverse): [8, 0, 8, 7, 0]</a:t>
            </a:r>
          </a:p>
          <a:p>
            <a:r>
              <a:rPr kumimoji="1" lang="en-US" altLang="ja-JP" dirty="0"/>
              <a:t>Step 2 (add_1): [9, 1, 9, 8, 1]</a:t>
            </a:r>
          </a:p>
          <a:p>
            <a:r>
              <a:rPr kumimoji="1" lang="en-US" altLang="ja-JP" dirty="0"/>
              <a:t>Output: [9, 1, 9, 8, 1]</a:t>
            </a:r>
          </a:p>
          <a:p>
            <a:endParaRPr kumimoji="1" lang="en-US" altLang="ja-JP" dirty="0"/>
          </a:p>
          <a:p>
            <a:r>
              <a:rPr kumimoji="1" lang="en-US" altLang="ja-JP" dirty="0"/>
              <a:t>Query :</a:t>
            </a:r>
          </a:p>
          <a:p>
            <a:r>
              <a:rPr kumimoji="1" lang="en-US" altLang="ja-JP" dirty="0"/>
              <a:t>Input: [7, 3, 8, 4, 2]</a:t>
            </a:r>
          </a:p>
          <a:p>
            <a:r>
              <a:rPr kumimoji="1" lang="en-US" altLang="ja-JP" dirty="0"/>
              <a:t>Step 1 (reverse): [2, 4, 8, 3, 7]</a:t>
            </a:r>
          </a:p>
          <a:p>
            <a:r>
              <a:rPr kumimoji="1" lang="en-US" altLang="ja-JP" dirty="0"/>
              <a:t>Step 2 (add_1): [3, 5, 9, 4, 8]</a:t>
            </a:r>
          </a:p>
          <a:p>
            <a:r>
              <a:rPr kumimoji="1" lang="en-US" altLang="ja-JP" dirty="0"/>
              <a:t>Final Answer: [3, 5, 9, 4, 8]</a:t>
            </a:r>
            <a:endParaRPr kumimoji="1" lang="ja-JP" altLang="en-US" dirty="0"/>
          </a:p>
        </p:txBody>
      </p:sp>
      <p:sp>
        <p:nvSpPr>
          <p:cNvPr id="6" name="四角形: 角を丸くする 5">
            <a:extLst>
              <a:ext uri="{FF2B5EF4-FFF2-40B4-BE49-F238E27FC236}">
                <a16:creationId xmlns:a16="http://schemas.microsoft.com/office/drawing/2014/main" id="{5F306A08-BA8C-AB68-953E-777DAB94A03A}"/>
              </a:ext>
            </a:extLst>
          </p:cNvPr>
          <p:cNvSpPr/>
          <p:nvPr/>
        </p:nvSpPr>
        <p:spPr>
          <a:xfrm>
            <a:off x="6797654" y="975770"/>
            <a:ext cx="4394029" cy="581779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r>
              <a:rPr kumimoji="1" lang="en-US" altLang="ja-JP" dirty="0"/>
              <a:t>Example 1:</a:t>
            </a:r>
          </a:p>
          <a:p>
            <a:r>
              <a:rPr kumimoji="1" lang="en-US" altLang="ja-JP" dirty="0"/>
              <a:t>Input: [6, 9, 3, 8, 2, 1, 3, 8, 1, 7]</a:t>
            </a:r>
          </a:p>
          <a:p>
            <a:r>
              <a:rPr kumimoji="1" lang="en-US" altLang="ja-JP" dirty="0"/>
              <a:t>Step 1 (add_1): [7, 10, 4, 9, 3, 2, 4, 9, 2, 8]</a:t>
            </a:r>
          </a:p>
          <a:p>
            <a:r>
              <a:rPr kumimoji="1" lang="en-US" altLang="ja-JP" dirty="0"/>
              <a:t>Step 2 (reverse): [8, 2, 9, 4, 2, 3, 9, 4, 10, 7]</a:t>
            </a:r>
          </a:p>
          <a:p>
            <a:r>
              <a:rPr kumimoji="1" lang="en-US" altLang="ja-JP" dirty="0"/>
              <a:t>Output: [8, 2, 9, 4, 2, 3, 9, 4, 10, 7]</a:t>
            </a:r>
          </a:p>
          <a:p>
            <a:endParaRPr kumimoji="1" lang="en-US" altLang="ja-JP" dirty="0"/>
          </a:p>
          <a:p>
            <a:r>
              <a:rPr kumimoji="1" lang="en-US" altLang="ja-JP" dirty="0"/>
              <a:t>Example 2:</a:t>
            </a:r>
          </a:p>
          <a:p>
            <a:r>
              <a:rPr kumimoji="1" lang="en-US" altLang="ja-JP" dirty="0"/>
              <a:t>Input: [0, 7, 8, 0, 8]</a:t>
            </a:r>
          </a:p>
          <a:p>
            <a:r>
              <a:rPr kumimoji="1" lang="en-US" altLang="ja-JP" dirty="0"/>
              <a:t>Step 1 (add_1): [1, 8, 9, 1, 9]</a:t>
            </a:r>
          </a:p>
          <a:p>
            <a:r>
              <a:rPr kumimoji="1" lang="en-US" altLang="ja-JP" dirty="0"/>
              <a:t>Step 2 (reverse): [9, 1, 9, 8, 1]</a:t>
            </a:r>
          </a:p>
          <a:p>
            <a:r>
              <a:rPr kumimoji="1" lang="en-US" altLang="ja-JP" dirty="0"/>
              <a:t>Output: [9, 1, 9, 8, 1]</a:t>
            </a:r>
          </a:p>
          <a:p>
            <a:endParaRPr kumimoji="1" lang="en-US" altLang="ja-JP" dirty="0"/>
          </a:p>
          <a:p>
            <a:r>
              <a:rPr kumimoji="1" lang="en-US" altLang="ja-JP" dirty="0"/>
              <a:t>Query :</a:t>
            </a:r>
          </a:p>
          <a:p>
            <a:r>
              <a:rPr kumimoji="1" lang="en-US" altLang="ja-JP" dirty="0"/>
              <a:t>Input: [7, 3, 8, 4, 2]</a:t>
            </a:r>
          </a:p>
          <a:p>
            <a:r>
              <a:rPr kumimoji="1" lang="en-US" altLang="ja-JP" dirty="0"/>
              <a:t>Step 1 (add_1): [8, 4, 9, 5, 3]</a:t>
            </a:r>
          </a:p>
          <a:p>
            <a:r>
              <a:rPr kumimoji="1" lang="en-US" altLang="ja-JP" dirty="0"/>
              <a:t>Step 2 (reverse): [3, 5, 9, 4, 8]</a:t>
            </a:r>
          </a:p>
          <a:p>
            <a:r>
              <a:rPr kumimoji="1" lang="en-US" altLang="ja-JP" dirty="0"/>
              <a:t>Final Answer: [3, 5, 9, 4, 8]</a:t>
            </a:r>
            <a:endParaRPr kumimoji="1" lang="ja-JP" altLang="en-US" dirty="0"/>
          </a:p>
        </p:txBody>
      </p:sp>
      <p:sp>
        <p:nvSpPr>
          <p:cNvPr id="7" name="テキスト ボックス 6">
            <a:extLst>
              <a:ext uri="{FF2B5EF4-FFF2-40B4-BE49-F238E27FC236}">
                <a16:creationId xmlns:a16="http://schemas.microsoft.com/office/drawing/2014/main" id="{36FD67BD-B907-CFFA-72D7-049ABEC38B83}"/>
              </a:ext>
            </a:extLst>
          </p:cNvPr>
          <p:cNvSpPr txBox="1"/>
          <p:nvPr/>
        </p:nvSpPr>
        <p:spPr>
          <a:xfrm>
            <a:off x="5865167" y="1626282"/>
            <a:ext cx="461665" cy="3093154"/>
          </a:xfrm>
          <a:prstGeom prst="rect">
            <a:avLst/>
          </a:prstGeom>
          <a:noFill/>
        </p:spPr>
        <p:txBody>
          <a:bodyPr vert="eaVert" wrap="none" rtlCol="0">
            <a:spAutoFit/>
          </a:bodyPr>
          <a:lstStyle/>
          <a:p>
            <a:r>
              <a:rPr kumimoji="1" lang="ja-JP" altLang="en-US" dirty="0"/>
              <a:t>教師データに使うのは↓</a:t>
            </a:r>
            <a:r>
              <a:rPr lang="ja-JP" altLang="en-US" dirty="0"/>
              <a:t>だけ</a:t>
            </a:r>
            <a:endParaRPr lang="en-US" altLang="ja-JP" dirty="0"/>
          </a:p>
        </p:txBody>
      </p:sp>
    </p:spTree>
    <p:extLst>
      <p:ext uri="{BB962C8B-B14F-4D97-AF65-F5344CB8AC3E}">
        <p14:creationId xmlns:p14="http://schemas.microsoft.com/office/powerpoint/2010/main" val="36069860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A8955F-0692-9D88-021C-3573EB69FC6C}"/>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48F8B874-D2E5-BBC3-D5EB-7E35884B07FD}"/>
              </a:ext>
            </a:extLst>
          </p:cNvPr>
          <p:cNvSpPr>
            <a:spLocks noGrp="1"/>
          </p:cNvSpPr>
          <p:nvPr>
            <p:ph idx="1"/>
          </p:nvPr>
        </p:nvSpPr>
        <p:spPr/>
        <p:txBody>
          <a:bodyPr/>
          <a:lstStyle/>
          <a:p>
            <a:r>
              <a:rPr lang="ja-JP" altLang="ja-JP" dirty="0"/>
              <a:t>学習時に提示していない処理順序の適用</a:t>
            </a:r>
            <a:endParaRPr lang="en-US" altLang="ja-JP" dirty="0"/>
          </a:p>
          <a:p>
            <a:endParaRPr kumimoji="1" lang="en-US" altLang="ja-JP" dirty="0"/>
          </a:p>
          <a:p>
            <a:r>
              <a:rPr lang="ja-JP" altLang="en-US" dirty="0"/>
              <a:t>処理の順序が関係ない問題の内、</a:t>
            </a:r>
            <a:r>
              <a:rPr lang="en-US" altLang="ja-JP" dirty="0"/>
              <a:t>7</a:t>
            </a:r>
            <a:r>
              <a:rPr lang="ja-JP" altLang="en-US" dirty="0"/>
              <a:t>例だけ学習時に教えていない順序を適用</a:t>
            </a:r>
            <a:endParaRPr lang="en-US" altLang="ja-JP" dirty="0"/>
          </a:p>
          <a:p>
            <a:endParaRPr kumimoji="1" lang="en-US" altLang="ja-JP" dirty="0"/>
          </a:p>
          <a:p>
            <a:r>
              <a:rPr lang="en-US" altLang="ja-JP" dirty="0"/>
              <a:t>7</a:t>
            </a:r>
            <a:r>
              <a:rPr lang="ja-JP" altLang="en-US" dirty="0"/>
              <a:t>例中</a:t>
            </a:r>
            <a:r>
              <a:rPr lang="en-US" altLang="ja-JP" dirty="0"/>
              <a:t>6</a:t>
            </a:r>
            <a:r>
              <a:rPr lang="ja-JP" altLang="en-US" dirty="0"/>
              <a:t>例が最終的な回答まで合っていた。</a:t>
            </a:r>
            <a:endParaRPr lang="en-US" altLang="ja-JP" dirty="0"/>
          </a:p>
          <a:p>
            <a:endParaRPr lang="en-US" altLang="ja-JP" dirty="0"/>
          </a:p>
          <a:p>
            <a:r>
              <a:rPr lang="ja-JP" altLang="ja-JP" dirty="0"/>
              <a:t>学習時に与えられた処理順序の単純な再現だけでは説明できない出力が確認された</a:t>
            </a:r>
            <a:endParaRPr lang="en-US" altLang="ja-JP" dirty="0"/>
          </a:p>
        </p:txBody>
      </p:sp>
      <p:sp>
        <p:nvSpPr>
          <p:cNvPr id="4" name="スライド番号プレースホルダー 3">
            <a:extLst>
              <a:ext uri="{FF2B5EF4-FFF2-40B4-BE49-F238E27FC236}">
                <a16:creationId xmlns:a16="http://schemas.microsoft.com/office/drawing/2014/main" id="{76BB1565-D6C7-D64C-7FA1-C47E6995DED9}"/>
              </a:ext>
            </a:extLst>
          </p:cNvPr>
          <p:cNvSpPr>
            <a:spLocks noGrp="1"/>
          </p:cNvSpPr>
          <p:nvPr>
            <p:ph type="sldNum" sz="quarter" idx="12"/>
          </p:nvPr>
        </p:nvSpPr>
        <p:spPr/>
        <p:txBody>
          <a:bodyPr/>
          <a:lstStyle/>
          <a:p>
            <a:fld id="{10649E7B-FC1B-418B-9B6A-00859DB1DEE8}" type="slidenum">
              <a:rPr kumimoji="1" lang="ja-JP" altLang="en-US" smtClean="0"/>
              <a:t>43</a:t>
            </a:fld>
            <a:endParaRPr kumimoji="1" lang="ja-JP" altLang="en-US"/>
          </a:p>
        </p:txBody>
      </p:sp>
    </p:spTree>
    <p:extLst>
      <p:ext uri="{BB962C8B-B14F-4D97-AF65-F5344CB8AC3E}">
        <p14:creationId xmlns:p14="http://schemas.microsoft.com/office/powerpoint/2010/main" val="247434446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2CDF5E8-C1FA-5CA7-FC1E-00606DD71FAD}"/>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E2EC9FD6-FE96-F5EF-0F7F-7DCFB2009033}"/>
              </a:ext>
            </a:extLst>
          </p:cNvPr>
          <p:cNvSpPr>
            <a:spLocks noGrp="1"/>
          </p:cNvSpPr>
          <p:nvPr>
            <p:ph idx="1"/>
          </p:nvPr>
        </p:nvSpPr>
        <p:spPr/>
        <p:txBody>
          <a:bodyPr/>
          <a:lstStyle/>
          <a:p>
            <a:r>
              <a:rPr lang="ja-JP" altLang="ja-JP" dirty="0"/>
              <a:t>問題を解くために、モデルが学習データに存在しない処理を自発的に生成してしまう</a:t>
            </a:r>
            <a:endParaRPr kumimoji="1" lang="ja-JP" altLang="en-US" dirty="0"/>
          </a:p>
        </p:txBody>
      </p:sp>
      <p:sp>
        <p:nvSpPr>
          <p:cNvPr id="4" name="スライド番号プレースホルダー 3">
            <a:extLst>
              <a:ext uri="{FF2B5EF4-FFF2-40B4-BE49-F238E27FC236}">
                <a16:creationId xmlns:a16="http://schemas.microsoft.com/office/drawing/2014/main" id="{D46D4B86-F39C-20B1-C581-7B5E07F236BE}"/>
              </a:ext>
            </a:extLst>
          </p:cNvPr>
          <p:cNvSpPr>
            <a:spLocks noGrp="1"/>
          </p:cNvSpPr>
          <p:nvPr>
            <p:ph type="sldNum" sz="quarter" idx="12"/>
          </p:nvPr>
        </p:nvSpPr>
        <p:spPr/>
        <p:txBody>
          <a:bodyPr/>
          <a:lstStyle/>
          <a:p>
            <a:fld id="{10649E7B-FC1B-418B-9B6A-00859DB1DEE8}" type="slidenum">
              <a:rPr kumimoji="1" lang="ja-JP" altLang="en-US" smtClean="0"/>
              <a:t>44</a:t>
            </a:fld>
            <a:endParaRPr kumimoji="1" lang="ja-JP" altLang="en-US"/>
          </a:p>
        </p:txBody>
      </p:sp>
    </p:spTree>
    <p:extLst>
      <p:ext uri="{BB962C8B-B14F-4D97-AF65-F5344CB8AC3E}">
        <p14:creationId xmlns:p14="http://schemas.microsoft.com/office/powerpoint/2010/main" val="79434926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9BDB96-C268-100B-6F50-ED62A66CC727}"/>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2DE4EE0D-3BA3-2E70-633B-89F9383A0A0C}"/>
              </a:ext>
            </a:extLst>
          </p:cNvPr>
          <p:cNvSpPr>
            <a:spLocks noGrp="1"/>
          </p:cNvSpPr>
          <p:nvPr>
            <p:ph idx="1"/>
          </p:nvPr>
        </p:nvSpPr>
        <p:spPr/>
        <p:txBody>
          <a:bodyPr/>
          <a:lstStyle/>
          <a:p>
            <a:r>
              <a:rPr kumimoji="1" lang="ja-JP" altLang="en-US" dirty="0"/>
              <a:t>処理単体として学習データではそもそも教えてない処理を生成してるものが</a:t>
            </a:r>
            <a:r>
              <a:rPr kumimoji="1" lang="en-US" altLang="ja-JP" dirty="0"/>
              <a:t>2</a:t>
            </a:r>
            <a:r>
              <a:rPr kumimoji="1" lang="ja-JP" altLang="en-US" dirty="0"/>
              <a:t>例存在した</a:t>
            </a:r>
            <a:endParaRPr kumimoji="1" lang="en-US" altLang="ja-JP" dirty="0"/>
          </a:p>
          <a:p>
            <a:endParaRPr lang="en-US" altLang="ja-JP" dirty="0"/>
          </a:p>
          <a:p>
            <a:r>
              <a:rPr kumimoji="1" lang="ja-JP" altLang="en-US" dirty="0"/>
              <a:t>実際に、どんな処理をしているか確認したが、どのようなしょりなのかわからなかった。</a:t>
            </a:r>
          </a:p>
        </p:txBody>
      </p:sp>
      <p:sp>
        <p:nvSpPr>
          <p:cNvPr id="4" name="スライド番号プレースホルダー 3">
            <a:extLst>
              <a:ext uri="{FF2B5EF4-FFF2-40B4-BE49-F238E27FC236}">
                <a16:creationId xmlns:a16="http://schemas.microsoft.com/office/drawing/2014/main" id="{C5416714-865B-2C9A-83BF-59458CAAD869}"/>
              </a:ext>
            </a:extLst>
          </p:cNvPr>
          <p:cNvSpPr>
            <a:spLocks noGrp="1"/>
          </p:cNvSpPr>
          <p:nvPr>
            <p:ph type="sldNum" sz="quarter" idx="12"/>
          </p:nvPr>
        </p:nvSpPr>
        <p:spPr/>
        <p:txBody>
          <a:bodyPr/>
          <a:lstStyle/>
          <a:p>
            <a:fld id="{10649E7B-FC1B-418B-9B6A-00859DB1DEE8}" type="slidenum">
              <a:rPr kumimoji="1" lang="ja-JP" altLang="en-US" smtClean="0"/>
              <a:t>45</a:t>
            </a:fld>
            <a:endParaRPr kumimoji="1" lang="ja-JP" altLang="en-US"/>
          </a:p>
        </p:txBody>
      </p:sp>
    </p:spTree>
    <p:extLst>
      <p:ext uri="{BB962C8B-B14F-4D97-AF65-F5344CB8AC3E}">
        <p14:creationId xmlns:p14="http://schemas.microsoft.com/office/powerpoint/2010/main" val="408532179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4C0C567-A8E0-180C-C545-A8E6827D0017}"/>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5D9A55D6-7BDC-E221-9586-98AE5C2A732B}"/>
              </a:ext>
            </a:extLst>
          </p:cNvPr>
          <p:cNvSpPr>
            <a:spLocks noGrp="1"/>
          </p:cNvSpPr>
          <p:nvPr>
            <p:ph idx="1"/>
          </p:nvPr>
        </p:nvSpPr>
        <p:spPr/>
        <p:txBody>
          <a:bodyPr/>
          <a:lstStyle/>
          <a:p>
            <a:r>
              <a:rPr kumimoji="1" lang="ja-JP" altLang="en-US" dirty="0"/>
              <a:t>正しいルールを選べていたか</a:t>
            </a:r>
          </a:p>
        </p:txBody>
      </p:sp>
      <p:sp>
        <p:nvSpPr>
          <p:cNvPr id="4" name="スライド番号プレースホルダー 3">
            <a:extLst>
              <a:ext uri="{FF2B5EF4-FFF2-40B4-BE49-F238E27FC236}">
                <a16:creationId xmlns:a16="http://schemas.microsoft.com/office/drawing/2014/main" id="{9560F741-8262-D35A-6020-176468344617}"/>
              </a:ext>
            </a:extLst>
          </p:cNvPr>
          <p:cNvSpPr>
            <a:spLocks noGrp="1"/>
          </p:cNvSpPr>
          <p:nvPr>
            <p:ph type="sldNum" sz="quarter" idx="12"/>
          </p:nvPr>
        </p:nvSpPr>
        <p:spPr/>
        <p:txBody>
          <a:bodyPr/>
          <a:lstStyle/>
          <a:p>
            <a:fld id="{10649E7B-FC1B-418B-9B6A-00859DB1DEE8}" type="slidenum">
              <a:rPr kumimoji="1" lang="ja-JP" altLang="en-US" smtClean="0"/>
              <a:t>46</a:t>
            </a:fld>
            <a:endParaRPr kumimoji="1" lang="ja-JP" altLang="en-US"/>
          </a:p>
        </p:txBody>
      </p:sp>
    </p:spTree>
    <p:extLst>
      <p:ext uri="{BB962C8B-B14F-4D97-AF65-F5344CB8AC3E}">
        <p14:creationId xmlns:p14="http://schemas.microsoft.com/office/powerpoint/2010/main" val="319377232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720CD7-B6E9-2737-5BF2-761BCC0B12C2}"/>
              </a:ext>
            </a:extLst>
          </p:cNvPr>
          <p:cNvSpPr>
            <a:spLocks noGrp="1"/>
          </p:cNvSpPr>
          <p:nvPr>
            <p:ph type="title"/>
          </p:nvPr>
        </p:nvSpPr>
        <p:spPr/>
        <p:txBody>
          <a:bodyPr/>
          <a:lstStyle/>
          <a:p>
            <a:r>
              <a:rPr kumimoji="1" lang="ja-JP" altLang="en-US">
                <a:solidFill>
                  <a:srgbClr val="FF0000"/>
                </a:solidFill>
              </a:rPr>
              <a:t>改善点</a:t>
            </a:r>
          </a:p>
        </p:txBody>
      </p:sp>
      <p:sp>
        <p:nvSpPr>
          <p:cNvPr id="3" name="コンテンツ プレースホルダー 2">
            <a:extLst>
              <a:ext uri="{FF2B5EF4-FFF2-40B4-BE49-F238E27FC236}">
                <a16:creationId xmlns:a16="http://schemas.microsoft.com/office/drawing/2014/main" id="{017B691A-46C7-600E-7022-890D1BEC509F}"/>
              </a:ext>
            </a:extLst>
          </p:cNvPr>
          <p:cNvSpPr>
            <a:spLocks noGrp="1"/>
          </p:cNvSpPr>
          <p:nvPr>
            <p:ph idx="1"/>
          </p:nvPr>
        </p:nvSpPr>
        <p:spPr/>
        <p:txBody>
          <a:bodyPr/>
          <a:lstStyle/>
          <a:p>
            <a:r>
              <a:rPr kumimoji="1" lang="ja-JP" altLang="en-US" dirty="0"/>
              <a:t>口語を改善</a:t>
            </a:r>
            <a:endParaRPr kumimoji="1" lang="en-US" altLang="ja-JP" dirty="0"/>
          </a:p>
          <a:p>
            <a:r>
              <a:rPr lang="ja-JP" altLang="en-US" dirty="0"/>
              <a:t>全部→全体</a:t>
            </a:r>
            <a:endParaRPr lang="en-US" altLang="ja-JP" dirty="0"/>
          </a:p>
          <a:p>
            <a:r>
              <a:rPr kumimoji="1" lang="ja-JP" altLang="en-US" dirty="0"/>
              <a:t>図版を入れる</a:t>
            </a:r>
            <a:endParaRPr kumimoji="1" lang="en-US" altLang="ja-JP" dirty="0"/>
          </a:p>
          <a:p>
            <a:r>
              <a:rPr kumimoji="1" lang="ja-JP" altLang="en-US" dirty="0"/>
              <a:t>参考文献の引用の仕方を長くてもいいから、正式な形で</a:t>
            </a:r>
            <a:endParaRPr kumimoji="1" lang="en-US" altLang="ja-JP" dirty="0"/>
          </a:p>
          <a:p>
            <a:r>
              <a:rPr kumimoji="1" lang="ja-JP" altLang="en-US" dirty="0">
                <a:solidFill>
                  <a:srgbClr val="FF0000"/>
                </a:solidFill>
              </a:rPr>
              <a:t>今のところばらばらの実験でやってるから最後はちゃんと同じ結果を入れる</a:t>
            </a:r>
            <a:endParaRPr kumimoji="1" lang="en-US" altLang="ja-JP" dirty="0">
              <a:solidFill>
                <a:srgbClr val="FF0000"/>
              </a:solidFill>
            </a:endParaRPr>
          </a:p>
          <a:p>
            <a:endParaRPr kumimoji="1" lang="ja-JP" altLang="en-US" dirty="0"/>
          </a:p>
        </p:txBody>
      </p:sp>
      <p:sp>
        <p:nvSpPr>
          <p:cNvPr id="4" name="スライド番号プレースホルダー 3">
            <a:extLst>
              <a:ext uri="{FF2B5EF4-FFF2-40B4-BE49-F238E27FC236}">
                <a16:creationId xmlns:a16="http://schemas.microsoft.com/office/drawing/2014/main" id="{93BC64FA-8AD0-6880-8F88-5A3BAAA07F95}"/>
              </a:ext>
            </a:extLst>
          </p:cNvPr>
          <p:cNvSpPr>
            <a:spLocks noGrp="1"/>
          </p:cNvSpPr>
          <p:nvPr>
            <p:ph type="sldNum" sz="quarter" idx="12"/>
          </p:nvPr>
        </p:nvSpPr>
        <p:spPr/>
        <p:txBody>
          <a:bodyPr/>
          <a:lstStyle/>
          <a:p>
            <a:fld id="{10649E7B-FC1B-418B-9B6A-00859DB1DEE8}" type="slidenum">
              <a:rPr kumimoji="1" lang="ja-JP" altLang="en-US" smtClean="0"/>
              <a:t>47</a:t>
            </a:fld>
            <a:endParaRPr kumimoji="1" lang="ja-JP" altLang="en-US"/>
          </a:p>
        </p:txBody>
      </p:sp>
    </p:spTree>
    <p:extLst>
      <p:ext uri="{BB962C8B-B14F-4D97-AF65-F5344CB8AC3E}">
        <p14:creationId xmlns:p14="http://schemas.microsoft.com/office/powerpoint/2010/main" val="3091403255"/>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7199</TotalTime>
  <Words>3802</Words>
  <Application>Microsoft Office PowerPoint</Application>
  <PresentationFormat>ワイド画面</PresentationFormat>
  <Paragraphs>553</Paragraphs>
  <Slides>47</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47</vt:i4>
      </vt:variant>
    </vt:vector>
  </HeadingPairs>
  <TitlesOfParts>
    <vt:vector size="51" baseType="lpstr">
      <vt:lpstr>游ゴシック</vt:lpstr>
      <vt:lpstr>游ゴシック Light</vt:lpstr>
      <vt:lpstr>Arial</vt:lpstr>
      <vt:lpstr>Office テーマ</vt:lpstr>
      <vt:lpstr>生成AIの追加学習による問題解決能力の変化</vt:lpstr>
      <vt:lpstr>目次</vt:lpstr>
      <vt:lpstr>目次</vt:lpstr>
      <vt:lpstr>研究背景</vt:lpstr>
      <vt:lpstr>SFTによる追加学習</vt:lpstr>
      <vt:lpstr>先行研究</vt:lpstr>
      <vt:lpstr>先行研究からわかること</vt:lpstr>
      <vt:lpstr>問題関心</vt:lpstr>
      <vt:lpstr>Compositional Generalizationの先行研究</vt:lpstr>
      <vt:lpstr>研究目的</vt:lpstr>
      <vt:lpstr>目次</vt:lpstr>
      <vt:lpstr>研究方法</vt:lpstr>
      <vt:lpstr>問題</vt:lpstr>
      <vt:lpstr>仕組み</vt:lpstr>
      <vt:lpstr>研究方法</vt:lpstr>
      <vt:lpstr>データについて</vt:lpstr>
      <vt:lpstr>処理の過程を答えの部分に含めたもの</vt:lpstr>
      <vt:lpstr>データについて</vt:lpstr>
      <vt:lpstr>データについて</vt:lpstr>
      <vt:lpstr>研究方法(モデルと学習手法)</vt:lpstr>
      <vt:lpstr>研究方法</vt:lpstr>
      <vt:lpstr>目次</vt:lpstr>
      <vt:lpstr>問題解決能力の評価実験(やり直し中)</vt:lpstr>
      <vt:lpstr>ベースモデルの正解例の問題</vt:lpstr>
      <vt:lpstr>ベースモデルの正解例の出力</vt:lpstr>
      <vt:lpstr>ベースモデルの失敗例の問題</vt:lpstr>
      <vt:lpstr>ベースモデルの失敗例の出力</vt:lpstr>
      <vt:lpstr>ベースモデルの結果の詳細</vt:lpstr>
      <vt:lpstr>答えのみのSFTの結果の詳細</vt:lpstr>
      <vt:lpstr>答え＋処理過程のSFTの結果の詳細</vt:lpstr>
      <vt:lpstr>目次</vt:lpstr>
      <vt:lpstr>ベースモデルの出力の分析 （テストデータその１）</vt:lpstr>
      <vt:lpstr>ベースモデルの出力の分析 （テストデータその2）</vt:lpstr>
      <vt:lpstr>分析できること</vt:lpstr>
      <vt:lpstr>ベースモデルの出力の分析</vt:lpstr>
      <vt:lpstr>分析できること</vt:lpstr>
      <vt:lpstr>答えのみのSFTの分析</vt:lpstr>
      <vt:lpstr>分析できること</vt:lpstr>
      <vt:lpstr>テストデータその1に対しての 各モデルの出力</vt:lpstr>
      <vt:lpstr>分析できること</vt:lpstr>
      <vt:lpstr>答え＋処理過程のSFTの分析</vt:lpstr>
      <vt:lpstr>答え＋処理過程のSFTの分析</vt:lpstr>
      <vt:lpstr>答え＋処理過程のSFTの分析</vt:lpstr>
      <vt:lpstr>答え＋処理過程のSFTの分析</vt:lpstr>
      <vt:lpstr>答え＋処理過程のSFTの分析</vt:lpstr>
      <vt:lpstr>答え＋処理過程のSFTの分析</vt:lpstr>
      <vt:lpstr>改善点</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koyama.ryuji@keio.jp</dc:creator>
  <cp:lastModifiedBy>koyama.ryuji@keio.jp</cp:lastModifiedBy>
  <cp:revision>7</cp:revision>
  <dcterms:created xsi:type="dcterms:W3CDTF">2026-09-01T15:23:02Z</dcterms:created>
  <dcterms:modified xsi:type="dcterms:W3CDTF">2026-09-12T17:05:57Z</dcterms:modified>
</cp:coreProperties>
</file>